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67" r:id="rId4"/>
    <p:sldId id="268" r:id="rId5"/>
  </p:sldIdLst>
  <p:sldSz cx="12192000" cy="6858000"/>
  <p:notesSz cx="12192000" cy="6858000"/>
  <p:embeddedFontLst>
    <p:embeddedFont>
      <p:font typeface="等线" panose="02010600030101010101" pitchFamily="2" charset="-122"/>
      <p:regular r:id="rId6"/>
      <p:bold r:id="rId7"/>
    </p:embeddedFon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微软雅黑" panose="020B0503020204020204" pitchFamily="34" charset="-122"/>
      <p:regular r:id="rId12"/>
      <p:bold r:id="rId13"/>
    </p:embeddedFont>
    <p:embeddedFont>
      <p:font typeface="微软雅黑 Light" panose="020B0502040204020203" pitchFamily="34" charset="-122"/>
      <p:regular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67"/>
            <p14:sldId id="268"/>
          </p14:sldIdLst>
        </p14:section>
        <p14:section name="变量挖掘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4610"/>
  </p:normalViewPr>
  <p:slideViewPr>
    <p:cSldViewPr snapToGrid="0" snapToObjects="1">
      <p:cViewPr>
        <p:scale>
          <a:sx n="140" d="100"/>
          <a:sy n="140" d="100"/>
        </p:scale>
        <p:origin x="58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Finv独有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dLbls>
            <c:dLbl>
              <c:idx val="0"/>
              <c:layout>
                <c:manualLayout>
                  <c:x val="1.1904761904761899E-2"/>
                  <c:y val="-3.0968110722210795E-17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6.88%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65-4694-A153-D0117E094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双方共认</c:v>
                </c:pt>
              </c:strCache>
            </c:strRef>
          </c:tx>
          <c:spPr>
            <a:solidFill>
              <a:srgbClr val="A7A7A7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pPr>
                      <a:defRPr sz="1100"/>
                    </a:pPr>
                    <a:r>
                      <a:rPr lang="en-US" altLang="zh-CN" dirty="0"/>
                      <a:t>91.75%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5-4694-A153-D0117E0940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E65-4694-A153-D0117E094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Illion 独有</c:v>
                </c:pt>
              </c:strCache>
            </c:strRef>
          </c:tx>
          <c:spPr>
            <a:solidFill>
              <a:srgbClr val="D6D6D6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1.37%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E65-4694-A153-D0117E09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1"/>
        <c:axId val="2"/>
      </c:barChart>
      <c:catAx>
        <c:axId val="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0"/>
          <c:min val="0"/>
        </c:scaling>
        <c:delete val="1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A310045-390A-4F12-B24A-86F975121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1191643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11115" y="1492211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663515" y="145411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1-chain">
            <a:extLst>
              <a:ext uri="{FF2B5EF4-FFF2-40B4-BE49-F238E27FC236}">
                <a16:creationId xmlns:a16="http://schemas.microsoft.com/office/drawing/2014/main" id="{8AF677AB-108E-41E7-9868-8658AD6B41EC}"/>
              </a:ext>
            </a:extLst>
          </p:cNvPr>
          <p:cNvSpPr txBox="1"/>
          <p:nvPr/>
        </p:nvSpPr>
        <p:spPr>
          <a:xfrm>
            <a:off x="508000" y="1953659"/>
            <a:ext cx="10585450" cy="547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1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：用户申请 → 银行卡绑定 → illion 数据解析 → 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银行流水信息抽取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自动抽取引擎替换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illion 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第三方引擎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Serviceability 计算 → 信审决策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496858" y="2476888"/>
            <a:ext cx="10845800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5334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Serviceability ＝ 收入 − 必要支出 − 负债还款 ＝ 客户可支配盈余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s2-bar">
            <a:extLst>
              <a:ext uri="{FF2B5EF4-FFF2-40B4-BE49-F238E27FC236}">
                <a16:creationId xmlns:a16="http://schemas.microsoft.com/office/drawing/2014/main" id="{0C83D77B-7EAD-4D95-8F2C-EF8CF3FF368F}"/>
              </a:ext>
            </a:extLst>
          </p:cNvPr>
          <p:cNvSpPr/>
          <p:nvPr/>
        </p:nvSpPr>
        <p:spPr>
          <a:xfrm>
            <a:off x="522258" y="3780087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674658" y="3725053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二、合规背景：Responsible Lending 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2-content">
            <a:extLst>
              <a:ext uri="{FF2B5EF4-FFF2-40B4-BE49-F238E27FC236}">
                <a16:creationId xmlns:a16="http://schemas.microsoft.com/office/drawing/2014/main" id="{ED8EFC04-479C-47CE-967B-363D293B4B51}"/>
              </a:ext>
            </a:extLst>
          </p:cNvPr>
          <p:cNvSpPr txBox="1"/>
          <p:nvPr/>
        </p:nvSpPr>
        <p:spPr>
          <a:xfrm>
            <a:off x="496858" y="4152698"/>
            <a:ext cx="5588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5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依据《National Consumer Credit Protection Act 2009》及 ASIC 监管要求：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7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合理了解客户财务状况及借款目的；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核实收入、必要支出、现有负债及可预见变化；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判断客户能否在不造成重大经济困难的情况下履行还款义务；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不得提供"不适合"的信贷产品。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BD4474-BF86-4869-935F-372860244AD7}"/>
              </a:ext>
            </a:extLst>
          </p:cNvPr>
          <p:cNvGrpSpPr/>
          <p:nvPr/>
        </p:nvGrpSpPr>
        <p:grpSpPr>
          <a:xfrm>
            <a:off x="6353115" y="3250886"/>
            <a:ext cx="5029200" cy="2838644"/>
            <a:chOff x="6353115" y="1454111"/>
            <a:chExt cx="5029200" cy="4635419"/>
          </a:xfrm>
        </p:grpSpPr>
        <p:sp>
          <p:nvSpPr>
            <p:cNvPr id="16" name="col-divider">
              <a:extLst>
                <a:ext uri="{FF2B5EF4-FFF2-40B4-BE49-F238E27FC236}">
                  <a16:creationId xmlns:a16="http://schemas.microsoft.com/office/drawing/2014/main" id="{7976569D-3495-4B8E-88A6-7289825D95F9}"/>
                </a:ext>
              </a:extLst>
            </p:cNvPr>
            <p:cNvSpPr/>
            <p:nvPr>
              <p:extLst>
                <p:ext uri="{F5677B7D-0D2A-4D9B-9A5C-6D8D7D0E5A5D}">
  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eyJ2aWV3Qm94IjpbMSwzNDBdLCJwb2ludHMiOiIwLDAgMCwzNDAifQ</pptd:line>
                </p:ext>
              </p:extLst>
            </p:nvPr>
          </p:nvSpPr>
          <p:spPr>
            <a:xfrm>
              <a:off x="6353115" y="1481586"/>
              <a:ext cx="12700" cy="4318000"/>
            </a:xfrm>
            <a:custGeom>
              <a:avLst/>
              <a:gdLst/>
              <a:ahLst/>
              <a:cxnLst/>
              <a:rect l="l" t="t" r="r" b="b"/>
              <a:pathLst>
                <a:path w="1" h="340">
                  <a:moveTo>
                    <a:pt x="0" y="0"/>
                  </a:moveTo>
                  <a:lnTo>
                    <a:pt x="0" y="34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17" name="s3-bar">
              <a:extLst>
                <a:ext uri="{FF2B5EF4-FFF2-40B4-BE49-F238E27FC236}">
                  <a16:creationId xmlns:a16="http://schemas.microsoft.com/office/drawing/2014/main" id="{21522F87-C40C-40E0-893E-783C6AA054A4}"/>
                </a:ext>
              </a:extLst>
            </p:cNvPr>
            <p:cNvSpPr/>
            <p:nvPr/>
          </p:nvSpPr>
          <p:spPr>
            <a:xfrm>
              <a:off x="6607115" y="1492211"/>
              <a:ext cx="50800" cy="165100"/>
            </a:xfrm>
            <a:prstGeom prst="rect">
              <a:avLst/>
            </a:prstGeom>
            <a:solidFill>
              <a:srgbClr val="D6A000"/>
            </a:solidFill>
            <a:ln>
              <a:noFill/>
            </a:ln>
          </p:spPr>
        </p:sp>
        <p:sp>
          <p:nvSpPr>
            <p:cNvPr id="18" name="s3-title">
              <a:extLst>
                <a:ext uri="{FF2B5EF4-FFF2-40B4-BE49-F238E27FC236}">
                  <a16:creationId xmlns:a16="http://schemas.microsoft.com/office/drawing/2014/main" id="{1FFE6DD4-7A46-4B3E-BC75-CF290B1DDE30}"/>
                </a:ext>
              </a:extLst>
            </p:cNvPr>
            <p:cNvSpPr txBox="1"/>
            <p:nvPr/>
          </p:nvSpPr>
          <p:spPr>
            <a:xfrm>
              <a:off x="6759515" y="1454111"/>
              <a:ext cx="462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l">
                <a:lnSpc>
                  <a:spcPct val="125000"/>
                </a:lnSpc>
              </a:pPr>
              <a:r>
                <a:rPr lang="en-US" sz="14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三、传统第三方分类服务的主要局限（当前高度依赖 illion）</a:t>
              </a:r>
              <a:endParaRPr lang="en-US" sz="14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m1">
              <a:extLst>
                <a:ext uri="{FF2B5EF4-FFF2-40B4-BE49-F238E27FC236}">
                  <a16:creationId xmlns:a16="http://schemas.microsoft.com/office/drawing/2014/main" id="{29CFB0D9-DDBE-46F7-A89B-345F1DB3EE89}"/>
                </a:ext>
              </a:extLst>
            </p:cNvPr>
            <p:cNvSpPr txBox="1"/>
            <p:nvPr/>
          </p:nvSpPr>
          <p:spPr>
            <a:xfrm>
              <a:off x="6607115" y="1860374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分类逻辑不透明，问题难以定位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黑盒模型：出现漏识别或误分类时，无法判断是交易描述、商户映射、分类规则还是计算逻辑的问题。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m1-line">
              <a:extLst>
                <a:ext uri="{FF2B5EF4-FFF2-40B4-BE49-F238E27FC236}">
                  <a16:creationId xmlns:a16="http://schemas.microsoft.com/office/drawing/2014/main" id="{C26D36D6-CB8D-47F6-A278-A0A3C1177384}"/>
                </a:ext>
              </a:extLst>
            </p:cNvPr>
            <p:cNvSpPr/>
            <p:nvPr>
              <p:extLst>
                <p:ext uri="{F5677B7D-0D2A-4D9B-9A5C-6D8D7D0E5A5D}">
  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  </p:ext>
              </p:extLst>
            </p:nvPr>
          </p:nvSpPr>
          <p:spPr>
            <a:xfrm>
              <a:off x="6607115" y="2698574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1" name="lim2">
              <a:extLst>
                <a:ext uri="{FF2B5EF4-FFF2-40B4-BE49-F238E27FC236}">
                  <a16:creationId xmlns:a16="http://schemas.microsoft.com/office/drawing/2014/main" id="{3DD835B9-3D5D-4CF4-8B3A-387F16BA1963}"/>
                </a:ext>
              </a:extLst>
            </p:cNvPr>
            <p:cNvSpPr txBox="1"/>
            <p:nvPr/>
          </p:nvSpPr>
          <p:spPr>
            <a:xfrm>
              <a:off x="6607115" y="2908059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分类粒度与覆盖不足，难以满足下游需求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无法拆分 SACC、Non-SACC、BNPL、Line of Credit、Wage Advance 等贷款类型；小型商户、新兴平台、交易别名易被归入 Other 或错误分类，影响贷款归属、还款匹配及收入、支出、负债计算。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m2-line">
              <a:extLst>
                <a:ext uri="{FF2B5EF4-FFF2-40B4-BE49-F238E27FC236}">
                  <a16:creationId xmlns:a16="http://schemas.microsoft.com/office/drawing/2014/main" id="{69CFA63F-F5C1-43D0-A14B-E681108AAB27}"/>
                </a:ext>
              </a:extLst>
            </p:cNvPr>
            <p:cNvSpPr/>
            <p:nvPr>
              <p:extLst>
                <p:ext uri="{F5677B7D-0D2A-4D9B-9A5C-6D8D7D0E5A5D}">
  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  </p:ext>
              </p:extLst>
            </p:nvPr>
          </p:nvSpPr>
          <p:spPr>
            <a:xfrm>
              <a:off x="6607115" y="3949463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3" name="lim3">
              <a:extLst>
                <a:ext uri="{FF2B5EF4-FFF2-40B4-BE49-F238E27FC236}">
                  <a16:creationId xmlns:a16="http://schemas.microsoft.com/office/drawing/2014/main" id="{DF394D01-5901-4F99-B01E-ADB1FCD8BFCC}"/>
                </a:ext>
              </a:extLst>
            </p:cNvPr>
            <p:cNvSpPr txBox="1"/>
            <p:nvPr/>
          </p:nvSpPr>
          <p:spPr>
            <a:xfrm>
              <a:off x="6607115" y="4078616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输出字段与计算口径缺乏控制权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下游 IDP 所需字段可能缺失，公式、数据窗口、异常处理无法按内部标准配置；Open Banking 等新数据源无分类字段，多供应商需维护多套适配逻辑，增加系统复杂度。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m3-line">
              <a:extLst>
                <a:ext uri="{FF2B5EF4-FFF2-40B4-BE49-F238E27FC236}">
                  <a16:creationId xmlns:a16="http://schemas.microsoft.com/office/drawing/2014/main" id="{336ACEC6-E59C-48C3-943D-F0CA55FF2277}"/>
                </a:ext>
              </a:extLst>
            </p:cNvPr>
            <p:cNvSpPr/>
            <p:nvPr>
              <p:extLst>
                <p:ext uri="{F5677B7D-0D2A-4D9B-9A5C-6D8D7D0E5A5D}">
  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  </p:ext>
              </p:extLst>
            </p:nvPr>
          </p:nvSpPr>
          <p:spPr>
            <a:xfrm>
              <a:off x="6607115" y="5111553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5" name="lim4">
              <a:extLst>
                <a:ext uri="{FF2B5EF4-FFF2-40B4-BE49-F238E27FC236}">
                  <a16:creationId xmlns:a16="http://schemas.microsoft.com/office/drawing/2014/main" id="{8C3E2394-8FDD-4456-9360-CEBCC189CB32}"/>
                </a:ext>
              </a:extLst>
            </p:cNvPr>
            <p:cNvSpPr txBox="1"/>
            <p:nvPr/>
          </p:nvSpPr>
          <p:spPr>
            <a:xfrm>
              <a:off x="6607115" y="5238630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关键业务能力受制于外部供应商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105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调整依赖供应商排期、响应周期长；交易分类作为基础能力，长期依赖会限制模型优化、策略调整与产品创新的自主性。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m4-line">
              <a:extLst>
                <a:ext uri="{FF2B5EF4-FFF2-40B4-BE49-F238E27FC236}">
                  <a16:creationId xmlns:a16="http://schemas.microsoft.com/office/drawing/2014/main" id="{B06F18DC-59DF-4006-887C-06DD5753F50F}"/>
                </a:ext>
              </a:extLst>
            </p:cNvPr>
            <p:cNvSpPr/>
            <p:nvPr>
              <p:extLst>
                <p:ext uri="{F5677B7D-0D2A-4D9B-9A5C-6D8D7D0E5A5D}">
  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  </p:ext>
              </p:extLst>
            </p:nvPr>
          </p:nvSpPr>
          <p:spPr>
            <a:xfrm>
              <a:off x="6607115" y="6076830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256AB727-6509-4BCF-BA26-40B0BD5787C0}"/>
              </a:ext>
            </a:extLst>
          </p:cNvPr>
          <p:cNvSpPr/>
          <p:nvPr/>
        </p:nvSpPr>
        <p:spPr>
          <a:xfrm>
            <a:off x="431800" y="124460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一、原始银行流水（输入示例）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7853D23C-C185-4C77-A7C2-9AB671AE2557}"/>
              </a:ext>
            </a:extLst>
          </p:cNvPr>
          <p:cNvSpPr/>
          <p:nvPr/>
        </p:nvSpPr>
        <p:spPr>
          <a:xfrm>
            <a:off x="482600" y="279344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635000" y="275534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二、交易明细维度：理解每一笔交易(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示例）</a:t>
            </a: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3-bar">
            <a:extLst>
              <a:ext uri="{FF2B5EF4-FFF2-40B4-BE49-F238E27FC236}">
                <a16:creationId xmlns:a16="http://schemas.microsoft.com/office/drawing/2014/main" id="{03AA8B0D-EE0C-4284-BAB6-CE9132870F8C}"/>
              </a:ext>
            </a:extLst>
          </p:cNvPr>
          <p:cNvSpPr/>
          <p:nvPr/>
        </p:nvSpPr>
        <p:spPr>
          <a:xfrm>
            <a:off x="625415" y="4438352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777815" y="44002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三、用户汇总维度：形成完整负债画像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(（</a:t>
            </a:r>
            <a:r>
              <a:rPr lang="zh-CN" alt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示例）)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BC9B27-F92D-4004-8B59-F9DDF9BBF3FE}"/>
              </a:ext>
            </a:extLst>
          </p:cNvPr>
          <p:cNvSpPr txBox="1"/>
          <p:nvPr/>
        </p:nvSpPr>
        <p:spPr>
          <a:xfrm>
            <a:off x="533400" y="1565734"/>
            <a:ext cx="90365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日期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金额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方向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交易描述 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--- | --- | --- | ---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2026/03/26 | A$156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`BILL PAY Fair Go Finance DT.58oa72 SACC 239`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2026/03/28 | A$12.40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`MCDONALDS BRISBANE`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2026/04/02 | A$35.90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`CHEMIST WAREHOUSE 123`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2026/04/08 | A$8.99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`AMZNPRIMEA*`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2026/04/10 | A$3,420.50 | Credit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`PAYROLL ACME PTY LTD`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  <a:p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2026/04/15 | A$25.00 | Debit | </a:t>
            </a:r>
            <a:r>
              <a:rPr lang="en-US" altLang="zh-CN" sz="8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`EFTPOS DEBIT 20NOV LMF GAMES &amp; AMUSEMENTS NORTHMEAD NSW`</a:t>
            </a:r>
            <a:r>
              <a:rPr lang="en-US" altLang="zh-CN" sz="8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4B467B-481C-4639-A119-D9D717AD4F85}"/>
              </a:ext>
            </a:extLst>
          </p:cNvPr>
          <p:cNvSpPr txBox="1"/>
          <p:nvPr/>
        </p:nvSpPr>
        <p:spPr>
          <a:xfrm>
            <a:off x="600015" y="3044141"/>
            <a:ext cx="11067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日期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交易描述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标准交易对手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主体类型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一级分类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二级分类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交易性质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交易金额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分类依据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--- | --- | --- | --- | --- | --- | --- | --- | --- 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2026/03/26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`BILL PAY Fair Go Finance DT.58oa72 SACC 239`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Fair Go Finance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贷款机构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小额信贷机构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贷款及还款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SACC Loans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贷款还款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A$156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交易方向、机构名称、产品关键词及历史交易模式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2026/03/28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`MCDONALDS BRISBANE`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McDonald's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Dining Out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A$12.40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2026/04/02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`CHEMIST WAREHOUSE 123`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Chemist Warehouse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Health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A$35.90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2026/04/08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`AMZNPRIMEA*`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Amazon Prime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订阅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Subscription TV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订阅支出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A$8.99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2026/04/10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`PAYROLL ACME PTY LTD`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ACME PTY LTD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雇主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收入付款方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收入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900" b="0" dirty="0" err="1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salary_payg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工资收入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A$3,420.50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工资文本模式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双周周期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稳定金额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2026/04/15 | </a:t>
            </a:r>
            <a:r>
              <a:rPr lang="en-US" altLang="zh-CN" sz="900" b="0" dirty="0">
                <a:solidFill>
                  <a:srgbClr val="79C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`EFTPOS DEBIT 20NOV LMF GAMES &amp; AMUSEMENTS NORTHMEAD NSW`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| LMF Games &amp; Amusements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商户企业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Entertainment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消费支出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 A$25.00 | </a:t>
            </a:r>
            <a:r>
              <a:rPr lang="zh-CN" altLang="en-US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商户知识库标准名匹配 </a:t>
            </a:r>
            <a:r>
              <a:rPr lang="en-US" altLang="zh-CN" sz="900" b="0" dirty="0">
                <a:solidFill>
                  <a:srgbClr val="BBBEB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F4D251-9EA9-4606-A99E-470AAEA4F760}"/>
              </a:ext>
            </a:extLst>
          </p:cNvPr>
          <p:cNvSpPr txBox="1"/>
          <p:nvPr/>
        </p:nvSpPr>
        <p:spPr>
          <a:xfrm>
            <a:off x="6521356" y="4361064"/>
            <a:ext cx="60971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**单笔贷款情况示例（针对一家机构，同一个时间段给一个用户多笔借还款，都可以抽离出来。）**</a:t>
            </a:r>
          </a:p>
          <a:p>
            <a:b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    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Fair Go Finance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-------------- | ---------------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贷款类型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SACC          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借款金额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A$1,500        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天已还金额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A$936          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预计待还金额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A$564          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还款频率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每两周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A$156  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月还款金额（估算）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A$338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A$156 × 26/12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预计剩余期数（估算）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期（借款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÷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每期 ≈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期，已还约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期）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天还款次数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6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当前状态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在贷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扣款失败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 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还款中断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       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年化利率（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APR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【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待补充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      |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CCD56B-982F-4522-82BF-05BEC221C541}"/>
              </a:ext>
            </a:extLst>
          </p:cNvPr>
          <p:cNvSpPr txBox="1"/>
          <p:nvPr/>
        </p:nvSpPr>
        <p:spPr>
          <a:xfrm>
            <a:off x="963494" y="4750137"/>
            <a:ext cx="34307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天整体负债情况示例**</a:t>
            </a:r>
          </a:p>
          <a:p>
            <a:b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    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-------------- | -------- 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贷款机构数量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2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天借款金额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A$2,300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90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天还款金额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A$1,284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平均月还款金额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A$428  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预计待还金额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A$1,016  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还款次数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9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是否存在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SACC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是否存在多头借贷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     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是否持续还款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 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是否出现还款中断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     </a:t>
            </a:r>
            <a:r>
              <a:rPr lang="en-US" altLang="zh-CN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2E27EC-609B-4FF8-AF30-C0496764A7FB}"/>
              </a:ext>
            </a:extLst>
          </p:cNvPr>
          <p:cNvSpPr txBox="1"/>
          <p:nvPr/>
        </p:nvSpPr>
        <p:spPr>
          <a:xfrm>
            <a:off x="6521356" y="6643298"/>
            <a:ext cx="630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BBBE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针对一家机构，同一个时间段给一个用户多笔借还款，都可以抽离出来。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一、Ai</a:t>
            </a:r>
            <a:r>
              <a:rPr lang="zh-CN" alt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做知识库强化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94211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676400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2A69DA-792E-4EF6-BBB2-2066D247A0B4}"/>
              </a:ext>
            </a:extLst>
          </p:cNvPr>
          <p:cNvSpPr txBox="1"/>
          <p:nvPr/>
        </p:nvSpPr>
        <p:spPr>
          <a:xfrm>
            <a:off x="6311257" y="1990719"/>
            <a:ext cx="554023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AI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不参与实时分类，而是在分类完成后，以历史分类结果和既定规则为基线（不直接对比外部标签），持续监控输出质量并驱动知识库更新。闭环分为四步：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**① 监控**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：捕捉分类批量漂移、同一交易对手归类不一致、覆盖率或命中率明显下降、新描述未被任何引擎识别等异常信号。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**② 定位**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：对异常逐笔细挖交易描述、金额、方向、交易对手、命中引擎和分类依据，归类为五类原因。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**五类定位原因示例**</a:t>
            </a:r>
            <a:endParaRPr lang="zh-CN" altLang="en-US" sz="800" b="0" dirty="0">
              <a:effectLst/>
              <a:latin typeface="Consolas" panose="020B0609020204030204" pitchFamily="49" charset="0"/>
            </a:endParaRP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定位原因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示例场景                                            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------------ | ------------------------------------------------------------------------ 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引擎规则问题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排除规则过宽，房租、保险、水电被误归为内部转账，导致租金支出在支出计算中漏算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知识库不足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新开业商户或新兴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BNPL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平台的交易描述未收录，落入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Other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或无法归集为负债流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数据本身异常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银行返回描述被截断（仅剩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`EFTPOS *`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）、金额与方向矛盾、同一笔交易重复入账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多引擎冲突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同一笔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`BPAY ...`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 被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Transfer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归为转账、被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Liability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识别为还款，需按业务语义裁决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正常波动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月初集中缴费、节假日消费高峰导致某类别占比短期上升，属正常范围，无需干预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br>
              <a:rPr lang="en-US" altLang="zh-CN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**③ 输出**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：生成按优先级排序的诊断报告，直接标明问题引擎、需检查的规则、缺失的商户／关键词及应补充的知识库，供业务确认。</a:t>
            </a:r>
          </a:p>
          <a:p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1" dirty="0">
                <a:effectLst/>
                <a:latin typeface="Consolas" panose="020B0609020204030204" pitchFamily="49" charset="0"/>
              </a:rPr>
              <a:t>**诊断报告输出示例**</a:t>
            </a:r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优先级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问题描述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定位原因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建议动作                  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------ | ---------------------------- | ------------ | ---------------------------------------------- 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P0     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房租交易批量被归为内部转账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引擎规则问题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优化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Transfer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排除规则并补充回归用例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P1     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新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BNPL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平台还款未被识别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知识库不足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补充平台名称及扣款描述关键词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altLang="zh-CN" sz="800" b="0" dirty="0">
                <a:effectLst/>
                <a:latin typeface="Consolas" panose="020B0609020204030204" pitchFamily="49" charset="0"/>
              </a:rPr>
              <a:t>| P2     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某商户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7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月分类占比短期上升  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正常波动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 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无需处理，持续观察                             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|</a:t>
            </a:r>
          </a:p>
          <a:p>
            <a:br>
              <a:rPr lang="en-US" altLang="zh-CN" sz="800" b="0" dirty="0">
                <a:effectLst/>
                <a:latin typeface="Consolas" panose="020B0609020204030204" pitchFamily="49" charset="0"/>
              </a:rPr>
            </a:br>
            <a:br>
              <a:rPr lang="zh-CN" altLang="en-US" sz="800" b="0" dirty="0">
                <a:effectLst/>
                <a:latin typeface="Consolas" panose="020B0609020204030204" pitchFamily="49" charset="0"/>
              </a:rPr>
            </a:br>
            <a:r>
              <a:rPr lang="zh-CN" altLang="en-US" sz="800" b="0" dirty="0">
                <a:effectLst/>
                <a:latin typeface="Consolas" panose="020B0609020204030204" pitchFamily="49" charset="0"/>
              </a:rPr>
              <a:t>效果：知识库随注册商户的新增、变更、失效持续更新，并从真实交易中补齐注册数据未覆盖的支付描述和商户别名。由此形成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分类 → 监控 → 定位 → 输出 → 更新 → 再分类</a:t>
            </a:r>
            <a:r>
              <a:rPr lang="en-US" altLang="zh-CN" sz="800" b="0" dirty="0"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800" b="0" dirty="0">
                <a:effectLst/>
                <a:latin typeface="Consolas" panose="020B0609020204030204" pitchFamily="49" charset="0"/>
              </a:rPr>
              <a:t>的持续优化闭环。</a:t>
            </a:r>
          </a:p>
          <a:p>
            <a:endParaRPr lang="zh-CN" altLang="en-US" sz="800" dirty="0"/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一、Ai</a:t>
            </a:r>
            <a:r>
              <a:rPr lang="zh-CN" alt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r>
              <a:rPr lang="en-US" altLang="zh-CN" sz="1400" b="1" dirty="0">
                <a:effectLst/>
                <a:latin typeface="Consolas" panose="020B0609020204030204" pitchFamily="49" charset="0"/>
              </a:rPr>
              <a:t>AI </a:t>
            </a:r>
            <a:r>
              <a:rPr lang="zh-CN" altLang="en-US" sz="1400" b="1" dirty="0">
                <a:effectLst/>
                <a:latin typeface="Consolas" panose="020B0609020204030204" pitchFamily="49" charset="0"/>
              </a:rPr>
              <a:t>质检 </a:t>
            </a:r>
            <a:r>
              <a:rPr lang="en-US" altLang="zh-CN" sz="1400" b="1" dirty="0"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400" b="1" dirty="0">
                <a:effectLst/>
                <a:latin typeface="Consolas" panose="020B0609020204030204" pitchFamily="49" charset="0"/>
              </a:rPr>
              <a:t>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68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 贷款识别：覆盖、一致性与精度全面优于 illion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6DB2D2-B074-48BD-8B28-6034EA1CCFC2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样本对比：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1,519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个申请 case ｜ 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1,958,480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条交易 ｜ 2026/07/27–2026/07/31 ｜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79A0AE7-E93F-4E2C-A60F-444BCE10FFC1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5" y="1131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135386F4-E10A-4257-B55F-FE6F08318C43}"/>
              </a:ext>
            </a:extLst>
          </p:cNvPr>
          <p:cNvSpPr/>
          <p:nvPr/>
        </p:nvSpPr>
        <p:spPr>
          <a:xfrm>
            <a:off x="511115" y="1309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BA9491F9-AA95-407A-80D0-07D99F871C6C}"/>
              </a:ext>
            </a:extLst>
          </p:cNvPr>
          <p:cNvSpPr txBox="1"/>
          <p:nvPr/>
        </p:nvSpPr>
        <p:spPr>
          <a:xfrm>
            <a:off x="6635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一、贷款识别覆盖交集：我方漏识别更少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venn-chart">
            <a:extLst>
              <a:ext uri="{FF2B5EF4-FFF2-40B4-BE49-F238E27FC236}">
                <a16:creationId xmlns:a16="http://schemas.microsoft.com/office/drawing/2014/main" id="{8DB4E448-7F96-40D5-9ABC-2EAB4ADC77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5130105"/>
              </p:ext>
            </p:extLst>
          </p:nvPr>
        </p:nvGraphicFramePr>
        <p:xfrm>
          <a:off x="409515" y="1535322"/>
          <a:ext cx="3978240" cy="93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mid-divider">
            <a:extLst>
              <a:ext uri="{FF2B5EF4-FFF2-40B4-BE49-F238E27FC236}">
                <a16:creationId xmlns:a16="http://schemas.microsoft.com/office/drawing/2014/main" id="{10BC6DBA-D788-4E7C-9D13-A6EC2F8D30E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4" y="2523346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E7B1C7-3A48-41F0-9CCD-33504C985117}"/>
              </a:ext>
            </a:extLst>
          </p:cNvPr>
          <p:cNvSpPr txBox="1"/>
          <p:nvPr/>
        </p:nvSpPr>
        <p:spPr>
          <a:xfrm>
            <a:off x="4672109" y="1535322"/>
            <a:ext cx="74607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effectLst/>
                <a:latin typeface="+mn-ea"/>
              </a:rPr>
              <a:t>**典型案例：</a:t>
            </a:r>
            <a:br>
              <a:rPr lang="zh-CN" altLang="en-US" sz="800" b="0" dirty="0">
                <a:effectLst/>
                <a:latin typeface="+mn-ea"/>
              </a:rPr>
            </a:br>
            <a:r>
              <a:rPr lang="zh-CN" altLang="en-US" sz="800" b="1" dirty="0">
                <a:effectLst/>
                <a:latin typeface="+mn-ea"/>
              </a:rPr>
              <a:t>**</a:t>
            </a:r>
            <a:r>
              <a:rPr lang="en-US" altLang="zh-CN" sz="800" b="1" dirty="0">
                <a:effectLst/>
                <a:latin typeface="+mn-ea"/>
              </a:rPr>
              <a:t>Case 1</a:t>
            </a:r>
            <a:r>
              <a:rPr lang="zh-CN" altLang="en-US" sz="800" b="1" dirty="0">
                <a:effectLst/>
                <a:latin typeface="+mn-ea"/>
              </a:rPr>
              <a:t>：覆盖</a:t>
            </a:r>
            <a:r>
              <a:rPr lang="en-US" altLang="zh-CN" sz="800" b="1" dirty="0">
                <a:effectLst/>
                <a:latin typeface="+mn-ea"/>
              </a:rPr>
              <a:t>——Home Loan </a:t>
            </a:r>
            <a:r>
              <a:rPr lang="zh-CN" altLang="en-US" sz="800" b="1" dirty="0">
                <a:effectLst/>
                <a:latin typeface="+mn-ea"/>
              </a:rPr>
              <a:t>被 </a:t>
            </a:r>
            <a:r>
              <a:rPr lang="en-US" altLang="zh-CN" sz="800" b="1" dirty="0" err="1">
                <a:effectLst/>
                <a:latin typeface="+mn-ea"/>
              </a:rPr>
              <a:t>illion</a:t>
            </a:r>
            <a:r>
              <a:rPr lang="en-US" altLang="zh-CN" sz="800" b="1" dirty="0">
                <a:effectLst/>
                <a:latin typeface="+mn-ea"/>
              </a:rPr>
              <a:t> </a:t>
            </a:r>
            <a:r>
              <a:rPr lang="zh-CN" altLang="en-US" sz="800" b="1" dirty="0">
                <a:effectLst/>
                <a:latin typeface="+mn-ea"/>
              </a:rPr>
              <a:t>漏识别**</a:t>
            </a:r>
            <a:endParaRPr lang="zh-CN" altLang="en-US" sz="800" b="0" dirty="0">
              <a:effectLst/>
              <a:latin typeface="+mn-ea"/>
            </a:endParaRP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日期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金额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方向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交易描述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分类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我方分类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--- | --- | --- | --- | --- | ---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2026/07/05 | A$1,248.00 | Debit | `Home loan - Receipt ... To Orange Everyday` | Internal Transfer</a:t>
            </a:r>
            <a:r>
              <a:rPr lang="zh-CN" altLang="en-US" sz="800" b="0" dirty="0">
                <a:effectLst/>
                <a:latin typeface="+mn-ea"/>
              </a:rPr>
              <a:t>（内部转账）</a:t>
            </a:r>
            <a:r>
              <a:rPr lang="en-US" altLang="zh-CN" sz="800" b="0" dirty="0">
                <a:effectLst/>
                <a:latin typeface="+mn-ea"/>
              </a:rPr>
              <a:t>&lt;</a:t>
            </a:r>
            <a:r>
              <a:rPr lang="en-US" altLang="zh-CN" sz="800" b="0" dirty="0" err="1">
                <a:effectLst/>
                <a:latin typeface="+mn-ea"/>
              </a:rPr>
              <a:t>br</a:t>
            </a: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住房贷款完全遗漏 </a:t>
            </a:r>
            <a:r>
              <a:rPr lang="en-US" altLang="zh-CN" sz="800" b="0" dirty="0">
                <a:effectLst/>
                <a:latin typeface="+mn-ea"/>
              </a:rPr>
              <a:t>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Home Loan</a:t>
            </a:r>
            <a:r>
              <a:rPr lang="zh-CN" altLang="en-US" sz="800" b="0" dirty="0">
                <a:effectLst/>
                <a:latin typeface="+mn-ea"/>
              </a:rPr>
              <a:t>）</a:t>
            </a:r>
            <a:r>
              <a:rPr lang="en-US" altLang="zh-CN" sz="800" b="0" dirty="0">
                <a:effectLst/>
                <a:latin typeface="+mn-ea"/>
              </a:rPr>
              <a:t>&lt;</a:t>
            </a:r>
            <a:r>
              <a:rPr lang="en-US" altLang="zh-CN" sz="800" b="0" dirty="0" err="1">
                <a:effectLst/>
                <a:latin typeface="+mn-ea"/>
              </a:rPr>
              <a:t>br</a:t>
            </a: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按产品关键词判定为贷款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 价值：产品词库捕捉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覆盖盲区，扩大贷款识别面。</a:t>
            </a: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zh-CN" altLang="en-US" sz="800" b="1" dirty="0">
                <a:effectLst/>
                <a:latin typeface="+mn-ea"/>
              </a:rPr>
              <a:t>**</a:t>
            </a:r>
            <a:r>
              <a:rPr lang="en-US" altLang="zh-CN" sz="800" b="1" dirty="0">
                <a:effectLst/>
                <a:latin typeface="+mn-ea"/>
              </a:rPr>
              <a:t>Case 2</a:t>
            </a:r>
            <a:r>
              <a:rPr lang="zh-CN" altLang="en-US" sz="800" b="1" dirty="0">
                <a:effectLst/>
                <a:latin typeface="+mn-ea"/>
              </a:rPr>
              <a:t>：一致性</a:t>
            </a:r>
            <a:r>
              <a:rPr lang="en-US" altLang="zh-CN" sz="800" b="1" dirty="0">
                <a:effectLst/>
                <a:latin typeface="+mn-ea"/>
              </a:rPr>
              <a:t>——</a:t>
            </a:r>
            <a:r>
              <a:rPr lang="zh-CN" altLang="en-US" sz="800" b="1" dirty="0">
                <a:effectLst/>
                <a:latin typeface="+mn-ea"/>
              </a:rPr>
              <a:t>同一贷款流内 </a:t>
            </a:r>
            <a:r>
              <a:rPr lang="en-US" altLang="zh-CN" sz="800" b="1" dirty="0" err="1">
                <a:effectLst/>
                <a:latin typeface="+mn-ea"/>
              </a:rPr>
              <a:t>illion</a:t>
            </a:r>
            <a:r>
              <a:rPr lang="en-US" altLang="zh-CN" sz="800" b="1" dirty="0">
                <a:effectLst/>
                <a:latin typeface="+mn-ea"/>
              </a:rPr>
              <a:t> </a:t>
            </a:r>
            <a:r>
              <a:rPr lang="zh-CN" altLang="en-US" sz="800" b="1" dirty="0">
                <a:effectLst/>
                <a:latin typeface="+mn-ea"/>
              </a:rPr>
              <a:t>标签自相矛盾（</a:t>
            </a:r>
            <a:r>
              <a:rPr lang="en-US" altLang="zh-CN" sz="800" b="1" dirty="0" err="1">
                <a:effectLst/>
                <a:latin typeface="+mn-ea"/>
              </a:rPr>
              <a:t>MoneySpot</a:t>
            </a:r>
            <a:r>
              <a:rPr lang="zh-CN" altLang="en-US" sz="800" b="1" dirty="0">
                <a:effectLst/>
                <a:latin typeface="+mn-ea"/>
              </a:rPr>
              <a:t>）**</a:t>
            </a:r>
            <a:endParaRPr lang="en-US" altLang="zh-CN" sz="800" b="0" dirty="0">
              <a:effectLst/>
              <a:latin typeface="+mn-ea"/>
            </a:endParaRP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zh-CN" altLang="en-US" sz="800" b="0" dirty="0">
                <a:effectLst/>
                <a:latin typeface="+mn-ea"/>
              </a:rPr>
              <a:t>同一贷款流共 </a:t>
            </a:r>
            <a:r>
              <a:rPr lang="en-US" altLang="zh-CN" sz="800" b="0" dirty="0">
                <a:effectLst/>
                <a:latin typeface="+mn-ea"/>
              </a:rPr>
              <a:t>11 </a:t>
            </a:r>
            <a:r>
              <a:rPr lang="zh-CN" altLang="en-US" sz="800" b="0" dirty="0">
                <a:effectLst/>
                <a:latin typeface="+mn-ea"/>
              </a:rPr>
              <a:t>笔：放款 </a:t>
            </a:r>
            <a:r>
              <a:rPr lang="en-US" altLang="zh-CN" sz="800" b="0" dirty="0">
                <a:effectLst/>
                <a:latin typeface="+mn-ea"/>
              </a:rPr>
              <a:t>1 </a:t>
            </a:r>
            <a:r>
              <a:rPr lang="zh-CN" altLang="en-US" sz="800" b="0" dirty="0">
                <a:effectLst/>
                <a:latin typeface="+mn-ea"/>
              </a:rPr>
              <a:t>笔（</a:t>
            </a:r>
            <a:r>
              <a:rPr lang="en-US" altLang="zh-CN" sz="800" b="0" dirty="0">
                <a:effectLst/>
                <a:latin typeface="+mn-ea"/>
              </a:rPr>
              <a:t>750 </a:t>
            </a:r>
            <a:r>
              <a:rPr lang="zh-CN" altLang="en-US" sz="800" b="0" dirty="0">
                <a:effectLst/>
                <a:latin typeface="+mn-ea"/>
              </a:rPr>
              <a:t>澳元）</a:t>
            </a:r>
            <a:r>
              <a:rPr lang="en-US" altLang="zh-CN" sz="800" b="0" dirty="0">
                <a:effectLst/>
                <a:latin typeface="+mn-ea"/>
              </a:rPr>
              <a:t>+ </a:t>
            </a:r>
            <a:r>
              <a:rPr lang="zh-CN" altLang="en-US" sz="800" b="0" dirty="0">
                <a:effectLst/>
                <a:latin typeface="+mn-ea"/>
              </a:rPr>
              <a:t>等额还款 </a:t>
            </a:r>
            <a:r>
              <a:rPr lang="en-US" altLang="zh-CN" sz="800" b="0" dirty="0">
                <a:effectLst/>
                <a:latin typeface="+mn-ea"/>
              </a:rPr>
              <a:t>10 </a:t>
            </a:r>
            <a:r>
              <a:rPr lang="zh-CN" altLang="en-US" sz="800" b="0" dirty="0">
                <a:effectLst/>
                <a:latin typeface="+mn-ea"/>
              </a:rPr>
              <a:t>笔（</a:t>
            </a:r>
            <a:r>
              <a:rPr lang="en-US" altLang="zh-CN" sz="800" b="0" dirty="0">
                <a:effectLst/>
                <a:latin typeface="+mn-ea"/>
              </a:rPr>
              <a:t>49.09 </a:t>
            </a:r>
            <a:r>
              <a:rPr lang="zh-CN" altLang="en-US" sz="800" b="0" dirty="0">
                <a:effectLst/>
                <a:latin typeface="+mn-ea"/>
              </a:rPr>
              <a:t>澳元</a:t>
            </a:r>
            <a:r>
              <a:rPr lang="en-US" altLang="zh-CN" sz="800" b="0" dirty="0">
                <a:effectLst/>
                <a:latin typeface="+mn-ea"/>
              </a:rPr>
              <a:t>/</a:t>
            </a:r>
            <a:r>
              <a:rPr lang="zh-CN" altLang="en-US" sz="800" b="0" dirty="0">
                <a:effectLst/>
                <a:latin typeface="+mn-ea"/>
              </a:rPr>
              <a:t>期），以下展示代表性笔次。</a:t>
            </a: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日期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金额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方向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交易描述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分类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我方分类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--- | --- | --- | --- | --- | ---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2026/03/02 | A$750.00 | Credit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Loan Disbursement` | 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2026/03/16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2026/05/11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2026/05/25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Non-SACC Loans | SACC Loans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2026/07/20 | A$49.09 | Debit | `</a:t>
            </a:r>
            <a:r>
              <a:rPr lang="en-US" altLang="zh-CN" sz="800" b="0" dirty="0" err="1">
                <a:effectLst/>
                <a:latin typeface="+mn-ea"/>
              </a:rPr>
              <a:t>MoneySpot</a:t>
            </a:r>
            <a:r>
              <a:rPr lang="en-US" altLang="zh-CN" sz="800" b="0" dirty="0">
                <a:effectLst/>
                <a:latin typeface="+mn-ea"/>
              </a:rPr>
              <a:t> Repayment` | Non-SACC Loans | SACC Loans |</a:t>
            </a:r>
          </a:p>
          <a:p>
            <a:br>
              <a:rPr lang="en-US" altLang="zh-CN" sz="800" b="0" dirty="0">
                <a:effectLst/>
                <a:latin typeface="+mn-ea"/>
              </a:rPr>
            </a:br>
            <a:br>
              <a:rPr lang="zh-CN" altLang="en-US" sz="800" b="0" dirty="0">
                <a:effectLst/>
                <a:latin typeface="+mn-ea"/>
              </a:rPr>
            </a:br>
            <a:r>
              <a:rPr lang="zh-CN" altLang="en-US" sz="800" b="1" dirty="0">
                <a:effectLst/>
                <a:latin typeface="+mn-ea"/>
              </a:rPr>
              <a:t>**</a:t>
            </a:r>
            <a:r>
              <a:rPr lang="en-US" altLang="zh-CN" sz="800" b="1" dirty="0">
                <a:effectLst/>
                <a:latin typeface="+mn-ea"/>
              </a:rPr>
              <a:t>Case 3</a:t>
            </a:r>
            <a:r>
              <a:rPr lang="zh-CN" altLang="en-US" sz="800" b="1" dirty="0">
                <a:effectLst/>
                <a:latin typeface="+mn-ea"/>
              </a:rPr>
              <a:t>：精度</a:t>
            </a:r>
            <a:r>
              <a:rPr lang="en-US" altLang="zh-CN" sz="800" b="1" dirty="0">
                <a:effectLst/>
                <a:latin typeface="+mn-ea"/>
              </a:rPr>
              <a:t>——LOC </a:t>
            </a:r>
            <a:r>
              <a:rPr lang="zh-CN" altLang="en-US" sz="800" b="1" dirty="0">
                <a:effectLst/>
                <a:latin typeface="+mn-ea"/>
              </a:rPr>
              <a:t>产品被 </a:t>
            </a:r>
            <a:r>
              <a:rPr lang="en-US" altLang="zh-CN" sz="800" b="1" dirty="0" err="1">
                <a:effectLst/>
                <a:latin typeface="+mn-ea"/>
              </a:rPr>
              <a:t>illion</a:t>
            </a:r>
            <a:r>
              <a:rPr lang="en-US" altLang="zh-CN" sz="800" b="1" dirty="0">
                <a:effectLst/>
                <a:latin typeface="+mn-ea"/>
              </a:rPr>
              <a:t> </a:t>
            </a:r>
            <a:r>
              <a:rPr lang="zh-CN" altLang="en-US" sz="800" b="1" dirty="0">
                <a:effectLst/>
                <a:latin typeface="+mn-ea"/>
              </a:rPr>
              <a:t>泛化为 </a:t>
            </a:r>
            <a:r>
              <a:rPr lang="en-US" altLang="zh-CN" sz="800" b="1" dirty="0">
                <a:effectLst/>
                <a:latin typeface="+mn-ea"/>
              </a:rPr>
              <a:t>SACC</a:t>
            </a:r>
            <a:r>
              <a:rPr lang="zh-CN" altLang="en-US" sz="800" b="1" dirty="0">
                <a:effectLst/>
                <a:latin typeface="+mn-ea"/>
              </a:rPr>
              <a:t>（</a:t>
            </a:r>
            <a:r>
              <a:rPr lang="en-US" altLang="zh-CN" sz="800" b="1" dirty="0">
                <a:effectLst/>
                <a:latin typeface="+mn-ea"/>
              </a:rPr>
              <a:t>Credit24</a:t>
            </a:r>
            <a:r>
              <a:rPr lang="zh-CN" altLang="en-US" sz="800" b="1" dirty="0">
                <a:effectLst/>
                <a:latin typeface="+mn-ea"/>
              </a:rPr>
              <a:t>）**</a:t>
            </a:r>
            <a:endParaRPr lang="en-US" altLang="zh-CN" sz="800" b="0" dirty="0">
              <a:effectLst/>
              <a:latin typeface="+mn-ea"/>
            </a:endParaRP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zh-CN" altLang="en-US" sz="800" b="0" dirty="0">
                <a:effectLst/>
                <a:latin typeface="+mn-ea"/>
              </a:rPr>
              <a:t>同一用户共 </a:t>
            </a:r>
            <a:r>
              <a:rPr lang="en-US" altLang="zh-CN" sz="800" b="0" dirty="0">
                <a:effectLst/>
                <a:latin typeface="+mn-ea"/>
              </a:rPr>
              <a:t>19 </a:t>
            </a:r>
            <a:r>
              <a:rPr lang="zh-CN" altLang="en-US" sz="800" b="0" dirty="0">
                <a:effectLst/>
                <a:latin typeface="+mn-ea"/>
              </a:rPr>
              <a:t>笔 </a:t>
            </a:r>
            <a:r>
              <a:rPr lang="en-US" altLang="zh-CN" sz="800" b="0" dirty="0">
                <a:effectLst/>
                <a:latin typeface="+mn-ea"/>
              </a:rPr>
              <a:t>Credit24 </a:t>
            </a:r>
            <a:r>
              <a:rPr lang="zh-CN" altLang="en-US" sz="800" b="0" dirty="0">
                <a:effectLst/>
                <a:latin typeface="+mn-ea"/>
              </a:rPr>
              <a:t>交易，全部被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标为 </a:t>
            </a:r>
            <a:r>
              <a:rPr lang="en-US" altLang="zh-CN" sz="800" b="0" dirty="0">
                <a:effectLst/>
                <a:latin typeface="+mn-ea"/>
              </a:rPr>
              <a:t>SACC Loans</a:t>
            </a:r>
            <a:r>
              <a:rPr lang="zh-CN" altLang="en-US" sz="800" b="0" dirty="0">
                <a:effectLst/>
                <a:latin typeface="+mn-ea"/>
              </a:rPr>
              <a:t>，以下展示代表性笔次。</a:t>
            </a:r>
          </a:p>
          <a:p>
            <a:br>
              <a:rPr lang="zh-CN" altLang="en-US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日期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金额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方向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交易描述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分类 </a:t>
            </a:r>
            <a:r>
              <a:rPr lang="en-US" altLang="zh-CN" sz="800" b="0" dirty="0">
                <a:effectLst/>
                <a:latin typeface="+mn-ea"/>
              </a:rPr>
              <a:t>| </a:t>
            </a:r>
            <a:r>
              <a:rPr lang="zh-CN" altLang="en-US" sz="800" b="0" dirty="0">
                <a:effectLst/>
                <a:latin typeface="+mn-ea"/>
              </a:rPr>
              <a:t>我方分类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--- | --- | --- | --- | --- | --- 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2026/02/10 | A$300.00 | Credit | `Credit24 Loan Advance` | SACC Loans 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循环授信）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2026/04/14 | A$48.30 | Debit | `Credit24 Repayment` | SACC Loans 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循环授信）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r>
              <a:rPr lang="en-US" altLang="zh-CN" sz="800" b="0" dirty="0">
                <a:effectLst/>
                <a:latin typeface="+mn-ea"/>
              </a:rPr>
              <a:t>| 2026/06/22 | A$48.30 | Debit | `Credit24 Repayment` | SACC Loans | 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循环授信） </a:t>
            </a:r>
            <a:r>
              <a:rPr lang="en-US" altLang="zh-CN" sz="800" b="0" dirty="0">
                <a:effectLst/>
                <a:latin typeface="+mn-ea"/>
              </a:rPr>
              <a:t>|</a:t>
            </a:r>
          </a:p>
          <a:p>
            <a:br>
              <a:rPr lang="en-US" altLang="zh-CN" sz="800" b="0" dirty="0">
                <a:effectLst/>
                <a:latin typeface="+mn-ea"/>
              </a:rPr>
            </a:br>
            <a:r>
              <a:rPr lang="en-US" altLang="zh-CN" sz="800" b="0" dirty="0">
                <a:effectLst/>
                <a:latin typeface="+mn-ea"/>
              </a:rPr>
              <a:t>&gt;</a:t>
            </a:r>
            <a:r>
              <a:rPr lang="zh-CN" altLang="en-US" sz="800" b="0" dirty="0">
                <a:effectLst/>
                <a:latin typeface="+mn-ea"/>
              </a:rPr>
              <a:t> 完整 </a:t>
            </a:r>
            <a:r>
              <a:rPr lang="en-US" altLang="zh-CN" sz="800" b="0" dirty="0">
                <a:effectLst/>
                <a:latin typeface="+mn-ea"/>
              </a:rPr>
              <a:t>19 </a:t>
            </a:r>
            <a:r>
              <a:rPr lang="zh-CN" altLang="en-US" sz="800" b="0" dirty="0">
                <a:effectLst/>
                <a:latin typeface="+mn-ea"/>
              </a:rPr>
              <a:t>笔中，</a:t>
            </a:r>
            <a:r>
              <a:rPr lang="en-US" altLang="zh-CN" sz="800" b="0" dirty="0" err="1">
                <a:effectLst/>
                <a:latin typeface="+mn-ea"/>
              </a:rPr>
              <a:t>illion</a:t>
            </a:r>
            <a:r>
              <a:rPr lang="en-US" altLang="zh-CN" sz="800" b="0" dirty="0">
                <a:effectLst/>
                <a:latin typeface="+mn-ea"/>
              </a:rPr>
              <a:t> </a:t>
            </a:r>
            <a:r>
              <a:rPr lang="zh-CN" altLang="en-US" sz="800" b="0" dirty="0">
                <a:effectLst/>
                <a:latin typeface="+mn-ea"/>
              </a:rPr>
              <a:t>全部标为 </a:t>
            </a:r>
            <a:r>
              <a:rPr lang="en-US" altLang="zh-CN" sz="800" b="0" dirty="0">
                <a:effectLst/>
                <a:latin typeface="+mn-ea"/>
              </a:rPr>
              <a:t>SACC Loans</a:t>
            </a:r>
            <a:r>
              <a:rPr lang="zh-CN" altLang="en-US" sz="800" b="0" dirty="0">
                <a:effectLst/>
                <a:latin typeface="+mn-ea"/>
              </a:rPr>
              <a:t>，忽略产品类型差异；我方结合交易模式与机构产品库识别为循环授信（</a:t>
            </a:r>
            <a:r>
              <a:rPr lang="en-US" altLang="zh-CN" sz="800" b="0" dirty="0">
                <a:effectLst/>
                <a:latin typeface="+mn-ea"/>
              </a:rPr>
              <a:t>LOC</a:t>
            </a:r>
            <a:r>
              <a:rPr lang="zh-CN" altLang="en-US" sz="800" b="0" dirty="0">
                <a:effectLst/>
                <a:latin typeface="+mn-ea"/>
              </a:rPr>
              <a:t>），归入 </a:t>
            </a:r>
            <a:r>
              <a:rPr lang="en-US" altLang="zh-CN" sz="800" b="0" dirty="0">
                <a:effectLst/>
                <a:latin typeface="+mn-ea"/>
              </a:rPr>
              <a:t>Non-SACC Loans</a:t>
            </a:r>
            <a:r>
              <a:rPr lang="zh-CN" altLang="en-US" sz="800" b="0" dirty="0">
                <a:effectLst/>
                <a:latin typeface="+mn-ea"/>
              </a:rPr>
              <a:t>（</a:t>
            </a:r>
            <a:r>
              <a:rPr lang="en-US" altLang="zh-CN" sz="800" b="0" dirty="0">
                <a:effectLst/>
                <a:latin typeface="+mn-ea"/>
              </a:rPr>
              <a:t>LOC </a:t>
            </a:r>
            <a:r>
              <a:rPr lang="zh-CN" altLang="en-US" sz="800" b="0" dirty="0">
                <a:effectLst/>
                <a:latin typeface="+mn-ea"/>
              </a:rPr>
              <a:t>在监管属性、利率上限上与 </a:t>
            </a:r>
            <a:r>
              <a:rPr lang="en-US" altLang="zh-CN" sz="800" b="0" dirty="0">
                <a:effectLst/>
                <a:latin typeface="+mn-ea"/>
              </a:rPr>
              <a:t>SACC </a:t>
            </a:r>
            <a:r>
              <a:rPr lang="zh-CN" altLang="en-US" sz="800" b="0" dirty="0">
                <a:effectLst/>
                <a:latin typeface="+mn-ea"/>
              </a:rPr>
              <a:t>有本质区别）。</a:t>
            </a:r>
          </a:p>
        </p:txBody>
      </p:sp>
    </p:spTree>
    <p:extLst>
      <p:ext uri="{BB962C8B-B14F-4D97-AF65-F5344CB8AC3E}">
        <p14:creationId xmlns:p14="http://schemas.microsoft.com/office/powerpoint/2010/main" val="50074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2129</Words>
  <Application>Microsoft Office PowerPoint</Application>
  <PresentationFormat>宽屏</PresentationFormat>
  <Paragraphs>176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微软雅黑 Light</vt:lpstr>
      <vt:lpstr>Arial</vt:lpstr>
      <vt:lpstr>微软雅黑</vt:lpstr>
      <vt:lpstr>等线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80</cp:revision>
  <dcterms:modified xsi:type="dcterms:W3CDTF">2026-08-09T07:45:33Z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