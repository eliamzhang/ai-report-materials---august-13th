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67" r:id="rId4"/>
    <p:sldId id="268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67"/>
            <p14:sldId id="268"/>
          </p14:sldIdLst>
        </p14:section>
        <p14:section name="变量挖掘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Finv独有</c:v>
                </c:pt>
              </c:strCache>
            </c:strRef>
          </c:tx>
          <c:spPr>
            <a:solidFill>
              <a:srgbClr val="0A0A0A"/>
            </a:solidFill>
          </c:spPr>
          <c:invertIfNegative val="1"/>
          <c:dLbls>
            <c:dLbl>
              <c:idx val="0"/>
              <c:layout>
                <c:manualLayout>
                  <c:x val="1.1904761904761899E-2"/>
                  <c:y val="-3.0968110722210795E-17"/>
                </c:manualLayout>
              </c:layout>
              <c:tx>
                <c:rich>
                  <a:bodyPr/>
                  <a:lstStyle/>
                  <a:p>
                    <a:r>
                      <a:rPr lang="en-US" altLang="zh-CN"/>
                      <a:t>6.88%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D526-4E6B-AB7A-0BFC9A400F8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chemeClr val="bg1"/>
                    </a:solidFill>
                  </a:defRPr>
                </a:pPr>
                <a:endParaRPr lang="zh-CN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</c:f>
              <c:strCache>
                <c:ptCount val="1"/>
                <c:pt idx="0">
                  <c:v>贷款识别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396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E65-4694-A153-D0117E09409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双方共认</c:v>
                </c:pt>
              </c:strCache>
            </c:strRef>
          </c:tx>
          <c:spPr>
            <a:solidFill>
              <a:srgbClr val="A7A7A7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pPr>
                      <a:defRPr sz="1100"/>
                    </a:pPr>
                    <a:r>
                      <a:rPr lang="en-US" altLang="zh-CN" dirty="0"/>
                      <a:t>91.75%</a:t>
                    </a:r>
                  </a:p>
                </c:rich>
              </c:tx>
              <c:numFmt formatCode="#,##0" sourceLinked="0"/>
              <c:spPr>
                <a:noFill/>
                <a:ln>
                  <a:noFill/>
                </a:ln>
                <a:effectLst/>
              </c:sp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E65-4694-A153-D0117E094090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</c:f>
              <c:strCache>
                <c:ptCount val="1"/>
                <c:pt idx="0">
                  <c:v>贷款识别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5284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E65-4694-A153-D0117E09409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Illion 独有</c:v>
                </c:pt>
              </c:strCache>
            </c:strRef>
          </c:tx>
          <c:spPr>
            <a:solidFill>
              <a:srgbClr val="D6D6D6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zh-CN"/>
                      <a:t>1.37%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526-4E6B-AB7A-0BFC9A400F8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zh-CN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</c:f>
              <c:strCache>
                <c:ptCount val="1"/>
                <c:pt idx="0">
                  <c:v>贷款识别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79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6E65-4694-A153-D0117E0940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6"/>
        <c:overlap val="100"/>
        <c:axId val="1"/>
        <c:axId val="2"/>
      </c:barChart>
      <c:catAx>
        <c:axId val="1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low"/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6000"/>
          <c:min val="0"/>
        </c:scaling>
        <c:delete val="1"/>
        <c:axPos val="b"/>
        <c:majorGridlines>
          <c:spPr>
            <a:ln w="12700">
              <a:solidFill>
                <a:srgbClr val="E0E6F1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crossAx val="1"/>
        <c:crosses val="autoZero"/>
        <c:crossBetween val="between"/>
        <c:majorUnit val="1000"/>
      </c:valAx>
      <c:spPr>
        <a:noFill/>
        <a:ln>
          <a:noFill/>
        </a:ln>
      </c:spPr>
    </c:plotArea>
    <c:legend>
      <c:legendPos val="b"/>
      <c:overlay val="0"/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b="0" i="0" u="none" strike="noStrike" noProof="1">
          <a:latin typeface="微软雅黑" panose="020B0503020204020204" pitchFamily="34" charset="-122"/>
          <a:ea typeface="微软雅黑" panose="020B0503020204020204" pitchFamily="34" charset="-122"/>
        </a:defRPr>
      </a:pPr>
      <a:endParaRPr lang="zh-CN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607168" y="195922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607168" y="62036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2026/8/9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altLang="zh-CN" sz="1400" b="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divider">
            <a:extLst>
              <a:ext uri="{FF2B5EF4-FFF2-40B4-BE49-F238E27FC236}">
                <a16:creationId xmlns:a16="http://schemas.microsoft.com/office/drawing/2014/main" id="{DA310045-390A-4F12-B24A-86F975121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511115" y="1191643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11115" y="1492211"/>
            <a:ext cx="50800" cy="1651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663515" y="145411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s1-chain">
            <a:extLst>
              <a:ext uri="{FF2B5EF4-FFF2-40B4-BE49-F238E27FC236}">
                <a16:creationId xmlns:a16="http://schemas.microsoft.com/office/drawing/2014/main" id="{8AF677AB-108E-41E7-9868-8658AD6B41EC}"/>
              </a:ext>
            </a:extLst>
          </p:cNvPr>
          <p:cNvSpPr txBox="1"/>
          <p:nvPr/>
        </p:nvSpPr>
        <p:spPr>
          <a:xfrm>
            <a:off x="508000" y="1953659"/>
            <a:ext cx="9759950" cy="547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000" b="1" noProof="1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业务链路：用户申请 → 银行卡绑定 → illion 数据解析 → </a:t>
            </a:r>
            <a:r>
              <a:rPr lang="zh-CN" altLang="en-US" sz="1000" b="1" noProof="1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银行流水信息抽取</a:t>
            </a:r>
            <a:r>
              <a:rPr lang="en-US" altLang="zh-CN" sz="1000" b="1" noProof="1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000" b="1" noProof="1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自动抽取引擎替换</a:t>
            </a:r>
            <a:r>
              <a:rPr lang="en-US" altLang="zh-CN" sz="1000" b="1" noProof="1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illion </a:t>
            </a:r>
            <a:r>
              <a:rPr lang="zh-CN" altLang="en-US" sz="1000" b="1" noProof="1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第三方引擎</a:t>
            </a:r>
            <a:r>
              <a:rPr lang="en-US" altLang="zh-CN" sz="1000" b="1" noProof="1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en-US" sz="1000" b="1" noProof="1">
                <a:solidFill>
                  <a:srgbClr val="1F4E7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Serviceability 计算 → 信审决策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496858" y="2476888"/>
            <a:ext cx="10845800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349240" cy="635000"/>
            </a:xfrm>
            <a:prstGeom prst="rect">
              <a:avLst/>
            </a:prstGeom>
            <a:solidFill>
              <a:srgbClr val="D9E2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5138928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00" b="1" noProof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just">
                <a:lnSpc>
                  <a:spcPct val="150000"/>
                </a:lnSpc>
              </a:pPr>
              <a:r>
                <a:rPr lang="en-US" sz="1000" b="1" noProof="1">
                  <a:solidFill>
                    <a:srgbClr val="1F4E7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Serviceability ＝ 收入 − 必要支出 − 负债还款 ＝ 客户可支配盈余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3" name="s2-bar">
            <a:extLst>
              <a:ext uri="{FF2B5EF4-FFF2-40B4-BE49-F238E27FC236}">
                <a16:creationId xmlns:a16="http://schemas.microsoft.com/office/drawing/2014/main" id="{0C83D77B-7EAD-4D95-8F2C-EF8CF3FF368F}"/>
              </a:ext>
            </a:extLst>
          </p:cNvPr>
          <p:cNvSpPr/>
          <p:nvPr/>
        </p:nvSpPr>
        <p:spPr>
          <a:xfrm>
            <a:off x="522258" y="3780087"/>
            <a:ext cx="50800" cy="1651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674658" y="3725053"/>
            <a:ext cx="546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合规背景：Responsible Lending 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s2-content">
            <a:extLst>
              <a:ext uri="{FF2B5EF4-FFF2-40B4-BE49-F238E27FC236}">
                <a16:creationId xmlns:a16="http://schemas.microsoft.com/office/drawing/2014/main" id="{ED8EFC04-479C-47CE-967B-363D293B4B51}"/>
              </a:ext>
            </a:extLst>
          </p:cNvPr>
          <p:cNvSpPr txBox="1"/>
          <p:nvPr/>
        </p:nvSpPr>
        <p:spPr>
          <a:xfrm>
            <a:off x="496858" y="4152698"/>
            <a:ext cx="5588000" cy="177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just">
              <a:lnSpc>
                <a:spcPct val="120000"/>
              </a:lnSpc>
              <a:spcAft>
                <a:spcPts val="300"/>
              </a:spcAft>
            </a:pPr>
            <a:r>
              <a:rPr lang="en-US" sz="1000" b="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依据《National Consumer Credit Protection Act 2009》及 ASIC 监管要求：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20000"/>
              </a:lnSpc>
              <a:spcBef>
                <a:spcPts val="700"/>
              </a:spcBef>
              <a:spcAft>
                <a:spcPts val="300"/>
              </a:spcAft>
            </a:pPr>
            <a:r>
              <a:rPr lang="en-US" sz="1000" b="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合理了解客户财务状况及借款目的；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</a:pPr>
            <a:r>
              <a:rPr lang="en-US" sz="1000" b="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核实收入、必要支出、现有负债及可预见变化；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</a:pPr>
            <a:r>
              <a:rPr lang="en-US" sz="1000" b="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判断客户能否在不造成重大经济困难的情况下履行还款义务；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just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</a:pPr>
            <a:r>
              <a:rPr lang="en-US" sz="1000" b="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 不得提供"不适合"的信贷产品。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D5BD4474-BF86-4869-935F-372860244AD7}"/>
              </a:ext>
            </a:extLst>
          </p:cNvPr>
          <p:cNvGrpSpPr/>
          <p:nvPr/>
        </p:nvGrpSpPr>
        <p:grpSpPr>
          <a:xfrm>
            <a:off x="6353115" y="3250886"/>
            <a:ext cx="5029200" cy="3448364"/>
            <a:chOff x="6353115" y="1454111"/>
            <a:chExt cx="5029200" cy="4635419"/>
          </a:xfrm>
        </p:grpSpPr>
        <p:sp>
          <p:nvSpPr>
            <p:cNvPr id="16" name="col-divider">
              <a:extLst>
                <a:ext uri="{FF2B5EF4-FFF2-40B4-BE49-F238E27FC236}">
                  <a16:creationId xmlns:a16="http://schemas.microsoft.com/office/drawing/2014/main" id="{7976569D-3495-4B8E-88A6-7289825D95F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  </p:ext>
              </p:extLst>
            </p:nvPr>
          </p:nvSpPr>
          <p:spPr>
            <a:xfrm>
              <a:off x="6353115" y="1481586"/>
              <a:ext cx="12700" cy="4318000"/>
            </a:xfrm>
            <a:custGeom>
              <a:avLst/>
              <a:gdLst/>
              <a:ahLst/>
              <a:cxnLst/>
              <a:rect l="l" t="t" r="r" b="b"/>
              <a:pathLst>
                <a:path w="1" h="340">
                  <a:moveTo>
                    <a:pt x="0" y="0"/>
                  </a:moveTo>
                  <a:lnTo>
                    <a:pt x="0" y="34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17" name="s3-bar">
              <a:extLst>
                <a:ext uri="{FF2B5EF4-FFF2-40B4-BE49-F238E27FC236}">
                  <a16:creationId xmlns:a16="http://schemas.microsoft.com/office/drawing/2014/main" id="{21522F87-C40C-40E0-893E-783C6AA054A4}"/>
                </a:ext>
              </a:extLst>
            </p:cNvPr>
            <p:cNvSpPr/>
            <p:nvPr/>
          </p:nvSpPr>
          <p:spPr>
            <a:xfrm>
              <a:off x="6607115" y="1492211"/>
              <a:ext cx="50800" cy="165100"/>
            </a:xfrm>
            <a:prstGeom prst="rect">
              <a:avLst/>
            </a:prstGeom>
            <a:solidFill>
              <a:srgbClr val="D6A000"/>
            </a:solidFill>
            <a:ln>
              <a:noFill/>
            </a:ln>
          </p:spPr>
        </p:sp>
        <p:sp>
          <p:nvSpPr>
            <p:cNvPr id="18" name="s3-title">
              <a:extLst>
                <a:ext uri="{FF2B5EF4-FFF2-40B4-BE49-F238E27FC236}">
                  <a16:creationId xmlns:a16="http://schemas.microsoft.com/office/drawing/2014/main" id="{1FFE6DD4-7A46-4B3E-BC75-CF290B1DDE30}"/>
                </a:ext>
              </a:extLst>
            </p:cNvPr>
            <p:cNvSpPr txBox="1"/>
            <p:nvPr/>
          </p:nvSpPr>
          <p:spPr>
            <a:xfrm>
              <a:off x="6759515" y="1454111"/>
              <a:ext cx="462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lang="en-US" sz="1100" b="1" noProof="1">
                  <a:solidFill>
                    <a:srgbClr val="1F4E7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三、传统第三方分类服务的主要局限（当前高度依赖 illion）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lim1">
              <a:extLst>
                <a:ext uri="{FF2B5EF4-FFF2-40B4-BE49-F238E27FC236}">
                  <a16:creationId xmlns:a16="http://schemas.microsoft.com/office/drawing/2014/main" id="{29CFB0D9-DDBE-46F7-A89B-345F1DB3EE89}"/>
                </a:ext>
              </a:extLst>
            </p:cNvPr>
            <p:cNvSpPr txBox="1"/>
            <p:nvPr/>
          </p:nvSpPr>
          <p:spPr>
            <a:xfrm>
              <a:off x="6607115" y="1860374"/>
              <a:ext cx="4775200" cy="711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>
                <a:lnSpc>
                  <a:spcPct val="150000"/>
                </a:lnSpc>
              </a:pPr>
              <a:r>
                <a:rPr lang="en-US" sz="1000" b="1" noProof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1. 分类逻辑不透明，问题难以定位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l">
                <a:lnSpc>
                  <a:spcPct val="150000"/>
                </a:lnSpc>
                <a:spcBef>
                  <a:spcPts val="300"/>
                </a:spcBef>
              </a:pPr>
              <a:r>
                <a:rPr lang="en-US" sz="900" b="0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黑盒模型：出现漏识别或误分类时，无法判断是交易描述、商户映射、分类规则还是计算逻辑的问题。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lim1-line">
              <a:extLst>
                <a:ext uri="{FF2B5EF4-FFF2-40B4-BE49-F238E27FC236}">
                  <a16:creationId xmlns:a16="http://schemas.microsoft.com/office/drawing/2014/main" id="{C26D36D6-CB8D-47F6-A278-A0A3C1177384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  </p:ext>
              </p:extLst>
            </p:nvPr>
          </p:nvSpPr>
          <p:spPr>
            <a:xfrm>
              <a:off x="6607115" y="2802140"/>
              <a:ext cx="4775200" cy="12700"/>
            </a:xfrm>
            <a:custGeom>
              <a:avLst/>
              <a:gdLst/>
              <a:ahLst/>
              <a:cxnLst/>
              <a:rect l="l" t="t" r="r" b="b"/>
              <a:pathLst>
                <a:path w="376" h="1">
                  <a:moveTo>
                    <a:pt x="0" y="0"/>
                  </a:moveTo>
                  <a:lnTo>
                    <a:pt x="37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lim2">
              <a:extLst>
                <a:ext uri="{FF2B5EF4-FFF2-40B4-BE49-F238E27FC236}">
                  <a16:creationId xmlns:a16="http://schemas.microsoft.com/office/drawing/2014/main" id="{3DD835B9-3D5D-4CF4-8B3A-387F16BA1963}"/>
                </a:ext>
              </a:extLst>
            </p:cNvPr>
            <p:cNvSpPr txBox="1"/>
            <p:nvPr/>
          </p:nvSpPr>
          <p:spPr>
            <a:xfrm>
              <a:off x="6607115" y="2908059"/>
              <a:ext cx="4775200" cy="812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>
                <a:lnSpc>
                  <a:spcPct val="150000"/>
                </a:lnSpc>
              </a:pPr>
              <a:r>
                <a:rPr lang="en-US" sz="1000" b="1" noProof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2. 分类粒度与覆盖不足，难以满足下游需求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l">
                <a:lnSpc>
                  <a:spcPct val="150000"/>
                </a:lnSpc>
                <a:spcBef>
                  <a:spcPts val="300"/>
                </a:spcBef>
              </a:pPr>
              <a:r>
                <a:rPr lang="en-US" sz="900" b="0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无法拆分 SACC、Non-SACC、BNPL、Line of Credit、Wage Advance 等贷款类型；小型商户、新兴平台、交易别名易被归入 Other 或错误分类，影响贷款归属、还款匹配及收入、支出、负债计算。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lim2-line">
              <a:extLst>
                <a:ext uri="{FF2B5EF4-FFF2-40B4-BE49-F238E27FC236}">
                  <a16:creationId xmlns:a16="http://schemas.microsoft.com/office/drawing/2014/main" id="{69CFA63F-F5C1-43D0-A14B-E681108AAB27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  </p:ext>
              </p:extLst>
            </p:nvPr>
          </p:nvSpPr>
          <p:spPr>
            <a:xfrm>
              <a:off x="6607115" y="4078616"/>
              <a:ext cx="4775200" cy="12700"/>
            </a:xfrm>
            <a:custGeom>
              <a:avLst/>
              <a:gdLst/>
              <a:ahLst/>
              <a:cxnLst/>
              <a:rect l="l" t="t" r="r" b="b"/>
              <a:pathLst>
                <a:path w="376" h="1">
                  <a:moveTo>
                    <a:pt x="0" y="0"/>
                  </a:moveTo>
                  <a:lnTo>
                    <a:pt x="37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lim3">
              <a:extLst>
                <a:ext uri="{FF2B5EF4-FFF2-40B4-BE49-F238E27FC236}">
                  <a16:creationId xmlns:a16="http://schemas.microsoft.com/office/drawing/2014/main" id="{DF394D01-5901-4F99-B01E-ADB1FCD8BFCC}"/>
                </a:ext>
              </a:extLst>
            </p:cNvPr>
            <p:cNvSpPr txBox="1"/>
            <p:nvPr/>
          </p:nvSpPr>
          <p:spPr>
            <a:xfrm>
              <a:off x="6607115" y="4078616"/>
              <a:ext cx="4775200" cy="812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>
                <a:lnSpc>
                  <a:spcPct val="150000"/>
                </a:lnSpc>
              </a:pPr>
              <a:r>
                <a:rPr lang="en-US" sz="1000" b="1" noProof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3. 输出字段与计算口径缺乏控制权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l">
                <a:lnSpc>
                  <a:spcPct val="150000"/>
                </a:lnSpc>
                <a:spcBef>
                  <a:spcPts val="300"/>
                </a:spcBef>
              </a:pPr>
              <a:r>
                <a:rPr lang="en-US" sz="900" b="0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下游 IDP 所需字段可能缺失，公式、数据窗口、异常处理无法按内部标准配置；Open Banking 等新数据源无分类字段，多供应商需维护多套适配逻辑，增加系统复杂度。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lim3-line">
              <a:extLst>
                <a:ext uri="{FF2B5EF4-FFF2-40B4-BE49-F238E27FC236}">
                  <a16:creationId xmlns:a16="http://schemas.microsoft.com/office/drawing/2014/main" id="{336ACEC6-E59C-48C3-943D-F0CA55FF2277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  </p:ext>
              </p:extLst>
            </p:nvPr>
          </p:nvSpPr>
          <p:spPr>
            <a:xfrm>
              <a:off x="6607115" y="5111553"/>
              <a:ext cx="4775200" cy="12700"/>
            </a:xfrm>
            <a:custGeom>
              <a:avLst/>
              <a:gdLst/>
              <a:ahLst/>
              <a:cxnLst/>
              <a:rect l="l" t="t" r="r" b="b"/>
              <a:pathLst>
                <a:path w="376" h="1">
                  <a:moveTo>
                    <a:pt x="0" y="0"/>
                  </a:moveTo>
                  <a:lnTo>
                    <a:pt x="37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lim4">
              <a:extLst>
                <a:ext uri="{FF2B5EF4-FFF2-40B4-BE49-F238E27FC236}">
                  <a16:creationId xmlns:a16="http://schemas.microsoft.com/office/drawing/2014/main" id="{8C3E2394-8FDD-4456-9360-CEBCC189CB32}"/>
                </a:ext>
              </a:extLst>
            </p:cNvPr>
            <p:cNvSpPr txBox="1"/>
            <p:nvPr/>
          </p:nvSpPr>
          <p:spPr>
            <a:xfrm>
              <a:off x="6607115" y="5238630"/>
              <a:ext cx="4775200" cy="711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>
                <a:lnSpc>
                  <a:spcPct val="150000"/>
                </a:lnSpc>
              </a:pPr>
              <a:r>
                <a:rPr lang="en-US" sz="1000" b="1" noProof="1">
                  <a:solidFill>
                    <a:srgbClr val="0A0A0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4. 关键业务能力受制于外部供应商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l">
                <a:lnSpc>
                  <a:spcPct val="150000"/>
                </a:lnSpc>
                <a:spcBef>
                  <a:spcPts val="300"/>
                </a:spcBef>
              </a:pPr>
              <a:r>
                <a:rPr lang="en-US" sz="900" b="0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调整依赖供应商排期、响应周期长；交易分类作为基础能力，长期依赖会限制模型优化、策略调整与产品创新的自主性。</a:t>
              </a:r>
              <a:endParaRPr lang="en-US" sz="90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lim4-line">
              <a:extLst>
                <a:ext uri="{FF2B5EF4-FFF2-40B4-BE49-F238E27FC236}">
                  <a16:creationId xmlns:a16="http://schemas.microsoft.com/office/drawing/2014/main" id="{B06F18DC-59DF-4006-887C-06DD5753F50F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  </p:ext>
              </p:extLst>
            </p:nvPr>
          </p:nvSpPr>
          <p:spPr>
            <a:xfrm>
              <a:off x="6607115" y="6076830"/>
              <a:ext cx="4775200" cy="12700"/>
            </a:xfrm>
            <a:custGeom>
              <a:avLst/>
              <a:gdLst/>
              <a:ahLst/>
              <a:cxnLst/>
              <a:rect l="l" t="t" r="r" b="b"/>
              <a:pathLst>
                <a:path w="376" h="1">
                  <a:moveTo>
                    <a:pt x="0" y="0"/>
                  </a:moveTo>
                  <a:lnTo>
                    <a:pt x="37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  <p:txBody>
            <a:bodyPr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从一笔交易到完整的客户财务画像，输出直接回答新增还款能力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altLang="zh-CN" sz="1400" b="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原始流水 → 交易明细维度 → 用户汇总维度 → Serviceability 计算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D65428F-6A5F-41C4-ACB7-27279799D716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431800" y="1092200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256AB727-6509-4BCF-BA26-40B0BD5787C0}"/>
              </a:ext>
            </a:extLst>
          </p:cNvPr>
          <p:cNvSpPr/>
          <p:nvPr/>
        </p:nvSpPr>
        <p:spPr>
          <a:xfrm>
            <a:off x="431800" y="1244600"/>
            <a:ext cx="50800" cy="1651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84200" y="12065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原始银行流水（输入示例）</a:t>
            </a:r>
            <a:endParaRPr lang="en-US" sz="12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s2-bar">
            <a:extLst>
              <a:ext uri="{FF2B5EF4-FFF2-40B4-BE49-F238E27FC236}">
                <a16:creationId xmlns:a16="http://schemas.microsoft.com/office/drawing/2014/main" id="{7853D23C-C185-4C77-A7C2-9AB671AE2557}"/>
              </a:ext>
            </a:extLst>
          </p:cNvPr>
          <p:cNvSpPr/>
          <p:nvPr/>
        </p:nvSpPr>
        <p:spPr>
          <a:xfrm>
            <a:off x="482600" y="2793448"/>
            <a:ext cx="50800" cy="1651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35000" y="275534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交易明细维度：理解每一笔交易（输出示例）</a:t>
            </a:r>
            <a:endParaRPr lang="en-US" sz="12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s3-bar">
            <a:extLst>
              <a:ext uri="{FF2B5EF4-FFF2-40B4-BE49-F238E27FC236}">
                <a16:creationId xmlns:a16="http://schemas.microsoft.com/office/drawing/2014/main" id="{03AA8B0D-EE0C-4284-BAB6-CE9132870F8C}"/>
              </a:ext>
            </a:extLst>
          </p:cNvPr>
          <p:cNvSpPr/>
          <p:nvPr/>
        </p:nvSpPr>
        <p:spPr>
          <a:xfrm>
            <a:off x="625415" y="4438352"/>
            <a:ext cx="50800" cy="1651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777815" y="4400252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3. 用户汇总维度：形成完整负债画像（输出示例）</a:t>
            </a:r>
            <a:endParaRPr lang="en-US" sz="12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33400" y="1565734"/>
          <a:ext cx="9036523" cy="12618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0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9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2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19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2026/03/26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A$156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BILL PAY Fair Go Finance DT.58oa72 SACC 239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2026/03/28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A$12.40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MCDONALDS BRISBANE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2026/04/02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A$35.90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CHEMIST WAREHOUSE 123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2026/04/08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A$8.99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AMZNPRIMEA*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2026/04/10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A$3,420.50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PAYROLL ACME PTY LTD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2026/04/15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A$25.00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EFTPOS DEBIT 20NOV LMF GAMES &amp; AMUSEMENTS NORTHMEAD NSW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7226942"/>
              </p:ext>
            </p:extLst>
          </p:nvPr>
        </p:nvGraphicFramePr>
        <p:xfrm>
          <a:off x="600015" y="3044141"/>
          <a:ext cx="11067680" cy="11981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47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2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6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43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67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0430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492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811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标准交易对手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主体类型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一级分类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二级分类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交易性质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交易金额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分类依据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2026/03/26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BILL PAY Fair Go Finance DT.58oa72 SACC 239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Fair Go Finance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贷款机构 / 小额信贷机构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贷款及还款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贷款还款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A$156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交易方向、机构名称、产品关键词及历史交易模式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2026/03/28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MCDONALDS BRISBANE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McDonald's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商户企业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消费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Dining Out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消费支出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A$12.40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商户知识库标准名匹配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2026/04/02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CHEMIST WAREHOUSE 123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Chemist Warehouse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商户企业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消费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Health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消费支出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A$35.90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商户知识库标准名匹配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2026/04/08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AMZNPRIMEA*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Amazon Prime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商户企业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订阅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Subscription TV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订阅支出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A$8.99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商户知识库标准名匹配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2026/04/10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PAYROLL ACME PTY LTD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ACME PTY LTD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雇主 / 收入付款方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收入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salary_payg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工资收入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A$3,420.50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工资文本模式 + 双周周期 + 稳定金额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831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2026/04/15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EFTPOS DEBIT 20NOV LMF GAMES &amp; AMUSEMENTS NORTHMEAD NSW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LMF Games &amp; Amusements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商户企业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消费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Entertainment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消费支出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A$25.00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 err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商户知识库标准名匹配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30352" y="4681728"/>
          <a:ext cx="3430705" cy="19750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58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2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955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指标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结果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955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贷款机构数量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 家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955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90 天借款金额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A$2,300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55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90 天还款金额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A$1,284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55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平均月还款金额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A$428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955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预计待还金额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A$1,016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955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还款次数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9 次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955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是否存在 SACC 贷款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是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955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是否存在多头借贷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是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955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是否持续还款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是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955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是否出现还款中断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否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114800" y="4681728"/>
          <a:ext cx="7644383" cy="19751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92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2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指标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Fair Go Finance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贷款类型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借款金额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A$1,500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dirty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90 天已还金额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A$936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预计待还金额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A$564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还款频率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每两周 A$156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月还款金额（估算）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约 A$338（A$156 × 26/12）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dirty="0" err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预计剩余期数（估算）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约 4 期（借款 ÷ 每期 ≈ 10 期，已还约 6 期）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90 天还款次数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6 次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当前状态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在贷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扣款失败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否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还款中断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否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193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年化利率（APR）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【待补充】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altLang="zh-CN" sz="1400" b="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194211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标准商户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关键词／别名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类别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Temu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TEMU.COM、TEMU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Online Shopping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Uber Eats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UBER EATS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Dining Out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Netflix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NETFLIX.COM、NETFLIX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Subscription TV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Spotify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SPOTIFY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Entertainment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OpenAI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OPENAI *CHATGPT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Information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90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场景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交易描述与线索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命中的知识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普通工资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PAYROLL ACME 双周入账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Payroll 模式＋周期＋稳定阈值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薪酬包装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SALARY PACKAGING ...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薪酬包装模式优先于普通工资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政府补助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CENTRELINK ...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Centrelink 专项模式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零工收入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UBER 入账，无退款信号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零工模式＋入账方向＋排除规则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90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568016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知识库／场景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交易描述示例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altLang="zh-CN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命中的知识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BNPL 对手库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DIRECT DEBIT AFTERPAY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BNPL 交易对手关键词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信用卡规则库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BPAY ... ANZ CARDS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银行、账户类型、方向与文本共同匹配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房贷规则库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MORTGAGE REPAYMENT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Mortgage、Home Loan 关键词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车贷规则库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车贷机构或专用描述扣款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车贷标记＋交易对手规则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1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催收／债务整合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已知催收机构或整合描述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800" b="0" noProof="1">
                          <a:latin typeface="微软雅黑" panose="020B0503020204020204" pitchFamily="34" charset="-122"/>
                          <a:ea typeface="微软雅黑" panose="020B0503020204020204" pitchFamily="34" charset="-122"/>
                          <a:solidFill>
                            <a:srgbClr val="0A0A0A"/>
                          </a:solidFill>
                        </a:rPr>
                        <a:t>催收、整合关键词与专项标记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90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0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2A69DA-792E-4EF6-BBB2-2066D247A0B4}"/>
              </a:ext>
            </a:extLst>
          </p:cNvPr>
          <p:cNvSpPr txBox="1"/>
          <p:nvPr/>
        </p:nvSpPr>
        <p:spPr>
          <a:xfrm>
            <a:off x="6311257" y="1990719"/>
            <a:ext cx="5540237" cy="2103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AI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不参与实时分类，而是在分类完成后，以历史分类结果和既定规则为基线（不直接对比外部标签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），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持续监控输出质量并驱动知识库更新。闭环分为四步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：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①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监控：捕捉分类批量漂移、同一交易对手归类不一致、覆盖率或命中率明显下降、新描述未被任何引擎识别等异常信号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②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定位：对异常逐笔细挖交易描述、金额、方向、交易对手、命中引擎和分类依据，归类为五类原因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 dirty="0" err="1">
                <a:solidFill>
                  <a:srgbClr val="1F4E79"/>
                </a:solidFill>
                <a:latin typeface="微软雅黑"/>
                <a:ea typeface="微软雅黑"/>
              </a:rPr>
              <a:t>五类定位原因示例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③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输出：生成按优先级排序的诊断报告，直接标明问题引擎、需检查的规则、缺失的商户／关键词及应补充的知识库，供业务确认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效果：知识库随注册商户的新增、变更、失效持续更新，并从真实交易中补齐注册数据未覆盖的支付描述和商户别名。由此形成"分类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→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监控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→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定位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→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输出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→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更新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→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再分类"的持续优化闭环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311257" y="4166991"/>
          <a:ext cx="5540236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定位原因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示例场景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引擎规则问题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知识库不足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 err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新开业商户或新兴 BNPL 平台的交易描述未收录，落入 Other 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数据本身异常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多引擎冲突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正常波动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 err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11257" y="5282559"/>
            <a:ext cx="5540237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优先级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定位原因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建议动作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P0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房租交易批量被归为内部转账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引擎规则问题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优化 Transfer 排除规则并补充回归用例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P1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新 BNPL 平台还款未被识别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知识库不足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补充平台名称及扣款描述关键词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P2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某商户 7 月分类占比短期上升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正常波动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 err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827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/>
        </p:nvSpPr>
        <p:spPr>
          <a:xfrm>
            <a:off x="4626389" y="5028330"/>
            <a:ext cx="7552186" cy="1033271"/>
          </a:xfrm>
          <a:prstGeom prst="rect">
            <a:avLst/>
          </a:prstGeom>
          <a:noFill/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626389" y="3793890"/>
            <a:ext cx="7552186" cy="1207007"/>
          </a:xfrm>
          <a:prstGeom prst="rect">
            <a:avLst/>
          </a:prstGeom>
          <a:noFill/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626389" y="3236105"/>
            <a:ext cx="7552186" cy="588264"/>
          </a:xfrm>
          <a:prstGeom prst="rect">
            <a:avLst/>
          </a:prstGeom>
          <a:noFill/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Liability 贷款识别：覆盖、一致性与精度全面优于 illion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36DB2D2-B074-48BD-8B28-6034EA1CCFC2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altLang="zh-CN" sz="1400" b="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OOT 样本对比：1,519 个申请 case ｜ 1,958,480 条交易 ｜ 2026/07/27–2026/07/31 ｜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079A0AE7-E93F-4E2C-A60F-444BCE10FFC1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</p:ext>
            </p:extLst>
          </p:nvPr>
        </p:nvSpPr>
        <p:spPr>
          <a:xfrm>
            <a:off x="511115" y="1131498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135386F4-E10A-4257-B55F-FE6F08318C43}"/>
              </a:ext>
            </a:extLst>
          </p:cNvPr>
          <p:cNvSpPr/>
          <p:nvPr/>
        </p:nvSpPr>
        <p:spPr>
          <a:xfrm>
            <a:off x="511115" y="1309298"/>
            <a:ext cx="50800" cy="165100"/>
          </a:xfrm>
          <a:prstGeom prst="rect">
            <a:avLst/>
          </a:prstGeom>
          <a:solidFill>
            <a:srgbClr val="1F4E79"/>
          </a:solidFill>
          <a:ln>
            <a:noFill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BA9491F9-AA95-407A-80D0-07D99F871C6C}"/>
              </a:ext>
            </a:extLst>
          </p:cNvPr>
          <p:cNvSpPr txBox="1"/>
          <p:nvPr/>
        </p:nvSpPr>
        <p:spPr>
          <a:xfrm>
            <a:off x="663515" y="1271198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贷款识别覆盖交集：我方漏识别更少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venn-chart">
            <a:extLst>
              <a:ext uri="{FF2B5EF4-FFF2-40B4-BE49-F238E27FC236}">
                <a16:creationId xmlns:a16="http://schemas.microsoft.com/office/drawing/2014/main" id="{8DB4E448-7F96-40D5-9ABC-2EAB4ADC77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05130105"/>
              </p:ext>
            </p:extLst>
          </p:nvPr>
        </p:nvGraphicFramePr>
        <p:xfrm>
          <a:off x="409515" y="1600200"/>
          <a:ext cx="3977639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mid-divider">
            <a:extLst>
              <a:ext uri="{FF2B5EF4-FFF2-40B4-BE49-F238E27FC236}">
                <a16:creationId xmlns:a16="http://schemas.microsoft.com/office/drawing/2014/main" id="{10BC6DBA-D788-4E7C-9D13-A6EC2F8D30E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</p:ext>
            </p:extLst>
          </p:nvPr>
        </p:nvSpPr>
        <p:spPr>
          <a:xfrm>
            <a:off x="511114" y="2523346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8E7B1C7-3A48-41F0-9CCD-33504C985117}"/>
              </a:ext>
            </a:extLst>
          </p:cNvPr>
          <p:cNvSpPr txBox="1"/>
          <p:nvPr/>
        </p:nvSpPr>
        <p:spPr>
          <a:xfrm>
            <a:off x="4672109" y="1535322"/>
            <a:ext cx="7460751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典型案例：</a:t>
            </a:r>
            <a:endParaRPr lang="zh-CN" altLang="en-US" sz="800" b="0" dirty="0">
              <a:effectLst/>
              <a:latin typeface="+mn-ea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Case 1：覆盖——Home Loan 被 illion 漏识别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价值：产品词库捕捉 illion 覆盖盲区，扩大贷款识别面。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Case 2：一致性——同一贷款流内 illion 标签自相矛盾（MoneySpot）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同一贷款流共 11 笔：放款 1 笔（750 澳元）+ 等额还款 10 笔（49.09 澳元/期），以下展示代表性笔次。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Case 3：精度——LOC 产品被 illion 泛化为 SACC（Credit24）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同一用户共 19 笔 Credit24 交易，全部被 illion 标为 SACC Loans，以下展示代表性笔次。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完整 19 笔中，illion 全部标为 SACC Loans，忽略产品类型差异；我方结合交易模式与机构产品库识别为循环授信（LOC），归入 Non-SACC Loans（LOC 在监管属性、利率上限上与 SACC 有本质区别）。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72109" y="3345834"/>
          <a:ext cx="7460747" cy="405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5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51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1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48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76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72109" y="3885330"/>
          <a:ext cx="7460747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5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51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1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48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76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72109" y="5119770"/>
          <a:ext cx="7460747" cy="868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5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51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1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48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76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Debit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  <a:solidFill>
                            <a:srgbClr val="0A0A0A"/>
                          </a:solidFill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502920" y="3977639"/>
            <a:ext cx="1234440" cy="868680"/>
          </a:xfrm>
          <a:prstGeom prst="rect">
            <a:avLst/>
          </a:prstGeom>
          <a:solidFill>
            <a:srgbClr val="D9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7784" y="4069079"/>
            <a:ext cx="11247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微软雅黑"/>
              </a:rPr>
              <a:t>5,680 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" y="4453127"/>
            <a:ext cx="112471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3D3C3A"/>
                </a:solidFill>
                <a:latin typeface="微软雅黑"/>
              </a:rPr>
              <a:t>我方识别
覆盖率 12.8%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92224" y="3977639"/>
            <a:ext cx="1234440" cy="868680"/>
          </a:xfrm>
          <a:prstGeom prst="rect">
            <a:avLst/>
          </a:prstGeom>
          <a:solidFill>
            <a:srgbClr val="D9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847088" y="4069079"/>
            <a:ext cx="11247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微软雅黑"/>
              </a:rPr>
              <a:t>5,363 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47088" y="4453127"/>
            <a:ext cx="112471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3D3C3A"/>
                </a:solidFill>
                <a:latin typeface="微软雅黑"/>
              </a:rPr>
              <a:t>illion 识别
覆盖率 12.1%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81528" y="3977639"/>
            <a:ext cx="1234440" cy="868680"/>
          </a:xfrm>
          <a:prstGeom prst="rect">
            <a:avLst/>
          </a:prstGeom>
          <a:solidFill>
            <a:srgbClr val="D9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36392" y="4069079"/>
            <a:ext cx="11247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微软雅黑"/>
              </a:rPr>
              <a:t>5,284 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36392" y="4453127"/>
            <a:ext cx="112471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3D3C3A"/>
                </a:solidFill>
                <a:latin typeface="微软雅黑"/>
              </a:rPr>
              <a:t>双方共认
一致率 92.0%</a:t>
            </a:r>
          </a:p>
        </p:txBody>
      </p:sp>
    </p:spTree>
    <p:extLst>
      <p:ext uri="{BB962C8B-B14F-4D97-AF65-F5344CB8AC3E}">
        <p14:creationId xmlns:p14="http://schemas.microsoft.com/office/powerpoint/2010/main" val="500741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457</TotalTime>
  <Words>1160</Words>
  <Application>Microsoft Office PowerPoint</Application>
  <PresentationFormat>宽屏</PresentationFormat>
  <Paragraphs>351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</vt:lpstr>
      <vt:lpstr>等线</vt:lpstr>
      <vt:lpstr>微软雅黑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83</cp:revision>
  <dcterms:modified xsi:type="dcterms:W3CDTF">2026-08-09T08:45:09Z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