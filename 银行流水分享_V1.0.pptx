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1" r:id="rId3"/>
    <p:sldId id="262" r:id="rId4"/>
    <p:sldId id="265" r:id="rId5"/>
  </p:sldIdLst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1"/>
            <p14:sldId id="262"/>
            <p14:sldId id="265"/>
          </p14:sldIdLst>
        </p14:section>
        <p14:section name="变量挖掘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1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8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Finv独有</c:v>
                </c:pt>
              </c:strCache>
            </c:strRef>
          </c:tx>
          <c:spPr>
            <a:solidFill>
              <a:srgbClr val="0A0A0A"/>
            </a:solidFill>
          </c:spPr>
          <c:invertIfNegative val="1"/>
          <c:dLbls>
            <c:dLbl>
              <c:idx val="0"/>
              <c:layout>
                <c:manualLayout>
                  <c:x val="1.1904761904761899E-2"/>
                  <c:y val="-3.0968110722210795E-17"/>
                </c:manualLayout>
              </c:layout>
              <c:tx>
                <c:rich>
                  <a:bodyPr/>
                  <a:lstStyle/>
                  <a:p>
                    <a:r>
                      <a:rPr lang="en-US" altLang="zh-CN"/>
                      <a:t>6.88%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65-4694-A153-D0117E094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双方共认</c:v>
                </c:pt>
              </c:strCache>
            </c:strRef>
          </c:tx>
          <c:spPr>
            <a:solidFill>
              <a:srgbClr val="A7A7A7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pPr>
                      <a:defRPr sz="1100"/>
                    </a:pPr>
                    <a:r>
                      <a:rPr lang="en-US" altLang="zh-CN" dirty="0"/>
                      <a:t>91.75%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65-4694-A153-D0117E0940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5284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E65-4694-A153-D0117E094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Illion 独有</c:v>
                </c:pt>
              </c:strCache>
            </c:strRef>
          </c:tx>
          <c:spPr>
            <a:solidFill>
              <a:srgbClr val="D6D6D6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1.37%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E65-4694-A153-D0117E094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100"/>
        <c:axId val="1"/>
        <c:axId val="2"/>
      </c:barChart>
      <c:catAx>
        <c:axId val="1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00"/>
          <c:min val="0"/>
        </c:scaling>
        <c:delete val="1"/>
        <c:axPos val="b"/>
        <c:majorGridlines>
          <c:spPr>
            <a:ln w="12700">
              <a:solidFill>
                <a:srgbClr val="E0E6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1"/>
        <c:crosses val="autoZero"/>
        <c:crossBetween val="between"/>
        <c:majorUnit val="1000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607168" y="195922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607168" y="62036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流水识别决定收入、支出与负债计算结果，是信审判断的直接输入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1115" y="56268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业务链路 · 合规背景 · 第三方分类服务局限 ｜ NCCP Act 2009 及 ASIC 监管要求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DA310045-390A-4F12-B24A-86F975121384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511115" y="1191643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11115" y="1492211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663515" y="145411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1-chain">
            <a:extLst>
              <a:ext uri="{FF2B5EF4-FFF2-40B4-BE49-F238E27FC236}">
                <a16:creationId xmlns:a16="http://schemas.microsoft.com/office/drawing/2014/main" id="{8AF677AB-108E-41E7-9868-8658AD6B41EC}"/>
              </a:ext>
            </a:extLst>
          </p:cNvPr>
          <p:cNvSpPr txBox="1"/>
          <p:nvPr/>
        </p:nvSpPr>
        <p:spPr>
          <a:xfrm>
            <a:off x="508000" y="1953659"/>
            <a:ext cx="5588000" cy="547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1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业务链路</a:t>
            </a:r>
            <a:r>
              <a:rPr 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：用户申请 → 银行卡绑定 → illion 数据解析 → </a:t>
            </a:r>
            <a:r>
              <a:rPr lang="zh-CN" alt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银行流水信息抽取</a:t>
            </a:r>
            <a:r>
              <a:rPr lang="en-US" sz="11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Serviceability 计算 → 信审决策</a:t>
            </a:r>
          </a:p>
        </p:txBody>
      </p:sp>
      <p:sp>
        <p:nvSpPr>
          <p:cNvPr id="10" name="s1-formula-bg">
            <a:extLst>
              <a:ext uri="{FF2B5EF4-FFF2-40B4-BE49-F238E27FC236}">
                <a16:creationId xmlns:a16="http://schemas.microsoft.com/office/drawing/2014/main" id="{588EFC8B-6D9B-4BC6-A58A-94C590D91AE6}"/>
              </a:ext>
            </a:extLst>
          </p:cNvPr>
          <p:cNvSpPr/>
          <p:nvPr/>
        </p:nvSpPr>
        <p:spPr>
          <a:xfrm>
            <a:off x="489948" y="2635555"/>
            <a:ext cx="5588000" cy="635000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11" name="s1-formula-bar">
            <a:extLst>
              <a:ext uri="{FF2B5EF4-FFF2-40B4-BE49-F238E27FC236}">
                <a16:creationId xmlns:a16="http://schemas.microsoft.com/office/drawing/2014/main" id="{54C6A925-1E42-4045-8D2E-2CC8F4C7EE07}"/>
              </a:ext>
            </a:extLst>
          </p:cNvPr>
          <p:cNvSpPr/>
          <p:nvPr/>
        </p:nvSpPr>
        <p:spPr>
          <a:xfrm>
            <a:off x="489948" y="2635555"/>
            <a:ext cx="50800" cy="635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12" name="s1-formula">
            <a:extLst>
              <a:ext uri="{FF2B5EF4-FFF2-40B4-BE49-F238E27FC236}">
                <a16:creationId xmlns:a16="http://schemas.microsoft.com/office/drawing/2014/main" id="{A03A2A13-DC76-4440-BC65-6AA049FAFCE2}"/>
              </a:ext>
            </a:extLst>
          </p:cNvPr>
          <p:cNvSpPr txBox="1"/>
          <p:nvPr/>
        </p:nvSpPr>
        <p:spPr>
          <a:xfrm>
            <a:off x="667748" y="2635555"/>
            <a:ext cx="533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05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核心计算逻辑（Serviceability）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sz="105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Serviceability ＝ 收入 − 必要支出 − 负债还款 ＝ 客户可支配盈余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2-bar">
            <a:extLst>
              <a:ext uri="{FF2B5EF4-FFF2-40B4-BE49-F238E27FC236}">
                <a16:creationId xmlns:a16="http://schemas.microsoft.com/office/drawing/2014/main" id="{0C83D77B-7EAD-4D95-8F2C-EF8CF3FF368F}"/>
              </a:ext>
            </a:extLst>
          </p:cNvPr>
          <p:cNvSpPr/>
          <p:nvPr/>
        </p:nvSpPr>
        <p:spPr>
          <a:xfrm>
            <a:off x="522258" y="3780087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674658" y="3725053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二、合规背景：Responsible Lending 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2-content">
            <a:extLst>
              <a:ext uri="{FF2B5EF4-FFF2-40B4-BE49-F238E27FC236}">
                <a16:creationId xmlns:a16="http://schemas.microsoft.com/office/drawing/2014/main" id="{ED8EFC04-479C-47CE-967B-363D293B4B51}"/>
              </a:ext>
            </a:extLst>
          </p:cNvPr>
          <p:cNvSpPr txBox="1"/>
          <p:nvPr/>
        </p:nvSpPr>
        <p:spPr>
          <a:xfrm>
            <a:off x="496858" y="4152698"/>
            <a:ext cx="5588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5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依据《National Consumer Credit Protection Act 2009》及 ASIC 监管要求：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7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合理了解客户财务状况及借款目的；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核实收入、必要支出、现有负债及可预见变化；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判断客户能否在不造成重大经济困难的情况下履行还款义务；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5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不得提供"不适合"的信贷产品。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ol-divider">
            <a:extLst>
              <a:ext uri="{FF2B5EF4-FFF2-40B4-BE49-F238E27FC236}">
                <a16:creationId xmlns:a16="http://schemas.microsoft.com/office/drawing/2014/main" id="{7976569D-3495-4B8E-88A6-7289825D95F9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eyJ2aWV3Qm94IjpbMSwzNDBdLCJwb2ludHMiOiIwLDAgMCwzNDAifQ</pptd:line>
              </p:ext>
            </p:extLst>
          </p:nvPr>
        </p:nvSpPr>
        <p:spPr>
          <a:xfrm>
            <a:off x="6353115" y="1481586"/>
            <a:ext cx="12700" cy="4318000"/>
          </a:xfrm>
          <a:custGeom>
            <a:avLst/>
            <a:gdLst/>
            <a:ahLst/>
            <a:cxnLst/>
            <a:rect l="l" t="t" r="r" b="b"/>
            <a:pathLst>
              <a:path w="1" h="340">
                <a:moveTo>
                  <a:pt x="0" y="0"/>
                </a:moveTo>
                <a:lnTo>
                  <a:pt x="0" y="34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7" name="s3-bar">
            <a:extLst>
              <a:ext uri="{FF2B5EF4-FFF2-40B4-BE49-F238E27FC236}">
                <a16:creationId xmlns:a16="http://schemas.microsoft.com/office/drawing/2014/main" id="{21522F87-C40C-40E0-893E-783C6AA054A4}"/>
              </a:ext>
            </a:extLst>
          </p:cNvPr>
          <p:cNvSpPr/>
          <p:nvPr/>
        </p:nvSpPr>
        <p:spPr>
          <a:xfrm>
            <a:off x="6607115" y="1492211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8" name="s3-title">
            <a:extLst>
              <a:ext uri="{FF2B5EF4-FFF2-40B4-BE49-F238E27FC236}">
                <a16:creationId xmlns:a16="http://schemas.microsoft.com/office/drawing/2014/main" id="{1FFE6DD4-7A46-4B3E-BC75-CF290B1DDE30}"/>
              </a:ext>
            </a:extLst>
          </p:cNvPr>
          <p:cNvSpPr txBox="1"/>
          <p:nvPr/>
        </p:nvSpPr>
        <p:spPr>
          <a:xfrm>
            <a:off x="6759515" y="1454111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三、传统第三方分类服务的主要局限（当前高度依赖 illion）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m1">
            <a:extLst>
              <a:ext uri="{FF2B5EF4-FFF2-40B4-BE49-F238E27FC236}">
                <a16:creationId xmlns:a16="http://schemas.microsoft.com/office/drawing/2014/main" id="{29CFB0D9-DDBE-46F7-A89B-345F1DB3EE89}"/>
              </a:ext>
            </a:extLst>
          </p:cNvPr>
          <p:cNvSpPr txBox="1"/>
          <p:nvPr/>
        </p:nvSpPr>
        <p:spPr>
          <a:xfrm>
            <a:off x="6607115" y="1860374"/>
            <a:ext cx="4775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分类逻辑不透明，问题难以定位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黑盒模型：出现漏识别或误分类时，无法判断是交易描述、商户映射、分类规则还是计算逻辑的问题。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m1-line">
            <a:extLst>
              <a:ext uri="{FF2B5EF4-FFF2-40B4-BE49-F238E27FC236}">
                <a16:creationId xmlns:a16="http://schemas.microsoft.com/office/drawing/2014/main" id="{C26D36D6-CB8D-47F6-A278-A0A3C1177384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</p:ext>
            </p:extLst>
          </p:nvPr>
        </p:nvSpPr>
        <p:spPr>
          <a:xfrm>
            <a:off x="6607115" y="2698574"/>
            <a:ext cx="4775200" cy="12700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1" name="lim2">
            <a:extLst>
              <a:ext uri="{FF2B5EF4-FFF2-40B4-BE49-F238E27FC236}">
                <a16:creationId xmlns:a16="http://schemas.microsoft.com/office/drawing/2014/main" id="{3DD835B9-3D5D-4CF4-8B3A-387F16BA1963}"/>
              </a:ext>
            </a:extLst>
          </p:cNvPr>
          <p:cNvSpPr txBox="1"/>
          <p:nvPr/>
        </p:nvSpPr>
        <p:spPr>
          <a:xfrm>
            <a:off x="6607115" y="2908059"/>
            <a:ext cx="4775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分类粒度与覆盖不足，难以满足下游需求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无法拆分 SACC、Non-SACC、BNPL、Line of Credit、Wage Advance 等贷款类型；小型商户、新兴平台、交易别名易被归入 Other 或错误分类，影响贷款归属、还款匹配及收入、支出、负债计算。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m2-line">
            <a:extLst>
              <a:ext uri="{FF2B5EF4-FFF2-40B4-BE49-F238E27FC236}">
                <a16:creationId xmlns:a16="http://schemas.microsoft.com/office/drawing/2014/main" id="{69CFA63F-F5C1-43D0-A14B-E681108AAB27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</p:ext>
            </p:extLst>
          </p:nvPr>
        </p:nvSpPr>
        <p:spPr>
          <a:xfrm>
            <a:off x="6607115" y="3949463"/>
            <a:ext cx="4775200" cy="12700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3" name="lim3">
            <a:extLst>
              <a:ext uri="{FF2B5EF4-FFF2-40B4-BE49-F238E27FC236}">
                <a16:creationId xmlns:a16="http://schemas.microsoft.com/office/drawing/2014/main" id="{DF394D01-5901-4F99-B01E-ADB1FCD8BFCC}"/>
              </a:ext>
            </a:extLst>
          </p:cNvPr>
          <p:cNvSpPr txBox="1"/>
          <p:nvPr/>
        </p:nvSpPr>
        <p:spPr>
          <a:xfrm>
            <a:off x="6607115" y="4078616"/>
            <a:ext cx="47752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输出字段与计算口径缺乏控制权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下游 IDP 所需字段可能缺失，公式、数据窗口、异常处理无法按内部标准配置；Open Banking 等新数据源无分类字段，多供应商需维护多套适配逻辑，增加系统复杂度。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m3-line">
            <a:extLst>
              <a:ext uri="{FF2B5EF4-FFF2-40B4-BE49-F238E27FC236}">
                <a16:creationId xmlns:a16="http://schemas.microsoft.com/office/drawing/2014/main" id="{336ACEC6-E59C-48C3-943D-F0CA55FF2277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</p:ext>
            </p:extLst>
          </p:nvPr>
        </p:nvSpPr>
        <p:spPr>
          <a:xfrm>
            <a:off x="6607115" y="5111553"/>
            <a:ext cx="4775200" cy="12700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5" name="lim4">
            <a:extLst>
              <a:ext uri="{FF2B5EF4-FFF2-40B4-BE49-F238E27FC236}">
                <a16:creationId xmlns:a16="http://schemas.microsoft.com/office/drawing/2014/main" id="{8C3E2394-8FDD-4456-9360-CEBCC189CB32}"/>
              </a:ext>
            </a:extLst>
          </p:cNvPr>
          <p:cNvSpPr txBox="1"/>
          <p:nvPr/>
        </p:nvSpPr>
        <p:spPr>
          <a:xfrm>
            <a:off x="6607115" y="5238630"/>
            <a:ext cx="4775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5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关键业务能力受制于外部供应商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调整依赖供应商排期、响应周期长；交易分类作为基础能力，长期依赖会限制模型优化、策略调整与产品创新的自主性。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m4-line">
            <a:extLst>
              <a:ext uri="{FF2B5EF4-FFF2-40B4-BE49-F238E27FC236}">
                <a16:creationId xmlns:a16="http://schemas.microsoft.com/office/drawing/2014/main" id="{B06F18DC-59DF-4006-887C-06DD5753F50F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eyJ2aWV3Qm94IjpbMzc2LDFdLCJwb2ludHMiOiIwLDAgMzc2LDAifQ</pptd:line>
              </p:ext>
            </p:extLst>
          </p:nvPr>
        </p:nvSpPr>
        <p:spPr>
          <a:xfrm>
            <a:off x="6607115" y="6076830"/>
            <a:ext cx="4775200" cy="12700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从一笔交易到完整的客户财务画像，输出直接回答新增还款能力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原始流水 → 交易明细维度 → 用户汇总维度 → Serviceability 计算 ｜ 示例为客户级 90 天观察周期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D65428F-6A5F-41C4-ACB7-27279799D716}"/>
              </a:ext>
            </a:extLst>
          </p:cNvPr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</p:ext>
            </p:extLst>
          </p:nvPr>
        </p:nvSpPr>
        <p:spPr>
          <a:xfrm>
            <a:off x="431800" y="10922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256AB727-6509-4BCF-BA26-40B0BD5787C0}"/>
              </a:ext>
            </a:extLst>
          </p:cNvPr>
          <p:cNvSpPr/>
          <p:nvPr/>
        </p:nvSpPr>
        <p:spPr>
          <a:xfrm>
            <a:off x="431800" y="124460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84200" y="1206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一、原始银行流水（输入示例）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s1-table">
            <a:extLst>
              <a:ext uri="{FF2B5EF4-FFF2-40B4-BE49-F238E27FC236}">
                <a16:creationId xmlns:a16="http://schemas.microsoft.com/office/drawing/2014/main" id="{59DAD8A2-147A-4949-9AAC-F759D673D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388381"/>
              </p:ext>
            </p:extLst>
          </p:nvPr>
        </p:nvGraphicFramePr>
        <p:xfrm>
          <a:off x="431800" y="1524000"/>
          <a:ext cx="5080000" cy="1117600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2026-03-26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A$156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BILL PAY Fair Go Finance DT.58oa72 SACC 239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1-questions">
            <a:extLst>
              <a:ext uri="{FF2B5EF4-FFF2-40B4-BE49-F238E27FC236}">
                <a16:creationId xmlns:a16="http://schemas.microsoft.com/office/drawing/2014/main" id="{CB90CD92-1AD6-4995-B71E-F39F64432130}"/>
              </a:ext>
            </a:extLst>
          </p:cNvPr>
          <p:cNvSpPr txBox="1"/>
          <p:nvPr/>
        </p:nvSpPr>
        <p:spPr>
          <a:xfrm>
            <a:off x="431800" y="2700867"/>
            <a:ext cx="5080000" cy="138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仅依靠原始字段，无法直接判断：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交易对象是谁；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交易属于消费、转账还是贷款还款；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对应什么贷款产品；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客户是否仍处于还款状态；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该笔交易对整体偿付能力有什么影响。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2-bar">
            <a:extLst>
              <a:ext uri="{FF2B5EF4-FFF2-40B4-BE49-F238E27FC236}">
                <a16:creationId xmlns:a16="http://schemas.microsoft.com/office/drawing/2014/main" id="{7853D23C-C185-4C77-A7C2-9AB671AE2557}"/>
              </a:ext>
            </a:extLst>
          </p:cNvPr>
          <p:cNvSpPr/>
          <p:nvPr/>
        </p:nvSpPr>
        <p:spPr>
          <a:xfrm>
            <a:off x="431800" y="4318002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584200" y="427990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二、交易明细维度：理解每一笔交易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s2-table">
            <a:extLst>
              <a:ext uri="{FF2B5EF4-FFF2-40B4-BE49-F238E27FC236}">
                <a16:creationId xmlns:a16="http://schemas.microsoft.com/office/drawing/2014/main" id="{5191A559-08D1-4FBA-85F6-BF224119B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782174"/>
              </p:ext>
            </p:extLst>
          </p:nvPr>
        </p:nvGraphicFramePr>
        <p:xfrm>
          <a:off x="431800" y="4597402"/>
          <a:ext cx="5080000" cy="1213104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标准交易对手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Fair Go 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主体类型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贷款机构 / 小额信贷机构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交易分类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贷款及还款 ／ SACC 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交易性质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贷款还款（还款金额 A$156）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分类依据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交易方向、机构名称、产品关键词及历史交易模式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3-bar">
            <a:extLst>
              <a:ext uri="{FF2B5EF4-FFF2-40B4-BE49-F238E27FC236}">
                <a16:creationId xmlns:a16="http://schemas.microsoft.com/office/drawing/2014/main" id="{03AA8B0D-EE0C-4284-BAB6-CE9132870F8C}"/>
              </a:ext>
            </a:extLst>
          </p:cNvPr>
          <p:cNvSpPr/>
          <p:nvPr/>
        </p:nvSpPr>
        <p:spPr>
          <a:xfrm>
            <a:off x="6121400" y="124460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6273800" y="12065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2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三、用户汇总维度：形成完整负债画像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3-table1-head">
            <a:extLst>
              <a:ext uri="{FF2B5EF4-FFF2-40B4-BE49-F238E27FC236}">
                <a16:creationId xmlns:a16="http://schemas.microsoft.com/office/drawing/2014/main" id="{93110C1D-AC01-4B49-A621-DF4DC66DDC30}"/>
              </a:ext>
            </a:extLst>
          </p:cNvPr>
          <p:cNvSpPr txBox="1"/>
          <p:nvPr/>
        </p:nvSpPr>
        <p:spPr>
          <a:xfrm>
            <a:off x="6121400" y="1565734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 天整体负债情况</a:t>
            </a:r>
            <a:endParaRPr lang="en-US" sz="11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s3-table1">
            <a:extLst>
              <a:ext uri="{FF2B5EF4-FFF2-40B4-BE49-F238E27FC236}">
                <a16:creationId xmlns:a16="http://schemas.microsoft.com/office/drawing/2014/main" id="{9DE093E5-6B2D-4029-A415-C57317415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184623"/>
              </p:ext>
            </p:extLst>
          </p:nvPr>
        </p:nvGraphicFramePr>
        <p:xfrm>
          <a:off x="6096000" y="1882635"/>
          <a:ext cx="2413000" cy="2514600"/>
        </p:xfrm>
        <a:graphic>
          <a:graphicData uri="http://schemas.openxmlformats.org/drawingml/2006/table">
            <a:tbl>
              <a:tblPr/>
              <a:tblGrid>
                <a:gridCol w="125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贷款机构数量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天借款金额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A$2,300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天还款金额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A$1,284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平均月还款金额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A$428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预计待还金额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A$1,016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还款次数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 SACC 贷款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存在多头借贷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持续还款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还款中断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" name="s3-table2-head">
            <a:extLst>
              <a:ext uri="{FF2B5EF4-FFF2-40B4-BE49-F238E27FC236}">
                <a16:creationId xmlns:a16="http://schemas.microsoft.com/office/drawing/2014/main" id="{4338B3C5-3EE4-4EA1-B55D-B5FCC32A960B}"/>
              </a:ext>
            </a:extLst>
          </p:cNvPr>
          <p:cNvSpPr txBox="1"/>
          <p:nvPr/>
        </p:nvSpPr>
        <p:spPr>
          <a:xfrm>
            <a:off x="8737600" y="1565734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单笔贷款情况（Fair Go Finance）</a:t>
            </a:r>
            <a:endParaRPr lang="en-US" sz="11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" name="s3-table2">
            <a:extLst>
              <a:ext uri="{FF2B5EF4-FFF2-40B4-BE49-F238E27FC236}">
                <a16:creationId xmlns:a16="http://schemas.microsoft.com/office/drawing/2014/main" id="{70E3869B-5EE4-49E5-9AA1-423A41C73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11244"/>
              </p:ext>
            </p:extLst>
          </p:nvPr>
        </p:nvGraphicFramePr>
        <p:xfrm>
          <a:off x="8712200" y="1899569"/>
          <a:ext cx="2565400" cy="2194560"/>
        </p:xfrm>
        <a:graphic>
          <a:graphicData uri="http://schemas.openxmlformats.org/drawingml/2006/table">
            <a:tbl>
              <a:tblPr/>
              <a:tblGrid>
                <a:gridCol w="1231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429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借款金额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A$1,500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天已还金额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A$936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预计待还金额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A$564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还款频率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每两周 A$156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 天还款次数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 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当前状态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扣款失败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371">
                <a:tc>
                  <a:txBody>
                    <a:bodyPr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还款中断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s3-states">
            <a:extLst>
              <a:ext uri="{FF2B5EF4-FFF2-40B4-BE49-F238E27FC236}">
                <a16:creationId xmlns:a16="http://schemas.microsoft.com/office/drawing/2014/main" id="{A46000DA-7646-4EB8-960A-C284A6D08465}"/>
              </a:ext>
            </a:extLst>
          </p:cNvPr>
          <p:cNvSpPr txBox="1"/>
          <p:nvPr/>
        </p:nvSpPr>
        <p:spPr>
          <a:xfrm>
            <a:off x="6121400" y="4546600"/>
            <a:ext cx="51816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贷款状态判断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在贷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——近期仍在持续还款；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结清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——已完成还款、近期无相关交易；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违约中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——长期停止还款或多次扣款失败；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状态不明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——观察周期不足或交易信息不完整。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还可识别的交易对手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：商户企业（Woolworths、Telstra）、政府机构（Services Australia、ATO）、雇主与收入付款方、BNPL／信用卡／催收／工资预支机构、内部账户与外部个人账户。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band-bg">
            <a:extLst>
              <a:ext uri="{FF2B5EF4-FFF2-40B4-BE49-F238E27FC236}">
                <a16:creationId xmlns:a16="http://schemas.microsoft.com/office/drawing/2014/main" id="{D9FC0C98-9290-48B2-A50D-01CA3F539F22}"/>
              </a:ext>
            </a:extLst>
          </p:cNvPr>
          <p:cNvSpPr/>
          <p:nvPr/>
        </p:nvSpPr>
        <p:spPr>
          <a:xfrm>
            <a:off x="431800" y="5952069"/>
            <a:ext cx="10871200" cy="584200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20" name="band-capsule">
            <a:extLst>
              <a:ext uri="{FF2B5EF4-FFF2-40B4-BE49-F238E27FC236}">
                <a16:creationId xmlns:a16="http://schemas.microsoft.com/office/drawing/2014/main" id="{934B78B0-04AF-49D7-819E-F0889526294F}"/>
              </a:ext>
            </a:extLst>
          </p:cNvPr>
          <p:cNvSpPr/>
          <p:nvPr/>
        </p:nvSpPr>
        <p:spPr>
          <a:xfrm>
            <a:off x="609600" y="6079069"/>
            <a:ext cx="1498600" cy="3302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21" name="band-capsule-text">
            <a:extLst>
              <a:ext uri="{FF2B5EF4-FFF2-40B4-BE49-F238E27FC236}">
                <a16:creationId xmlns:a16="http://schemas.microsoft.com/office/drawing/2014/main" id="{76418230-E04F-4D01-B3B8-CF9BE57A0037}"/>
              </a:ext>
            </a:extLst>
          </p:cNvPr>
          <p:cNvSpPr txBox="1"/>
          <p:nvPr/>
        </p:nvSpPr>
        <p:spPr>
          <a:xfrm>
            <a:off x="609600" y="6079069"/>
            <a:ext cx="1498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支持信审计算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band-formula">
            <a:extLst>
              <a:ext uri="{FF2B5EF4-FFF2-40B4-BE49-F238E27FC236}">
                <a16:creationId xmlns:a16="http://schemas.microsoft.com/office/drawing/2014/main" id="{77CF7CAE-866B-46D5-AA45-30E044132C71}"/>
              </a:ext>
            </a:extLst>
          </p:cNvPr>
          <p:cNvSpPr txBox="1"/>
          <p:nvPr/>
        </p:nvSpPr>
        <p:spPr>
          <a:xfrm>
            <a:off x="2311400" y="5952069"/>
            <a:ext cx="8991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稳定收入 − 必要生活支出 − 现有负债还款 ＝ 可支配盈余</a:t>
            </a:r>
            <a:endParaRPr lang="en-US" sz="11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band-note">
            <a:extLst>
              <a:ext uri="{FF2B5EF4-FFF2-40B4-BE49-F238E27FC236}">
                <a16:creationId xmlns:a16="http://schemas.microsoft.com/office/drawing/2014/main" id="{C0028AAC-F319-4447-8326-FE7BD0C8D54E}"/>
              </a:ext>
            </a:extLst>
          </p:cNvPr>
          <p:cNvSpPr txBox="1"/>
          <p:nvPr/>
        </p:nvSpPr>
        <p:spPr>
          <a:xfrm>
            <a:off x="2311400" y="6307669"/>
            <a:ext cx="8991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回答：客户有多少稳定收入、承担多少必要支出、正在偿还哪些贷款，以及是否具备新增还款能力。</a:t>
            </a:r>
            <a:endParaRPr lang="en-US" sz="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425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多引擎分工分类，AI 建设与维护知识库并驱动持续优化闭环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流水依次经过多个分类引擎，各引擎输出交易类别、交易对手，后续引擎发现更明确证据可修正前序分类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3298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一、三大知识库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40220"/>
              </p:ext>
            </p:extLst>
          </p:nvPr>
        </p:nvGraphicFramePr>
        <p:xfrm>
          <a:off x="568717" y="2274554"/>
          <a:ext cx="3175000" cy="1935480"/>
        </p:xfrm>
        <a:graphic>
          <a:graphicData uri="http://schemas.openxmlformats.org/drawingml/2006/table">
            <a:tbl>
              <a:tblPr/>
              <a:tblGrid>
                <a:gridCol w="798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959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59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959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959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282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282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init-note">
            <a:extLst>
              <a:ext uri="{FF2B5EF4-FFF2-40B4-BE49-F238E27FC236}">
                <a16:creationId xmlns:a16="http://schemas.microsoft.com/office/drawing/2014/main" id="{B625548C-85F5-4A87-B155-52266193B0F4}"/>
              </a:ext>
            </a:extLst>
          </p:cNvPr>
          <p:cNvSpPr txBox="1"/>
          <p:nvPr/>
        </p:nvSpPr>
        <p:spPr>
          <a:xfrm>
            <a:off x="621029" y="4276000"/>
            <a:ext cx="3175000" cy="9462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8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Init：已知商户与消费分类</a:t>
            </a:r>
            <a:r>
              <a:rPr lang="en-US" sz="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（餐饮、零售、健康、出行、娱乐、水电通信等），按商户知识库的标准名、别名、关键词匹配；AI 只提取交易文本中实际出现的关键词，并联网核验标准名与类别，避免误匹配。</a:t>
            </a:r>
            <a:endParaRPr lang="en-US" sz="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3921517" y="1999680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3921517" y="199968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68892"/>
              </p:ext>
            </p:extLst>
          </p:nvPr>
        </p:nvGraphicFramePr>
        <p:xfrm>
          <a:off x="3921517" y="2247387"/>
          <a:ext cx="3606800" cy="1779770"/>
        </p:xfrm>
        <a:graphic>
          <a:graphicData uri="http://schemas.openxmlformats.org/drawingml/2006/table">
            <a:tbl>
              <a:tblPr/>
              <a:tblGrid>
                <a:gridCol w="677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730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26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salary_payg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26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salary_packaging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26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826">
                <a:tc>
                  <a:txBody>
                    <a:bodyPr/>
                    <a:lstStyle/>
                    <a:p>
                      <a:pPr algn="l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self_employed_gig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income-note">
            <a:extLst>
              <a:ext uri="{FF2B5EF4-FFF2-40B4-BE49-F238E27FC236}">
                <a16:creationId xmlns:a16="http://schemas.microsoft.com/office/drawing/2014/main" id="{C6615658-9E4E-43F1-B5C2-8AA7C97BB5BC}"/>
              </a:ext>
            </a:extLst>
          </p:cNvPr>
          <p:cNvSpPr txBox="1"/>
          <p:nvPr/>
        </p:nvSpPr>
        <p:spPr>
          <a:xfrm>
            <a:off x="3973829" y="4108102"/>
            <a:ext cx="36068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8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Income：识别工资与其他稳定收入</a:t>
            </a:r>
            <a:r>
              <a:rPr lang="en-US" sz="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，综合方向、金额、付款方重复次数、金额稳定性与周／双周／月周期判断；只有"入账方向＋文本／行为证据"共同成立才归为收入，而非只看"工资"二字。</a:t>
            </a:r>
            <a:endParaRPr lang="en-US" sz="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7706117" y="1999680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7706117" y="199968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657762"/>
              </p:ext>
            </p:extLst>
          </p:nvPr>
        </p:nvGraphicFramePr>
        <p:xfrm>
          <a:off x="7706117" y="2265996"/>
          <a:ext cx="4039172" cy="1955800"/>
        </p:xfrm>
        <a:graphic>
          <a:graphicData uri="http://schemas.openxmlformats.org/drawingml/2006/table">
            <a:tbl>
              <a:tblPr/>
              <a:tblGrid>
                <a:gridCol w="94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识别逻辑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Afterpay · BNPL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信用卡还款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Home Loan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Car Loan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Debt Collection 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liab-note">
            <a:extLst>
              <a:ext uri="{FF2B5EF4-FFF2-40B4-BE49-F238E27FC236}">
                <a16:creationId xmlns:a16="http://schemas.microsoft.com/office/drawing/2014/main" id="{48E5824A-DECF-4097-B9F3-AB86B4C04314}"/>
              </a:ext>
            </a:extLst>
          </p:cNvPr>
          <p:cNvSpPr txBox="1"/>
          <p:nvPr/>
        </p:nvSpPr>
        <p:spPr>
          <a:xfrm>
            <a:off x="7758429" y="4276000"/>
            <a:ext cx="37338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8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Liability：识别贷款、信用卡与催收</a:t>
            </a:r>
            <a:r>
              <a:rPr lang="en-US" sz="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，先定产品类型再归集负债流；AI 不替代实时规则，而在评估闭环中发现新机构、新别名与规则冲突并反馈更新。辅助引擎：Dishonour（退票）、Transfer（内外部转账）、Fee（银行费用）及赌博、房租专项识别。</a:t>
            </a:r>
            <a:endParaRPr lang="en-US" sz="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2-bar">
            <a:extLst>
              <a:ext uri="{FF2B5EF4-FFF2-40B4-BE49-F238E27FC236}">
                <a16:creationId xmlns:a16="http://schemas.microsoft.com/office/drawing/2014/main" id="{AB447ABD-CA21-4A0E-8B30-9C0E470A61F3}"/>
              </a:ext>
            </a:extLst>
          </p:cNvPr>
          <p:cNvSpPr/>
          <p:nvPr/>
        </p:nvSpPr>
        <p:spPr>
          <a:xfrm>
            <a:off x="541547" y="5057744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8" name="s2-title">
            <a:extLst>
              <a:ext uri="{FF2B5EF4-FFF2-40B4-BE49-F238E27FC236}">
                <a16:creationId xmlns:a16="http://schemas.microsoft.com/office/drawing/2014/main" id="{E337F18F-1584-4FB2-B57E-3CF985E58F95}"/>
              </a:ext>
            </a:extLst>
          </p:cNvPr>
          <p:cNvSpPr txBox="1"/>
          <p:nvPr/>
        </p:nvSpPr>
        <p:spPr>
          <a:xfrm>
            <a:off x="693947" y="5019644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二、评估闭环：AI 质检 Agent 监控分类波动并输出诊断报告（不参与实时分类）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loop-table">
            <a:extLst>
              <a:ext uri="{FF2B5EF4-FFF2-40B4-BE49-F238E27FC236}">
                <a16:creationId xmlns:a16="http://schemas.microsoft.com/office/drawing/2014/main" id="{0CE3767D-EDF9-47E3-B521-CF76E1432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55683"/>
              </p:ext>
            </p:extLst>
          </p:nvPr>
        </p:nvGraphicFramePr>
        <p:xfrm>
          <a:off x="541547" y="5324444"/>
          <a:ext cx="10871200" cy="1133984"/>
        </p:xfrm>
        <a:graphic>
          <a:graphicData uri="http://schemas.openxmlformats.org/drawingml/2006/table">
            <a:tbl>
              <a:tblPr/>
              <a:tblGrid>
                <a:gridCol w="271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072"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8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 监控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A0A0A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8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 定位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A0A0A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8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 输出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A0A0A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8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 更新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A0A0A"/>
                      </a:solidFill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656"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捕捉分类批量漂移、同一对手归类不一致、覆盖率或命中率下降、新描述未被识别等异常信号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逐笔细挖描述、金额、方向、对手、命中引擎与依据，归为五类原因：引擎规则／知识库不足／数据异常／多引擎冲突／正常波动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生成按优先级排序的诊断报告，标明问题引擎、需检查规则、缺失商户／关键词及应补充的知识库，供业务确认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9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处置建议写回知识库与规则表，下一轮分类生效，形成"分类→监控→定位→输出→更新→再分类"的持续优化闭环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72">
                <a:tc gridSpan="4">
                  <a:txBody>
                    <a:bodyPr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5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知识库由 AI 两条流水线定期建设维护：流水线一（官方注册商户）增量比对注册数据、联网验证后回写标准名与关键词；流水线二（线上未识别交易）核验真实商户、提取实际关键词、去重合并别名后回写，下一轮分类生效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</p:spTree>
    <p:extLst>
      <p:ext uri="{BB962C8B-B14F-4D97-AF65-F5344CB8AC3E}">
        <p14:creationId xmlns:p14="http://schemas.microsoft.com/office/powerpoint/2010/main" val="1786243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Liability 贷款识别：覆盖、一致性与精度全面优于 illion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6DB2D2-B074-48BD-8B28-6034EA1CCFC2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 样本对比：</a:t>
            </a:r>
            <a:r>
              <a:rPr lang="en-US" altLang="zh-CN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1,519</a:t>
            </a: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个申请 case ｜ </a:t>
            </a:r>
            <a:r>
              <a:rPr lang="en-US" altLang="zh-CN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1,958,480</a:t>
            </a: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条交易 ｜ 2026/07/27–2026/07/31 ｜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079A0AE7-E93F-4E2C-A60F-444BCE10FFC1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5" y="1131498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135386F4-E10A-4257-B55F-FE6F08318C43}"/>
              </a:ext>
            </a:extLst>
          </p:cNvPr>
          <p:cNvSpPr/>
          <p:nvPr/>
        </p:nvSpPr>
        <p:spPr>
          <a:xfrm>
            <a:off x="511115" y="130929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BA9491F9-AA95-407A-80D0-07D99F871C6C}"/>
              </a:ext>
            </a:extLst>
          </p:cNvPr>
          <p:cNvSpPr txBox="1"/>
          <p:nvPr/>
        </p:nvSpPr>
        <p:spPr>
          <a:xfrm>
            <a:off x="663515" y="1271198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一、贷款识别覆盖交集：我方漏识别更少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venn-chart">
            <a:extLst>
              <a:ext uri="{FF2B5EF4-FFF2-40B4-BE49-F238E27FC236}">
                <a16:creationId xmlns:a16="http://schemas.microsoft.com/office/drawing/2014/main" id="{8DB4E448-7F96-40D5-9ABC-2EAB4ADC77FB}"/>
              </a:ext>
            </a:extLst>
          </p:cNvPr>
          <p:cNvGraphicFramePr/>
          <p:nvPr/>
        </p:nvGraphicFramePr>
        <p:xfrm>
          <a:off x="409515" y="1535322"/>
          <a:ext cx="5334000" cy="93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venn-note">
            <a:extLst>
              <a:ext uri="{FF2B5EF4-FFF2-40B4-BE49-F238E27FC236}">
                <a16:creationId xmlns:a16="http://schemas.microsoft.com/office/drawing/2014/main" id="{E8CACBDB-E480-4B26-BF46-62E9526B4D7D}"/>
              </a:ext>
            </a:extLst>
          </p:cNvPr>
          <p:cNvSpPr txBox="1"/>
          <p:nvPr/>
        </p:nvSpPr>
        <p:spPr>
          <a:xfrm>
            <a:off x="511115" y="2485247"/>
            <a:ext cx="5334000" cy="8475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F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集中在 BNPL、EWA、Home Loan，是 illion 的覆盖盲区；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illion 主要为F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知识库缺失或归属差异；</a:t>
            </a:r>
            <a:r>
              <a:rPr lang="zh-CN" alt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贷款识别覆盖交集</a:t>
            </a:r>
            <a:r>
              <a:rPr lang="zh-CN" alt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</a:t>
            </a:r>
            <a:r>
              <a:rPr lang="en-US" altLang="zh-CN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91.75%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结论：我方漏识别更少，整体覆盖更优。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2-bar">
            <a:extLst>
              <a:ext uri="{FF2B5EF4-FFF2-40B4-BE49-F238E27FC236}">
                <a16:creationId xmlns:a16="http://schemas.microsoft.com/office/drawing/2014/main" id="{3EF311C5-A842-495C-80F3-49CB168143DC}"/>
              </a:ext>
            </a:extLst>
          </p:cNvPr>
          <p:cNvSpPr/>
          <p:nvPr/>
        </p:nvSpPr>
        <p:spPr>
          <a:xfrm>
            <a:off x="6149915" y="130929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D9712529-D71E-49C2-ABBB-91A6CB6E991B}"/>
              </a:ext>
            </a:extLst>
          </p:cNvPr>
          <p:cNvSpPr txBox="1"/>
          <p:nvPr/>
        </p:nvSpPr>
        <p:spPr>
          <a:xfrm>
            <a:off x="6302315" y="1271198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二、共认贷款标签一致性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matrix">
            <a:extLst>
              <a:ext uri="{FF2B5EF4-FFF2-40B4-BE49-F238E27FC236}">
                <a16:creationId xmlns:a16="http://schemas.microsoft.com/office/drawing/2014/main" id="{5CF3F3CF-5BC2-403F-A4F6-1E25D562E910}"/>
              </a:ext>
            </a:extLst>
          </p:cNvPr>
          <p:cNvGraphicFramePr>
            <a:graphicFrameLocks noGrp="1"/>
          </p:cNvGraphicFramePr>
          <p:nvPr/>
        </p:nvGraphicFramePr>
        <p:xfrm>
          <a:off x="6149915" y="1588698"/>
          <a:ext cx="5232400" cy="800100"/>
        </p:xfrm>
        <a:graphic>
          <a:graphicData uri="http://schemas.openxmlformats.org/drawingml/2006/table">
            <a:tbl>
              <a:tblPr/>
              <a:tblGrid>
                <a:gridCol w="1465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5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illion ＼ F</a:t>
                      </a:r>
                      <a:r>
                        <a:rPr lang="en-US" altLang="zh-CN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inv</a:t>
                      </a:r>
                      <a:endParaRPr lang="en-US" sz="900" b="1" noProof="1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inv</a:t>
                      </a:r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SACC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inv</a:t>
                      </a:r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Non-SACC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inv</a:t>
                      </a:r>
                      <a:r>
                        <a:rPr lang="en-US" sz="9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Unknown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illion SACC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illion Non-SACC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1">
                          <a:solidFill>
                            <a:srgbClr val="D6A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matrix-note">
            <a:extLst>
              <a:ext uri="{FF2B5EF4-FFF2-40B4-BE49-F238E27FC236}">
                <a16:creationId xmlns:a16="http://schemas.microsoft.com/office/drawing/2014/main" id="{E1E9BEED-7352-4D64-BBC6-7B0CDB54C124}"/>
              </a:ext>
            </a:extLst>
          </p:cNvPr>
          <p:cNvSpPr txBox="1"/>
          <p:nvPr/>
        </p:nvSpPr>
        <p:spPr>
          <a:xfrm>
            <a:off x="6175315" y="2651062"/>
            <a:ext cx="523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illion 的 SACC 标记中 </a:t>
            </a:r>
            <a:r>
              <a:rPr lang="en-US" sz="1000" b="1" noProof="1">
                <a:solidFill>
                  <a:srgbClr val="D6A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39.1%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被F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修正</a:t>
            </a:r>
            <a:r>
              <a:rPr lang="zh-CN" alt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过分类明显；</a:t>
            </a:r>
            <a:endParaRPr lang="en-US" sz="1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F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Non-SACC 与 illion 一致率 </a:t>
            </a:r>
            <a:r>
              <a:rPr lang="en-US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93.4%</a:t>
            </a:r>
            <a:r>
              <a:rPr 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，分类更稳健;</a:t>
            </a:r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整体贷款标签（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SACC&amp; Non-SACC</a:t>
            </a:r>
            <a:r>
              <a:rPr lang="zh-CN" altLang="en-US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）上的一致率为 </a:t>
            </a:r>
            <a:r>
              <a:rPr lang="en-US" altLang="zh-CN" sz="1000" b="1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90.7%</a:t>
            </a:r>
            <a:r>
              <a:rPr lang="en-US" altLang="zh-CN" sz="10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endParaRPr lang="en-US" sz="1000" noProof="1">
              <a:solidFill>
                <a:srgbClr val="3D3C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mid-divider">
            <a:extLst>
              <a:ext uri="{FF2B5EF4-FFF2-40B4-BE49-F238E27FC236}">
                <a16:creationId xmlns:a16="http://schemas.microsoft.com/office/drawing/2014/main" id="{10BC6DBA-D788-4E7C-9D13-A6EC2F8D30E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5" y="3417498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4" name="s3-bar">
            <a:extLst>
              <a:ext uri="{FF2B5EF4-FFF2-40B4-BE49-F238E27FC236}">
                <a16:creationId xmlns:a16="http://schemas.microsoft.com/office/drawing/2014/main" id="{9B62AF1F-24D6-49B3-B151-5590DBCE60FE}"/>
              </a:ext>
            </a:extLst>
          </p:cNvPr>
          <p:cNvSpPr/>
          <p:nvPr/>
        </p:nvSpPr>
        <p:spPr>
          <a:xfrm>
            <a:off x="511115" y="3595298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15" name="s3-title">
            <a:extLst>
              <a:ext uri="{FF2B5EF4-FFF2-40B4-BE49-F238E27FC236}">
                <a16:creationId xmlns:a16="http://schemas.microsoft.com/office/drawing/2014/main" id="{E339A03A-DC08-48BA-A556-927F773CAA23}"/>
              </a:ext>
            </a:extLst>
          </p:cNvPr>
          <p:cNvSpPr txBox="1"/>
          <p:nvPr/>
        </p:nvSpPr>
        <p:spPr>
          <a:xfrm>
            <a:off x="663515" y="3557198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三、典型案例：覆盖 → 一致性 → 精度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cases-table">
            <a:extLst>
              <a:ext uri="{FF2B5EF4-FFF2-40B4-BE49-F238E27FC236}">
                <a16:creationId xmlns:a16="http://schemas.microsoft.com/office/drawing/2014/main" id="{96151FB9-F604-4371-AD9F-23D3B035C44F}"/>
              </a:ext>
            </a:extLst>
          </p:cNvPr>
          <p:cNvGraphicFramePr>
            <a:graphicFrameLocks noGrp="1"/>
          </p:cNvGraphicFramePr>
          <p:nvPr/>
        </p:nvGraphicFramePr>
        <p:xfrm>
          <a:off x="511115" y="3849298"/>
          <a:ext cx="10871201" cy="2629154"/>
        </p:xfrm>
        <a:graphic>
          <a:graphicData uri="http://schemas.openxmlformats.org/drawingml/2006/table">
            <a:tbl>
              <a:tblPr/>
              <a:tblGrid>
                <a:gridCol w="978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3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3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4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376"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endParaRPr lang="en-US" sz="1050" noProof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 1 · 覆盖优势（Home Loan）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 2 · 分类一致性（MoneySpot）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Case 3 · 分类精度（Credit24）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Home loan - Receipt ... To Orange Everyday 被 illion 标为 Internal Transfer，住房贷款完全遗漏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放款 A$750，等额还款 A$49.09 × 10；illion 前 6 笔标 SACC、后 5 笔标 Non-SACC，同一贷款流标签自相矛盾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同一用户 19 笔 Credit24 交易被 illion 全部标为 SACC Loans，循环授信（LOC）产品被泛化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056"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我方逻辑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基于 Home loan 产品关键词判定为贷款，细分为 Non-SACC Loans（Home Loan）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放款与还款匹配为单一贷款流；依据小额、等额、高频特征及机构类型统一判定为 SACC 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结合交易模式与机构产品库识别为循环授信（LOC），归入 Non-SACC Loans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5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产品词库捕捉 illion 覆盖盲区，扩大贷款识别面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贷款流粒度分类一致，纠正 illion 的碎片化误判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45000"/>
                        </a:lnSpc>
                      </a:pPr>
                      <a:r>
                        <a:rPr lang="en-US" sz="10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区分 LOC 与 SACC（监管属性、利率上限本质不同），避免非 SACC 误判为高风险 SACC，为风控提供更准确信号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157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</TotalTime>
  <Words>1073</Words>
  <Application>Microsoft Office PowerPoint</Application>
  <PresentationFormat>宽屏</PresentationFormat>
  <Paragraphs>218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微软雅黑 Light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65</cp:revision>
  <dcterms:modified xsi:type="dcterms:W3CDTF">2026-08-09T06:16:15Z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