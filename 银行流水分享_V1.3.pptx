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68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68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10585450" cy="54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银行流水信息抽取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自动抽取引擎替换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illion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第三方引擎</a:t>
            </a:r>
            <a:r>
              <a:rPr lang="en-US" altLang="zh-CN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Serviceability 计算 → 信审决策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496858" y="2476888"/>
            <a:ext cx="10845800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5334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Serviceability ＝ 收入 − 必要支出 − 负债还款 ＝ 客户可支配盈余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522258" y="3780087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674658" y="3725053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496858" y="4152698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5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7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BD4474-BF86-4869-935F-372860244AD7}"/>
              </a:ext>
            </a:extLst>
          </p:cNvPr>
          <p:cNvGrpSpPr/>
          <p:nvPr/>
        </p:nvGrpSpPr>
        <p:grpSpPr>
          <a:xfrm>
            <a:off x="6353115" y="3250886"/>
            <a:ext cx="5029200" cy="3448364"/>
            <a:chOff x="6353115" y="1454111"/>
            <a:chExt cx="5029200" cy="4635419"/>
          </a:xfrm>
        </p:grpSpPr>
        <p:sp>
          <p:nvSpPr>
            <p:cNvPr id="16" name="col-divider">
              <a:extLst>
                <a:ext uri="{FF2B5EF4-FFF2-40B4-BE49-F238E27FC236}">
                  <a16:creationId xmlns:a16="http://schemas.microsoft.com/office/drawing/2014/main" id="{7976569D-3495-4B8E-88A6-7289825D95F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eyJ2aWV3Qm94IjpbMSwzNDBdLCJwb2ludHMiOiIwLDAgMCwzNDAifQ</pptd:line>
                </p:ext>
              </p:extLst>
            </p:nvPr>
          </p:nvSpPr>
          <p:spPr>
            <a:xfrm>
              <a:off x="6353115" y="1481586"/>
              <a:ext cx="12700" cy="4318000"/>
            </a:xfrm>
            <a:custGeom>
              <a:avLst/>
              <a:gdLst/>
              <a:ahLst/>
              <a:cxnLst/>
              <a:rect l="l" t="t" r="r" b="b"/>
              <a:pathLst>
                <a:path w="1" h="340">
                  <a:moveTo>
                    <a:pt x="0" y="0"/>
                  </a:moveTo>
                  <a:lnTo>
                    <a:pt x="0" y="34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17" name="s3-bar">
              <a:extLst>
                <a:ext uri="{FF2B5EF4-FFF2-40B4-BE49-F238E27FC236}">
                  <a16:creationId xmlns:a16="http://schemas.microsoft.com/office/drawing/2014/main" id="{21522F87-C40C-40E0-893E-783C6AA054A4}"/>
                </a:ext>
              </a:extLst>
            </p:cNvPr>
            <p:cNvSpPr/>
            <p:nvPr/>
          </p:nvSpPr>
          <p:spPr>
            <a:xfrm>
              <a:off x="6607115" y="1492211"/>
              <a:ext cx="50800" cy="165100"/>
            </a:xfrm>
            <a:prstGeom prst="rect">
              <a:avLst/>
            </a:prstGeom>
            <a:solidFill>
              <a:srgbClr val="D6A000"/>
            </a:solidFill>
            <a:ln>
              <a:noFill/>
            </a:ln>
          </p:spPr>
        </p:sp>
        <p:sp>
          <p:nvSpPr>
            <p:cNvPr id="18" name="s3-title">
              <a:extLst>
                <a:ext uri="{FF2B5EF4-FFF2-40B4-BE49-F238E27FC236}">
                  <a16:creationId xmlns:a16="http://schemas.microsoft.com/office/drawing/2014/main" id="{1FFE6DD4-7A46-4B3E-BC75-CF290B1DDE30}"/>
                </a:ext>
              </a:extLst>
            </p:cNvPr>
            <p:cNvSpPr txBox="1"/>
            <p:nvPr/>
          </p:nvSpPr>
          <p:spPr>
            <a:xfrm>
              <a:off x="6759515" y="1454111"/>
              <a:ext cx="4622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/>
            <a:lstStyle/>
            <a:p>
              <a:pPr algn="l">
                <a:lnSpc>
                  <a:spcPct val="125000"/>
                </a:lnSpc>
              </a:pPr>
              <a:r>
                <a:rPr lang="en-US" sz="9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三、传统第三方分类服务的主要局限（当前高度依赖 illion）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m1">
              <a:extLst>
                <a:ext uri="{FF2B5EF4-FFF2-40B4-BE49-F238E27FC236}">
                  <a16:creationId xmlns:a16="http://schemas.microsoft.com/office/drawing/2014/main" id="{29CFB0D9-DDBE-46F7-A89B-345F1DB3EE89}"/>
                </a:ext>
              </a:extLst>
            </p:cNvPr>
            <p:cNvSpPr txBox="1"/>
            <p:nvPr/>
          </p:nvSpPr>
          <p:spPr>
            <a:xfrm>
              <a:off x="6607115" y="1860374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9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分类逻辑不透明，问题难以定位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黑盒模型：出现漏识别或误分类时，无法判断是交易描述、商户映射、分类规则还是计算逻辑的问题。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m1-line">
              <a:extLst>
                <a:ext uri="{FF2B5EF4-FFF2-40B4-BE49-F238E27FC236}">
                  <a16:creationId xmlns:a16="http://schemas.microsoft.com/office/drawing/2014/main" id="{C26D36D6-CB8D-47F6-A278-A0A3C1177384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280214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1" name="lim2">
              <a:extLst>
                <a:ext uri="{FF2B5EF4-FFF2-40B4-BE49-F238E27FC236}">
                  <a16:creationId xmlns:a16="http://schemas.microsoft.com/office/drawing/2014/main" id="{3DD835B9-3D5D-4CF4-8B3A-387F16BA1963}"/>
                </a:ext>
              </a:extLst>
            </p:cNvPr>
            <p:cNvSpPr txBox="1"/>
            <p:nvPr/>
          </p:nvSpPr>
          <p:spPr>
            <a:xfrm>
              <a:off x="6607115" y="2908059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9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分类粒度与覆盖不足，难以满足下游需求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无法拆分 SACC、Non-SACC、BNPL、Line of Credit、Wage Advance 等贷款类型；小型商户、新兴平台、交易别名易被归入 Other 或错误分类，影响贷款归属、还款匹配及收入、支出、负债计算。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m2-line">
              <a:extLst>
                <a:ext uri="{FF2B5EF4-FFF2-40B4-BE49-F238E27FC236}">
                  <a16:creationId xmlns:a16="http://schemas.microsoft.com/office/drawing/2014/main" id="{69CFA63F-F5C1-43D0-A14B-E681108AAB2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4078616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3" name="lim3">
              <a:extLst>
                <a:ext uri="{FF2B5EF4-FFF2-40B4-BE49-F238E27FC236}">
                  <a16:creationId xmlns:a16="http://schemas.microsoft.com/office/drawing/2014/main" id="{DF394D01-5901-4F99-B01E-ADB1FCD8BFCC}"/>
                </a:ext>
              </a:extLst>
            </p:cNvPr>
            <p:cNvSpPr txBox="1"/>
            <p:nvPr/>
          </p:nvSpPr>
          <p:spPr>
            <a:xfrm>
              <a:off x="6607115" y="4078616"/>
              <a:ext cx="47752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9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输出字段与计算口径缺乏控制权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下游 IDP 所需字段可能缺失，公式、数据窗口、异常处理无法按内部标准配置；Open Banking 等新数据源无分类字段，多供应商需维护多套适配逻辑，增加系统复杂度。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m3-line">
              <a:extLst>
                <a:ext uri="{FF2B5EF4-FFF2-40B4-BE49-F238E27FC236}">
                  <a16:creationId xmlns:a16="http://schemas.microsoft.com/office/drawing/2014/main" id="{336ACEC6-E59C-48C3-943D-F0CA55FF2277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5111553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5" name="lim4">
              <a:extLst>
                <a:ext uri="{FF2B5EF4-FFF2-40B4-BE49-F238E27FC236}">
                  <a16:creationId xmlns:a16="http://schemas.microsoft.com/office/drawing/2014/main" id="{8C3E2394-8FDD-4456-9360-CEBCC189CB32}"/>
                </a:ext>
              </a:extLst>
            </p:cNvPr>
            <p:cNvSpPr txBox="1"/>
            <p:nvPr/>
          </p:nvSpPr>
          <p:spPr>
            <a:xfrm>
              <a:off x="6607115" y="5238630"/>
              <a:ext cx="4775200" cy="71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>
                <a:lnSpc>
                  <a:spcPct val="150000"/>
                </a:lnSpc>
              </a:pPr>
              <a:r>
                <a:rPr lang="en-US" sz="900" b="1" noProof="1">
                  <a:solidFill>
                    <a:srgbClr val="0A0A0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关键业务能力受制于外部供应商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  <a:spcBef>
                  <a:spcPts val="300"/>
                </a:spcBef>
              </a:pPr>
              <a:r>
                <a:rPr lang="en-US" sz="900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调整依赖供应商排期、响应周期长；交易分类作为基础能力，长期依赖会限制模型优化、策略调整与产品创新的自主性。</a:t>
              </a:r>
              <a:endParaRPr lang="en-US" sz="9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m4-line">
              <a:extLst>
                <a:ext uri="{FF2B5EF4-FFF2-40B4-BE49-F238E27FC236}">
                  <a16:creationId xmlns:a16="http://schemas.microsoft.com/office/drawing/2014/main" id="{B06F18DC-59DF-4006-887C-06DD5753F50F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  </p:ext>
              </p:extLst>
            </p:nvPr>
          </p:nvSpPr>
          <p:spPr>
            <a:xfrm>
              <a:off x="6607115" y="6076830"/>
              <a:ext cx="4775200" cy="12700"/>
            </a:xfrm>
            <a:custGeom>
              <a:avLst/>
              <a:gdLst/>
              <a:ahLst/>
              <a:cxnLst/>
              <a:rect l="l" t="t" r="r" b="b"/>
              <a:pathLst>
                <a:path w="376" h="1">
                  <a:moveTo>
                    <a:pt x="0" y="0"/>
                  </a:moveTo>
                  <a:lnTo>
                    <a:pt x="37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82600" y="279344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75534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交易明细维度：理解每一笔交易（输出示例）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25415" y="4438352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777815" y="44002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3. 用户汇总维度：形成完整负债画像（输出示例）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33400" y="1565734"/>
          <a:ext cx="9036523" cy="1216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1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2026/03/26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A$156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BILL PAY Fair Go Finance DT.58oa72 SACC 239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A$12.40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MCDONALDS BRISBANE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A$35.90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 123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A$8.99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AMZNPRIMEA*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A$3,420.50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PAYROLL ACME PTY LTD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2026/04/15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A$25.00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EFTPOS DEBIT 20NOV LMF GAMES &amp; AMUSEMENTS NORTHMEAD NSW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26942"/>
              </p:ext>
            </p:extLst>
          </p:nvPr>
        </p:nvGraphicFramePr>
        <p:xfrm>
          <a:off x="600015" y="3044141"/>
          <a:ext cx="11067680" cy="1331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4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4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11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一级分类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二级分类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交易性质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2026/03/26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BILL PAY Fair Go Finance DT.58oa72 SACC 239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 / 小额信贷机构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贷款及还款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贷款还款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A$156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交易方向、机构名称、产品关键词及历史交易模式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2026/03/28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MCDONALDS BRISBANE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McDonald's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Dining Out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A$12.40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 123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Chemist Warehouse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Health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A$35.90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2026/04/08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AMZNPRIMEA*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Amazon Prime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订阅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Subscription TV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订阅支出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A$8.99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PAYROLL ACME PTY LTD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ACME PTY LTD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雇主 / 收入付款方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收入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salary_payg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工资收入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A$3,420.50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工资文本模式 + 双周周期 + 稳定金额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319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2026/04/15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EFTPOS DEBIT 20NOV LMF GAMES &amp; AMUSEMENTS NORTHMEAD NSW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LMF Games &amp; Amusements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商户企业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Entertainment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消费支出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A$25.00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商户知识库标准名匹配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63494" y="4750137"/>
          <a:ext cx="3430705" cy="1911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8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贷款机构数量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 家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天借款金额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A$2,300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A$1,284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平均月还款金额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A$428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A$1,016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还款次数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 次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 SACC 贷款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是否存在多头借贷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是否持续还款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是否出现还款中断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21356" y="4361064"/>
          <a:ext cx="6097135" cy="2258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贷款类型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借款金额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A$1,500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天已还金额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A$936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A$564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还款频率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每两周 A$156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月还款金额（估算）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A$338（A$156 × 26/12）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预计剩余期数（估算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4 期（借款 ÷ 每期 ≈ 10 期，已还约 6 期）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天还款次数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 次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在贷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扣款失败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还款中断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年化利率（APR）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【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待补充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】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94211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676400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90719"/>
            <a:ext cx="5540237" cy="210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AI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不参与实时分类，而是在分类完成后，以历史分类结果和既定规则为基线（不直接对比外部标签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），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持续监控输出质量并驱动知识库更新。闭环分为四步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：</a:t>
            </a:r>
          </a:p>
          <a:p>
            <a:pPr>
              <a:spcAft>
                <a:spcPts val="3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①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监控：捕捉分类批量漂移、同一交易对手归类不一致、覆盖率或命中率明显下降、新描述未被任何引擎识别等异常信号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②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定位：对异常逐笔细挖交易描述、金额、方向、交易对手、命中引擎和分类依据，归类为五类原因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900" b="1" dirty="0" err="1">
                <a:solidFill>
                  <a:srgbClr val="0A0A0A"/>
                </a:solidFill>
                <a:latin typeface="微软雅黑"/>
                <a:ea typeface="微软雅黑"/>
              </a:rPr>
              <a:t>五类定位原因示例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③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输出：生成按优先级排序的诊断报告，直接标明问题引擎、需检查的规则、缺失的商户／关键词及应补充的知识库，供业务确认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效果：知识库随注册商户的新增、变更、失效持续更新，并从真实交易中补齐注册数据未覆盖的支付描述和商户别名。由此形成"分类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监控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定位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输出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更新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 → </a:t>
            </a:r>
            <a:r>
              <a:rPr sz="900" b="0" dirty="0" err="1">
                <a:solidFill>
                  <a:srgbClr val="3D3C3A"/>
                </a:solidFill>
                <a:latin typeface="微软雅黑"/>
                <a:ea typeface="微软雅黑"/>
              </a:rPr>
              <a:t>再分类"的持续优化闭环</a:t>
            </a:r>
            <a:r>
              <a:rPr sz="90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11257" y="4166991"/>
          <a:ext cx="5540236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11257" y="5282559"/>
            <a:ext cx="5540237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1,519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个申请 case ｜ 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1,958,480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130105"/>
              </p:ext>
            </p:extLst>
          </p:nvPr>
        </p:nvGraphicFramePr>
        <p:xfrm>
          <a:off x="409515" y="1535322"/>
          <a:ext cx="397824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4" y="2523346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E7B1C7-3A48-41F0-9CCD-33504C985117}"/>
              </a:ext>
            </a:extLst>
          </p:cNvPr>
          <p:cNvSpPr txBox="1"/>
          <p:nvPr/>
        </p:nvSpPr>
        <p:spPr>
          <a:xfrm>
            <a:off x="4672109" y="1535322"/>
            <a:ext cx="7460751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0A0A0A"/>
                </a:solidFill>
                <a:latin typeface="微软雅黑"/>
                <a:ea typeface="微软雅黑"/>
              </a:rPr>
              <a:t>典型案例：</a:t>
            </a:r>
            <a:endParaRPr lang="zh-CN" altLang="en-US" sz="800" b="0" dirty="0">
              <a:effectLst/>
              <a:latin typeface="+mn-ea"/>
            </a:endParaRP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Case 1：覆盖——Home Loan 被 illion 漏识别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价值：产品词库捕捉 illion 覆盖盲区，扩大贷款识别面。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Case 2：一致性——同一贷款流内 illion 标签自相矛盾（MoneySpot）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同一贷款流共 11 笔：放款 1 笔（750 澳元）+ 等额还款 10 笔（49.09 澳元/期），以下展示代表性笔次。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Case 3：精度——LOC 产品被 illion 泛化为 SACC（Credit24）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同一用户共 19 笔 Credit24 交易，全部被 illion 标为 SACC Loans，以下展示代表性笔次。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3D3C3A"/>
                </a:solidFill>
                <a:latin typeface="微软雅黑"/>
                <a:ea typeface="微软雅黑"/>
              </a:rPr>
              <a:t>完整 19 笔中，illion 全部标为 SACC Loans，忽略产品类型差异；我方结合交易模式与机构产品库识别为循环授信（LOC），归入 Non-SACC Loans（LOC 在监管属性、利率上限上与 SACC 有本质区别）。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72109" y="3345834"/>
          <a:ext cx="7460747" cy="405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72109" y="3885330"/>
          <a:ext cx="7460747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72109" y="5119770"/>
          <a:ext cx="7460747" cy="868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Non-SACC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Loans（LOC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循环授信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1138</Words>
  <Application>Microsoft Office PowerPoint</Application>
  <PresentationFormat>宽屏</PresentationFormat>
  <Paragraphs>345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微软雅黑 Light</vt:lpstr>
      <vt:lpstr>Arial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82</cp:revision>
  <dcterms:modified xsi:type="dcterms:W3CDTF">2026-08-09T08:20:28Z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