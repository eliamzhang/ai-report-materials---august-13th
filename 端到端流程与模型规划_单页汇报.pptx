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3"/>
  </p:notesMasterIdLst>
  <p:sldIdLst>
    <p:sldId id="2007578544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25" autoAdjust="0"/>
    <p:restoredTop sz="94610"/>
  </p:normalViewPr>
  <p:slideViewPr>
    <p:cSldViewPr snapToGrid="0" snapToObjects="1">
      <p:cViewPr varScale="1">
        <p:scale>
          <a:sx n="155" d="100"/>
          <a:sy n="155" d="100"/>
        </p:scale>
        <p:origin x="162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6342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E5B26EE-078D-D64A-90E5-F07FE554926D}" type="slidenum">
              <a:rPr kumimoji="1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1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63608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795314-7F36-E44A-472B-AA04EFAB81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4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9246B77-A00D-4CF6-6F98-E190DC7635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8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2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C269430-694E-830E-2EF6-3A3DFD3A9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B70E8C-6B81-85D8-EDF6-68EE3C1AD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1996E03-14ED-64DC-AE37-74774D3B7A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063816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AD7E6F-0830-6029-A897-67CBA107B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3C6EB7E-E697-3206-0B91-21007C108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296A01-FF74-80A9-12DC-DD3B9D279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E161210-3370-A6D3-243F-375B95938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C75045-BB86-8FCC-9B5D-33B1DF5D0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863695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8C420C-0DD9-B2B5-2216-5FB0A304C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1CC4981-2021-DB44-ACE7-B7A2772EEA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6188127-F0B1-4008-9F4C-A79293E7E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C2B015-9063-09E2-9CE8-6AB1F4D892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9FA22D-39E9-7C2A-3692-F5735FA8E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82833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336552-C331-015A-2748-9CDDC59E9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1EFCCAF-BFB1-1B58-7666-1AE91B3582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AAE69C6-0080-4957-CC5D-3B6DF3EA1B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F47918-1985-B7AD-FCBA-1BFCB7706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4271CCC-CCD0-16E0-ABE8-217165798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F3A8577-B6D1-2E82-E13A-8B8F11C3E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64697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5BA66C-513E-04A1-D86E-AC7F45C50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1D1C6B4-F64F-7B62-2B6B-372AA61FFE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66D476C-1C2A-F91B-EFD3-1A60B3C9C6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9C4D853-7A69-BD48-EAA6-8C64BBD097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2A33B27-1640-7821-D6A6-02CB38599B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30FF00C-76DD-2219-8D8C-9EA246C45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111998F-9CA6-685A-3112-7A49E58BC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29385FA-0930-6532-1BCA-F73337D39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00991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F6E0E-00E8-FB7A-F1FE-98332204C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F7A562F-53B2-0274-F08B-2D3DC0DDB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655811F-A496-3431-5E67-33A821528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E192C29-24D0-BDF0-3DCB-1AF31C793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26955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EA8B927-5D2F-4CDC-005C-119E8A26E2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6456504-DC85-7F67-E77B-851042BC6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553BD87-C28E-2909-ED9B-22CBCAE58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336109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4E7F5D-C9D4-2BF8-DC13-5B9C9B584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475B4B-0736-72DC-FDDE-70AF573664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6FED19F-C6FD-EAD0-3A3F-13B9FB35FF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8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2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2BB4414-7976-022E-639B-7ADA6B9F4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80EECDF-EED7-629B-BBFA-380D039C6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F0A6EB3-9F86-940E-01D0-FB78472C5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30628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CE9085-A758-7C1F-E98A-B123913C5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0AFA22C-5542-52E3-C533-AA61258B72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8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2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520E593-36FF-F73A-C5BE-77D81821AC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8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2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EF4609E-3F74-38C8-6E1E-69C8175F1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700957F-B99F-4000-31C1-34F1E2038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9BA2EE6-1D43-CC09-571B-E755439D1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06841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4152A6-4B7E-256C-7A97-40A897D88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BF91DEB-8F5C-8A96-9677-C8D30B34DA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8777280-2034-64BE-45FB-E326DCF32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1573F8F-908B-A481-77C2-DE75201CC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8815CF-80BD-546F-F370-95CCE8E15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10609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846F736-48B9-8719-43C4-EE367D3B14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6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AD6E056-B78F-038D-3BB0-7DD8BF1F20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6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84F5027-AC20-F239-1EFF-8869D03FF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FAB7832-BBD3-4F06-835F-443EED063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6BDE340-FA2D-375D-E1DD-03AB02072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103277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7_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Рисунок 21"/>
          <p:cNvSpPr>
            <a:spLocks noGrp="1"/>
          </p:cNvSpPr>
          <p:nvPr>
            <p:ph type="pic" sz="quarter" idx="32"/>
          </p:nvPr>
        </p:nvSpPr>
        <p:spPr>
          <a:xfrm>
            <a:off x="0" y="1"/>
            <a:ext cx="12192000" cy="4112997"/>
          </a:xfrm>
          <a:prstGeom prst="rect">
            <a:avLst/>
          </a:prstGeom>
          <a:pattFill prst="lgCheck">
            <a:fgClr>
              <a:schemeClr val="bg1"/>
            </a:fgClr>
            <a:bgClr>
              <a:schemeClr val="bg1">
                <a:lumMod val="75000"/>
              </a:schemeClr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defRPr lang="ru-RU" sz="400" dirty="0"/>
            </a:lvl1pPr>
          </a:lstStyle>
          <a:p>
            <a:pPr lvl="0" algn="ctr"/>
            <a:endParaRPr lang="ru-RU" dirty="0"/>
          </a:p>
        </p:txBody>
      </p:sp>
      <p:sp>
        <p:nvSpPr>
          <p:cNvPr id="5" name="Текст 3"/>
          <p:cNvSpPr>
            <a:spLocks noGrp="1"/>
          </p:cNvSpPr>
          <p:nvPr>
            <p:ph type="body" sz="quarter" idx="39" hasCustomPrompt="1"/>
          </p:nvPr>
        </p:nvSpPr>
        <p:spPr>
          <a:xfrm>
            <a:off x="1057984" y="4760995"/>
            <a:ext cx="2121882" cy="1219829"/>
          </a:xfrm>
          <a:prstGeom prst="rect">
            <a:avLst/>
          </a:prstGeom>
        </p:spPr>
        <p:txBody>
          <a:bodyPr/>
          <a:lstStyle>
            <a:lvl1pPr algn="l">
              <a:defRPr lang="en-US" sz="1100" b="0" i="0" baseline="0" dirty="0">
                <a:solidFill>
                  <a:schemeClr val="tx2"/>
                </a:solidFill>
                <a:latin typeface="Roboto Light" charset="0"/>
                <a:ea typeface="Roboto Light" charset="0"/>
                <a:cs typeface="Roboto Light" charset="0"/>
              </a:defRPr>
            </a:lvl1pPr>
          </a:lstStyle>
          <a:p>
            <a:pPr marL="0" lvl="0" indent="0">
              <a:lnSpc>
                <a:spcPct val="150000"/>
              </a:lnSpc>
              <a:buNone/>
            </a:pPr>
            <a:r>
              <a:rPr lang="en-US" dirty="0"/>
              <a:t>Example text</a:t>
            </a:r>
          </a:p>
        </p:txBody>
      </p:sp>
      <p:sp>
        <p:nvSpPr>
          <p:cNvPr id="6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1057985" y="2205006"/>
            <a:ext cx="3957967" cy="1331994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l" defTabSz="1219169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19865" algn="l"/>
              </a:tabLst>
              <a:defRPr sz="3300" b="1" i="0" baseline="0">
                <a:solidFill>
                  <a:schemeClr val="bg2"/>
                </a:solidFill>
                <a:latin typeface="Roboto Black" charset="0"/>
                <a:ea typeface="Roboto Black" charset="0"/>
                <a:cs typeface="Roboto Black" charset="0"/>
              </a:defRPr>
            </a:lvl1pPr>
          </a:lstStyle>
          <a:p>
            <a:r>
              <a:rPr lang="en-US" dirty="0"/>
              <a:t>NAME OF YOUR </a:t>
            </a:r>
            <a:br>
              <a:rPr lang="en-US" dirty="0"/>
            </a:br>
            <a:r>
              <a:rPr lang="en-US" dirty="0"/>
              <a:t>TOP SLIDE</a:t>
            </a:r>
            <a:endParaRPr lang="ru-RU" dirty="0"/>
          </a:p>
        </p:txBody>
      </p:sp>
      <p:sp>
        <p:nvSpPr>
          <p:cNvPr id="8" name="Текст 3"/>
          <p:cNvSpPr>
            <a:spLocks noGrp="1"/>
          </p:cNvSpPr>
          <p:nvPr>
            <p:ph type="body" sz="quarter" idx="40" hasCustomPrompt="1"/>
          </p:nvPr>
        </p:nvSpPr>
        <p:spPr>
          <a:xfrm>
            <a:off x="3672627" y="4760995"/>
            <a:ext cx="2121882" cy="1219829"/>
          </a:xfrm>
          <a:prstGeom prst="rect">
            <a:avLst/>
          </a:prstGeom>
        </p:spPr>
        <p:txBody>
          <a:bodyPr/>
          <a:lstStyle>
            <a:lvl1pPr algn="l">
              <a:defRPr lang="en-US" sz="1100" b="0" i="0" baseline="0" dirty="0">
                <a:solidFill>
                  <a:schemeClr val="tx2"/>
                </a:solidFill>
                <a:latin typeface="Roboto Light" charset="0"/>
                <a:ea typeface="Roboto Light" charset="0"/>
                <a:cs typeface="Roboto Light" charset="0"/>
              </a:defRPr>
            </a:lvl1pPr>
          </a:lstStyle>
          <a:p>
            <a:pPr marL="0" lvl="0" indent="0">
              <a:lnSpc>
                <a:spcPct val="150000"/>
              </a:lnSpc>
              <a:buNone/>
            </a:pPr>
            <a:r>
              <a:rPr lang="en-US" dirty="0"/>
              <a:t>Example text</a:t>
            </a:r>
          </a:p>
        </p:txBody>
      </p:sp>
      <p:sp>
        <p:nvSpPr>
          <p:cNvPr id="11" name="Текст 3"/>
          <p:cNvSpPr>
            <a:spLocks noGrp="1"/>
          </p:cNvSpPr>
          <p:nvPr>
            <p:ph type="body" sz="quarter" idx="41" hasCustomPrompt="1"/>
          </p:nvPr>
        </p:nvSpPr>
        <p:spPr>
          <a:xfrm>
            <a:off x="6287270" y="4760995"/>
            <a:ext cx="2121882" cy="1219829"/>
          </a:xfrm>
          <a:prstGeom prst="rect">
            <a:avLst/>
          </a:prstGeom>
        </p:spPr>
        <p:txBody>
          <a:bodyPr/>
          <a:lstStyle>
            <a:lvl1pPr algn="l">
              <a:defRPr lang="en-US" sz="1100" b="0" i="0" baseline="0" dirty="0">
                <a:solidFill>
                  <a:schemeClr val="tx2"/>
                </a:solidFill>
                <a:latin typeface="Roboto Light" charset="0"/>
                <a:ea typeface="Roboto Light" charset="0"/>
                <a:cs typeface="Roboto Light" charset="0"/>
              </a:defRPr>
            </a:lvl1pPr>
          </a:lstStyle>
          <a:p>
            <a:pPr marL="0" lvl="0" indent="0">
              <a:lnSpc>
                <a:spcPct val="150000"/>
              </a:lnSpc>
              <a:buNone/>
            </a:pPr>
            <a:r>
              <a:rPr lang="en-US" dirty="0"/>
              <a:t>Example text</a:t>
            </a:r>
          </a:p>
        </p:txBody>
      </p:sp>
      <p:sp>
        <p:nvSpPr>
          <p:cNvPr id="12" name="Текст 3"/>
          <p:cNvSpPr>
            <a:spLocks noGrp="1"/>
          </p:cNvSpPr>
          <p:nvPr>
            <p:ph type="body" sz="quarter" idx="42" hasCustomPrompt="1"/>
          </p:nvPr>
        </p:nvSpPr>
        <p:spPr>
          <a:xfrm>
            <a:off x="8901914" y="4760995"/>
            <a:ext cx="2121882" cy="1219829"/>
          </a:xfrm>
          <a:prstGeom prst="rect">
            <a:avLst/>
          </a:prstGeom>
        </p:spPr>
        <p:txBody>
          <a:bodyPr/>
          <a:lstStyle>
            <a:lvl1pPr algn="l">
              <a:defRPr lang="en-US" sz="1100" b="0" i="0" baseline="0" dirty="0">
                <a:solidFill>
                  <a:schemeClr val="tx2"/>
                </a:solidFill>
                <a:latin typeface="Roboto Light" charset="0"/>
                <a:ea typeface="Roboto Light" charset="0"/>
                <a:cs typeface="Roboto Light" charset="0"/>
              </a:defRPr>
            </a:lvl1pPr>
          </a:lstStyle>
          <a:p>
            <a:pPr marL="0" lvl="0" indent="0">
              <a:lnSpc>
                <a:spcPct val="150000"/>
              </a:lnSpc>
              <a:buNone/>
            </a:pPr>
            <a:r>
              <a:rPr lang="en-US" dirty="0"/>
              <a:t>Example text</a:t>
            </a:r>
          </a:p>
        </p:txBody>
      </p:sp>
    </p:spTree>
    <p:extLst>
      <p:ext uri="{BB962C8B-B14F-4D97-AF65-F5344CB8AC3E}">
        <p14:creationId xmlns:p14="http://schemas.microsoft.com/office/powerpoint/2010/main" val="3675349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177D008-7FC8-5B96-CA10-06EAA7FFA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442CEC1-C524-FE17-FFA6-7E8901302D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90958D1-4735-A533-FD4D-8C176B825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EF6A17-AB80-A469-A18C-A5ECB8C3FF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5AB0F37-A045-7746-BA8C-9AF4A4FDE3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50760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txStyles>
    <p:titleStyle>
      <a:lvl1pPr algn="l" defTabSz="914378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8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2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8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5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8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2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DBD8F351-5EF1-E5A0-9288-D96212292DCB}"/>
              </a:ext>
            </a:extLst>
          </p:cNvPr>
          <p:cNvSpPr/>
          <p:nvPr/>
        </p:nvSpPr>
        <p:spPr>
          <a:xfrm>
            <a:off x="0" y="-16746"/>
            <a:ext cx="12192000" cy="720359"/>
          </a:xfrm>
          <a:prstGeom prst="rect">
            <a:avLst/>
          </a:prstGeom>
          <a:solidFill>
            <a:srgbClr val="3054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3" name="page-title">
            <a:extLst>
              <a:ext uri="{FF2B5EF4-FFF2-40B4-BE49-F238E27FC236}">
                <a16:creationId xmlns:a16="http://schemas.microsoft.com/office/drawing/2014/main" id="{4F6562D6-C932-45FA-97F3-699FEF049D10}"/>
              </a:ext>
            </a:extLst>
          </p:cNvPr>
          <p:cNvSpPr txBox="1"/>
          <p:nvPr/>
        </p:nvSpPr>
        <p:spPr>
          <a:xfrm>
            <a:off x="295275" y="107156"/>
            <a:ext cx="1095375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  <a:sym typeface="Calibri" pitchFamily="34" charset="0"/>
            </a:endParaRPr>
          </a:p>
        </p:txBody>
      </p:sp>
      <p:sp>
        <p:nvSpPr>
          <p:cNvPr id="33" name="page-title">
            <a:extLst>
              <a:ext uri="{FF2B5EF4-FFF2-40B4-BE49-F238E27FC236}">
                <a16:creationId xmlns:a16="http://schemas.microsoft.com/office/drawing/2014/main" id="{9FE3F6AC-A149-4E95-BDBE-D35C62F3483E}"/>
              </a:ext>
            </a:extLst>
          </p:cNvPr>
          <p:cNvSpPr txBox="1"/>
          <p:nvPr/>
        </p:nvSpPr>
        <p:spPr>
          <a:xfrm>
            <a:off x="295275" y="113239"/>
            <a:ext cx="1095375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2400" b="1" dirty="0" err="1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端到端流程与模型规划：从模型调用到运维闭环</a:t>
            </a:r>
            <a:endParaRPr lang="en-US" altLang="zh-CN" sz="2400" dirty="0">
              <a:solidFill>
                <a:schemeClr val="bg1"/>
              </a:solidFill>
            </a:endParaRPr>
          </a:p>
        </p:txBody>
      </p:sp>
      <p:sp>
        <p:nvSpPr>
          <p:cNvPr id="34" name="Shape 8">
            <a:extLst>
              <a:ext uri="{FF2B5EF4-FFF2-40B4-BE49-F238E27FC236}">
                <a16:creationId xmlns:a16="http://schemas.microsoft.com/office/drawing/2014/main" id="{9E0C7F72-2EF0-4DFE-BDC6-C5CD9342625B}"/>
              </a:ext>
            </a:extLst>
          </p:cNvPr>
          <p:cNvSpPr/>
          <p:nvPr/>
        </p:nvSpPr>
        <p:spPr>
          <a:xfrm>
            <a:off x="410288" y="822672"/>
            <a:ext cx="64008" cy="201168"/>
          </a:xfrm>
          <a:prstGeom prst="rect">
            <a:avLst/>
          </a:prstGeom>
          <a:solidFill>
            <a:srgbClr val="E5B100"/>
          </a:solidFill>
          <a:ln w="6350">
            <a:solidFill>
              <a:srgbClr val="E5B100">
                <a:alpha val="0"/>
              </a:srgbClr>
            </a:solidFill>
            <a:prstDash val="solid"/>
          </a:ln>
        </p:spPr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2B1EB874-A876-4249-A306-1C7AC5BD594B}"/>
              </a:ext>
            </a:extLst>
          </p:cNvPr>
          <p:cNvSpPr/>
          <p:nvPr/>
        </p:nvSpPr>
        <p:spPr>
          <a:xfrm>
            <a:off x="538304" y="804384"/>
            <a:ext cx="11119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端到端链路：分类模型前置输出，IDA 保持轻量调度</a:t>
            </a:r>
            <a:endParaRPr lang="en-US" sz="1400" dirty="0"/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446194FF-3EFA-436F-8989-696D5C1A261B}"/>
              </a:ext>
            </a:extLst>
          </p:cNvPr>
          <p:cNvSpPr/>
          <p:nvPr/>
        </p:nvSpPr>
        <p:spPr>
          <a:xfrm>
            <a:off x="428576" y="1165572"/>
            <a:ext cx="11228832" cy="89611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>
                <a:alpha val="0"/>
              </a:srgbClr>
            </a:solidFill>
            <a:prstDash val="solid"/>
          </a:ln>
        </p:spPr>
      </p:sp>
      <p:sp>
        <p:nvSpPr>
          <p:cNvPr id="37" name="Shape 11">
            <a:extLst>
              <a:ext uri="{FF2B5EF4-FFF2-40B4-BE49-F238E27FC236}">
                <a16:creationId xmlns:a16="http://schemas.microsoft.com/office/drawing/2014/main" id="{99A02E21-C2CA-4400-AA29-C95ED41D8B71}"/>
              </a:ext>
            </a:extLst>
          </p:cNvPr>
          <p:cNvSpPr/>
          <p:nvPr/>
        </p:nvSpPr>
        <p:spPr>
          <a:xfrm>
            <a:off x="611456" y="1302732"/>
            <a:ext cx="30632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7620">
            <a:solidFill>
              <a:srgbClr val="D7DCE2"/>
            </a:solidFill>
            <a:prstDash val="solid"/>
          </a:ln>
        </p:spPr>
      </p:sp>
      <p:sp>
        <p:nvSpPr>
          <p:cNvPr id="38" name="Shape 12">
            <a:extLst>
              <a:ext uri="{FF2B5EF4-FFF2-40B4-BE49-F238E27FC236}">
                <a16:creationId xmlns:a16="http://schemas.microsoft.com/office/drawing/2014/main" id="{AF5AF12D-8E3B-4A9A-A1CA-37AA6D63FC47}"/>
              </a:ext>
            </a:extLst>
          </p:cNvPr>
          <p:cNvSpPr/>
          <p:nvPr/>
        </p:nvSpPr>
        <p:spPr>
          <a:xfrm>
            <a:off x="3921584" y="1302732"/>
            <a:ext cx="38862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7620">
            <a:solidFill>
              <a:srgbClr val="D7DCE2"/>
            </a:solidFill>
            <a:prstDash val="solid"/>
          </a:ln>
        </p:spPr>
      </p:sp>
      <p:sp>
        <p:nvSpPr>
          <p:cNvPr id="39" name="Shape 13">
            <a:extLst>
              <a:ext uri="{FF2B5EF4-FFF2-40B4-BE49-F238E27FC236}">
                <a16:creationId xmlns:a16="http://schemas.microsoft.com/office/drawing/2014/main" id="{88B029F3-D9A4-454C-BE5C-70E356E32FC1}"/>
              </a:ext>
            </a:extLst>
          </p:cNvPr>
          <p:cNvSpPr/>
          <p:nvPr/>
        </p:nvSpPr>
        <p:spPr>
          <a:xfrm>
            <a:off x="8054672" y="1302732"/>
            <a:ext cx="333756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7620">
            <a:solidFill>
              <a:srgbClr val="D7DCE2"/>
            </a:solidFill>
            <a:prstDash val="solid"/>
          </a:ln>
        </p:spPr>
      </p:sp>
      <p:sp>
        <p:nvSpPr>
          <p:cNvPr id="40" name="Shape 14">
            <a:extLst>
              <a:ext uri="{FF2B5EF4-FFF2-40B4-BE49-F238E27FC236}">
                <a16:creationId xmlns:a16="http://schemas.microsoft.com/office/drawing/2014/main" id="{D6DDE70C-1FDF-4C50-97C1-312F21506A31}"/>
              </a:ext>
            </a:extLst>
          </p:cNvPr>
          <p:cNvSpPr/>
          <p:nvPr/>
        </p:nvSpPr>
        <p:spPr>
          <a:xfrm>
            <a:off x="3683840" y="1558764"/>
            <a:ext cx="219456" cy="0"/>
          </a:xfrm>
          <a:prstGeom prst="line">
            <a:avLst/>
          </a:prstGeom>
          <a:noFill/>
          <a:ln w="1524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41" name="Shape 15">
            <a:extLst>
              <a:ext uri="{FF2B5EF4-FFF2-40B4-BE49-F238E27FC236}">
                <a16:creationId xmlns:a16="http://schemas.microsoft.com/office/drawing/2014/main" id="{7A82DD64-141B-48CF-AFD7-752D509CCB04}"/>
              </a:ext>
            </a:extLst>
          </p:cNvPr>
          <p:cNvSpPr/>
          <p:nvPr/>
        </p:nvSpPr>
        <p:spPr>
          <a:xfrm>
            <a:off x="7826072" y="1558764"/>
            <a:ext cx="210312" cy="0"/>
          </a:xfrm>
          <a:prstGeom prst="line">
            <a:avLst/>
          </a:prstGeom>
          <a:noFill/>
          <a:ln w="1524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42" name="Shape 16">
            <a:extLst>
              <a:ext uri="{FF2B5EF4-FFF2-40B4-BE49-F238E27FC236}">
                <a16:creationId xmlns:a16="http://schemas.microsoft.com/office/drawing/2014/main" id="{88AAE18C-D06D-4E58-B55C-A4B0670AB787}"/>
              </a:ext>
            </a:extLst>
          </p:cNvPr>
          <p:cNvSpPr/>
          <p:nvPr/>
        </p:nvSpPr>
        <p:spPr>
          <a:xfrm>
            <a:off x="712040" y="1394172"/>
            <a:ext cx="749808" cy="320040"/>
          </a:xfrm>
          <a:prstGeom prst="roundRect">
            <a:avLst>
              <a:gd name="adj" fmla="val 14286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43" name="Text 17">
            <a:extLst>
              <a:ext uri="{FF2B5EF4-FFF2-40B4-BE49-F238E27FC236}">
                <a16:creationId xmlns:a16="http://schemas.microsoft.com/office/drawing/2014/main" id="{ED94EF24-8A50-4989-BFED-D9D5AEC2B8A6}"/>
              </a:ext>
            </a:extLst>
          </p:cNvPr>
          <p:cNvSpPr/>
          <p:nvPr/>
        </p:nvSpPr>
        <p:spPr>
          <a:xfrm>
            <a:off x="730328" y="1403316"/>
            <a:ext cx="71323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IDA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申请发起</a:t>
            </a:r>
            <a:endParaRPr lang="en-US" sz="730" dirty="0"/>
          </a:p>
        </p:txBody>
      </p:sp>
      <p:sp>
        <p:nvSpPr>
          <p:cNvPr id="44" name="Shape 18">
            <a:extLst>
              <a:ext uri="{FF2B5EF4-FFF2-40B4-BE49-F238E27FC236}">
                <a16:creationId xmlns:a16="http://schemas.microsoft.com/office/drawing/2014/main" id="{133C226A-59E5-4F0D-8846-F99755434A94}"/>
              </a:ext>
            </a:extLst>
          </p:cNvPr>
          <p:cNvSpPr/>
          <p:nvPr/>
        </p:nvSpPr>
        <p:spPr>
          <a:xfrm>
            <a:off x="1571576" y="1394172"/>
            <a:ext cx="804672" cy="320040"/>
          </a:xfrm>
          <a:prstGeom prst="roundRect">
            <a:avLst>
              <a:gd name="adj" fmla="val 14286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45" name="Text 19">
            <a:extLst>
              <a:ext uri="{FF2B5EF4-FFF2-40B4-BE49-F238E27FC236}">
                <a16:creationId xmlns:a16="http://schemas.microsoft.com/office/drawing/2014/main" id="{7B1A5FE1-2F97-4DD4-98D7-640030118D7D}"/>
              </a:ext>
            </a:extLst>
          </p:cNvPr>
          <p:cNvSpPr/>
          <p:nvPr/>
        </p:nvSpPr>
        <p:spPr>
          <a:xfrm>
            <a:off x="1589864" y="1403316"/>
            <a:ext cx="76809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AWS SQS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排队任务</a:t>
            </a:r>
            <a:endParaRPr lang="en-US" sz="730" dirty="0"/>
          </a:p>
        </p:txBody>
      </p:sp>
      <p:sp>
        <p:nvSpPr>
          <p:cNvPr id="46" name="Shape 20">
            <a:extLst>
              <a:ext uri="{FF2B5EF4-FFF2-40B4-BE49-F238E27FC236}">
                <a16:creationId xmlns:a16="http://schemas.microsoft.com/office/drawing/2014/main" id="{971201FC-4C7F-4B6A-984D-F219B2A417EA}"/>
              </a:ext>
            </a:extLst>
          </p:cNvPr>
          <p:cNvSpPr/>
          <p:nvPr/>
        </p:nvSpPr>
        <p:spPr>
          <a:xfrm>
            <a:off x="2495120" y="1394172"/>
            <a:ext cx="786384" cy="320040"/>
          </a:xfrm>
          <a:prstGeom prst="roundRect">
            <a:avLst>
              <a:gd name="adj" fmla="val 14286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47" name="Text 21">
            <a:extLst>
              <a:ext uri="{FF2B5EF4-FFF2-40B4-BE49-F238E27FC236}">
                <a16:creationId xmlns:a16="http://schemas.microsoft.com/office/drawing/2014/main" id="{43C7F9F6-CBDE-4EEA-A871-842FF0D8B4C8}"/>
              </a:ext>
            </a:extLst>
          </p:cNvPr>
          <p:cNvSpPr/>
          <p:nvPr/>
        </p:nvSpPr>
        <p:spPr>
          <a:xfrm>
            <a:off x="2513408" y="1403316"/>
            <a:ext cx="749808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IDP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核心调度</a:t>
            </a:r>
            <a:endParaRPr lang="en-US" sz="730" dirty="0"/>
          </a:p>
        </p:txBody>
      </p:sp>
      <p:sp>
        <p:nvSpPr>
          <p:cNvPr id="48" name="Shape 22">
            <a:extLst>
              <a:ext uri="{FF2B5EF4-FFF2-40B4-BE49-F238E27FC236}">
                <a16:creationId xmlns:a16="http://schemas.microsoft.com/office/drawing/2014/main" id="{F7CDFBE3-5C1E-46AC-9373-3230E1B69BD7}"/>
              </a:ext>
            </a:extLst>
          </p:cNvPr>
          <p:cNvSpPr/>
          <p:nvPr/>
        </p:nvSpPr>
        <p:spPr>
          <a:xfrm>
            <a:off x="1461848" y="1549620"/>
            <a:ext cx="91440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49" name="Shape 23">
            <a:extLst>
              <a:ext uri="{FF2B5EF4-FFF2-40B4-BE49-F238E27FC236}">
                <a16:creationId xmlns:a16="http://schemas.microsoft.com/office/drawing/2014/main" id="{7985F6E3-B5D3-444B-BDC5-F14D3632746A}"/>
              </a:ext>
            </a:extLst>
          </p:cNvPr>
          <p:cNvSpPr/>
          <p:nvPr/>
        </p:nvSpPr>
        <p:spPr>
          <a:xfrm>
            <a:off x="2376248" y="1549620"/>
            <a:ext cx="100584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50" name="Shape 24">
            <a:extLst>
              <a:ext uri="{FF2B5EF4-FFF2-40B4-BE49-F238E27FC236}">
                <a16:creationId xmlns:a16="http://schemas.microsoft.com/office/drawing/2014/main" id="{E1D8732C-EABA-4B01-8B3D-BFC49FD66E4B}"/>
              </a:ext>
            </a:extLst>
          </p:cNvPr>
          <p:cNvSpPr/>
          <p:nvPr/>
        </p:nvSpPr>
        <p:spPr>
          <a:xfrm>
            <a:off x="4049600" y="1394172"/>
            <a:ext cx="822960" cy="320040"/>
          </a:xfrm>
          <a:prstGeom prst="roundRect">
            <a:avLst>
              <a:gd name="adj" fmla="val 14286"/>
            </a:avLst>
          </a:prstGeom>
          <a:solidFill>
            <a:srgbClr val="0B376D"/>
          </a:solidFill>
          <a:ln w="7620">
            <a:solidFill>
              <a:srgbClr val="0B376D"/>
            </a:solidFill>
            <a:prstDash val="solid"/>
          </a:ln>
        </p:spPr>
      </p:sp>
      <p:sp>
        <p:nvSpPr>
          <p:cNvPr id="51" name="Text 25">
            <a:extLst>
              <a:ext uri="{FF2B5EF4-FFF2-40B4-BE49-F238E27FC236}">
                <a16:creationId xmlns:a16="http://schemas.microsoft.com/office/drawing/2014/main" id="{06079920-533D-45D9-AC5D-76D93CE91099}"/>
              </a:ext>
            </a:extLst>
          </p:cNvPr>
          <p:cNvSpPr/>
          <p:nvPr/>
        </p:nvSpPr>
        <p:spPr>
          <a:xfrm>
            <a:off x="4067888" y="1403316"/>
            <a:ext cx="786384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BS-CAT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流水分类</a:t>
            </a:r>
            <a:endParaRPr lang="en-US" sz="730" dirty="0"/>
          </a:p>
        </p:txBody>
      </p:sp>
      <p:sp>
        <p:nvSpPr>
          <p:cNvPr id="52" name="Shape 26">
            <a:extLst>
              <a:ext uri="{FF2B5EF4-FFF2-40B4-BE49-F238E27FC236}">
                <a16:creationId xmlns:a16="http://schemas.microsoft.com/office/drawing/2014/main" id="{E3127D75-721C-4419-9CF7-E5E1C34379A1}"/>
              </a:ext>
            </a:extLst>
          </p:cNvPr>
          <p:cNvSpPr/>
          <p:nvPr/>
        </p:nvSpPr>
        <p:spPr>
          <a:xfrm>
            <a:off x="5070479" y="1394172"/>
            <a:ext cx="1236868" cy="320040"/>
          </a:xfrm>
          <a:prstGeom prst="roundRect">
            <a:avLst>
              <a:gd name="adj" fmla="val 14286"/>
            </a:avLst>
          </a:prstGeom>
          <a:solidFill>
            <a:srgbClr val="FFF4D4"/>
          </a:solidFill>
          <a:ln w="7620">
            <a:solidFill>
              <a:srgbClr val="E5B100"/>
            </a:solidFill>
            <a:prstDash val="solid"/>
          </a:ln>
        </p:spPr>
      </p:sp>
      <p:sp>
        <p:nvSpPr>
          <p:cNvPr id="53" name="Text 27">
            <a:extLst>
              <a:ext uri="{FF2B5EF4-FFF2-40B4-BE49-F238E27FC236}">
                <a16:creationId xmlns:a16="http://schemas.microsoft.com/office/drawing/2014/main" id="{BB903172-90BD-4D5E-9B7B-323E8766FE2D}"/>
              </a:ext>
            </a:extLst>
          </p:cNvPr>
          <p:cNvSpPr/>
          <p:nvPr/>
        </p:nvSpPr>
        <p:spPr>
          <a:xfrm>
            <a:off x="5246789" y="1403316"/>
            <a:ext cx="8595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交易识别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对手/标签</a:t>
            </a:r>
            <a:endParaRPr lang="en-US" sz="730" dirty="0"/>
          </a:p>
        </p:txBody>
      </p:sp>
      <p:sp>
        <p:nvSpPr>
          <p:cNvPr id="54" name="Shape 28">
            <a:extLst>
              <a:ext uri="{FF2B5EF4-FFF2-40B4-BE49-F238E27FC236}">
                <a16:creationId xmlns:a16="http://schemas.microsoft.com/office/drawing/2014/main" id="{99EDEFB3-4519-435B-9ED6-184D0CD44100}"/>
              </a:ext>
            </a:extLst>
          </p:cNvPr>
          <p:cNvSpPr/>
          <p:nvPr/>
        </p:nvSpPr>
        <p:spPr>
          <a:xfrm>
            <a:off x="6633660" y="1394172"/>
            <a:ext cx="1064698" cy="320040"/>
          </a:xfrm>
          <a:prstGeom prst="roundRect">
            <a:avLst>
              <a:gd name="adj" fmla="val 14286"/>
            </a:avLst>
          </a:prstGeom>
          <a:solidFill>
            <a:srgbClr val="FFF4D4"/>
          </a:solidFill>
          <a:ln w="7620">
            <a:solidFill>
              <a:srgbClr val="E5B100"/>
            </a:solidFill>
            <a:prstDash val="solid"/>
          </a:ln>
        </p:spPr>
      </p:sp>
      <p:sp>
        <p:nvSpPr>
          <p:cNvPr id="55" name="Text 29">
            <a:extLst>
              <a:ext uri="{FF2B5EF4-FFF2-40B4-BE49-F238E27FC236}">
                <a16:creationId xmlns:a16="http://schemas.microsoft.com/office/drawing/2014/main" id="{FD9DED82-82F6-4CCE-B94D-6031AFBD55A9}"/>
              </a:ext>
            </a:extLst>
          </p:cNvPr>
          <p:cNvSpPr/>
          <p:nvPr/>
        </p:nvSpPr>
        <p:spPr>
          <a:xfrm>
            <a:off x="6746342" y="1403316"/>
            <a:ext cx="822960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S-CALC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服务能力</a:t>
            </a:r>
            <a:endParaRPr lang="en-US" sz="730" dirty="0"/>
          </a:p>
        </p:txBody>
      </p:sp>
      <p:sp>
        <p:nvSpPr>
          <p:cNvPr id="58" name="Shape 32">
            <a:extLst>
              <a:ext uri="{FF2B5EF4-FFF2-40B4-BE49-F238E27FC236}">
                <a16:creationId xmlns:a16="http://schemas.microsoft.com/office/drawing/2014/main" id="{FB99B180-F34E-4E3F-AB48-EFD447DDD4DD}"/>
              </a:ext>
            </a:extLst>
          </p:cNvPr>
          <p:cNvSpPr/>
          <p:nvPr/>
        </p:nvSpPr>
        <p:spPr>
          <a:xfrm>
            <a:off x="4872560" y="1549620"/>
            <a:ext cx="137160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62" name="Shape 33">
            <a:extLst>
              <a:ext uri="{FF2B5EF4-FFF2-40B4-BE49-F238E27FC236}">
                <a16:creationId xmlns:a16="http://schemas.microsoft.com/office/drawing/2014/main" id="{93E1AED1-91CD-4B80-825A-114A20191329}"/>
              </a:ext>
            </a:extLst>
          </p:cNvPr>
          <p:cNvSpPr/>
          <p:nvPr/>
        </p:nvSpPr>
        <p:spPr>
          <a:xfrm>
            <a:off x="6392779" y="1558764"/>
            <a:ext cx="155448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74" name="Shape 35">
            <a:extLst>
              <a:ext uri="{FF2B5EF4-FFF2-40B4-BE49-F238E27FC236}">
                <a16:creationId xmlns:a16="http://schemas.microsoft.com/office/drawing/2014/main" id="{3372D461-9926-4A56-B6DC-4FB7D58BEAB9}"/>
              </a:ext>
            </a:extLst>
          </p:cNvPr>
          <p:cNvSpPr/>
          <p:nvPr/>
        </p:nvSpPr>
        <p:spPr>
          <a:xfrm>
            <a:off x="8200976" y="1394172"/>
            <a:ext cx="886968" cy="320040"/>
          </a:xfrm>
          <a:prstGeom prst="roundRect">
            <a:avLst>
              <a:gd name="adj" fmla="val 14286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78" name="Text 36">
            <a:extLst>
              <a:ext uri="{FF2B5EF4-FFF2-40B4-BE49-F238E27FC236}">
                <a16:creationId xmlns:a16="http://schemas.microsoft.com/office/drawing/2014/main" id="{F721D0CA-3A20-44EB-8540-160B0A1C4F68}"/>
              </a:ext>
            </a:extLst>
          </p:cNvPr>
          <p:cNvSpPr/>
          <p:nvPr/>
        </p:nvSpPr>
        <p:spPr>
          <a:xfrm>
            <a:off x="8219264" y="1403316"/>
            <a:ext cx="85039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结果落库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HTM/测算</a:t>
            </a:r>
            <a:endParaRPr lang="en-US" sz="730" dirty="0"/>
          </a:p>
        </p:txBody>
      </p:sp>
      <p:sp>
        <p:nvSpPr>
          <p:cNvPr id="81" name="Shape 37">
            <a:extLst>
              <a:ext uri="{FF2B5EF4-FFF2-40B4-BE49-F238E27FC236}">
                <a16:creationId xmlns:a16="http://schemas.microsoft.com/office/drawing/2014/main" id="{2ED4BB11-272C-4945-91B6-B7A957B749E9}"/>
              </a:ext>
            </a:extLst>
          </p:cNvPr>
          <p:cNvSpPr/>
          <p:nvPr/>
        </p:nvSpPr>
        <p:spPr>
          <a:xfrm>
            <a:off x="9279968" y="1394172"/>
            <a:ext cx="877824" cy="320040"/>
          </a:xfrm>
          <a:prstGeom prst="roundRect">
            <a:avLst>
              <a:gd name="adj" fmla="val 14286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82" name="Text 38">
            <a:extLst>
              <a:ext uri="{FF2B5EF4-FFF2-40B4-BE49-F238E27FC236}">
                <a16:creationId xmlns:a16="http://schemas.microsoft.com/office/drawing/2014/main" id="{3FD04EF7-A39B-4BF3-A3A4-47B807A9B45A}"/>
              </a:ext>
            </a:extLst>
          </p:cNvPr>
          <p:cNvSpPr/>
          <p:nvPr/>
        </p:nvSpPr>
        <p:spPr>
          <a:xfrm>
            <a:off x="9298256" y="1403316"/>
            <a:ext cx="841248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风险模型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决策建议</a:t>
            </a:r>
            <a:endParaRPr lang="en-US" sz="730" dirty="0"/>
          </a:p>
        </p:txBody>
      </p:sp>
      <p:sp>
        <p:nvSpPr>
          <p:cNvPr id="83" name="Shape 39">
            <a:extLst>
              <a:ext uri="{FF2B5EF4-FFF2-40B4-BE49-F238E27FC236}">
                <a16:creationId xmlns:a16="http://schemas.microsoft.com/office/drawing/2014/main" id="{1190DB02-B45C-4CDB-9B03-55773EEED340}"/>
              </a:ext>
            </a:extLst>
          </p:cNvPr>
          <p:cNvSpPr/>
          <p:nvPr/>
        </p:nvSpPr>
        <p:spPr>
          <a:xfrm>
            <a:off x="10340672" y="1394172"/>
            <a:ext cx="749808" cy="320040"/>
          </a:xfrm>
          <a:prstGeom prst="roundRect">
            <a:avLst>
              <a:gd name="adj" fmla="val 14286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84" name="Text 40">
            <a:extLst>
              <a:ext uri="{FF2B5EF4-FFF2-40B4-BE49-F238E27FC236}">
                <a16:creationId xmlns:a16="http://schemas.microsoft.com/office/drawing/2014/main" id="{03421656-77BC-49DB-9096-7EE0BC5D1A6F}"/>
              </a:ext>
            </a:extLst>
          </p:cNvPr>
          <p:cNvSpPr/>
          <p:nvPr/>
        </p:nvSpPr>
        <p:spPr>
          <a:xfrm>
            <a:off x="10358960" y="1403316"/>
            <a:ext cx="71323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LMS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输出应用</a:t>
            </a:r>
            <a:endParaRPr lang="en-US" sz="730" dirty="0"/>
          </a:p>
        </p:txBody>
      </p:sp>
      <p:sp>
        <p:nvSpPr>
          <p:cNvPr id="85" name="Shape 41">
            <a:extLst>
              <a:ext uri="{FF2B5EF4-FFF2-40B4-BE49-F238E27FC236}">
                <a16:creationId xmlns:a16="http://schemas.microsoft.com/office/drawing/2014/main" id="{6D48832B-7B11-4F92-88E3-387E501596C3}"/>
              </a:ext>
            </a:extLst>
          </p:cNvPr>
          <p:cNvSpPr/>
          <p:nvPr/>
        </p:nvSpPr>
        <p:spPr>
          <a:xfrm>
            <a:off x="9087944" y="1549620"/>
            <a:ext cx="173736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86" name="Shape 42">
            <a:extLst>
              <a:ext uri="{FF2B5EF4-FFF2-40B4-BE49-F238E27FC236}">
                <a16:creationId xmlns:a16="http://schemas.microsoft.com/office/drawing/2014/main" id="{13A233BA-EBFD-4A44-BFDB-928D4E36B012}"/>
              </a:ext>
            </a:extLst>
          </p:cNvPr>
          <p:cNvSpPr/>
          <p:nvPr/>
        </p:nvSpPr>
        <p:spPr>
          <a:xfrm>
            <a:off x="10157792" y="1549620"/>
            <a:ext cx="164592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87" name="Shape 43">
            <a:extLst>
              <a:ext uri="{FF2B5EF4-FFF2-40B4-BE49-F238E27FC236}">
                <a16:creationId xmlns:a16="http://schemas.microsoft.com/office/drawing/2014/main" id="{C1E9F602-A65E-4C5C-BD6D-89644C0FBAED}"/>
              </a:ext>
            </a:extLst>
          </p:cNvPr>
          <p:cNvSpPr/>
          <p:nvPr/>
        </p:nvSpPr>
        <p:spPr>
          <a:xfrm>
            <a:off x="4159328" y="1860516"/>
            <a:ext cx="1417320" cy="182880"/>
          </a:xfrm>
          <a:prstGeom prst="roundRect">
            <a:avLst>
              <a:gd name="adj" fmla="val 25000"/>
            </a:avLst>
          </a:prstGeom>
          <a:solidFill>
            <a:srgbClr val="FFF4D4"/>
          </a:solidFill>
          <a:ln w="7620">
            <a:solidFill>
              <a:srgbClr val="E5B100"/>
            </a:solidFill>
            <a:prstDash val="solid"/>
          </a:ln>
        </p:spPr>
      </p:sp>
      <p:sp>
        <p:nvSpPr>
          <p:cNvPr id="88" name="Text 44">
            <a:extLst>
              <a:ext uri="{FF2B5EF4-FFF2-40B4-BE49-F238E27FC236}">
                <a16:creationId xmlns:a16="http://schemas.microsoft.com/office/drawing/2014/main" id="{3CC56E02-5FE6-4579-8C69-5E35D1C4551A}"/>
              </a:ext>
            </a:extLst>
          </p:cNvPr>
          <p:cNvSpPr/>
          <p:nvPr/>
        </p:nvSpPr>
        <p:spPr>
          <a:xfrm>
            <a:off x="4205048" y="1878804"/>
            <a:ext cx="1325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58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分类知识库：规则 / 关键词 / 第三方数据</a:t>
            </a:r>
            <a:endParaRPr lang="en-US" sz="580" dirty="0"/>
          </a:p>
        </p:txBody>
      </p:sp>
      <p:sp>
        <p:nvSpPr>
          <p:cNvPr id="89" name="Shape 45">
            <a:extLst>
              <a:ext uri="{FF2B5EF4-FFF2-40B4-BE49-F238E27FC236}">
                <a16:creationId xmlns:a16="http://schemas.microsoft.com/office/drawing/2014/main" id="{6DB06DFD-D4EB-489E-AC9D-4389A044AFCE}"/>
              </a:ext>
            </a:extLst>
          </p:cNvPr>
          <p:cNvSpPr/>
          <p:nvPr/>
        </p:nvSpPr>
        <p:spPr>
          <a:xfrm>
            <a:off x="5622368" y="1860516"/>
            <a:ext cx="1517904" cy="182880"/>
          </a:xfrm>
          <a:prstGeom prst="roundRect">
            <a:avLst>
              <a:gd name="adj" fmla="val 25000"/>
            </a:avLst>
          </a:prstGeom>
          <a:solidFill>
            <a:srgbClr val="FFF4D4"/>
          </a:solidFill>
          <a:ln w="7620">
            <a:solidFill>
              <a:srgbClr val="E5B100"/>
            </a:solidFill>
            <a:prstDash val="solid"/>
          </a:ln>
        </p:spPr>
      </p:sp>
      <p:sp>
        <p:nvSpPr>
          <p:cNvPr id="90" name="Text 46">
            <a:extLst>
              <a:ext uri="{FF2B5EF4-FFF2-40B4-BE49-F238E27FC236}">
                <a16:creationId xmlns:a16="http://schemas.microsoft.com/office/drawing/2014/main" id="{B357DB46-0264-4973-B3AD-35E542AC05DF}"/>
              </a:ext>
            </a:extLst>
          </p:cNvPr>
          <p:cNvSpPr/>
          <p:nvPr/>
        </p:nvSpPr>
        <p:spPr>
          <a:xfrm>
            <a:off x="5668088" y="1878804"/>
            <a:ext cx="14264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58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监控运营：效果监控 / 异常跟踪 / 人工维护</a:t>
            </a:r>
            <a:endParaRPr lang="en-US" sz="580" dirty="0"/>
          </a:p>
        </p:txBody>
      </p:sp>
      <p:sp>
        <p:nvSpPr>
          <p:cNvPr id="91" name="Shape 47">
            <a:extLst>
              <a:ext uri="{FF2B5EF4-FFF2-40B4-BE49-F238E27FC236}">
                <a16:creationId xmlns:a16="http://schemas.microsoft.com/office/drawing/2014/main" id="{886C1365-B887-43AA-AE3B-0ECB68BCB8A4}"/>
              </a:ext>
            </a:extLst>
          </p:cNvPr>
          <p:cNvSpPr/>
          <p:nvPr/>
        </p:nvSpPr>
        <p:spPr>
          <a:xfrm>
            <a:off x="410288" y="2639910"/>
            <a:ext cx="64008" cy="201168"/>
          </a:xfrm>
          <a:prstGeom prst="rect">
            <a:avLst/>
          </a:prstGeom>
          <a:solidFill>
            <a:srgbClr val="E5B100"/>
          </a:solidFill>
          <a:ln w="6350">
            <a:solidFill>
              <a:srgbClr val="E5B100">
                <a:alpha val="0"/>
              </a:srgbClr>
            </a:solidFill>
            <a:prstDash val="solid"/>
          </a:ln>
        </p:spPr>
      </p:sp>
      <p:sp>
        <p:nvSpPr>
          <p:cNvPr id="92" name="Text 48">
            <a:extLst>
              <a:ext uri="{FF2B5EF4-FFF2-40B4-BE49-F238E27FC236}">
                <a16:creationId xmlns:a16="http://schemas.microsoft.com/office/drawing/2014/main" id="{52501F34-532D-49BF-8A53-FA18A4319516}"/>
              </a:ext>
            </a:extLst>
          </p:cNvPr>
          <p:cNvSpPr/>
          <p:nvPr/>
        </p:nvSpPr>
        <p:spPr>
          <a:xfrm>
            <a:off x="538304" y="2621622"/>
            <a:ext cx="5449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40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</a:rPr>
              <a:t>2. </a:t>
            </a:r>
            <a:r>
              <a:rPr lang="en-US" sz="1400" b="1" dirty="0" err="1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</a:rPr>
              <a:t>当前现状</a:t>
            </a:r>
            <a:r>
              <a:rPr lang="en-US" sz="140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</a:rPr>
              <a:t>：</a:t>
            </a:r>
            <a:r>
              <a:rPr lang="zh-CN" altLang="en-US" sz="140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</a:rPr>
              <a:t>进展时间轴</a:t>
            </a:r>
            <a:endParaRPr lang="en-US" sz="1400" b="1" dirty="0">
              <a:solidFill>
                <a:srgbClr val="111111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93" name="Shape 91">
            <a:extLst>
              <a:ext uri="{FF2B5EF4-FFF2-40B4-BE49-F238E27FC236}">
                <a16:creationId xmlns:a16="http://schemas.microsoft.com/office/drawing/2014/main" id="{EB582384-0D72-4D8D-9E62-C956B5BAA1C5}"/>
              </a:ext>
            </a:extLst>
          </p:cNvPr>
          <p:cNvSpPr/>
          <p:nvPr/>
        </p:nvSpPr>
        <p:spPr>
          <a:xfrm>
            <a:off x="454815" y="5114544"/>
            <a:ext cx="64008" cy="201168"/>
          </a:xfrm>
          <a:prstGeom prst="rect">
            <a:avLst/>
          </a:prstGeom>
          <a:solidFill>
            <a:srgbClr val="E5B100"/>
          </a:solidFill>
          <a:ln w="6350">
            <a:solidFill>
              <a:srgbClr val="E5B100">
                <a:alpha val="0"/>
              </a:srgbClr>
            </a:solidFill>
            <a:prstDash val="solid"/>
          </a:ln>
        </p:spPr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50D5147F-F962-421B-AC02-995FB6FF82CE}"/>
              </a:ext>
            </a:extLst>
          </p:cNvPr>
          <p:cNvSpPr/>
          <p:nvPr/>
        </p:nvSpPr>
        <p:spPr>
          <a:xfrm>
            <a:off x="582831" y="5104472"/>
            <a:ext cx="11119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40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</a:rPr>
              <a:t>3. 运维方式：1 人 + 2 个 AI Agent，持续闭环</a:t>
            </a:r>
          </a:p>
        </p:txBody>
      </p:sp>
      <p:sp>
        <p:nvSpPr>
          <p:cNvPr id="95" name="agent-qc-bg">
            <a:extLst>
              <a:ext uri="{FF2B5EF4-FFF2-40B4-BE49-F238E27FC236}">
                <a16:creationId xmlns:a16="http://schemas.microsoft.com/office/drawing/2014/main" id="{0817DF6B-4F7A-48DF-9E24-209418BDE841}"/>
              </a:ext>
            </a:extLst>
          </p:cNvPr>
          <p:cNvSpPr/>
          <p:nvPr/>
        </p:nvSpPr>
        <p:spPr>
          <a:xfrm>
            <a:off x="573687" y="5507736"/>
            <a:ext cx="5458968" cy="982980"/>
          </a:xfrm>
          <a:prstGeom prst="roundRect">
            <a:avLst>
              <a:gd name="adj" fmla="val 5000"/>
            </a:avLst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agent-qc-topbar">
            <a:extLst>
              <a:ext uri="{FF2B5EF4-FFF2-40B4-BE49-F238E27FC236}">
                <a16:creationId xmlns:a16="http://schemas.microsoft.com/office/drawing/2014/main" id="{24FB4E58-869F-440E-97D9-2803E535BB01}"/>
              </a:ext>
            </a:extLst>
          </p:cNvPr>
          <p:cNvSpPr/>
          <p:nvPr/>
        </p:nvSpPr>
        <p:spPr>
          <a:xfrm>
            <a:off x="573687" y="5507736"/>
            <a:ext cx="5456980" cy="496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agent-qc-title">
            <a:extLst>
              <a:ext uri="{FF2B5EF4-FFF2-40B4-BE49-F238E27FC236}">
                <a16:creationId xmlns:a16="http://schemas.microsoft.com/office/drawing/2014/main" id="{A09867D6-79D2-4FA5-944C-3BA53BD4364C}"/>
              </a:ext>
            </a:extLst>
          </p:cNvPr>
          <p:cNvSpPr txBox="1"/>
          <p:nvPr/>
        </p:nvSpPr>
        <p:spPr>
          <a:xfrm>
            <a:off x="710847" y="5599176"/>
            <a:ext cx="5650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950" b="1">
                <a:solidFill>
                  <a:srgbClr val="1F4E79"/>
                </a:solidFill>
                <a:latin typeface="微软雅黑"/>
                <a:ea typeface="微软雅黑"/>
              </a:rPr>
              <a:t>AI Agent 1｜</a:t>
            </a:r>
            <a:r>
              <a:rPr sz="950" b="1">
                <a:solidFill>
                  <a:srgbClr val="0A0A0A"/>
                </a:solidFill>
                <a:latin typeface="微软雅黑"/>
                <a:ea typeface="微软雅黑"/>
              </a:rPr>
              <a:t>质检 Agent：监控异常、定位问题</a:t>
            </a:r>
          </a:p>
        </p:txBody>
      </p:sp>
      <p:sp>
        <p:nvSpPr>
          <p:cNvPr id="98" name="agent-qc-it">
            <a:extLst>
              <a:ext uri="{FF2B5EF4-FFF2-40B4-BE49-F238E27FC236}">
                <a16:creationId xmlns:a16="http://schemas.microsoft.com/office/drawing/2014/main" id="{6350515E-10B0-4FBF-80C1-DEDAE0F52265}"/>
              </a:ext>
            </a:extLst>
          </p:cNvPr>
          <p:cNvSpPr txBox="1"/>
          <p:nvPr/>
        </p:nvSpPr>
        <p:spPr>
          <a:xfrm>
            <a:off x="710847" y="5836920"/>
            <a:ext cx="565099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1" dirty="0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800" b="1" dirty="0" err="1">
                <a:solidFill>
                  <a:srgbClr val="0A0A0A"/>
                </a:solidFill>
                <a:latin typeface="微软雅黑"/>
                <a:ea typeface="微软雅黑"/>
              </a:rPr>
              <a:t>效果监控</a:t>
            </a:r>
            <a:endParaRPr sz="8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sp>
        <p:nvSpPr>
          <p:cNvPr id="99" name="agent-qc-det">
            <a:extLst>
              <a:ext uri="{FF2B5EF4-FFF2-40B4-BE49-F238E27FC236}">
                <a16:creationId xmlns:a16="http://schemas.microsoft.com/office/drawing/2014/main" id="{910FA9F2-C524-49E3-A321-FE9677F4AB43}"/>
              </a:ext>
            </a:extLst>
          </p:cNvPr>
          <p:cNvSpPr txBox="1"/>
          <p:nvPr/>
        </p:nvSpPr>
        <p:spPr>
          <a:xfrm>
            <a:off x="884583" y="5992368"/>
            <a:ext cx="5504688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0" dirty="0" err="1">
                <a:solidFill>
                  <a:srgbClr val="3D3C3A"/>
                </a:solidFill>
                <a:latin typeface="微软雅黑"/>
                <a:ea typeface="微软雅黑"/>
              </a:rPr>
              <a:t>分类分布与命中率、数据</a:t>
            </a:r>
            <a:r>
              <a:rPr sz="800" b="0" dirty="0">
                <a:solidFill>
                  <a:srgbClr val="3D3C3A"/>
                </a:solidFill>
                <a:latin typeface="微软雅黑"/>
                <a:ea typeface="微软雅黑"/>
              </a:rPr>
              <a:t>/</a:t>
            </a:r>
            <a:r>
              <a:rPr sz="800" b="0" dirty="0" err="1">
                <a:solidFill>
                  <a:srgbClr val="3D3C3A"/>
                </a:solidFill>
                <a:latin typeface="微软雅黑"/>
                <a:ea typeface="微软雅黑"/>
              </a:rPr>
              <a:t>分类漂移；对手方识别异常、关键字段缺失</a:t>
            </a:r>
            <a:endParaRPr sz="800" b="0" dirty="0">
              <a:solidFill>
                <a:srgbClr val="3D3C3A"/>
              </a:solidFill>
              <a:latin typeface="微软雅黑"/>
              <a:ea typeface="微软雅黑"/>
            </a:endParaRPr>
          </a:p>
        </p:txBody>
      </p:sp>
      <p:sp>
        <p:nvSpPr>
          <p:cNvPr id="100" name="agent-qc-it">
            <a:extLst>
              <a:ext uri="{FF2B5EF4-FFF2-40B4-BE49-F238E27FC236}">
                <a16:creationId xmlns:a16="http://schemas.microsoft.com/office/drawing/2014/main" id="{FA0F6D59-11BE-47A4-A96B-866EB35ACA1C}"/>
              </a:ext>
            </a:extLst>
          </p:cNvPr>
          <p:cNvSpPr txBox="1"/>
          <p:nvPr/>
        </p:nvSpPr>
        <p:spPr>
          <a:xfrm>
            <a:off x="710847" y="6148308"/>
            <a:ext cx="565099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1" dirty="0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800" b="1" dirty="0" err="1">
                <a:solidFill>
                  <a:srgbClr val="0A0A0A"/>
                </a:solidFill>
                <a:latin typeface="微软雅黑"/>
                <a:ea typeface="微软雅黑"/>
              </a:rPr>
              <a:t>问题诊断</a:t>
            </a:r>
            <a:endParaRPr sz="8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sp>
        <p:nvSpPr>
          <p:cNvPr id="101" name="agent-qc-det">
            <a:extLst>
              <a:ext uri="{FF2B5EF4-FFF2-40B4-BE49-F238E27FC236}">
                <a16:creationId xmlns:a16="http://schemas.microsoft.com/office/drawing/2014/main" id="{739B4151-ADCB-4457-BDE0-C687343956CA}"/>
              </a:ext>
            </a:extLst>
          </p:cNvPr>
          <p:cNvSpPr txBox="1"/>
          <p:nvPr/>
        </p:nvSpPr>
        <p:spPr>
          <a:xfrm>
            <a:off x="884583" y="6303756"/>
            <a:ext cx="5504688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0" dirty="0" err="1">
                <a:solidFill>
                  <a:srgbClr val="3D3C3A"/>
                </a:solidFill>
                <a:latin typeface="微软雅黑"/>
                <a:ea typeface="微软雅黑"/>
              </a:rPr>
              <a:t>定位异常交易与问题引擎，识别缺失商户</a:t>
            </a:r>
            <a:r>
              <a:rPr sz="800" b="0" dirty="0">
                <a:solidFill>
                  <a:srgbClr val="3D3C3A"/>
                </a:solidFill>
                <a:latin typeface="微软雅黑"/>
                <a:ea typeface="微软雅黑"/>
              </a:rPr>
              <a:t>/</a:t>
            </a:r>
            <a:r>
              <a:rPr sz="800" b="0" dirty="0" err="1">
                <a:solidFill>
                  <a:srgbClr val="3D3C3A"/>
                </a:solidFill>
                <a:latin typeface="微软雅黑"/>
                <a:ea typeface="微软雅黑"/>
              </a:rPr>
              <a:t>关键词</a:t>
            </a:r>
            <a:r>
              <a:rPr sz="800" b="0" dirty="0">
                <a:solidFill>
                  <a:srgbClr val="3D3C3A"/>
                </a:solidFill>
                <a:latin typeface="微软雅黑"/>
                <a:ea typeface="微软雅黑"/>
              </a:rPr>
              <a:t>/</a:t>
            </a:r>
            <a:r>
              <a:rPr sz="800" b="0" dirty="0" err="1">
                <a:solidFill>
                  <a:srgbClr val="3D3C3A"/>
                </a:solidFill>
                <a:latin typeface="微软雅黑"/>
                <a:ea typeface="微软雅黑"/>
              </a:rPr>
              <a:t>规则；自动生成优先级</a:t>
            </a:r>
            <a:r>
              <a:rPr sz="800" b="0" dirty="0">
                <a:solidFill>
                  <a:srgbClr val="3D3C3A"/>
                </a:solidFill>
                <a:latin typeface="微软雅黑"/>
                <a:ea typeface="微软雅黑"/>
              </a:rPr>
              <a:t> </a:t>
            </a:r>
            <a:r>
              <a:rPr sz="800" b="0" dirty="0" err="1">
                <a:solidFill>
                  <a:srgbClr val="3D3C3A"/>
                </a:solidFill>
                <a:latin typeface="微软雅黑"/>
                <a:ea typeface="微软雅黑"/>
              </a:rPr>
              <a:t>Todo</a:t>
            </a:r>
            <a:r>
              <a:rPr sz="800" b="0" dirty="0">
                <a:solidFill>
                  <a:srgbClr val="3D3C3A"/>
                </a:solidFill>
                <a:latin typeface="微软雅黑"/>
                <a:ea typeface="微软雅黑"/>
              </a:rPr>
              <a:t> </a:t>
            </a:r>
            <a:r>
              <a:rPr sz="800" b="0" dirty="0" err="1">
                <a:solidFill>
                  <a:srgbClr val="3D3C3A"/>
                </a:solidFill>
                <a:latin typeface="微软雅黑"/>
                <a:ea typeface="微软雅黑"/>
              </a:rPr>
              <a:t>清单</a:t>
            </a:r>
            <a:endParaRPr sz="800" b="0" dirty="0">
              <a:solidFill>
                <a:srgbClr val="3D3C3A"/>
              </a:solidFill>
              <a:latin typeface="微软雅黑"/>
              <a:ea typeface="微软雅黑"/>
            </a:endParaRPr>
          </a:p>
        </p:txBody>
      </p: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63279D2D-3607-4D95-8C3F-C21FE6F7D347}"/>
              </a:ext>
            </a:extLst>
          </p:cNvPr>
          <p:cNvGrpSpPr/>
          <p:nvPr/>
        </p:nvGrpSpPr>
        <p:grpSpPr>
          <a:xfrm>
            <a:off x="6214342" y="5489448"/>
            <a:ext cx="5836257" cy="1001268"/>
            <a:chOff x="6203210" y="4741959"/>
            <a:chExt cx="5836257" cy="1001268"/>
          </a:xfrm>
        </p:grpSpPr>
        <p:sp>
          <p:nvSpPr>
            <p:cNvPr id="104" name="agent-kb-bg">
              <a:extLst>
                <a:ext uri="{FF2B5EF4-FFF2-40B4-BE49-F238E27FC236}">
                  <a16:creationId xmlns:a16="http://schemas.microsoft.com/office/drawing/2014/main" id="{B2543312-28D1-48C9-9AD5-836AB0BA14E7}"/>
                </a:ext>
              </a:extLst>
            </p:cNvPr>
            <p:cNvSpPr/>
            <p:nvPr/>
          </p:nvSpPr>
          <p:spPr>
            <a:xfrm>
              <a:off x="6203210" y="4741959"/>
              <a:ext cx="5412718" cy="1001268"/>
            </a:xfrm>
            <a:prstGeom prst="roundRect">
              <a:avLst>
                <a:gd name="adj" fmla="val 5000"/>
              </a:avLst>
            </a:prstGeom>
            <a:solidFill>
              <a:srgbClr val="F0F0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5" name="agent-kb-topbar">
              <a:extLst>
                <a:ext uri="{FF2B5EF4-FFF2-40B4-BE49-F238E27FC236}">
                  <a16:creationId xmlns:a16="http://schemas.microsoft.com/office/drawing/2014/main" id="{422E9461-08AC-4282-8CA7-094225B64408}"/>
                </a:ext>
              </a:extLst>
            </p:cNvPr>
            <p:cNvSpPr/>
            <p:nvPr/>
          </p:nvSpPr>
          <p:spPr>
            <a:xfrm>
              <a:off x="6203210" y="4741959"/>
              <a:ext cx="5412718" cy="45719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6" name="agent-kb-title">
              <a:extLst>
                <a:ext uri="{FF2B5EF4-FFF2-40B4-BE49-F238E27FC236}">
                  <a16:creationId xmlns:a16="http://schemas.microsoft.com/office/drawing/2014/main" id="{4B26DCBC-FBF6-441B-AD3A-91AC2DE06666}"/>
                </a:ext>
              </a:extLst>
            </p:cNvPr>
            <p:cNvSpPr txBox="1"/>
            <p:nvPr/>
          </p:nvSpPr>
          <p:spPr>
            <a:xfrm>
              <a:off x="6340370" y="4833399"/>
              <a:ext cx="5650992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 latinLnBrk="1"/>
              <a:r>
                <a:rPr sz="950" b="1">
                  <a:solidFill>
                    <a:srgbClr val="1F4E79"/>
                  </a:solidFill>
                  <a:latin typeface="微软雅黑"/>
                  <a:ea typeface="微软雅黑"/>
                </a:rPr>
                <a:t>AI Agent 2｜</a:t>
              </a:r>
              <a:r>
                <a:rPr sz="950" b="1">
                  <a:solidFill>
                    <a:srgbClr val="0A0A0A"/>
                  </a:solidFill>
                  <a:latin typeface="微软雅黑"/>
                  <a:ea typeface="微软雅黑"/>
                </a:rPr>
                <a:t>知识库 Agent：主动补充、持续迭代</a:t>
              </a:r>
            </a:p>
          </p:txBody>
        </p:sp>
        <p:sp>
          <p:nvSpPr>
            <p:cNvPr id="107" name="agent-kb-it">
              <a:extLst>
                <a:ext uri="{FF2B5EF4-FFF2-40B4-BE49-F238E27FC236}">
                  <a16:creationId xmlns:a16="http://schemas.microsoft.com/office/drawing/2014/main" id="{E468B487-1A36-463D-85D2-37B26B2CBD87}"/>
                </a:ext>
              </a:extLst>
            </p:cNvPr>
            <p:cNvSpPr txBox="1"/>
            <p:nvPr/>
          </p:nvSpPr>
          <p:spPr>
            <a:xfrm>
              <a:off x="6340370" y="5071143"/>
              <a:ext cx="5650992" cy="1231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 latinLnBrk="1"/>
              <a:r>
                <a:rPr sz="800" b="1" dirty="0">
                  <a:solidFill>
                    <a:srgbClr val="1F4E79"/>
                  </a:solidFill>
                  <a:latin typeface="微软雅黑"/>
                  <a:ea typeface="微软雅黑"/>
                </a:rPr>
                <a:t> </a:t>
              </a:r>
              <a:r>
                <a:rPr sz="800" b="1" dirty="0" err="1">
                  <a:solidFill>
                    <a:srgbClr val="0A0A0A"/>
                  </a:solidFill>
                  <a:latin typeface="微软雅黑"/>
                  <a:ea typeface="微软雅黑"/>
                </a:rPr>
                <a:t>知识补全</a:t>
              </a:r>
              <a:endParaRPr sz="800" b="1" dirty="0">
                <a:solidFill>
                  <a:srgbClr val="0A0A0A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108" name="agent-kb-det">
              <a:extLst>
                <a:ext uri="{FF2B5EF4-FFF2-40B4-BE49-F238E27FC236}">
                  <a16:creationId xmlns:a16="http://schemas.microsoft.com/office/drawing/2014/main" id="{FA3E9583-65B0-4124-9A1D-B61CD753D2BE}"/>
                </a:ext>
              </a:extLst>
            </p:cNvPr>
            <p:cNvSpPr txBox="1"/>
            <p:nvPr/>
          </p:nvSpPr>
          <p:spPr>
            <a:xfrm>
              <a:off x="6514106" y="5226591"/>
              <a:ext cx="5504688" cy="12801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 latinLnBrk="1"/>
              <a:r>
                <a:rPr sz="800" b="0" dirty="0" err="1">
                  <a:solidFill>
                    <a:srgbClr val="3D3C3A"/>
                  </a:solidFill>
                  <a:latin typeface="微软雅黑"/>
                  <a:ea typeface="微软雅黑"/>
                </a:rPr>
                <a:t>检索未知商户</a:t>
              </a:r>
              <a:r>
                <a:rPr sz="800" b="0" dirty="0">
                  <a:solidFill>
                    <a:srgbClr val="3D3C3A"/>
                  </a:solidFill>
                  <a:latin typeface="微软雅黑"/>
                  <a:ea typeface="微软雅黑"/>
                </a:rPr>
                <a:t>/</a:t>
              </a:r>
              <a:r>
                <a:rPr sz="800" b="0" dirty="0" err="1">
                  <a:solidFill>
                    <a:srgbClr val="3D3C3A"/>
                  </a:solidFill>
                  <a:latin typeface="微软雅黑"/>
                  <a:ea typeface="微软雅黑"/>
                </a:rPr>
                <a:t>对手方，补充企业、品牌、关键词与分类信息，识别新增业务实体</a:t>
              </a:r>
              <a:endParaRPr sz="800" b="0" dirty="0">
                <a:solidFill>
                  <a:srgbClr val="3D3C3A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109" name="agent-kb-it">
              <a:extLst>
                <a:ext uri="{FF2B5EF4-FFF2-40B4-BE49-F238E27FC236}">
                  <a16:creationId xmlns:a16="http://schemas.microsoft.com/office/drawing/2014/main" id="{E93FADF1-BDC5-431C-8CA0-34B05AEEEFD8}"/>
                </a:ext>
              </a:extLst>
            </p:cNvPr>
            <p:cNvSpPr txBox="1"/>
            <p:nvPr/>
          </p:nvSpPr>
          <p:spPr>
            <a:xfrm>
              <a:off x="6361043" y="5409471"/>
              <a:ext cx="5650992" cy="1231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 latinLnBrk="1"/>
              <a:r>
                <a:rPr sz="800" b="1" dirty="0">
                  <a:solidFill>
                    <a:srgbClr val="1F4E79"/>
                  </a:solidFill>
                  <a:latin typeface="微软雅黑"/>
                  <a:ea typeface="微软雅黑"/>
                </a:rPr>
                <a:t> </a:t>
              </a:r>
              <a:r>
                <a:rPr sz="800" b="1" dirty="0" err="1">
                  <a:solidFill>
                    <a:srgbClr val="0A0A0A"/>
                  </a:solidFill>
                  <a:latin typeface="微软雅黑"/>
                  <a:ea typeface="微软雅黑"/>
                </a:rPr>
                <a:t>知识库更新</a:t>
              </a:r>
              <a:endParaRPr sz="800" b="1" dirty="0">
                <a:solidFill>
                  <a:srgbClr val="0A0A0A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110" name="agent-kb-det">
              <a:extLst>
                <a:ext uri="{FF2B5EF4-FFF2-40B4-BE49-F238E27FC236}">
                  <a16:creationId xmlns:a16="http://schemas.microsoft.com/office/drawing/2014/main" id="{F471A8A9-7E4A-47A9-A4FE-3A795CCCF7D2}"/>
                </a:ext>
              </a:extLst>
            </p:cNvPr>
            <p:cNvSpPr txBox="1"/>
            <p:nvPr/>
          </p:nvSpPr>
          <p:spPr>
            <a:xfrm>
              <a:off x="6534779" y="5564919"/>
              <a:ext cx="5504688" cy="1231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 latinLnBrk="1"/>
              <a:r>
                <a:rPr sz="800" b="0" dirty="0" err="1">
                  <a:solidFill>
                    <a:srgbClr val="3D3C3A"/>
                  </a:solidFill>
                  <a:latin typeface="微软雅黑"/>
                  <a:ea typeface="微软雅黑"/>
                </a:rPr>
                <a:t>自动生成新增</a:t>
              </a:r>
              <a:r>
                <a:rPr sz="800" b="0" dirty="0">
                  <a:solidFill>
                    <a:srgbClr val="3D3C3A"/>
                  </a:solidFill>
                  <a:latin typeface="微软雅黑"/>
                  <a:ea typeface="微软雅黑"/>
                </a:rPr>
                <a:t>/</a:t>
              </a:r>
              <a:r>
                <a:rPr sz="800" b="0" dirty="0" err="1">
                  <a:solidFill>
                    <a:srgbClr val="3D3C3A"/>
                  </a:solidFill>
                  <a:latin typeface="微软雅黑"/>
                  <a:ea typeface="微软雅黑"/>
                </a:rPr>
                <a:t>修改</a:t>
              </a:r>
              <a:r>
                <a:rPr lang="zh-CN" altLang="en-US" sz="800" dirty="0">
                  <a:solidFill>
                    <a:srgbClr val="3D3C3A"/>
                  </a:solidFill>
                  <a:latin typeface="微软雅黑"/>
                  <a:ea typeface="微软雅黑"/>
                </a:rPr>
                <a:t>知识库</a:t>
              </a:r>
              <a:r>
                <a:rPr sz="800" b="0" dirty="0" err="1">
                  <a:solidFill>
                    <a:srgbClr val="3D3C3A"/>
                  </a:solidFill>
                  <a:latin typeface="微软雅黑"/>
                  <a:ea typeface="微软雅黑"/>
                </a:rPr>
                <a:t>建议，人工审核后进入正式知识库，持续沉淀规则与案例</a:t>
              </a:r>
              <a:endParaRPr sz="800" b="0" dirty="0">
                <a:solidFill>
                  <a:srgbClr val="3D3C3A"/>
                </a:solidFill>
                <a:latin typeface="微软雅黑"/>
                <a:ea typeface="微软雅黑"/>
              </a:endParaRPr>
            </a:p>
          </p:txBody>
        </p:sp>
      </p:grpSp>
      <p:sp>
        <p:nvSpPr>
          <p:cNvPr id="111" name="Shape 117">
            <a:extLst>
              <a:ext uri="{FF2B5EF4-FFF2-40B4-BE49-F238E27FC236}">
                <a16:creationId xmlns:a16="http://schemas.microsoft.com/office/drawing/2014/main" id="{81B2719A-8BEA-4FF3-8F1B-18017C197F8D}"/>
              </a:ext>
            </a:extLst>
          </p:cNvPr>
          <p:cNvSpPr/>
          <p:nvPr/>
        </p:nvSpPr>
        <p:spPr>
          <a:xfrm>
            <a:off x="410287" y="2136062"/>
            <a:ext cx="11247121" cy="347472"/>
          </a:xfrm>
          <a:prstGeom prst="rect">
            <a:avLst/>
          </a:prstGeom>
          <a:solidFill>
            <a:srgbClr val="FFF4D4"/>
          </a:solidFill>
          <a:ln w="6350">
            <a:solidFill>
              <a:srgbClr val="FFF4D4">
                <a:alpha val="0"/>
              </a:srgbClr>
            </a:solidFill>
            <a:prstDash val="solid"/>
          </a:ln>
        </p:spPr>
      </p:sp>
      <p:sp>
        <p:nvSpPr>
          <p:cNvPr id="112" name="Text 118">
            <a:extLst>
              <a:ext uri="{FF2B5EF4-FFF2-40B4-BE49-F238E27FC236}">
                <a16:creationId xmlns:a16="http://schemas.microsoft.com/office/drawing/2014/main" id="{3D944DDE-F6CF-4AE0-9D62-BE1C908BDEC5}"/>
              </a:ext>
            </a:extLst>
          </p:cNvPr>
          <p:cNvSpPr/>
          <p:nvPr/>
        </p:nvSpPr>
        <p:spPr>
          <a:xfrm>
            <a:off x="620600" y="2249248"/>
            <a:ext cx="106619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 err="1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核心取舍：让</a:t>
            </a:r>
            <a:r>
              <a:rPr lang="en-US" sz="91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BS-CAT </a:t>
            </a:r>
            <a:r>
              <a:rPr lang="en-US" sz="910" b="1" dirty="0" err="1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输出“可直接用于</a:t>
            </a:r>
            <a:r>
              <a:rPr lang="en-US" altLang="zh-CN" sz="910" b="1" dirty="0" err="1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S-CALC</a:t>
            </a:r>
            <a:r>
              <a:rPr lang="en-US" sz="910" b="1" dirty="0" err="1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”的分类、对手方与</a:t>
            </a:r>
            <a:r>
              <a:rPr lang="zh-CN" altLang="en-US" sz="91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</a:t>
            </a:r>
            <a:r>
              <a:rPr lang="en-US" sz="910" b="1" dirty="0" err="1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结果；IDA</a:t>
            </a:r>
            <a:r>
              <a:rPr lang="en-US" sz="91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10" b="1" dirty="0" err="1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只保留必要调度、汇总与基础计算，降低下游复杂度</a:t>
            </a:r>
            <a:r>
              <a:rPr lang="en-US" sz="91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10" dirty="0"/>
          </a:p>
        </p:txBody>
      </p:sp>
      <p:sp>
        <p:nvSpPr>
          <p:cNvPr id="113" name="tl-line">
            <a:extLst>
              <a:ext uri="{FF2B5EF4-FFF2-40B4-BE49-F238E27FC236}">
                <a16:creationId xmlns:a16="http://schemas.microsoft.com/office/drawing/2014/main" id="{3F3A469C-AA07-4415-8B8B-E08119DF6289}"/>
              </a:ext>
            </a:extLst>
          </p:cNvPr>
          <p:cNvSpPr/>
          <p:nvPr/>
        </p:nvSpPr>
        <p:spPr>
          <a:xfrm>
            <a:off x="694135" y="3497747"/>
            <a:ext cx="10698480" cy="2011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l-dot-0">
            <a:extLst>
              <a:ext uri="{FF2B5EF4-FFF2-40B4-BE49-F238E27FC236}">
                <a16:creationId xmlns:a16="http://schemas.microsoft.com/office/drawing/2014/main" id="{1F902741-A74E-4CD0-8C0C-C42753A0900D}"/>
              </a:ext>
            </a:extLst>
          </p:cNvPr>
          <p:cNvSpPr/>
          <p:nvPr/>
        </p:nvSpPr>
        <p:spPr>
          <a:xfrm>
            <a:off x="1389079" y="3439226"/>
            <a:ext cx="137160" cy="13716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l-date-0">
            <a:extLst>
              <a:ext uri="{FF2B5EF4-FFF2-40B4-BE49-F238E27FC236}">
                <a16:creationId xmlns:a16="http://schemas.microsoft.com/office/drawing/2014/main" id="{E019AD6A-B8A1-4F70-BC72-41789BC4798C}"/>
              </a:ext>
            </a:extLst>
          </p:cNvPr>
          <p:cNvSpPr txBox="1"/>
          <p:nvPr/>
        </p:nvSpPr>
        <p:spPr>
          <a:xfrm>
            <a:off x="1270701" y="3172844"/>
            <a:ext cx="602428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1" dirty="0">
                <a:solidFill>
                  <a:srgbClr val="1F4E79"/>
                </a:solidFill>
                <a:latin typeface="微软雅黑"/>
                <a:ea typeface="微软雅黑"/>
              </a:rPr>
              <a:t>8月</a:t>
            </a:r>
            <a:r>
              <a:rPr lang="en-US" sz="800" b="1" dirty="0">
                <a:solidFill>
                  <a:srgbClr val="1F4E79"/>
                </a:solidFill>
                <a:latin typeface="微软雅黑"/>
                <a:ea typeface="微软雅黑"/>
              </a:rPr>
              <a:t>11</a:t>
            </a:r>
            <a:r>
              <a:rPr sz="800" b="1" dirty="0">
                <a:solidFill>
                  <a:srgbClr val="1F4E79"/>
                </a:solidFill>
                <a:latin typeface="微软雅黑"/>
                <a:ea typeface="微软雅黑"/>
              </a:rPr>
              <a:t>日</a:t>
            </a:r>
          </a:p>
        </p:txBody>
      </p:sp>
      <p:sp>
        <p:nvSpPr>
          <p:cNvPr id="117" name="tl-item-0-0">
            <a:extLst>
              <a:ext uri="{FF2B5EF4-FFF2-40B4-BE49-F238E27FC236}">
                <a16:creationId xmlns:a16="http://schemas.microsoft.com/office/drawing/2014/main" id="{FF2763C1-5CC2-427B-8DBB-A63FFE053BA4}"/>
              </a:ext>
            </a:extLst>
          </p:cNvPr>
          <p:cNvSpPr txBox="1"/>
          <p:nvPr/>
        </p:nvSpPr>
        <p:spPr>
          <a:xfrm>
            <a:off x="637787" y="3796890"/>
            <a:ext cx="1682496" cy="4093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 latinLnBrk="1">
              <a:lnSpc>
                <a:spcPct val="95000"/>
              </a:lnSpc>
              <a:buFont typeface="+mj-lt"/>
              <a:buAutoNum type="arabicPeriod"/>
            </a:pPr>
            <a:r>
              <a:rPr sz="700" b="0" dirty="0">
                <a:solidFill>
                  <a:srgbClr val="3D3C3A"/>
                </a:solidFill>
                <a:latin typeface="微软雅黑"/>
                <a:ea typeface="微软雅黑"/>
              </a:rPr>
              <a:t>943 </a:t>
            </a:r>
            <a:r>
              <a:rPr sz="700" b="0" dirty="0" err="1">
                <a:solidFill>
                  <a:srgbClr val="3D3C3A"/>
                </a:solidFill>
                <a:latin typeface="微软雅黑"/>
                <a:ea typeface="微软雅黑"/>
              </a:rPr>
              <a:t>模型平台</a:t>
            </a:r>
            <a:r>
              <a:rPr sz="700" b="0" dirty="0">
                <a:solidFill>
                  <a:srgbClr val="3D3C3A"/>
                </a:solidFill>
                <a:latin typeface="微软雅黑"/>
                <a:ea typeface="微软雅黑"/>
              </a:rPr>
              <a:t> preview </a:t>
            </a:r>
            <a:r>
              <a:rPr sz="700" b="0" dirty="0" err="1">
                <a:solidFill>
                  <a:srgbClr val="3D3C3A"/>
                </a:solidFill>
                <a:latin typeface="微软雅黑"/>
                <a:ea typeface="微软雅黑"/>
              </a:rPr>
              <a:t>版本完成部署，开放模型输出接口</a:t>
            </a:r>
            <a:endParaRPr lang="en-US" sz="700" b="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marL="228600" indent="-228600" algn="l" latinLnBrk="1">
              <a:lnSpc>
                <a:spcPct val="95000"/>
              </a:lnSpc>
              <a:buFont typeface="+mj-lt"/>
              <a:buAutoNum type="arabicPeriod"/>
            </a:pPr>
            <a:r>
              <a:rPr lang="zh-CN" altLang="en-US" sz="700" dirty="0">
                <a:solidFill>
                  <a:srgbClr val="3D3C3A"/>
                </a:solidFill>
                <a:latin typeface="微软雅黑"/>
                <a:ea typeface="微软雅黑"/>
              </a:rPr>
              <a:t>发布</a:t>
            </a:r>
            <a:r>
              <a:rPr lang="en-US" altLang="zh-CN" sz="700" dirty="0">
                <a:solidFill>
                  <a:srgbClr val="3D3C3A"/>
                </a:solidFill>
                <a:latin typeface="微软雅黑"/>
                <a:ea typeface="微软雅黑"/>
              </a:rPr>
              <a:t>liability </a:t>
            </a:r>
            <a:r>
              <a:rPr lang="zh-CN" altLang="en-US" sz="700" dirty="0">
                <a:solidFill>
                  <a:srgbClr val="3D3C3A"/>
                </a:solidFill>
                <a:latin typeface="微软雅黑"/>
                <a:ea typeface="微软雅黑"/>
              </a:rPr>
              <a:t>识别报告</a:t>
            </a:r>
            <a:endParaRPr lang="en-US" sz="700" b="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marL="228600" indent="-228600" latinLnBrk="1">
              <a:lnSpc>
                <a:spcPct val="95000"/>
              </a:lnSpc>
              <a:buFont typeface="+mj-lt"/>
              <a:buAutoNum type="arabicPeriod"/>
            </a:pPr>
            <a:r>
              <a:rPr lang="zh-CN" altLang="en-US" sz="700" b="0" dirty="0">
                <a:solidFill>
                  <a:srgbClr val="3D3C3A"/>
                </a:solidFill>
                <a:latin typeface="微软雅黑"/>
                <a:ea typeface="微软雅黑"/>
              </a:rPr>
              <a:t>下游平台开始模型调用链路开发</a:t>
            </a:r>
          </a:p>
        </p:txBody>
      </p:sp>
      <p:sp>
        <p:nvSpPr>
          <p:cNvPr id="120" name="tl-dot-1">
            <a:extLst>
              <a:ext uri="{FF2B5EF4-FFF2-40B4-BE49-F238E27FC236}">
                <a16:creationId xmlns:a16="http://schemas.microsoft.com/office/drawing/2014/main" id="{B4E6BFA3-3126-485B-B8F8-B80EFA23EF6B}"/>
              </a:ext>
            </a:extLst>
          </p:cNvPr>
          <p:cNvSpPr/>
          <p:nvPr/>
        </p:nvSpPr>
        <p:spPr>
          <a:xfrm>
            <a:off x="3208735" y="3439226"/>
            <a:ext cx="137160" cy="13716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l-date-1">
            <a:extLst>
              <a:ext uri="{FF2B5EF4-FFF2-40B4-BE49-F238E27FC236}">
                <a16:creationId xmlns:a16="http://schemas.microsoft.com/office/drawing/2014/main" id="{C764ADD4-2E15-49E6-8D1D-625DE9E814D3}"/>
              </a:ext>
            </a:extLst>
          </p:cNvPr>
          <p:cNvSpPr txBox="1"/>
          <p:nvPr/>
        </p:nvSpPr>
        <p:spPr>
          <a:xfrm>
            <a:off x="3146664" y="3172274"/>
            <a:ext cx="326669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1" dirty="0" err="1">
                <a:solidFill>
                  <a:srgbClr val="1F4E79"/>
                </a:solidFill>
                <a:latin typeface="微软雅黑"/>
                <a:ea typeface="微软雅黑"/>
              </a:rPr>
              <a:t>当前</a:t>
            </a:r>
            <a:endParaRPr sz="800" b="1" dirty="0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123" name="tl-item-1-0">
            <a:extLst>
              <a:ext uri="{FF2B5EF4-FFF2-40B4-BE49-F238E27FC236}">
                <a16:creationId xmlns:a16="http://schemas.microsoft.com/office/drawing/2014/main" id="{FE9A30E7-7C29-41F7-AD94-DCC110E9E858}"/>
              </a:ext>
            </a:extLst>
          </p:cNvPr>
          <p:cNvSpPr txBox="1"/>
          <p:nvPr/>
        </p:nvSpPr>
        <p:spPr>
          <a:xfrm>
            <a:off x="2504647" y="3795453"/>
            <a:ext cx="1682496" cy="511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 latinLnBrk="1">
              <a:lnSpc>
                <a:spcPct val="95000"/>
              </a:lnSpc>
              <a:buFont typeface="+mj-lt"/>
              <a:buAutoNum type="arabicPeriod"/>
            </a:pPr>
            <a:r>
              <a:rPr sz="700" b="0" dirty="0" err="1">
                <a:solidFill>
                  <a:srgbClr val="3D3C3A"/>
                </a:solidFill>
                <a:latin typeface="微软雅黑"/>
                <a:ea typeface="微软雅黑"/>
              </a:rPr>
              <a:t>负债</a:t>
            </a:r>
            <a:r>
              <a:rPr sz="700" b="0" dirty="0">
                <a:solidFill>
                  <a:srgbClr val="3D3C3A"/>
                </a:solidFill>
                <a:latin typeface="微软雅黑"/>
                <a:ea typeface="微软雅黑"/>
              </a:rPr>
              <a:t> / </a:t>
            </a:r>
            <a:r>
              <a:rPr sz="700" b="0" dirty="0" err="1">
                <a:solidFill>
                  <a:srgbClr val="3D3C3A"/>
                </a:solidFill>
                <a:latin typeface="微软雅黑"/>
                <a:ea typeface="微软雅黑"/>
              </a:rPr>
              <a:t>收入类知识库基本初始化完成</a:t>
            </a:r>
            <a:endParaRPr lang="en-US" sz="700" b="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marL="228600" indent="-228600" algn="l" latinLnBrk="1">
              <a:lnSpc>
                <a:spcPct val="95000"/>
              </a:lnSpc>
              <a:buFont typeface="+mj-lt"/>
              <a:buAutoNum type="arabicPeriod"/>
            </a:pPr>
            <a:r>
              <a:rPr lang="zh-CN" altLang="en-US" sz="700" b="0" dirty="0">
                <a:solidFill>
                  <a:srgbClr val="3D3C3A"/>
                </a:solidFill>
                <a:latin typeface="微软雅黑"/>
                <a:ea typeface="微软雅黑"/>
              </a:rPr>
              <a:t>消费类知识库建设中</a:t>
            </a:r>
            <a:endParaRPr lang="en-US" altLang="zh-CN" sz="700" b="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marL="228600" indent="-228600" latinLnBrk="1">
              <a:lnSpc>
                <a:spcPct val="95000"/>
              </a:lnSpc>
              <a:buFont typeface="+mj-lt"/>
              <a:buAutoNum type="arabicPeriod"/>
            </a:pPr>
            <a:r>
              <a:rPr lang="zh-CN" altLang="en-US" sz="700" b="0" dirty="0">
                <a:solidFill>
                  <a:srgbClr val="3D3C3A"/>
                </a:solidFill>
                <a:latin typeface="微软雅黑"/>
                <a:ea typeface="微软雅黑"/>
              </a:rPr>
              <a:t>新 </a:t>
            </a:r>
            <a:r>
              <a:rPr lang="en-US" altLang="zh-CN" sz="700" b="0" dirty="0">
                <a:solidFill>
                  <a:srgbClr val="3D3C3A"/>
                </a:solidFill>
                <a:latin typeface="微软雅黑"/>
                <a:ea typeface="微软雅黑"/>
              </a:rPr>
              <a:t>S-CALC </a:t>
            </a:r>
            <a:r>
              <a:rPr lang="zh-CN" altLang="en-US" sz="700" dirty="0">
                <a:solidFill>
                  <a:srgbClr val="3D3C3A"/>
                </a:solidFill>
                <a:latin typeface="微软雅黑"/>
                <a:ea typeface="微软雅黑"/>
              </a:rPr>
              <a:t>开始开发</a:t>
            </a:r>
            <a:endParaRPr lang="en-US" altLang="zh-CN" sz="70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marL="228600" indent="-228600" latinLnBrk="1">
              <a:lnSpc>
                <a:spcPct val="95000"/>
              </a:lnSpc>
              <a:buFont typeface="+mj-lt"/>
              <a:buAutoNum type="arabicPeriod"/>
            </a:pPr>
            <a:r>
              <a:rPr lang="zh-CN" altLang="en-US" sz="700" b="0" dirty="0">
                <a:solidFill>
                  <a:srgbClr val="3D3C3A"/>
                </a:solidFill>
                <a:latin typeface="微软雅黑"/>
                <a:ea typeface="微软雅黑"/>
              </a:rPr>
              <a:t>开通新旧</a:t>
            </a:r>
            <a:r>
              <a:rPr lang="en-US" altLang="zh-CN" sz="700" b="0" dirty="0">
                <a:solidFill>
                  <a:srgbClr val="3D3C3A"/>
                </a:solidFill>
                <a:latin typeface="微软雅黑"/>
                <a:ea typeface="微软雅黑"/>
              </a:rPr>
              <a:t>IDP</a:t>
            </a:r>
            <a:r>
              <a:rPr lang="zh-CN" altLang="en-US" sz="700" b="0" dirty="0">
                <a:solidFill>
                  <a:srgbClr val="3D3C3A"/>
                </a:solidFill>
                <a:latin typeface="微软雅黑"/>
                <a:ea typeface="微软雅黑"/>
              </a:rPr>
              <a:t>链路 </a:t>
            </a:r>
            <a:r>
              <a:rPr lang="en-US" altLang="zh-CN" sz="700" b="0" dirty="0">
                <a:solidFill>
                  <a:srgbClr val="3D3C3A"/>
                </a:solidFill>
                <a:latin typeface="微软雅黑"/>
                <a:ea typeface="微软雅黑"/>
              </a:rPr>
              <a:t>AB </a:t>
            </a:r>
            <a:r>
              <a:rPr lang="zh-CN" altLang="en-US" sz="700" b="0" dirty="0">
                <a:solidFill>
                  <a:srgbClr val="3D3C3A"/>
                </a:solidFill>
                <a:latin typeface="微软雅黑"/>
                <a:ea typeface="微软雅黑"/>
              </a:rPr>
              <a:t>测试</a:t>
            </a:r>
          </a:p>
          <a:p>
            <a:pPr marL="228600" indent="-228600" algn="l" latinLnBrk="1">
              <a:lnSpc>
                <a:spcPct val="95000"/>
              </a:lnSpc>
              <a:buFont typeface="+mj-lt"/>
              <a:buAutoNum type="arabicPeriod"/>
            </a:pPr>
            <a:endParaRPr sz="700" b="0" dirty="0">
              <a:solidFill>
                <a:srgbClr val="3D3C3A"/>
              </a:solidFill>
              <a:latin typeface="微软雅黑"/>
              <a:ea typeface="微软雅黑"/>
            </a:endParaRPr>
          </a:p>
        </p:txBody>
      </p:sp>
      <p:sp>
        <p:nvSpPr>
          <p:cNvPr id="126" name="tl-dot-2">
            <a:extLst>
              <a:ext uri="{FF2B5EF4-FFF2-40B4-BE49-F238E27FC236}">
                <a16:creationId xmlns:a16="http://schemas.microsoft.com/office/drawing/2014/main" id="{F09D24E6-1D55-4F5C-A98B-73092449CBCD}"/>
              </a:ext>
            </a:extLst>
          </p:cNvPr>
          <p:cNvSpPr/>
          <p:nvPr/>
        </p:nvSpPr>
        <p:spPr>
          <a:xfrm>
            <a:off x="5028391" y="3439226"/>
            <a:ext cx="137160" cy="13716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l-date-2">
            <a:extLst>
              <a:ext uri="{FF2B5EF4-FFF2-40B4-BE49-F238E27FC236}">
                <a16:creationId xmlns:a16="http://schemas.microsoft.com/office/drawing/2014/main" id="{00ED8DCC-631B-4BE2-818E-2C866D963754}"/>
              </a:ext>
            </a:extLst>
          </p:cNvPr>
          <p:cNvSpPr txBox="1"/>
          <p:nvPr/>
        </p:nvSpPr>
        <p:spPr>
          <a:xfrm>
            <a:off x="4893414" y="3178207"/>
            <a:ext cx="521208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1" dirty="0">
                <a:solidFill>
                  <a:srgbClr val="1F4E79"/>
                </a:solidFill>
                <a:latin typeface="微软雅黑"/>
                <a:ea typeface="微软雅黑"/>
              </a:rPr>
              <a:t>8月21日</a:t>
            </a:r>
          </a:p>
        </p:txBody>
      </p:sp>
      <p:sp>
        <p:nvSpPr>
          <p:cNvPr id="129" name="tl-item-2-0">
            <a:extLst>
              <a:ext uri="{FF2B5EF4-FFF2-40B4-BE49-F238E27FC236}">
                <a16:creationId xmlns:a16="http://schemas.microsoft.com/office/drawing/2014/main" id="{B7495FBF-27DF-4BA8-A8C3-62FC45EBFD56}"/>
              </a:ext>
            </a:extLst>
          </p:cNvPr>
          <p:cNvSpPr txBox="1"/>
          <p:nvPr/>
        </p:nvSpPr>
        <p:spPr>
          <a:xfrm>
            <a:off x="4350769" y="3789923"/>
            <a:ext cx="1682496" cy="2046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 latinLnBrk="1">
              <a:lnSpc>
                <a:spcPct val="95000"/>
              </a:lnSpc>
              <a:buFont typeface="+mj-lt"/>
              <a:buAutoNum type="arabicPeriod"/>
            </a:pPr>
            <a:r>
              <a:rPr sz="700" b="0" dirty="0" err="1">
                <a:solidFill>
                  <a:srgbClr val="3D3C3A"/>
                </a:solidFill>
                <a:latin typeface="微软雅黑"/>
                <a:ea typeface="微软雅黑"/>
              </a:rPr>
              <a:t>完成消费类知识库初始化</a:t>
            </a:r>
            <a:endParaRPr lang="en-US" sz="700" b="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marL="228600" indent="-228600" latinLnBrk="1">
              <a:lnSpc>
                <a:spcPct val="95000"/>
              </a:lnSpc>
              <a:buFont typeface="+mj-lt"/>
              <a:buAutoNum type="arabicPeriod"/>
            </a:pPr>
            <a:r>
              <a:rPr lang="zh-CN" altLang="en-US" sz="700" b="0" dirty="0">
                <a:solidFill>
                  <a:srgbClr val="3D3C3A"/>
                </a:solidFill>
                <a:latin typeface="微软雅黑"/>
                <a:ea typeface="微软雅黑"/>
              </a:rPr>
              <a:t>发布全分类详细模型效果评估报告</a:t>
            </a:r>
          </a:p>
        </p:txBody>
      </p:sp>
      <p:sp>
        <p:nvSpPr>
          <p:cNvPr id="132" name="tl-dot-3">
            <a:extLst>
              <a:ext uri="{FF2B5EF4-FFF2-40B4-BE49-F238E27FC236}">
                <a16:creationId xmlns:a16="http://schemas.microsoft.com/office/drawing/2014/main" id="{17FD06C6-BDC8-4704-AFAA-EE9A845F686D}"/>
              </a:ext>
            </a:extLst>
          </p:cNvPr>
          <p:cNvSpPr/>
          <p:nvPr/>
        </p:nvSpPr>
        <p:spPr>
          <a:xfrm>
            <a:off x="6848047" y="3439226"/>
            <a:ext cx="137160" cy="13716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l-date-3">
            <a:extLst>
              <a:ext uri="{FF2B5EF4-FFF2-40B4-BE49-F238E27FC236}">
                <a16:creationId xmlns:a16="http://schemas.microsoft.com/office/drawing/2014/main" id="{EB883891-C8F1-41F8-8121-43F1AAC538EA}"/>
              </a:ext>
            </a:extLst>
          </p:cNvPr>
          <p:cNvSpPr txBox="1"/>
          <p:nvPr/>
        </p:nvSpPr>
        <p:spPr>
          <a:xfrm>
            <a:off x="6726455" y="3166610"/>
            <a:ext cx="441543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1" dirty="0">
                <a:solidFill>
                  <a:srgbClr val="1F4E79"/>
                </a:solidFill>
                <a:latin typeface="微软雅黑"/>
                <a:ea typeface="微软雅黑"/>
              </a:rPr>
              <a:t>8月31日</a:t>
            </a:r>
          </a:p>
        </p:txBody>
      </p:sp>
      <p:sp>
        <p:nvSpPr>
          <p:cNvPr id="135" name="tl-item-3-0">
            <a:extLst>
              <a:ext uri="{FF2B5EF4-FFF2-40B4-BE49-F238E27FC236}">
                <a16:creationId xmlns:a16="http://schemas.microsoft.com/office/drawing/2014/main" id="{F6CCB6F9-A4BF-4A7C-AB8D-CDD4133BD137}"/>
              </a:ext>
            </a:extLst>
          </p:cNvPr>
          <p:cNvSpPr txBox="1"/>
          <p:nvPr/>
        </p:nvSpPr>
        <p:spPr>
          <a:xfrm>
            <a:off x="6560600" y="3784695"/>
            <a:ext cx="1682496" cy="4093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 latinLnBrk="1">
              <a:lnSpc>
                <a:spcPct val="95000"/>
              </a:lnSpc>
              <a:buFont typeface="+mj-lt"/>
              <a:buAutoNum type="arabicPeriod"/>
            </a:pPr>
            <a:r>
              <a:rPr sz="700" b="0" dirty="0" err="1">
                <a:solidFill>
                  <a:srgbClr val="3D3C3A"/>
                </a:solidFill>
                <a:latin typeface="微软雅黑"/>
                <a:ea typeface="微软雅黑"/>
              </a:rPr>
              <a:t>发布正式版模型</a:t>
            </a:r>
            <a:endParaRPr lang="en-US" sz="700" b="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marL="228600" indent="-228600" algn="l" latinLnBrk="1">
              <a:lnSpc>
                <a:spcPct val="95000"/>
              </a:lnSpc>
              <a:buFont typeface="+mj-lt"/>
              <a:buAutoNum type="arabicPeriod"/>
            </a:pPr>
            <a:r>
              <a:rPr lang="zh-CN" altLang="en-US" sz="700" dirty="0">
                <a:solidFill>
                  <a:srgbClr val="3D3C3A"/>
                </a:solidFill>
                <a:latin typeface="微软雅黑"/>
                <a:ea typeface="微软雅黑"/>
              </a:rPr>
              <a:t>新的分类数据落库</a:t>
            </a:r>
            <a:endParaRPr lang="en-US" sz="700" b="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marL="228600" indent="-228600" algn="l" latinLnBrk="1">
              <a:lnSpc>
                <a:spcPct val="95000"/>
              </a:lnSpc>
              <a:buFont typeface="+mj-lt"/>
              <a:buAutoNum type="arabicPeriod"/>
            </a:pPr>
            <a:r>
              <a:rPr lang="zh-CN" altLang="en-US" sz="700" dirty="0">
                <a:solidFill>
                  <a:srgbClr val="3D3C3A"/>
                </a:solidFill>
                <a:latin typeface="微软雅黑"/>
                <a:ea typeface="微软雅黑"/>
              </a:rPr>
              <a:t>下游平台调用链路调通</a:t>
            </a:r>
            <a:endParaRPr lang="en-US" altLang="zh-CN" sz="70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marL="228600" indent="-228600" algn="l" latinLnBrk="1">
              <a:lnSpc>
                <a:spcPct val="95000"/>
              </a:lnSpc>
              <a:buFont typeface="+mj-lt"/>
              <a:buAutoNum type="arabicPeriod"/>
            </a:pPr>
            <a:r>
              <a:rPr lang="zh-CN" altLang="en-US" sz="700" dirty="0">
                <a:solidFill>
                  <a:srgbClr val="3D3C3A"/>
                </a:solidFill>
                <a:latin typeface="微软雅黑"/>
                <a:ea typeface="微软雅黑"/>
              </a:rPr>
              <a:t>调通后开始空跑两周</a:t>
            </a:r>
            <a:endParaRPr sz="700" b="0" dirty="0">
              <a:solidFill>
                <a:srgbClr val="3D3C3A"/>
              </a:solidFill>
              <a:latin typeface="微软雅黑"/>
              <a:ea typeface="微软雅黑"/>
            </a:endParaRPr>
          </a:p>
        </p:txBody>
      </p:sp>
      <p:sp>
        <p:nvSpPr>
          <p:cNvPr id="138" name="tl-dot-4">
            <a:extLst>
              <a:ext uri="{FF2B5EF4-FFF2-40B4-BE49-F238E27FC236}">
                <a16:creationId xmlns:a16="http://schemas.microsoft.com/office/drawing/2014/main" id="{0B0625B5-7877-42B7-8F84-CBB8A6353423}"/>
              </a:ext>
            </a:extLst>
          </p:cNvPr>
          <p:cNvSpPr/>
          <p:nvPr/>
        </p:nvSpPr>
        <p:spPr>
          <a:xfrm>
            <a:off x="8667703" y="3439226"/>
            <a:ext cx="137160" cy="13716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l-date-4">
            <a:extLst>
              <a:ext uri="{FF2B5EF4-FFF2-40B4-BE49-F238E27FC236}">
                <a16:creationId xmlns:a16="http://schemas.microsoft.com/office/drawing/2014/main" id="{3E51EB03-AA85-4901-B5D2-0973B209E11A}"/>
              </a:ext>
            </a:extLst>
          </p:cNvPr>
          <p:cNvSpPr txBox="1"/>
          <p:nvPr/>
        </p:nvSpPr>
        <p:spPr>
          <a:xfrm>
            <a:off x="8512009" y="3178207"/>
            <a:ext cx="632869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1" dirty="0">
                <a:solidFill>
                  <a:srgbClr val="1F4E79"/>
                </a:solidFill>
                <a:latin typeface="微软雅黑"/>
                <a:ea typeface="微软雅黑"/>
              </a:rPr>
              <a:t>9月15日</a:t>
            </a:r>
          </a:p>
        </p:txBody>
      </p:sp>
      <p:sp>
        <p:nvSpPr>
          <p:cNvPr id="144" name="tl-dot-5">
            <a:extLst>
              <a:ext uri="{FF2B5EF4-FFF2-40B4-BE49-F238E27FC236}">
                <a16:creationId xmlns:a16="http://schemas.microsoft.com/office/drawing/2014/main" id="{A0D83AE4-64AC-4A62-8C02-3CD6556A4584}"/>
              </a:ext>
            </a:extLst>
          </p:cNvPr>
          <p:cNvSpPr/>
          <p:nvPr/>
        </p:nvSpPr>
        <p:spPr>
          <a:xfrm>
            <a:off x="10487359" y="3439226"/>
            <a:ext cx="137160" cy="13716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l-item-5-0">
            <a:extLst>
              <a:ext uri="{FF2B5EF4-FFF2-40B4-BE49-F238E27FC236}">
                <a16:creationId xmlns:a16="http://schemas.microsoft.com/office/drawing/2014/main" id="{A71DEA1D-7524-4549-B8EE-3CFB9271FAF2}"/>
              </a:ext>
            </a:extLst>
          </p:cNvPr>
          <p:cNvSpPr txBox="1"/>
          <p:nvPr/>
        </p:nvSpPr>
        <p:spPr>
          <a:xfrm>
            <a:off x="10019439" y="3738659"/>
            <a:ext cx="1682496" cy="4093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>
              <a:lnSpc>
                <a:spcPct val="95000"/>
              </a:lnSpc>
            </a:pPr>
            <a:r>
              <a:rPr sz="700" b="0" dirty="0" err="1">
                <a:solidFill>
                  <a:srgbClr val="3D3C3A"/>
                </a:solidFill>
                <a:latin typeface="微软雅黑"/>
                <a:ea typeface="微软雅黑"/>
              </a:rPr>
              <a:t>开通</a:t>
            </a:r>
            <a:r>
              <a:rPr lang="zh-CN" altLang="en-US" sz="700" b="0" dirty="0">
                <a:solidFill>
                  <a:srgbClr val="3D3C3A"/>
                </a:solidFill>
                <a:latin typeface="微软雅黑"/>
                <a:ea typeface="微软雅黑"/>
              </a:rPr>
              <a:t>新旧</a:t>
            </a:r>
            <a:r>
              <a:rPr lang="en-US" altLang="zh-CN" sz="700" b="0" dirty="0">
                <a:solidFill>
                  <a:srgbClr val="3D3C3A"/>
                </a:solidFill>
                <a:latin typeface="微软雅黑"/>
                <a:ea typeface="微软雅黑"/>
              </a:rPr>
              <a:t>IDP</a:t>
            </a:r>
            <a:r>
              <a:rPr lang="zh-CN" altLang="en-US" sz="700" b="0" dirty="0">
                <a:solidFill>
                  <a:srgbClr val="3D3C3A"/>
                </a:solidFill>
                <a:latin typeface="微软雅黑"/>
                <a:ea typeface="微软雅黑"/>
              </a:rPr>
              <a:t>链路</a:t>
            </a:r>
            <a:r>
              <a:rPr sz="700" b="0" dirty="0">
                <a:solidFill>
                  <a:srgbClr val="3D3C3A"/>
                </a:solidFill>
                <a:latin typeface="微软雅黑"/>
                <a:ea typeface="微软雅黑"/>
              </a:rPr>
              <a:t> AB </a:t>
            </a:r>
            <a:r>
              <a:rPr sz="700" b="0" dirty="0" err="1">
                <a:solidFill>
                  <a:srgbClr val="3D3C3A"/>
                </a:solidFill>
                <a:latin typeface="微软雅黑"/>
                <a:ea typeface="微软雅黑"/>
              </a:rPr>
              <a:t>测试</a:t>
            </a:r>
            <a:endParaRPr lang="en-US" sz="700" b="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latinLnBrk="1">
              <a:lnSpc>
                <a:spcPct val="95000"/>
              </a:lnSpc>
            </a:pPr>
            <a:r>
              <a:rPr lang="zh-CN" altLang="en-US" sz="700" b="0" dirty="0">
                <a:solidFill>
                  <a:srgbClr val="3D3C3A"/>
                </a:solidFill>
                <a:latin typeface="微软雅黑"/>
                <a:ea typeface="微软雅黑"/>
              </a:rPr>
              <a:t>新 </a:t>
            </a:r>
            <a:r>
              <a:rPr lang="en-US" altLang="zh-CN" sz="700" b="0" dirty="0">
                <a:solidFill>
                  <a:srgbClr val="3D3C3A"/>
                </a:solidFill>
                <a:latin typeface="微软雅黑"/>
                <a:ea typeface="微软雅黑"/>
              </a:rPr>
              <a:t>S-CALC </a:t>
            </a:r>
            <a:r>
              <a:rPr lang="zh-CN" altLang="en-US" sz="700" b="0" dirty="0">
                <a:solidFill>
                  <a:srgbClr val="3D3C3A"/>
                </a:solidFill>
                <a:latin typeface="微软雅黑"/>
                <a:ea typeface="微软雅黑"/>
              </a:rPr>
              <a:t>开发完成</a:t>
            </a:r>
            <a:endParaRPr lang="en-US" altLang="zh-CN" sz="700" b="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latinLnBrk="1">
              <a:lnSpc>
                <a:spcPct val="95000"/>
              </a:lnSpc>
            </a:pPr>
            <a:r>
              <a:rPr lang="en-US" altLang="zh-CN" sz="700" b="0" dirty="0">
                <a:solidFill>
                  <a:srgbClr val="3D3C3A"/>
                </a:solidFill>
                <a:latin typeface="微软雅黑"/>
                <a:ea typeface="微软雅黑"/>
              </a:rPr>
              <a:t>LMS </a:t>
            </a:r>
            <a:r>
              <a:rPr lang="zh-CN" altLang="en-US" sz="700" b="0" dirty="0">
                <a:solidFill>
                  <a:srgbClr val="3D3C3A"/>
                </a:solidFill>
                <a:latin typeface="微软雅黑"/>
                <a:ea typeface="微软雅黑"/>
              </a:rPr>
              <a:t>新页面开发完成</a:t>
            </a:r>
            <a:endParaRPr lang="en-US" altLang="zh-CN" sz="700" b="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latinLnBrk="1">
              <a:lnSpc>
                <a:spcPct val="95000"/>
              </a:lnSpc>
            </a:pPr>
            <a:r>
              <a:rPr lang="zh-CN" altLang="en-US" sz="700" b="0" dirty="0">
                <a:solidFill>
                  <a:srgbClr val="3D3C3A"/>
                </a:solidFill>
                <a:latin typeface="微软雅黑"/>
                <a:ea typeface="微软雅黑"/>
              </a:rPr>
              <a:t>完成新旧</a:t>
            </a:r>
            <a:r>
              <a:rPr lang="en-US" altLang="zh-CN" sz="700" b="0" dirty="0">
                <a:solidFill>
                  <a:srgbClr val="3D3C3A"/>
                </a:solidFill>
                <a:latin typeface="微软雅黑"/>
                <a:ea typeface="微软雅黑"/>
              </a:rPr>
              <a:t>IDP</a:t>
            </a:r>
            <a:r>
              <a:rPr lang="zh-CN" altLang="en-US" sz="700" b="0" dirty="0">
                <a:solidFill>
                  <a:srgbClr val="3D3C3A"/>
                </a:solidFill>
                <a:latin typeface="微软雅黑"/>
                <a:ea typeface="微软雅黑"/>
              </a:rPr>
              <a:t>链路 </a:t>
            </a:r>
            <a:r>
              <a:rPr lang="en-US" altLang="zh-CN" sz="700" b="0" dirty="0">
                <a:solidFill>
                  <a:srgbClr val="3D3C3A"/>
                </a:solidFill>
                <a:latin typeface="微软雅黑"/>
                <a:ea typeface="微软雅黑"/>
              </a:rPr>
              <a:t>AB </a:t>
            </a:r>
            <a:r>
              <a:rPr lang="zh-CN" altLang="en-US" sz="700" b="0" dirty="0">
                <a:solidFill>
                  <a:srgbClr val="3D3C3A"/>
                </a:solidFill>
                <a:latin typeface="微软雅黑"/>
                <a:ea typeface="微软雅黑"/>
              </a:rPr>
              <a:t>测试</a:t>
            </a:r>
          </a:p>
        </p:txBody>
      </p:sp>
      <p:sp>
        <p:nvSpPr>
          <p:cNvPr id="148" name="tl-item-3-0">
            <a:extLst>
              <a:ext uri="{FF2B5EF4-FFF2-40B4-BE49-F238E27FC236}">
                <a16:creationId xmlns:a16="http://schemas.microsoft.com/office/drawing/2014/main" id="{0EC14774-DF0B-4A61-9F27-C61F134277AA}"/>
              </a:ext>
            </a:extLst>
          </p:cNvPr>
          <p:cNvSpPr txBox="1"/>
          <p:nvPr/>
        </p:nvSpPr>
        <p:spPr>
          <a:xfrm>
            <a:off x="8187302" y="3763975"/>
            <a:ext cx="1682496" cy="1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 latinLnBrk="1">
              <a:lnSpc>
                <a:spcPct val="95000"/>
              </a:lnSpc>
              <a:buFont typeface="+mj-lt"/>
              <a:buAutoNum type="arabicPeriod"/>
            </a:pPr>
            <a:r>
              <a:rPr lang="zh-CN" altLang="en-US" sz="700" b="0" dirty="0">
                <a:solidFill>
                  <a:srgbClr val="3D3C3A"/>
                </a:solidFill>
                <a:latin typeface="微软雅黑"/>
                <a:ea typeface="微软雅黑"/>
              </a:rPr>
              <a:t>空跑结束，具备切量条件</a:t>
            </a:r>
            <a:endParaRPr sz="700" b="0" dirty="0">
              <a:solidFill>
                <a:srgbClr val="3D3C3A"/>
              </a:solidFill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37047066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主题​​">
  <a:themeElements>
    <a:clrScheme name="蓝色暖调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272</Words>
  <Application>Microsoft Office PowerPoint</Application>
  <PresentationFormat>宽屏</PresentationFormat>
  <Paragraphs>59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Microsoft YaHei</vt:lpstr>
      <vt:lpstr>Microsoft YaHei</vt:lpstr>
      <vt:lpstr>等线</vt:lpstr>
      <vt:lpstr>等线 Light</vt:lpstr>
      <vt:lpstr>Arial</vt:lpstr>
      <vt:lpstr>Roboto Black</vt:lpstr>
      <vt:lpstr>Roboto Light</vt:lpstr>
      <vt:lpstr>1_Office 主题​​</vt:lpstr>
      <vt:lpstr>PowerPoint 演示文稿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端到端流程与模型规划</dc:title>
  <dc:subject>端到端流程与模型规划</dc:subject>
  <dc:creator>OpenAI</dc:creator>
  <cp:lastModifiedBy>昱良</cp:lastModifiedBy>
  <cp:revision>23</cp:revision>
  <dcterms:created xsi:type="dcterms:W3CDTF">2026-08-12T01:33:12Z</dcterms:created>
  <dcterms:modified xsi:type="dcterms:W3CDTF">2026-08-12T03:23:06Z</dcterms:modified>
</cp:coreProperties>
</file>