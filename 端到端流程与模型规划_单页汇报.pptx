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5" autoAdjust="0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16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6342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20258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66928" y="173736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端到端流程与模型规划：从模型调用到运维闭环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978408"/>
            <a:ext cx="64008" cy="201168"/>
          </a:xfrm>
          <a:prstGeom prst="rect">
            <a:avLst/>
          </a:prstGeom>
          <a:solidFill>
            <a:srgbClr val="E5B100"/>
          </a:solidFill>
          <a:ln w="6350">
            <a:solidFill>
              <a:srgbClr val="E5B10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960120"/>
            <a:ext cx="11119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端到端链路：分类模型前置输出，IDA 保持轻量调度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" y="1321308"/>
            <a:ext cx="11228832" cy="896112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1458468"/>
            <a:ext cx="30632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620">
            <a:solidFill>
              <a:srgbClr val="D7DC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68496" y="1458468"/>
            <a:ext cx="38862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620">
            <a:solidFill>
              <a:srgbClr val="D7DC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1458468"/>
            <a:ext cx="33375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620">
            <a:solidFill>
              <a:srgbClr val="D7DC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30752" y="1714500"/>
            <a:ext cx="219456" cy="0"/>
          </a:xfrm>
          <a:prstGeom prst="line">
            <a:avLst/>
          </a:prstGeom>
          <a:noFill/>
          <a:ln w="1524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872984" y="1714500"/>
            <a:ext cx="210312" cy="0"/>
          </a:xfrm>
          <a:prstGeom prst="line">
            <a:avLst/>
          </a:prstGeom>
          <a:noFill/>
          <a:ln w="1524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8952" y="1549908"/>
            <a:ext cx="749808" cy="320040"/>
          </a:xfrm>
          <a:prstGeom prst="roundRect">
            <a:avLst>
              <a:gd name="adj" fmla="val 14286"/>
            </a:avLst>
          </a:prstGeom>
          <a:solidFill>
            <a:srgbClr val="EDF4FA"/>
          </a:solidFill>
          <a:ln w="7620">
            <a:solidFill>
              <a:srgbClr val="2D669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1559052"/>
            <a:ext cx="71323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IDA</a:t>
            </a:r>
            <a:endParaRPr lang="en-US" sz="730" dirty="0"/>
          </a:p>
          <a:p>
            <a:pPr marL="0" indent="0" algn="ctr">
              <a:buNone/>
            </a:pPr>
            <a:r>
              <a:rPr lang="en-US" sz="73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申请发起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1618488" y="1549908"/>
            <a:ext cx="804672" cy="320040"/>
          </a:xfrm>
          <a:prstGeom prst="roundRect">
            <a:avLst>
              <a:gd name="adj" fmla="val 14286"/>
            </a:avLst>
          </a:prstGeom>
          <a:solidFill>
            <a:srgbClr val="EDF4FA"/>
          </a:solidFill>
          <a:ln w="7620">
            <a:solidFill>
              <a:srgbClr val="2D66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36776" y="1559052"/>
            <a:ext cx="76809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SQS</a:t>
            </a:r>
            <a:endParaRPr lang="en-US" sz="730" dirty="0"/>
          </a:p>
          <a:p>
            <a:pPr marL="0" indent="0" algn="ctr">
              <a:buNone/>
            </a:pPr>
            <a:r>
              <a:rPr lang="en-US" sz="73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排队任务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2542032" y="1549908"/>
            <a:ext cx="786384" cy="320040"/>
          </a:xfrm>
          <a:prstGeom prst="roundRect">
            <a:avLst>
              <a:gd name="adj" fmla="val 14286"/>
            </a:avLst>
          </a:prstGeom>
          <a:solidFill>
            <a:srgbClr val="EDF4FA"/>
          </a:solidFill>
          <a:ln w="7620">
            <a:solidFill>
              <a:srgbClr val="2D669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1559052"/>
            <a:ext cx="74980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IDP</a:t>
            </a:r>
            <a:endParaRPr lang="en-US" sz="730" dirty="0"/>
          </a:p>
          <a:p>
            <a:pPr marL="0" indent="0" algn="ctr">
              <a:buNone/>
            </a:pPr>
            <a:r>
              <a:rPr lang="en-US" sz="73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核心调度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1508760" y="1705356"/>
            <a:ext cx="91440" cy="0"/>
          </a:xfrm>
          <a:prstGeom prst="line">
            <a:avLst/>
          </a:prstGeom>
          <a:noFill/>
          <a:ln w="1016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423160" y="1705356"/>
            <a:ext cx="100584" cy="0"/>
          </a:xfrm>
          <a:prstGeom prst="line">
            <a:avLst/>
          </a:prstGeom>
          <a:noFill/>
          <a:ln w="1016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096512" y="1549908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0B376D"/>
          </a:solidFill>
          <a:ln w="7620">
            <a:solidFill>
              <a:srgbClr val="0B37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1559052"/>
            <a:ext cx="7863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BS-CAT</a:t>
            </a:r>
            <a:endParaRPr lang="en-US" sz="730" dirty="0"/>
          </a:p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流水分类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5074920" y="1549908"/>
            <a:ext cx="896112" cy="320040"/>
          </a:xfrm>
          <a:prstGeom prst="roundRect">
            <a:avLst>
              <a:gd name="adj" fmla="val 14286"/>
            </a:avLst>
          </a:prstGeom>
          <a:solidFill>
            <a:srgbClr val="FFF4D4"/>
          </a:solidFill>
          <a:ln w="7620">
            <a:solidFill>
              <a:srgbClr val="E5B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93208" y="1559052"/>
            <a:ext cx="8595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交易识别</a:t>
            </a:r>
            <a:endParaRPr lang="en-US" sz="730" dirty="0"/>
          </a:p>
          <a:p>
            <a:pPr marL="0" indent="0" algn="ctr">
              <a:buNone/>
            </a:pPr>
            <a:r>
              <a:rPr lang="en-US" sz="73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对手/标签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6144768" y="1549908"/>
            <a:ext cx="859536" cy="320040"/>
          </a:xfrm>
          <a:prstGeom prst="roundRect">
            <a:avLst>
              <a:gd name="adj" fmla="val 14286"/>
            </a:avLst>
          </a:prstGeom>
          <a:solidFill>
            <a:srgbClr val="FFF4D4"/>
          </a:solidFill>
          <a:ln w="7620">
            <a:solidFill>
              <a:srgbClr val="E5B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63056" y="1559052"/>
            <a:ext cx="82296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S-CALC</a:t>
            </a:r>
            <a:endParaRPr lang="en-US" sz="730" dirty="0"/>
          </a:p>
          <a:p>
            <a:pPr marL="0" indent="0" algn="ctr">
              <a:buNone/>
            </a:pPr>
            <a:r>
              <a:rPr lang="en-US" sz="73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服务能力</a:t>
            </a:r>
            <a:endParaRPr lang="en-US" sz="730" dirty="0"/>
          </a:p>
        </p:txBody>
      </p:sp>
      <p:sp>
        <p:nvSpPr>
          <p:cNvPr id="32" name="Shape 30"/>
          <p:cNvSpPr/>
          <p:nvPr/>
        </p:nvSpPr>
        <p:spPr>
          <a:xfrm>
            <a:off x="7150608" y="1549908"/>
            <a:ext cx="566928" cy="320040"/>
          </a:xfrm>
          <a:prstGeom prst="roundRect">
            <a:avLst>
              <a:gd name="adj" fmla="val 14286"/>
            </a:avLst>
          </a:prstGeom>
          <a:solidFill>
            <a:srgbClr val="FFF4D4"/>
          </a:solidFill>
          <a:ln w="7620">
            <a:solidFill>
              <a:srgbClr val="E5B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68896" y="1559052"/>
            <a:ext cx="53035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GenAI</a:t>
            </a:r>
            <a:endParaRPr lang="en-US" sz="730" dirty="0"/>
          </a:p>
          <a:p>
            <a:pPr marL="0" indent="0" algn="ctr">
              <a:buNone/>
            </a:pPr>
            <a:r>
              <a:rPr lang="en-US" sz="73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辅助推理</a:t>
            </a: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4919472" y="1705356"/>
            <a:ext cx="137160" cy="0"/>
          </a:xfrm>
          <a:prstGeom prst="line">
            <a:avLst/>
          </a:prstGeom>
          <a:noFill/>
          <a:ln w="1016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971032" y="1705356"/>
            <a:ext cx="155448" cy="0"/>
          </a:xfrm>
          <a:prstGeom prst="line">
            <a:avLst/>
          </a:prstGeom>
          <a:noFill/>
          <a:ln w="1016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004304" y="1705356"/>
            <a:ext cx="128016" cy="0"/>
          </a:xfrm>
          <a:prstGeom prst="line">
            <a:avLst/>
          </a:prstGeom>
          <a:noFill/>
          <a:ln w="1016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247888" y="1549908"/>
            <a:ext cx="886968" cy="320040"/>
          </a:xfrm>
          <a:prstGeom prst="roundRect">
            <a:avLst>
              <a:gd name="adj" fmla="val 14286"/>
            </a:avLst>
          </a:prstGeom>
          <a:solidFill>
            <a:srgbClr val="EDF4FA"/>
          </a:solidFill>
          <a:ln w="7620">
            <a:solidFill>
              <a:srgbClr val="2D669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66176" y="1559052"/>
            <a:ext cx="85039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结果落库</a:t>
            </a:r>
            <a:endParaRPr lang="en-US" sz="730" dirty="0"/>
          </a:p>
          <a:p>
            <a:pPr marL="0" indent="0" algn="ctr">
              <a:buNone/>
            </a:pPr>
            <a:r>
              <a:rPr lang="en-US" sz="73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HTM/测算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9326880" y="1549908"/>
            <a:ext cx="877824" cy="320040"/>
          </a:xfrm>
          <a:prstGeom prst="roundRect">
            <a:avLst>
              <a:gd name="adj" fmla="val 14286"/>
            </a:avLst>
          </a:prstGeom>
          <a:solidFill>
            <a:srgbClr val="EDF4FA"/>
          </a:solidFill>
          <a:ln w="7620">
            <a:solidFill>
              <a:srgbClr val="2D669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45168" y="1559052"/>
            <a:ext cx="84124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风险模型</a:t>
            </a:r>
            <a:endParaRPr lang="en-US" sz="730" dirty="0"/>
          </a:p>
          <a:p>
            <a:pPr marL="0" indent="0" algn="ctr">
              <a:buNone/>
            </a:pPr>
            <a:r>
              <a:rPr lang="en-US" sz="73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决策建议</a:t>
            </a:r>
            <a:endParaRPr lang="en-US" sz="730" dirty="0"/>
          </a:p>
        </p:txBody>
      </p:sp>
      <p:sp>
        <p:nvSpPr>
          <p:cNvPr id="41" name="Shape 39"/>
          <p:cNvSpPr/>
          <p:nvPr/>
        </p:nvSpPr>
        <p:spPr>
          <a:xfrm>
            <a:off x="10387584" y="1549908"/>
            <a:ext cx="749808" cy="320040"/>
          </a:xfrm>
          <a:prstGeom prst="roundRect">
            <a:avLst>
              <a:gd name="adj" fmla="val 14286"/>
            </a:avLst>
          </a:prstGeom>
          <a:solidFill>
            <a:srgbClr val="EDF4FA"/>
          </a:solidFill>
          <a:ln w="7620">
            <a:solidFill>
              <a:srgbClr val="2D669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405872" y="1559052"/>
            <a:ext cx="71323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LMS</a:t>
            </a:r>
            <a:endParaRPr lang="en-US" sz="730" dirty="0"/>
          </a:p>
          <a:p>
            <a:pPr marL="0" indent="0" algn="ctr">
              <a:buNone/>
            </a:pPr>
            <a:r>
              <a:rPr lang="en-US" sz="73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输出应用</a:t>
            </a:r>
            <a:endParaRPr lang="en-US" sz="730" dirty="0"/>
          </a:p>
        </p:txBody>
      </p:sp>
      <p:sp>
        <p:nvSpPr>
          <p:cNvPr id="43" name="Shape 41"/>
          <p:cNvSpPr/>
          <p:nvPr/>
        </p:nvSpPr>
        <p:spPr>
          <a:xfrm>
            <a:off x="9134856" y="1705356"/>
            <a:ext cx="173736" cy="0"/>
          </a:xfrm>
          <a:prstGeom prst="line">
            <a:avLst/>
          </a:prstGeom>
          <a:noFill/>
          <a:ln w="1016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204704" y="1705356"/>
            <a:ext cx="164592" cy="0"/>
          </a:xfrm>
          <a:prstGeom prst="line">
            <a:avLst/>
          </a:prstGeom>
          <a:noFill/>
          <a:ln w="1016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206240" y="2016252"/>
            <a:ext cx="1417320" cy="182880"/>
          </a:xfrm>
          <a:prstGeom prst="roundRect">
            <a:avLst>
              <a:gd name="adj" fmla="val 25000"/>
            </a:avLst>
          </a:prstGeom>
          <a:solidFill>
            <a:srgbClr val="FFF4D4"/>
          </a:solidFill>
          <a:ln w="7620">
            <a:solidFill>
              <a:srgbClr val="E5B1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51960" y="2034540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分类知识库：规则 / 关键词 / 第三方数据</a:t>
            </a:r>
            <a:endParaRPr lang="en-US" sz="580" dirty="0"/>
          </a:p>
        </p:txBody>
      </p:sp>
      <p:sp>
        <p:nvSpPr>
          <p:cNvPr id="47" name="Shape 45"/>
          <p:cNvSpPr/>
          <p:nvPr/>
        </p:nvSpPr>
        <p:spPr>
          <a:xfrm>
            <a:off x="5669280" y="2016252"/>
            <a:ext cx="1517904" cy="182880"/>
          </a:xfrm>
          <a:prstGeom prst="roundRect">
            <a:avLst>
              <a:gd name="adj" fmla="val 25000"/>
            </a:avLst>
          </a:prstGeom>
          <a:solidFill>
            <a:srgbClr val="FFF4D4"/>
          </a:solidFill>
          <a:ln w="7620">
            <a:solidFill>
              <a:srgbClr val="E5B1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15000" y="2034540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监控运营：效果监控 / 异常跟踪 / 人工维护</a:t>
            </a:r>
            <a:endParaRPr lang="en-US" sz="580" dirty="0"/>
          </a:p>
        </p:txBody>
      </p:sp>
      <p:sp>
        <p:nvSpPr>
          <p:cNvPr id="49" name="Shape 47"/>
          <p:cNvSpPr/>
          <p:nvPr/>
        </p:nvSpPr>
        <p:spPr>
          <a:xfrm>
            <a:off x="475488" y="2733460"/>
            <a:ext cx="64008" cy="201168"/>
          </a:xfrm>
          <a:prstGeom prst="rect">
            <a:avLst/>
          </a:prstGeom>
          <a:solidFill>
            <a:srgbClr val="E5B100"/>
          </a:solidFill>
          <a:ln w="6350">
            <a:solidFill>
              <a:srgbClr val="E5B100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3504" y="2715172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当前现状：已进入可调用阶段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21208" y="3044356"/>
            <a:ext cx="5166360" cy="228600"/>
          </a:xfrm>
          <a:prstGeom prst="rect">
            <a:avLst/>
          </a:prstGeom>
          <a:solidFill>
            <a:srgbClr val="0B376D"/>
          </a:solidFill>
          <a:ln w="6350">
            <a:solidFill>
              <a:srgbClr val="0B376D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" y="307178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时间节点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1389888" y="307178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关键事项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4471416" y="307178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521208" y="3282100"/>
            <a:ext cx="5166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4360" y="331867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8月11日</a:t>
            </a:r>
            <a:endParaRPr lang="en-US" sz="710" dirty="0"/>
          </a:p>
        </p:txBody>
      </p:sp>
      <p:sp>
        <p:nvSpPr>
          <p:cNvPr id="57" name="Text 55"/>
          <p:cNvSpPr/>
          <p:nvPr/>
        </p:nvSpPr>
        <p:spPr>
          <a:xfrm>
            <a:off x="1389888" y="3318676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943 preview 完成部署，开放模型输出接口</a:t>
            </a:r>
            <a:endParaRPr lang="en-US" sz="710" dirty="0"/>
          </a:p>
        </p:txBody>
      </p:sp>
      <p:sp>
        <p:nvSpPr>
          <p:cNvPr id="58" name="Text 56"/>
          <p:cNvSpPr/>
          <p:nvPr/>
        </p:nvSpPr>
        <p:spPr>
          <a:xfrm>
            <a:off x="4562856" y="33186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710" dirty="0"/>
          </a:p>
        </p:txBody>
      </p:sp>
      <p:sp>
        <p:nvSpPr>
          <p:cNvPr id="59" name="Shape 57"/>
          <p:cNvSpPr/>
          <p:nvPr/>
        </p:nvSpPr>
        <p:spPr>
          <a:xfrm>
            <a:off x="521208" y="3538132"/>
            <a:ext cx="516636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D7DCE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4360" y="35747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</a:t>
            </a:r>
            <a:r>
              <a:rPr lang="en-US" altLang="zh-CN" sz="71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r>
              <a:rPr lang="en-US" sz="71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</a:t>
            </a:r>
            <a:endParaRPr lang="en-US" sz="710" dirty="0"/>
          </a:p>
        </p:txBody>
      </p:sp>
      <p:sp>
        <p:nvSpPr>
          <p:cNvPr id="61" name="Text 59"/>
          <p:cNvSpPr/>
          <p:nvPr/>
        </p:nvSpPr>
        <p:spPr>
          <a:xfrm>
            <a:off x="1389888" y="357470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下游平台开始模型调用链路开发</a:t>
            </a:r>
            <a:endParaRPr lang="en-US" sz="710" dirty="0"/>
          </a:p>
        </p:txBody>
      </p:sp>
      <p:sp>
        <p:nvSpPr>
          <p:cNvPr id="62" name="Text 60"/>
          <p:cNvSpPr/>
          <p:nvPr/>
        </p:nvSpPr>
        <p:spPr>
          <a:xfrm>
            <a:off x="4562856" y="35747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E5B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710" dirty="0"/>
          </a:p>
        </p:txBody>
      </p:sp>
      <p:sp>
        <p:nvSpPr>
          <p:cNvPr id="63" name="Shape 61"/>
          <p:cNvSpPr/>
          <p:nvPr/>
        </p:nvSpPr>
        <p:spPr>
          <a:xfrm>
            <a:off x="521208" y="3794164"/>
            <a:ext cx="5166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4360" y="383074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</a:t>
            </a:r>
            <a:endParaRPr lang="en-US" sz="710" dirty="0"/>
          </a:p>
        </p:txBody>
      </p:sp>
      <p:sp>
        <p:nvSpPr>
          <p:cNvPr id="65" name="Text 63"/>
          <p:cNvSpPr/>
          <p:nvPr/>
        </p:nvSpPr>
        <p:spPr>
          <a:xfrm>
            <a:off x="1389888" y="38307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负债 / 收入知识库初始化完成；消费类建设中</a:t>
            </a:r>
            <a:endParaRPr lang="en-US" sz="710" dirty="0"/>
          </a:p>
        </p:txBody>
      </p:sp>
      <p:sp>
        <p:nvSpPr>
          <p:cNvPr id="66" name="Text 64"/>
          <p:cNvSpPr/>
          <p:nvPr/>
        </p:nvSpPr>
        <p:spPr>
          <a:xfrm>
            <a:off x="4562856" y="38307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E5B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710" dirty="0"/>
          </a:p>
        </p:txBody>
      </p:sp>
      <p:sp>
        <p:nvSpPr>
          <p:cNvPr id="67" name="Shape 65"/>
          <p:cNvSpPr/>
          <p:nvPr/>
        </p:nvSpPr>
        <p:spPr>
          <a:xfrm>
            <a:off x="521208" y="4050196"/>
            <a:ext cx="516636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D7DCE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4360" y="408677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8月21日</a:t>
            </a:r>
            <a:endParaRPr lang="en-US" sz="710" dirty="0"/>
          </a:p>
        </p:txBody>
      </p:sp>
      <p:sp>
        <p:nvSpPr>
          <p:cNvPr id="69" name="Text 67"/>
          <p:cNvSpPr/>
          <p:nvPr/>
        </p:nvSpPr>
        <p:spPr>
          <a:xfrm>
            <a:off x="1389888" y="4086772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消费类知识库初始化 + 全分类效果评估报告</a:t>
            </a:r>
            <a:endParaRPr lang="en-US" sz="710" dirty="0"/>
          </a:p>
        </p:txBody>
      </p:sp>
      <p:sp>
        <p:nvSpPr>
          <p:cNvPr id="70" name="Text 68"/>
          <p:cNvSpPr/>
          <p:nvPr/>
        </p:nvSpPr>
        <p:spPr>
          <a:xfrm>
            <a:off x="4562856" y="40867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待办</a:t>
            </a:r>
            <a:endParaRPr lang="en-US" sz="710" dirty="0"/>
          </a:p>
        </p:txBody>
      </p:sp>
      <p:sp>
        <p:nvSpPr>
          <p:cNvPr id="71" name="Shape 69"/>
          <p:cNvSpPr/>
          <p:nvPr/>
        </p:nvSpPr>
        <p:spPr>
          <a:xfrm>
            <a:off x="521208" y="4306228"/>
            <a:ext cx="5166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94360" y="43428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8月31日</a:t>
            </a:r>
            <a:endParaRPr lang="en-US" sz="710" dirty="0"/>
          </a:p>
        </p:txBody>
      </p:sp>
      <p:sp>
        <p:nvSpPr>
          <p:cNvPr id="73" name="Text 71"/>
          <p:cNvSpPr/>
          <p:nvPr/>
        </p:nvSpPr>
        <p:spPr>
          <a:xfrm>
            <a:off x="1389888" y="4342804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正式版模型发布，端到端链路调通</a:t>
            </a:r>
            <a:endParaRPr lang="en-US" sz="710" dirty="0"/>
          </a:p>
        </p:txBody>
      </p:sp>
      <p:sp>
        <p:nvSpPr>
          <p:cNvPr id="74" name="Text 72"/>
          <p:cNvSpPr/>
          <p:nvPr/>
        </p:nvSpPr>
        <p:spPr>
          <a:xfrm>
            <a:off x="4562856" y="434280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待办</a:t>
            </a:r>
            <a:endParaRPr lang="en-US" sz="710" dirty="0"/>
          </a:p>
        </p:txBody>
      </p:sp>
      <p:sp>
        <p:nvSpPr>
          <p:cNvPr id="75" name="Shape 73"/>
          <p:cNvSpPr/>
          <p:nvPr/>
        </p:nvSpPr>
        <p:spPr>
          <a:xfrm>
            <a:off x="521208" y="4562260"/>
            <a:ext cx="516636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D7DCE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4360" y="459883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9月15日前</a:t>
            </a:r>
            <a:endParaRPr lang="en-US" sz="710" dirty="0"/>
          </a:p>
        </p:txBody>
      </p:sp>
      <p:sp>
        <p:nvSpPr>
          <p:cNvPr id="77" name="Text 75"/>
          <p:cNvSpPr/>
          <p:nvPr/>
        </p:nvSpPr>
        <p:spPr>
          <a:xfrm>
            <a:off x="1389888" y="4598836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 S-CALC 与 LMS </a:t>
            </a:r>
            <a:r>
              <a:rPr lang="en-US" sz="710" dirty="0" err="1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页面完成，支持人审与</a:t>
            </a:r>
            <a:r>
              <a:rPr lang="en-US" sz="71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AB Test</a:t>
            </a:r>
            <a:endParaRPr lang="en-US" sz="710" dirty="0"/>
          </a:p>
        </p:txBody>
      </p:sp>
      <p:sp>
        <p:nvSpPr>
          <p:cNvPr id="78" name="Text 76"/>
          <p:cNvSpPr/>
          <p:nvPr/>
        </p:nvSpPr>
        <p:spPr>
          <a:xfrm>
            <a:off x="4562856" y="459883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待办</a:t>
            </a:r>
            <a:endParaRPr lang="en-US" sz="710" dirty="0"/>
          </a:p>
        </p:txBody>
      </p:sp>
      <p:sp>
        <p:nvSpPr>
          <p:cNvPr id="79" name="Shape 77"/>
          <p:cNvSpPr/>
          <p:nvPr/>
        </p:nvSpPr>
        <p:spPr>
          <a:xfrm>
            <a:off x="6108192" y="2795944"/>
            <a:ext cx="64008" cy="201168"/>
          </a:xfrm>
          <a:prstGeom prst="rect">
            <a:avLst/>
          </a:prstGeom>
          <a:solidFill>
            <a:srgbClr val="E5B100"/>
          </a:solidFill>
          <a:ln w="6350">
            <a:solidFill>
              <a:srgbClr val="E5B100">
                <a:alpha val="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72784" y="2776132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下游分工：三类调用方共用同一分类底座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6172200" y="3105316"/>
            <a:ext cx="5230368" cy="384048"/>
          </a:xfrm>
          <a:prstGeom prst="roundRect">
            <a:avLst>
              <a:gd name="adj" fmla="val 11905"/>
            </a:avLst>
          </a:prstGeom>
          <a:solidFill>
            <a:srgbClr val="EDF4FA"/>
          </a:solidFill>
          <a:ln w="7620">
            <a:solidFill>
              <a:srgbClr val="2D669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54496" y="3169324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IDA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104888" y="3169324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Tien / Niral</a:t>
            </a:r>
            <a:endParaRPr lang="en-US" sz="720" dirty="0"/>
          </a:p>
        </p:txBody>
      </p:sp>
      <p:sp>
        <p:nvSpPr>
          <p:cNvPr id="84" name="Text 82"/>
          <p:cNvSpPr/>
          <p:nvPr/>
        </p:nvSpPr>
        <p:spPr>
          <a:xfrm>
            <a:off x="8183880" y="3151036"/>
            <a:ext cx="2999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链路调用、调度逻辑、Serviceability 计算与 IDA/IDP 代码落地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6172200" y="3599092"/>
            <a:ext cx="52303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7620">
            <a:solidFill>
              <a:srgbClr val="D7DCE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54496" y="3663100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/ 模型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7104888" y="3663100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 &amp; Model</a:t>
            </a:r>
            <a:endParaRPr lang="en-US" sz="720" dirty="0"/>
          </a:p>
        </p:txBody>
      </p:sp>
      <p:sp>
        <p:nvSpPr>
          <p:cNvPr id="88" name="Text 86"/>
          <p:cNvSpPr/>
          <p:nvPr/>
        </p:nvSpPr>
        <p:spPr>
          <a:xfrm>
            <a:off x="8183880" y="3644812"/>
            <a:ext cx="2999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使用分类、负债、收入、支出与 Serviceability 指标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6172200" y="4092868"/>
            <a:ext cx="52303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7620">
            <a:solidFill>
              <a:srgbClr val="D7DCE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254496" y="4156876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人审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7104888" y="4156876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SAV</a:t>
            </a:r>
            <a:endParaRPr lang="en-US" sz="720" dirty="0"/>
          </a:p>
        </p:txBody>
      </p:sp>
      <p:sp>
        <p:nvSpPr>
          <p:cNvPr id="92" name="Text 90"/>
          <p:cNvSpPr/>
          <p:nvPr/>
        </p:nvSpPr>
        <p:spPr>
          <a:xfrm>
            <a:off x="8183880" y="4138588"/>
            <a:ext cx="2999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复核、异常解释、质检样本与业务反馈闭环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454815" y="5114544"/>
            <a:ext cx="64008" cy="201168"/>
          </a:xfrm>
          <a:prstGeom prst="rect">
            <a:avLst/>
          </a:prstGeom>
          <a:solidFill>
            <a:srgbClr val="E5B100"/>
          </a:solidFill>
          <a:ln w="6350">
            <a:solidFill>
              <a:srgbClr val="E5B100">
                <a:alpha val="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82831" y="5104472"/>
            <a:ext cx="11119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运维方式：1 人 + 2 个 AI Agent，持续闭环</a:t>
            </a:r>
            <a:endParaRPr lang="en-US" sz="1050" dirty="0"/>
          </a:p>
        </p:txBody>
      </p:sp>
      <p:sp>
        <p:nvSpPr>
          <p:cNvPr id="121" name="agent-qc-bg">
            <a:extLst>
              <a:ext uri="{FF2B5EF4-FFF2-40B4-BE49-F238E27FC236}">
                <a16:creationId xmlns:a16="http://schemas.microsoft.com/office/drawing/2014/main" id="{E987D2B6-2595-45CE-B9CE-5208BA471B22}"/>
              </a:ext>
            </a:extLst>
          </p:cNvPr>
          <p:cNvSpPr/>
          <p:nvPr/>
        </p:nvSpPr>
        <p:spPr>
          <a:xfrm>
            <a:off x="573687" y="5507736"/>
            <a:ext cx="5458968" cy="982980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agent-qc-topbar">
            <a:extLst>
              <a:ext uri="{FF2B5EF4-FFF2-40B4-BE49-F238E27FC236}">
                <a16:creationId xmlns:a16="http://schemas.microsoft.com/office/drawing/2014/main" id="{804F04FF-B354-44EE-A0D8-9D065276E6F4}"/>
              </a:ext>
            </a:extLst>
          </p:cNvPr>
          <p:cNvSpPr/>
          <p:nvPr/>
        </p:nvSpPr>
        <p:spPr>
          <a:xfrm>
            <a:off x="573687" y="5507736"/>
            <a:ext cx="5456980" cy="496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agent-qc-title">
            <a:extLst>
              <a:ext uri="{FF2B5EF4-FFF2-40B4-BE49-F238E27FC236}">
                <a16:creationId xmlns:a16="http://schemas.microsoft.com/office/drawing/2014/main" id="{D07958D1-B27A-43F4-A8FB-1DF42422034F}"/>
              </a:ext>
            </a:extLst>
          </p:cNvPr>
          <p:cNvSpPr txBox="1"/>
          <p:nvPr/>
        </p:nvSpPr>
        <p:spPr>
          <a:xfrm>
            <a:off x="710847" y="5599176"/>
            <a:ext cx="5650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1"/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AI Agent 1｜</a:t>
            </a:r>
            <a:r>
              <a:rPr sz="950" b="1">
                <a:solidFill>
                  <a:srgbClr val="0A0A0A"/>
                </a:solidFill>
                <a:latin typeface="微软雅黑"/>
                <a:ea typeface="微软雅黑"/>
              </a:rPr>
              <a:t>质检 Agent：监控异常、定位问题</a:t>
            </a:r>
          </a:p>
        </p:txBody>
      </p:sp>
      <p:sp>
        <p:nvSpPr>
          <p:cNvPr id="124" name="agent-qc-it">
            <a:extLst>
              <a:ext uri="{FF2B5EF4-FFF2-40B4-BE49-F238E27FC236}">
                <a16:creationId xmlns:a16="http://schemas.microsoft.com/office/drawing/2014/main" id="{BF7C9766-9337-4717-9BBE-EB6AD0EB8802}"/>
              </a:ext>
            </a:extLst>
          </p:cNvPr>
          <p:cNvSpPr txBox="1"/>
          <p:nvPr/>
        </p:nvSpPr>
        <p:spPr>
          <a:xfrm>
            <a:off x="710847" y="5836920"/>
            <a:ext cx="565099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1"/>
            <a:r>
              <a:rPr sz="800" b="1" dirty="0">
                <a:solidFill>
                  <a:srgbClr val="1F4E79"/>
                </a:solidFill>
                <a:latin typeface="微软雅黑"/>
                <a:ea typeface="微软雅黑"/>
              </a:rPr>
              <a:t> </a:t>
            </a:r>
            <a:r>
              <a:rPr sz="800" b="1" dirty="0" err="1">
                <a:solidFill>
                  <a:srgbClr val="0A0A0A"/>
                </a:solidFill>
                <a:latin typeface="微软雅黑"/>
                <a:ea typeface="微软雅黑"/>
              </a:rPr>
              <a:t>效果监控</a:t>
            </a:r>
            <a:endParaRPr sz="800" b="1" dirty="0">
              <a:solidFill>
                <a:srgbClr val="0A0A0A"/>
              </a:solidFill>
              <a:latin typeface="微软雅黑"/>
              <a:ea typeface="微软雅黑"/>
            </a:endParaRPr>
          </a:p>
        </p:txBody>
      </p:sp>
      <p:sp>
        <p:nvSpPr>
          <p:cNvPr id="125" name="agent-qc-det">
            <a:extLst>
              <a:ext uri="{FF2B5EF4-FFF2-40B4-BE49-F238E27FC236}">
                <a16:creationId xmlns:a16="http://schemas.microsoft.com/office/drawing/2014/main" id="{33C5D15D-ACE2-4B07-B0AD-AFA454652266}"/>
              </a:ext>
            </a:extLst>
          </p:cNvPr>
          <p:cNvSpPr txBox="1"/>
          <p:nvPr/>
        </p:nvSpPr>
        <p:spPr>
          <a:xfrm>
            <a:off x="884583" y="5992368"/>
            <a:ext cx="550468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1"/>
            <a:r>
              <a:rPr sz="700" b="0">
                <a:solidFill>
                  <a:srgbClr val="3D3C3A"/>
                </a:solidFill>
                <a:latin typeface="微软雅黑"/>
                <a:ea typeface="微软雅黑"/>
              </a:rPr>
              <a:t>分类分布与命中率、数据/分类漂移；对手方识别异常、关键字段缺失</a:t>
            </a:r>
          </a:p>
        </p:txBody>
      </p:sp>
      <p:sp>
        <p:nvSpPr>
          <p:cNvPr id="126" name="agent-qc-it">
            <a:extLst>
              <a:ext uri="{FF2B5EF4-FFF2-40B4-BE49-F238E27FC236}">
                <a16:creationId xmlns:a16="http://schemas.microsoft.com/office/drawing/2014/main" id="{0E5A0F4D-DD7B-48B1-BC98-9C27DC2B49DA}"/>
              </a:ext>
            </a:extLst>
          </p:cNvPr>
          <p:cNvSpPr txBox="1"/>
          <p:nvPr/>
        </p:nvSpPr>
        <p:spPr>
          <a:xfrm>
            <a:off x="710847" y="6111240"/>
            <a:ext cx="565099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1"/>
            <a:r>
              <a:rPr sz="800" b="1" dirty="0">
                <a:solidFill>
                  <a:srgbClr val="1F4E79"/>
                </a:solidFill>
                <a:latin typeface="微软雅黑"/>
                <a:ea typeface="微软雅黑"/>
              </a:rPr>
              <a:t> </a:t>
            </a:r>
            <a:r>
              <a:rPr sz="800" b="1" dirty="0" err="1">
                <a:solidFill>
                  <a:srgbClr val="0A0A0A"/>
                </a:solidFill>
                <a:latin typeface="微软雅黑"/>
                <a:ea typeface="微软雅黑"/>
              </a:rPr>
              <a:t>问题诊断</a:t>
            </a:r>
            <a:endParaRPr sz="800" b="1" dirty="0">
              <a:solidFill>
                <a:srgbClr val="0A0A0A"/>
              </a:solidFill>
              <a:latin typeface="微软雅黑"/>
              <a:ea typeface="微软雅黑"/>
            </a:endParaRPr>
          </a:p>
        </p:txBody>
      </p:sp>
      <p:sp>
        <p:nvSpPr>
          <p:cNvPr id="127" name="agent-qc-det">
            <a:extLst>
              <a:ext uri="{FF2B5EF4-FFF2-40B4-BE49-F238E27FC236}">
                <a16:creationId xmlns:a16="http://schemas.microsoft.com/office/drawing/2014/main" id="{413C0D60-D06D-40DF-83F0-A29A3B425B04}"/>
              </a:ext>
            </a:extLst>
          </p:cNvPr>
          <p:cNvSpPr txBox="1"/>
          <p:nvPr/>
        </p:nvSpPr>
        <p:spPr>
          <a:xfrm>
            <a:off x="884583" y="6266688"/>
            <a:ext cx="550468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1"/>
            <a:r>
              <a:rPr sz="700" b="0" dirty="0" err="1">
                <a:solidFill>
                  <a:srgbClr val="3D3C3A"/>
                </a:solidFill>
                <a:latin typeface="微软雅黑"/>
                <a:ea typeface="微软雅黑"/>
              </a:rPr>
              <a:t>定位异常交易与问题引擎，识别缺失商户</a:t>
            </a:r>
            <a:r>
              <a:rPr sz="700" b="0" dirty="0">
                <a:solidFill>
                  <a:srgbClr val="3D3C3A"/>
                </a:solidFill>
                <a:latin typeface="微软雅黑"/>
                <a:ea typeface="微软雅黑"/>
              </a:rPr>
              <a:t>/</a:t>
            </a:r>
            <a:r>
              <a:rPr sz="700" b="0" dirty="0" err="1">
                <a:solidFill>
                  <a:srgbClr val="3D3C3A"/>
                </a:solidFill>
                <a:latin typeface="微软雅黑"/>
                <a:ea typeface="微软雅黑"/>
              </a:rPr>
              <a:t>关键词</a:t>
            </a:r>
            <a:r>
              <a:rPr sz="700" b="0" dirty="0">
                <a:solidFill>
                  <a:srgbClr val="3D3C3A"/>
                </a:solidFill>
                <a:latin typeface="微软雅黑"/>
                <a:ea typeface="微软雅黑"/>
              </a:rPr>
              <a:t>/</a:t>
            </a:r>
            <a:r>
              <a:rPr sz="700" b="0" dirty="0" err="1">
                <a:solidFill>
                  <a:srgbClr val="3D3C3A"/>
                </a:solidFill>
                <a:latin typeface="微软雅黑"/>
                <a:ea typeface="微软雅黑"/>
              </a:rPr>
              <a:t>规则；自动生成优先级</a:t>
            </a:r>
            <a:r>
              <a:rPr sz="700" b="0" dirty="0">
                <a:solidFill>
                  <a:srgbClr val="3D3C3A"/>
                </a:solidFill>
                <a:latin typeface="微软雅黑"/>
                <a:ea typeface="微软雅黑"/>
              </a:rPr>
              <a:t> </a:t>
            </a:r>
            <a:r>
              <a:rPr sz="700" b="0" dirty="0" err="1">
                <a:solidFill>
                  <a:srgbClr val="3D3C3A"/>
                </a:solidFill>
                <a:latin typeface="微软雅黑"/>
                <a:ea typeface="微软雅黑"/>
              </a:rPr>
              <a:t>Todo</a:t>
            </a:r>
            <a:r>
              <a:rPr sz="700" b="0" dirty="0">
                <a:solidFill>
                  <a:srgbClr val="3D3C3A"/>
                </a:solidFill>
                <a:latin typeface="微软雅黑"/>
                <a:ea typeface="微软雅黑"/>
              </a:rPr>
              <a:t> </a:t>
            </a:r>
            <a:r>
              <a:rPr sz="700" b="0" dirty="0" err="1">
                <a:solidFill>
                  <a:srgbClr val="3D3C3A"/>
                </a:solidFill>
                <a:latin typeface="微软雅黑"/>
                <a:ea typeface="微软雅黑"/>
              </a:rPr>
              <a:t>清单</a:t>
            </a:r>
            <a:endParaRPr sz="700" b="0" dirty="0">
              <a:solidFill>
                <a:srgbClr val="3D3C3A"/>
              </a:solidFill>
              <a:latin typeface="微软雅黑"/>
              <a:ea typeface="微软雅黑"/>
            </a:endParaRPr>
          </a:p>
        </p:txBody>
      </p: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713453A6-E8E1-434D-AA96-E47AB64E9DD9}"/>
              </a:ext>
            </a:extLst>
          </p:cNvPr>
          <p:cNvGrpSpPr/>
          <p:nvPr/>
        </p:nvGrpSpPr>
        <p:grpSpPr>
          <a:xfrm>
            <a:off x="6214342" y="5489448"/>
            <a:ext cx="5836257" cy="1001268"/>
            <a:chOff x="6203210" y="4741959"/>
            <a:chExt cx="5836257" cy="1001268"/>
          </a:xfrm>
        </p:grpSpPr>
        <p:sp>
          <p:nvSpPr>
            <p:cNvPr id="128" name="agent-kb-bg">
              <a:extLst>
                <a:ext uri="{FF2B5EF4-FFF2-40B4-BE49-F238E27FC236}">
                  <a16:creationId xmlns:a16="http://schemas.microsoft.com/office/drawing/2014/main" id="{25197619-C140-4B05-AA74-7581E402DC99}"/>
                </a:ext>
              </a:extLst>
            </p:cNvPr>
            <p:cNvSpPr/>
            <p:nvPr/>
          </p:nvSpPr>
          <p:spPr>
            <a:xfrm>
              <a:off x="6203210" y="4741959"/>
              <a:ext cx="5412718" cy="1001268"/>
            </a:xfrm>
            <a:prstGeom prst="roundRect">
              <a:avLst>
                <a:gd name="adj" fmla="val 5000"/>
              </a:avLst>
            </a:prstGeom>
            <a:solidFill>
              <a:srgbClr val="F0F0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9" name="agent-kb-topbar">
              <a:extLst>
                <a:ext uri="{FF2B5EF4-FFF2-40B4-BE49-F238E27FC236}">
                  <a16:creationId xmlns:a16="http://schemas.microsoft.com/office/drawing/2014/main" id="{ED501B32-0491-4F51-8A16-8C35E9543C6D}"/>
                </a:ext>
              </a:extLst>
            </p:cNvPr>
            <p:cNvSpPr/>
            <p:nvPr/>
          </p:nvSpPr>
          <p:spPr>
            <a:xfrm>
              <a:off x="6203210" y="4741959"/>
              <a:ext cx="5412718" cy="45719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0" name="agent-kb-title">
              <a:extLst>
                <a:ext uri="{FF2B5EF4-FFF2-40B4-BE49-F238E27FC236}">
                  <a16:creationId xmlns:a16="http://schemas.microsoft.com/office/drawing/2014/main" id="{A63D0CD2-A722-4C62-9BE5-AF281465A82F}"/>
                </a:ext>
              </a:extLst>
            </p:cNvPr>
            <p:cNvSpPr txBox="1"/>
            <p:nvPr/>
          </p:nvSpPr>
          <p:spPr>
            <a:xfrm>
              <a:off x="6340370" y="4833399"/>
              <a:ext cx="5650992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latinLnBrk="1"/>
              <a:r>
                <a:rPr sz="950" b="1">
                  <a:solidFill>
                    <a:srgbClr val="1F4E79"/>
                  </a:solidFill>
                  <a:latin typeface="微软雅黑"/>
                  <a:ea typeface="微软雅黑"/>
                </a:rPr>
                <a:t>AI Agent 2｜</a:t>
              </a:r>
              <a:r>
                <a:rPr sz="950" b="1">
                  <a:solidFill>
                    <a:srgbClr val="0A0A0A"/>
                  </a:solidFill>
                  <a:latin typeface="微软雅黑"/>
                  <a:ea typeface="微软雅黑"/>
                </a:rPr>
                <a:t>知识库 Agent：主动补充、持续迭代</a:t>
              </a:r>
            </a:p>
          </p:txBody>
        </p:sp>
        <p:sp>
          <p:nvSpPr>
            <p:cNvPr id="131" name="agent-kb-it">
              <a:extLst>
                <a:ext uri="{FF2B5EF4-FFF2-40B4-BE49-F238E27FC236}">
                  <a16:creationId xmlns:a16="http://schemas.microsoft.com/office/drawing/2014/main" id="{28F8844B-7A08-4E14-A4B7-4CB4AFF0B1A1}"/>
                </a:ext>
              </a:extLst>
            </p:cNvPr>
            <p:cNvSpPr txBox="1"/>
            <p:nvPr/>
          </p:nvSpPr>
          <p:spPr>
            <a:xfrm>
              <a:off x="6340370" y="5071143"/>
              <a:ext cx="5650992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latinLnBrk="1"/>
              <a:r>
                <a:rPr sz="800" b="1" dirty="0">
                  <a:solidFill>
                    <a:srgbClr val="1F4E79"/>
                  </a:solidFill>
                  <a:latin typeface="微软雅黑"/>
                  <a:ea typeface="微软雅黑"/>
                </a:rPr>
                <a:t> </a:t>
              </a:r>
              <a:r>
                <a:rPr sz="800" b="1" dirty="0" err="1">
                  <a:solidFill>
                    <a:srgbClr val="0A0A0A"/>
                  </a:solidFill>
                  <a:latin typeface="微软雅黑"/>
                  <a:ea typeface="微软雅黑"/>
                </a:rPr>
                <a:t>知识补全</a:t>
              </a:r>
              <a:endParaRPr sz="800" b="1" dirty="0">
                <a:solidFill>
                  <a:srgbClr val="0A0A0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32" name="agent-kb-det">
              <a:extLst>
                <a:ext uri="{FF2B5EF4-FFF2-40B4-BE49-F238E27FC236}">
                  <a16:creationId xmlns:a16="http://schemas.microsoft.com/office/drawing/2014/main" id="{7C680747-B586-43E0-81F3-DDD453F224E6}"/>
                </a:ext>
              </a:extLst>
            </p:cNvPr>
            <p:cNvSpPr txBox="1"/>
            <p:nvPr/>
          </p:nvSpPr>
          <p:spPr>
            <a:xfrm>
              <a:off x="6514106" y="5226591"/>
              <a:ext cx="5504688" cy="1280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latinLnBrk="1"/>
              <a:r>
                <a:rPr sz="700" b="0">
                  <a:solidFill>
                    <a:srgbClr val="3D3C3A"/>
                  </a:solidFill>
                  <a:latin typeface="微软雅黑"/>
                  <a:ea typeface="微软雅黑"/>
                </a:rPr>
                <a:t>检索未知商户/对手方，补充企业、品牌、关键词与分类信息，识别新增业务实体</a:t>
              </a:r>
            </a:p>
          </p:txBody>
        </p:sp>
        <p:sp>
          <p:nvSpPr>
            <p:cNvPr id="135" name="agent-kb-it">
              <a:extLst>
                <a:ext uri="{FF2B5EF4-FFF2-40B4-BE49-F238E27FC236}">
                  <a16:creationId xmlns:a16="http://schemas.microsoft.com/office/drawing/2014/main" id="{7443065A-FB4C-472C-900B-FC90C0C4BDD6}"/>
                </a:ext>
              </a:extLst>
            </p:cNvPr>
            <p:cNvSpPr txBox="1"/>
            <p:nvPr/>
          </p:nvSpPr>
          <p:spPr>
            <a:xfrm>
              <a:off x="6361043" y="5409471"/>
              <a:ext cx="5650992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latinLnBrk="1"/>
              <a:r>
                <a:rPr sz="800" b="1" dirty="0">
                  <a:solidFill>
                    <a:srgbClr val="1F4E79"/>
                  </a:solidFill>
                  <a:latin typeface="微软雅黑"/>
                  <a:ea typeface="微软雅黑"/>
                </a:rPr>
                <a:t> </a:t>
              </a:r>
              <a:r>
                <a:rPr sz="800" b="1" dirty="0" err="1">
                  <a:solidFill>
                    <a:srgbClr val="0A0A0A"/>
                  </a:solidFill>
                  <a:latin typeface="微软雅黑"/>
                  <a:ea typeface="微软雅黑"/>
                </a:rPr>
                <a:t>知识库更新</a:t>
              </a:r>
              <a:endParaRPr sz="800" b="1" dirty="0">
                <a:solidFill>
                  <a:srgbClr val="0A0A0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36" name="agent-kb-det">
              <a:extLst>
                <a:ext uri="{FF2B5EF4-FFF2-40B4-BE49-F238E27FC236}">
                  <a16:creationId xmlns:a16="http://schemas.microsoft.com/office/drawing/2014/main" id="{FB4CE0D0-5B59-40F3-B563-F40E0F64D94A}"/>
                </a:ext>
              </a:extLst>
            </p:cNvPr>
            <p:cNvSpPr txBox="1"/>
            <p:nvPr/>
          </p:nvSpPr>
          <p:spPr>
            <a:xfrm>
              <a:off x="6534779" y="5564919"/>
              <a:ext cx="5504688" cy="10772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latinLnBrk="1"/>
              <a:r>
                <a:rPr sz="700" b="0" dirty="0" err="1">
                  <a:solidFill>
                    <a:srgbClr val="3D3C3A"/>
                  </a:solidFill>
                  <a:latin typeface="微软雅黑"/>
                  <a:ea typeface="微软雅黑"/>
                </a:rPr>
                <a:t>自动生成新增</a:t>
              </a:r>
              <a:r>
                <a:rPr sz="700" b="0" dirty="0">
                  <a:solidFill>
                    <a:srgbClr val="3D3C3A"/>
                  </a:solidFill>
                  <a:latin typeface="微软雅黑"/>
                  <a:ea typeface="微软雅黑"/>
                </a:rPr>
                <a:t>/</a:t>
              </a:r>
              <a:r>
                <a:rPr sz="700" b="0" dirty="0" err="1">
                  <a:solidFill>
                    <a:srgbClr val="3D3C3A"/>
                  </a:solidFill>
                  <a:latin typeface="微软雅黑"/>
                  <a:ea typeface="微软雅黑"/>
                </a:rPr>
                <a:t>修改</a:t>
              </a:r>
              <a:r>
                <a:rPr lang="zh-CN" altLang="en-US" sz="700" dirty="0">
                  <a:solidFill>
                    <a:srgbClr val="3D3C3A"/>
                  </a:solidFill>
                  <a:latin typeface="微软雅黑"/>
                  <a:ea typeface="微软雅黑"/>
                </a:rPr>
                <a:t>知识库</a:t>
              </a:r>
              <a:r>
                <a:rPr sz="700" b="0" dirty="0" err="1">
                  <a:solidFill>
                    <a:srgbClr val="3D3C3A"/>
                  </a:solidFill>
                  <a:latin typeface="微软雅黑"/>
                  <a:ea typeface="微软雅黑"/>
                </a:rPr>
                <a:t>建议，人工审核后进入正式知识库，持续沉淀规则与案例</a:t>
              </a:r>
              <a:endParaRPr sz="700" b="0" dirty="0">
                <a:solidFill>
                  <a:srgbClr val="3D3C3A"/>
                </a:solidFill>
                <a:latin typeface="微软雅黑"/>
                <a:ea typeface="微软雅黑"/>
              </a:endParaRPr>
            </a:p>
          </p:txBody>
        </p:sp>
      </p:grpSp>
      <p:sp>
        <p:nvSpPr>
          <p:cNvPr id="138" name="Shape 117">
            <a:extLst>
              <a:ext uri="{FF2B5EF4-FFF2-40B4-BE49-F238E27FC236}">
                <a16:creationId xmlns:a16="http://schemas.microsoft.com/office/drawing/2014/main" id="{904062DB-44F0-424B-8CAE-0292C1BCD756}"/>
              </a:ext>
            </a:extLst>
          </p:cNvPr>
          <p:cNvSpPr/>
          <p:nvPr/>
        </p:nvSpPr>
        <p:spPr>
          <a:xfrm>
            <a:off x="457200" y="2291798"/>
            <a:ext cx="11109960" cy="347472"/>
          </a:xfrm>
          <a:prstGeom prst="rect">
            <a:avLst/>
          </a:prstGeom>
          <a:solidFill>
            <a:srgbClr val="FFF4D4"/>
          </a:solidFill>
          <a:ln w="6350">
            <a:solidFill>
              <a:srgbClr val="FFF4D4">
                <a:alpha val="0"/>
              </a:srgbClr>
            </a:solidFill>
            <a:prstDash val="solid"/>
          </a:ln>
        </p:spPr>
      </p:sp>
      <p:sp>
        <p:nvSpPr>
          <p:cNvPr id="139" name="Text 118">
            <a:extLst>
              <a:ext uri="{FF2B5EF4-FFF2-40B4-BE49-F238E27FC236}">
                <a16:creationId xmlns:a16="http://schemas.microsoft.com/office/drawing/2014/main" id="{AC636412-B702-433E-9119-7433BC4B4CCB}"/>
              </a:ext>
            </a:extLst>
          </p:cNvPr>
          <p:cNvSpPr/>
          <p:nvPr/>
        </p:nvSpPr>
        <p:spPr>
          <a:xfrm>
            <a:off x="667512" y="2374094"/>
            <a:ext cx="10661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核心取舍：让 BS-CAT 输出“可直接用于信审”的分类、对手方与标签结果；IDA 只保留必要调度、汇总与基础计算，降低下游复杂度。</a:t>
            </a:r>
            <a:endParaRPr lang="en-US" sz="9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66928" y="173736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端到端流程与模型规划：从模型调用到运维闭环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978408"/>
            <a:ext cx="64008" cy="201168"/>
          </a:xfrm>
          <a:prstGeom prst="rect">
            <a:avLst/>
          </a:prstGeom>
          <a:solidFill>
            <a:srgbClr val="E5B100"/>
          </a:solidFill>
          <a:ln w="6350">
            <a:solidFill>
              <a:srgbClr val="E5B10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960120"/>
            <a:ext cx="11119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端到端链路：分类模型前置输出，IDA 保持轻量调度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" y="1321308"/>
            <a:ext cx="11228832" cy="896112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1458468"/>
            <a:ext cx="30632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620">
            <a:solidFill>
              <a:srgbClr val="D7DC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68496" y="1458468"/>
            <a:ext cx="38862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620">
            <a:solidFill>
              <a:srgbClr val="D7DC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1458468"/>
            <a:ext cx="33375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620">
            <a:solidFill>
              <a:srgbClr val="D7DC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30752" y="1714500"/>
            <a:ext cx="219456" cy="0"/>
          </a:xfrm>
          <a:prstGeom prst="line">
            <a:avLst/>
          </a:prstGeom>
          <a:noFill/>
          <a:ln w="1524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872984" y="1714500"/>
            <a:ext cx="210312" cy="0"/>
          </a:xfrm>
          <a:prstGeom prst="line">
            <a:avLst/>
          </a:prstGeom>
          <a:noFill/>
          <a:ln w="1524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8952" y="1549908"/>
            <a:ext cx="749808" cy="320040"/>
          </a:xfrm>
          <a:prstGeom prst="roundRect">
            <a:avLst>
              <a:gd name="adj" fmla="val 14286"/>
            </a:avLst>
          </a:prstGeom>
          <a:solidFill>
            <a:srgbClr val="EDF4FA"/>
          </a:solidFill>
          <a:ln w="7620">
            <a:solidFill>
              <a:srgbClr val="2D669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1559052"/>
            <a:ext cx="71323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IDA</a:t>
            </a:r>
            <a:endParaRPr lang="en-US" sz="730" dirty="0"/>
          </a:p>
          <a:p>
            <a:pPr marL="0" indent="0" algn="ctr">
              <a:buNone/>
            </a:pPr>
            <a:r>
              <a:rPr lang="en-US" sz="73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申请发起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1618488" y="1549908"/>
            <a:ext cx="804672" cy="320040"/>
          </a:xfrm>
          <a:prstGeom prst="roundRect">
            <a:avLst>
              <a:gd name="adj" fmla="val 14286"/>
            </a:avLst>
          </a:prstGeom>
          <a:solidFill>
            <a:srgbClr val="EDF4FA"/>
          </a:solidFill>
          <a:ln w="7620">
            <a:solidFill>
              <a:srgbClr val="2D66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36776" y="1559052"/>
            <a:ext cx="76809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SQS</a:t>
            </a:r>
            <a:endParaRPr lang="en-US" sz="730" dirty="0"/>
          </a:p>
          <a:p>
            <a:pPr marL="0" indent="0" algn="ctr">
              <a:buNone/>
            </a:pPr>
            <a:r>
              <a:rPr lang="en-US" sz="73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排队任务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2542032" y="1549908"/>
            <a:ext cx="786384" cy="320040"/>
          </a:xfrm>
          <a:prstGeom prst="roundRect">
            <a:avLst>
              <a:gd name="adj" fmla="val 14286"/>
            </a:avLst>
          </a:prstGeom>
          <a:solidFill>
            <a:srgbClr val="EDF4FA"/>
          </a:solidFill>
          <a:ln w="7620">
            <a:solidFill>
              <a:srgbClr val="2D669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1559052"/>
            <a:ext cx="74980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IDP</a:t>
            </a:r>
            <a:endParaRPr lang="en-US" sz="730" dirty="0"/>
          </a:p>
          <a:p>
            <a:pPr marL="0" indent="0" algn="ctr">
              <a:buNone/>
            </a:pPr>
            <a:r>
              <a:rPr lang="en-US" sz="73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核心调度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1508760" y="1705356"/>
            <a:ext cx="91440" cy="0"/>
          </a:xfrm>
          <a:prstGeom prst="line">
            <a:avLst/>
          </a:prstGeom>
          <a:noFill/>
          <a:ln w="1016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423160" y="1705356"/>
            <a:ext cx="100584" cy="0"/>
          </a:xfrm>
          <a:prstGeom prst="line">
            <a:avLst/>
          </a:prstGeom>
          <a:noFill/>
          <a:ln w="1016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096512" y="1549908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0B376D"/>
          </a:solidFill>
          <a:ln w="7620">
            <a:solidFill>
              <a:srgbClr val="0B37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1559052"/>
            <a:ext cx="7863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BS-CAT</a:t>
            </a:r>
            <a:endParaRPr lang="en-US" sz="730" dirty="0"/>
          </a:p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流水分类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5074920" y="1549908"/>
            <a:ext cx="896112" cy="320040"/>
          </a:xfrm>
          <a:prstGeom prst="roundRect">
            <a:avLst>
              <a:gd name="adj" fmla="val 14286"/>
            </a:avLst>
          </a:prstGeom>
          <a:solidFill>
            <a:srgbClr val="FFF4D4"/>
          </a:solidFill>
          <a:ln w="7620">
            <a:solidFill>
              <a:srgbClr val="E5B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93208" y="1559052"/>
            <a:ext cx="8595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交易识别</a:t>
            </a:r>
            <a:endParaRPr lang="en-US" sz="730" dirty="0"/>
          </a:p>
          <a:p>
            <a:pPr marL="0" indent="0" algn="ctr">
              <a:buNone/>
            </a:pPr>
            <a:r>
              <a:rPr lang="en-US" sz="73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对手/标签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6144768" y="1549908"/>
            <a:ext cx="859536" cy="320040"/>
          </a:xfrm>
          <a:prstGeom prst="roundRect">
            <a:avLst>
              <a:gd name="adj" fmla="val 14286"/>
            </a:avLst>
          </a:prstGeom>
          <a:solidFill>
            <a:srgbClr val="FFF4D4"/>
          </a:solidFill>
          <a:ln w="7620">
            <a:solidFill>
              <a:srgbClr val="E5B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63056" y="1559052"/>
            <a:ext cx="82296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S-CALC</a:t>
            </a:r>
            <a:endParaRPr lang="en-US" sz="730" dirty="0"/>
          </a:p>
          <a:p>
            <a:pPr marL="0" indent="0" algn="ctr">
              <a:buNone/>
            </a:pPr>
            <a:r>
              <a:rPr lang="en-US" sz="73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服务能力</a:t>
            </a:r>
            <a:endParaRPr lang="en-US" sz="730" dirty="0"/>
          </a:p>
        </p:txBody>
      </p:sp>
      <p:sp>
        <p:nvSpPr>
          <p:cNvPr id="32" name="Shape 30"/>
          <p:cNvSpPr/>
          <p:nvPr/>
        </p:nvSpPr>
        <p:spPr>
          <a:xfrm>
            <a:off x="7150608" y="1549908"/>
            <a:ext cx="566928" cy="320040"/>
          </a:xfrm>
          <a:prstGeom prst="roundRect">
            <a:avLst>
              <a:gd name="adj" fmla="val 14286"/>
            </a:avLst>
          </a:prstGeom>
          <a:solidFill>
            <a:srgbClr val="FFF4D4"/>
          </a:solidFill>
          <a:ln w="7620">
            <a:solidFill>
              <a:srgbClr val="E5B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68896" y="1559052"/>
            <a:ext cx="53035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GenAI</a:t>
            </a:r>
            <a:endParaRPr lang="en-US" sz="730" dirty="0"/>
          </a:p>
          <a:p>
            <a:pPr marL="0" indent="0" algn="ctr">
              <a:buNone/>
            </a:pPr>
            <a:r>
              <a:rPr lang="en-US" sz="73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辅助推理</a:t>
            </a: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4919472" y="1705356"/>
            <a:ext cx="137160" cy="0"/>
          </a:xfrm>
          <a:prstGeom prst="line">
            <a:avLst/>
          </a:prstGeom>
          <a:noFill/>
          <a:ln w="1016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971032" y="1705356"/>
            <a:ext cx="155448" cy="0"/>
          </a:xfrm>
          <a:prstGeom prst="line">
            <a:avLst/>
          </a:prstGeom>
          <a:noFill/>
          <a:ln w="1016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004304" y="1705356"/>
            <a:ext cx="128016" cy="0"/>
          </a:xfrm>
          <a:prstGeom prst="line">
            <a:avLst/>
          </a:prstGeom>
          <a:noFill/>
          <a:ln w="1016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247888" y="1549908"/>
            <a:ext cx="886968" cy="320040"/>
          </a:xfrm>
          <a:prstGeom prst="roundRect">
            <a:avLst>
              <a:gd name="adj" fmla="val 14286"/>
            </a:avLst>
          </a:prstGeom>
          <a:solidFill>
            <a:srgbClr val="EDF4FA"/>
          </a:solidFill>
          <a:ln w="7620">
            <a:solidFill>
              <a:srgbClr val="2D669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66176" y="1559052"/>
            <a:ext cx="85039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结果落库</a:t>
            </a:r>
            <a:endParaRPr lang="en-US" sz="730" dirty="0"/>
          </a:p>
          <a:p>
            <a:pPr marL="0" indent="0" algn="ctr">
              <a:buNone/>
            </a:pPr>
            <a:r>
              <a:rPr lang="en-US" sz="73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HTM/测算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9326880" y="1549908"/>
            <a:ext cx="877824" cy="320040"/>
          </a:xfrm>
          <a:prstGeom prst="roundRect">
            <a:avLst>
              <a:gd name="adj" fmla="val 14286"/>
            </a:avLst>
          </a:prstGeom>
          <a:solidFill>
            <a:srgbClr val="EDF4FA"/>
          </a:solidFill>
          <a:ln w="7620">
            <a:solidFill>
              <a:srgbClr val="2D669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45168" y="1559052"/>
            <a:ext cx="84124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风险模型</a:t>
            </a:r>
            <a:endParaRPr lang="en-US" sz="730" dirty="0"/>
          </a:p>
          <a:p>
            <a:pPr marL="0" indent="0" algn="ctr">
              <a:buNone/>
            </a:pPr>
            <a:r>
              <a:rPr lang="en-US" sz="73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决策建议</a:t>
            </a:r>
            <a:endParaRPr lang="en-US" sz="730" dirty="0"/>
          </a:p>
        </p:txBody>
      </p:sp>
      <p:sp>
        <p:nvSpPr>
          <p:cNvPr id="41" name="Shape 39"/>
          <p:cNvSpPr/>
          <p:nvPr/>
        </p:nvSpPr>
        <p:spPr>
          <a:xfrm>
            <a:off x="10387584" y="1549908"/>
            <a:ext cx="749808" cy="320040"/>
          </a:xfrm>
          <a:prstGeom prst="roundRect">
            <a:avLst>
              <a:gd name="adj" fmla="val 14286"/>
            </a:avLst>
          </a:prstGeom>
          <a:solidFill>
            <a:srgbClr val="EDF4FA"/>
          </a:solidFill>
          <a:ln w="7620">
            <a:solidFill>
              <a:srgbClr val="2D669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405872" y="1559052"/>
            <a:ext cx="71323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LMS</a:t>
            </a:r>
            <a:endParaRPr lang="en-US" sz="730" dirty="0"/>
          </a:p>
          <a:p>
            <a:pPr marL="0" indent="0" algn="ctr">
              <a:buNone/>
            </a:pPr>
            <a:r>
              <a:rPr lang="en-US" sz="730" b="1" dirty="0">
                <a:solidFill>
                  <a:srgbClr val="0B3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输出应用</a:t>
            </a:r>
            <a:endParaRPr lang="en-US" sz="730" dirty="0"/>
          </a:p>
        </p:txBody>
      </p:sp>
      <p:sp>
        <p:nvSpPr>
          <p:cNvPr id="43" name="Shape 41"/>
          <p:cNvSpPr/>
          <p:nvPr/>
        </p:nvSpPr>
        <p:spPr>
          <a:xfrm>
            <a:off x="9134856" y="1705356"/>
            <a:ext cx="173736" cy="0"/>
          </a:xfrm>
          <a:prstGeom prst="line">
            <a:avLst/>
          </a:prstGeom>
          <a:noFill/>
          <a:ln w="1016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204704" y="1705356"/>
            <a:ext cx="164592" cy="0"/>
          </a:xfrm>
          <a:prstGeom prst="line">
            <a:avLst/>
          </a:prstGeom>
          <a:noFill/>
          <a:ln w="1016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206240" y="2016252"/>
            <a:ext cx="1417320" cy="182880"/>
          </a:xfrm>
          <a:prstGeom prst="roundRect">
            <a:avLst>
              <a:gd name="adj" fmla="val 25000"/>
            </a:avLst>
          </a:prstGeom>
          <a:solidFill>
            <a:srgbClr val="FFF4D4"/>
          </a:solidFill>
          <a:ln w="7620">
            <a:solidFill>
              <a:srgbClr val="E5B1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51960" y="2034540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分类知识库：规则 / 关键词 / 第三方数据</a:t>
            </a:r>
            <a:endParaRPr lang="en-US" sz="580" dirty="0"/>
          </a:p>
        </p:txBody>
      </p:sp>
      <p:sp>
        <p:nvSpPr>
          <p:cNvPr id="47" name="Shape 45"/>
          <p:cNvSpPr/>
          <p:nvPr/>
        </p:nvSpPr>
        <p:spPr>
          <a:xfrm>
            <a:off x="5669280" y="2016252"/>
            <a:ext cx="1517904" cy="182880"/>
          </a:xfrm>
          <a:prstGeom prst="roundRect">
            <a:avLst>
              <a:gd name="adj" fmla="val 25000"/>
            </a:avLst>
          </a:prstGeom>
          <a:solidFill>
            <a:srgbClr val="FFF4D4"/>
          </a:solidFill>
          <a:ln w="7620">
            <a:solidFill>
              <a:srgbClr val="E5B1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15000" y="2034540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监控运营：效果监控 / 异常跟踪 / 人工维护</a:t>
            </a:r>
            <a:endParaRPr lang="en-US" sz="580" dirty="0"/>
          </a:p>
        </p:txBody>
      </p:sp>
      <p:sp>
        <p:nvSpPr>
          <p:cNvPr id="49" name="Shape 47"/>
          <p:cNvSpPr/>
          <p:nvPr/>
        </p:nvSpPr>
        <p:spPr>
          <a:xfrm>
            <a:off x="475488" y="2733460"/>
            <a:ext cx="64008" cy="201168"/>
          </a:xfrm>
          <a:prstGeom prst="rect">
            <a:avLst/>
          </a:prstGeom>
          <a:solidFill>
            <a:srgbClr val="E5B100"/>
          </a:solidFill>
          <a:ln w="6350">
            <a:solidFill>
              <a:srgbClr val="E5B100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3504" y="2715172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r>
              <a:rPr lang="en-US" sz="1050" b="1" dirty="0" err="1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当前现状</a:t>
            </a:r>
            <a:r>
              <a:rPr lang="en-US" sz="10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10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进展时间轴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454815" y="5114544"/>
            <a:ext cx="64008" cy="201168"/>
          </a:xfrm>
          <a:prstGeom prst="rect">
            <a:avLst/>
          </a:prstGeom>
          <a:solidFill>
            <a:srgbClr val="E5B100"/>
          </a:solidFill>
          <a:ln w="6350">
            <a:solidFill>
              <a:srgbClr val="E5B100">
                <a:alpha val="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82831" y="5104472"/>
            <a:ext cx="11119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运维方式：1 人 + 2 个 AI Agent，持续闭环</a:t>
            </a:r>
            <a:endParaRPr lang="en-US" sz="1050" dirty="0"/>
          </a:p>
        </p:txBody>
      </p:sp>
      <p:sp>
        <p:nvSpPr>
          <p:cNvPr id="121" name="agent-qc-bg">
            <a:extLst>
              <a:ext uri="{FF2B5EF4-FFF2-40B4-BE49-F238E27FC236}">
                <a16:creationId xmlns:a16="http://schemas.microsoft.com/office/drawing/2014/main" id="{E987D2B6-2595-45CE-B9CE-5208BA471B22}"/>
              </a:ext>
            </a:extLst>
          </p:cNvPr>
          <p:cNvSpPr/>
          <p:nvPr/>
        </p:nvSpPr>
        <p:spPr>
          <a:xfrm>
            <a:off x="573687" y="5507736"/>
            <a:ext cx="5458968" cy="982980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agent-qc-topbar">
            <a:extLst>
              <a:ext uri="{FF2B5EF4-FFF2-40B4-BE49-F238E27FC236}">
                <a16:creationId xmlns:a16="http://schemas.microsoft.com/office/drawing/2014/main" id="{804F04FF-B354-44EE-A0D8-9D065276E6F4}"/>
              </a:ext>
            </a:extLst>
          </p:cNvPr>
          <p:cNvSpPr/>
          <p:nvPr/>
        </p:nvSpPr>
        <p:spPr>
          <a:xfrm>
            <a:off x="573687" y="5507736"/>
            <a:ext cx="5456980" cy="496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agent-qc-title">
            <a:extLst>
              <a:ext uri="{FF2B5EF4-FFF2-40B4-BE49-F238E27FC236}">
                <a16:creationId xmlns:a16="http://schemas.microsoft.com/office/drawing/2014/main" id="{D07958D1-B27A-43F4-A8FB-1DF42422034F}"/>
              </a:ext>
            </a:extLst>
          </p:cNvPr>
          <p:cNvSpPr txBox="1"/>
          <p:nvPr/>
        </p:nvSpPr>
        <p:spPr>
          <a:xfrm>
            <a:off x="710847" y="5599176"/>
            <a:ext cx="5650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1"/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AI Agent 1｜</a:t>
            </a:r>
            <a:r>
              <a:rPr sz="950" b="1">
                <a:solidFill>
                  <a:srgbClr val="0A0A0A"/>
                </a:solidFill>
                <a:latin typeface="微软雅黑"/>
                <a:ea typeface="微软雅黑"/>
              </a:rPr>
              <a:t>质检 Agent：监控异常、定位问题</a:t>
            </a:r>
          </a:p>
        </p:txBody>
      </p:sp>
      <p:sp>
        <p:nvSpPr>
          <p:cNvPr id="124" name="agent-qc-it">
            <a:extLst>
              <a:ext uri="{FF2B5EF4-FFF2-40B4-BE49-F238E27FC236}">
                <a16:creationId xmlns:a16="http://schemas.microsoft.com/office/drawing/2014/main" id="{BF7C9766-9337-4717-9BBE-EB6AD0EB8802}"/>
              </a:ext>
            </a:extLst>
          </p:cNvPr>
          <p:cNvSpPr txBox="1"/>
          <p:nvPr/>
        </p:nvSpPr>
        <p:spPr>
          <a:xfrm>
            <a:off x="710847" y="5836920"/>
            <a:ext cx="565099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1"/>
            <a:r>
              <a:rPr sz="800" b="1" dirty="0">
                <a:solidFill>
                  <a:srgbClr val="1F4E79"/>
                </a:solidFill>
                <a:latin typeface="微软雅黑"/>
                <a:ea typeface="微软雅黑"/>
              </a:rPr>
              <a:t> </a:t>
            </a:r>
            <a:r>
              <a:rPr sz="800" b="1" dirty="0" err="1">
                <a:solidFill>
                  <a:srgbClr val="0A0A0A"/>
                </a:solidFill>
                <a:latin typeface="微软雅黑"/>
                <a:ea typeface="微软雅黑"/>
              </a:rPr>
              <a:t>效果监控</a:t>
            </a:r>
            <a:endParaRPr sz="800" b="1" dirty="0">
              <a:solidFill>
                <a:srgbClr val="0A0A0A"/>
              </a:solidFill>
              <a:latin typeface="微软雅黑"/>
              <a:ea typeface="微软雅黑"/>
            </a:endParaRPr>
          </a:p>
        </p:txBody>
      </p:sp>
      <p:sp>
        <p:nvSpPr>
          <p:cNvPr id="125" name="agent-qc-det">
            <a:extLst>
              <a:ext uri="{FF2B5EF4-FFF2-40B4-BE49-F238E27FC236}">
                <a16:creationId xmlns:a16="http://schemas.microsoft.com/office/drawing/2014/main" id="{33C5D15D-ACE2-4B07-B0AD-AFA454652266}"/>
              </a:ext>
            </a:extLst>
          </p:cNvPr>
          <p:cNvSpPr txBox="1"/>
          <p:nvPr/>
        </p:nvSpPr>
        <p:spPr>
          <a:xfrm>
            <a:off x="884583" y="5992368"/>
            <a:ext cx="550468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1"/>
            <a:r>
              <a:rPr sz="700" b="0">
                <a:solidFill>
                  <a:srgbClr val="3D3C3A"/>
                </a:solidFill>
                <a:latin typeface="微软雅黑"/>
                <a:ea typeface="微软雅黑"/>
              </a:rPr>
              <a:t>分类分布与命中率、数据/分类漂移；对手方识别异常、关键字段缺失</a:t>
            </a:r>
          </a:p>
        </p:txBody>
      </p:sp>
      <p:sp>
        <p:nvSpPr>
          <p:cNvPr id="126" name="agent-qc-it">
            <a:extLst>
              <a:ext uri="{FF2B5EF4-FFF2-40B4-BE49-F238E27FC236}">
                <a16:creationId xmlns:a16="http://schemas.microsoft.com/office/drawing/2014/main" id="{0E5A0F4D-DD7B-48B1-BC98-9C27DC2B49DA}"/>
              </a:ext>
            </a:extLst>
          </p:cNvPr>
          <p:cNvSpPr txBox="1"/>
          <p:nvPr/>
        </p:nvSpPr>
        <p:spPr>
          <a:xfrm>
            <a:off x="710847" y="6111240"/>
            <a:ext cx="565099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1"/>
            <a:r>
              <a:rPr sz="800" b="1" dirty="0">
                <a:solidFill>
                  <a:srgbClr val="1F4E79"/>
                </a:solidFill>
                <a:latin typeface="微软雅黑"/>
                <a:ea typeface="微软雅黑"/>
              </a:rPr>
              <a:t> </a:t>
            </a:r>
            <a:r>
              <a:rPr sz="800" b="1" dirty="0" err="1">
                <a:solidFill>
                  <a:srgbClr val="0A0A0A"/>
                </a:solidFill>
                <a:latin typeface="微软雅黑"/>
                <a:ea typeface="微软雅黑"/>
              </a:rPr>
              <a:t>问题诊断</a:t>
            </a:r>
            <a:endParaRPr sz="800" b="1" dirty="0">
              <a:solidFill>
                <a:srgbClr val="0A0A0A"/>
              </a:solidFill>
              <a:latin typeface="微软雅黑"/>
              <a:ea typeface="微软雅黑"/>
            </a:endParaRPr>
          </a:p>
        </p:txBody>
      </p:sp>
      <p:sp>
        <p:nvSpPr>
          <p:cNvPr id="127" name="agent-qc-det">
            <a:extLst>
              <a:ext uri="{FF2B5EF4-FFF2-40B4-BE49-F238E27FC236}">
                <a16:creationId xmlns:a16="http://schemas.microsoft.com/office/drawing/2014/main" id="{413C0D60-D06D-40DF-83F0-A29A3B425B04}"/>
              </a:ext>
            </a:extLst>
          </p:cNvPr>
          <p:cNvSpPr txBox="1"/>
          <p:nvPr/>
        </p:nvSpPr>
        <p:spPr>
          <a:xfrm>
            <a:off x="884583" y="6266688"/>
            <a:ext cx="550468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1"/>
            <a:r>
              <a:rPr sz="700" b="0" dirty="0" err="1">
                <a:solidFill>
                  <a:srgbClr val="3D3C3A"/>
                </a:solidFill>
                <a:latin typeface="微软雅黑"/>
                <a:ea typeface="微软雅黑"/>
              </a:rPr>
              <a:t>定位异常交易与问题引擎，识别缺失商户</a:t>
            </a:r>
            <a:r>
              <a:rPr sz="700" b="0" dirty="0">
                <a:solidFill>
                  <a:srgbClr val="3D3C3A"/>
                </a:solidFill>
                <a:latin typeface="微软雅黑"/>
                <a:ea typeface="微软雅黑"/>
              </a:rPr>
              <a:t>/</a:t>
            </a:r>
            <a:r>
              <a:rPr sz="700" b="0" dirty="0" err="1">
                <a:solidFill>
                  <a:srgbClr val="3D3C3A"/>
                </a:solidFill>
                <a:latin typeface="微软雅黑"/>
                <a:ea typeface="微软雅黑"/>
              </a:rPr>
              <a:t>关键词</a:t>
            </a:r>
            <a:r>
              <a:rPr sz="700" b="0" dirty="0">
                <a:solidFill>
                  <a:srgbClr val="3D3C3A"/>
                </a:solidFill>
                <a:latin typeface="微软雅黑"/>
                <a:ea typeface="微软雅黑"/>
              </a:rPr>
              <a:t>/</a:t>
            </a:r>
            <a:r>
              <a:rPr sz="700" b="0" dirty="0" err="1">
                <a:solidFill>
                  <a:srgbClr val="3D3C3A"/>
                </a:solidFill>
                <a:latin typeface="微软雅黑"/>
                <a:ea typeface="微软雅黑"/>
              </a:rPr>
              <a:t>规则；自动生成优先级</a:t>
            </a:r>
            <a:r>
              <a:rPr sz="700" b="0" dirty="0">
                <a:solidFill>
                  <a:srgbClr val="3D3C3A"/>
                </a:solidFill>
                <a:latin typeface="微软雅黑"/>
                <a:ea typeface="微软雅黑"/>
              </a:rPr>
              <a:t> </a:t>
            </a:r>
            <a:r>
              <a:rPr sz="700" b="0" dirty="0" err="1">
                <a:solidFill>
                  <a:srgbClr val="3D3C3A"/>
                </a:solidFill>
                <a:latin typeface="微软雅黑"/>
                <a:ea typeface="微软雅黑"/>
              </a:rPr>
              <a:t>Todo</a:t>
            </a:r>
            <a:r>
              <a:rPr sz="700" b="0" dirty="0">
                <a:solidFill>
                  <a:srgbClr val="3D3C3A"/>
                </a:solidFill>
                <a:latin typeface="微软雅黑"/>
                <a:ea typeface="微软雅黑"/>
              </a:rPr>
              <a:t> </a:t>
            </a:r>
            <a:r>
              <a:rPr sz="700" b="0" dirty="0" err="1">
                <a:solidFill>
                  <a:srgbClr val="3D3C3A"/>
                </a:solidFill>
                <a:latin typeface="微软雅黑"/>
                <a:ea typeface="微软雅黑"/>
              </a:rPr>
              <a:t>清单</a:t>
            </a:r>
            <a:endParaRPr sz="700" b="0" dirty="0">
              <a:solidFill>
                <a:srgbClr val="3D3C3A"/>
              </a:solidFill>
              <a:latin typeface="微软雅黑"/>
              <a:ea typeface="微软雅黑"/>
            </a:endParaRPr>
          </a:p>
        </p:txBody>
      </p: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713453A6-E8E1-434D-AA96-E47AB64E9DD9}"/>
              </a:ext>
            </a:extLst>
          </p:cNvPr>
          <p:cNvGrpSpPr/>
          <p:nvPr/>
        </p:nvGrpSpPr>
        <p:grpSpPr>
          <a:xfrm>
            <a:off x="6214342" y="5489448"/>
            <a:ext cx="5836257" cy="1001268"/>
            <a:chOff x="6203210" y="4741959"/>
            <a:chExt cx="5836257" cy="1001268"/>
          </a:xfrm>
        </p:grpSpPr>
        <p:sp>
          <p:nvSpPr>
            <p:cNvPr id="128" name="agent-kb-bg">
              <a:extLst>
                <a:ext uri="{FF2B5EF4-FFF2-40B4-BE49-F238E27FC236}">
                  <a16:creationId xmlns:a16="http://schemas.microsoft.com/office/drawing/2014/main" id="{25197619-C140-4B05-AA74-7581E402DC99}"/>
                </a:ext>
              </a:extLst>
            </p:cNvPr>
            <p:cNvSpPr/>
            <p:nvPr/>
          </p:nvSpPr>
          <p:spPr>
            <a:xfrm>
              <a:off x="6203210" y="4741959"/>
              <a:ext cx="5412718" cy="1001268"/>
            </a:xfrm>
            <a:prstGeom prst="roundRect">
              <a:avLst>
                <a:gd name="adj" fmla="val 5000"/>
              </a:avLst>
            </a:prstGeom>
            <a:solidFill>
              <a:srgbClr val="F0F0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9" name="agent-kb-topbar">
              <a:extLst>
                <a:ext uri="{FF2B5EF4-FFF2-40B4-BE49-F238E27FC236}">
                  <a16:creationId xmlns:a16="http://schemas.microsoft.com/office/drawing/2014/main" id="{ED501B32-0491-4F51-8A16-8C35E9543C6D}"/>
                </a:ext>
              </a:extLst>
            </p:cNvPr>
            <p:cNvSpPr/>
            <p:nvPr/>
          </p:nvSpPr>
          <p:spPr>
            <a:xfrm>
              <a:off x="6203210" y="4741959"/>
              <a:ext cx="5412718" cy="45719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0" name="agent-kb-title">
              <a:extLst>
                <a:ext uri="{FF2B5EF4-FFF2-40B4-BE49-F238E27FC236}">
                  <a16:creationId xmlns:a16="http://schemas.microsoft.com/office/drawing/2014/main" id="{A63D0CD2-A722-4C62-9BE5-AF281465A82F}"/>
                </a:ext>
              </a:extLst>
            </p:cNvPr>
            <p:cNvSpPr txBox="1"/>
            <p:nvPr/>
          </p:nvSpPr>
          <p:spPr>
            <a:xfrm>
              <a:off x="6340370" y="4833399"/>
              <a:ext cx="5650992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latinLnBrk="1"/>
              <a:r>
                <a:rPr sz="950" b="1">
                  <a:solidFill>
                    <a:srgbClr val="1F4E79"/>
                  </a:solidFill>
                  <a:latin typeface="微软雅黑"/>
                  <a:ea typeface="微软雅黑"/>
                </a:rPr>
                <a:t>AI Agent 2｜</a:t>
              </a:r>
              <a:r>
                <a:rPr sz="950" b="1">
                  <a:solidFill>
                    <a:srgbClr val="0A0A0A"/>
                  </a:solidFill>
                  <a:latin typeface="微软雅黑"/>
                  <a:ea typeface="微软雅黑"/>
                </a:rPr>
                <a:t>知识库 Agent：主动补充、持续迭代</a:t>
              </a:r>
            </a:p>
          </p:txBody>
        </p:sp>
        <p:sp>
          <p:nvSpPr>
            <p:cNvPr id="131" name="agent-kb-it">
              <a:extLst>
                <a:ext uri="{FF2B5EF4-FFF2-40B4-BE49-F238E27FC236}">
                  <a16:creationId xmlns:a16="http://schemas.microsoft.com/office/drawing/2014/main" id="{28F8844B-7A08-4E14-A4B7-4CB4AFF0B1A1}"/>
                </a:ext>
              </a:extLst>
            </p:cNvPr>
            <p:cNvSpPr txBox="1"/>
            <p:nvPr/>
          </p:nvSpPr>
          <p:spPr>
            <a:xfrm>
              <a:off x="6340370" y="5071143"/>
              <a:ext cx="5650992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latinLnBrk="1"/>
              <a:r>
                <a:rPr sz="800" b="1" dirty="0">
                  <a:solidFill>
                    <a:srgbClr val="1F4E79"/>
                  </a:solidFill>
                  <a:latin typeface="微软雅黑"/>
                  <a:ea typeface="微软雅黑"/>
                </a:rPr>
                <a:t> </a:t>
              </a:r>
              <a:r>
                <a:rPr sz="800" b="1" dirty="0" err="1">
                  <a:solidFill>
                    <a:srgbClr val="0A0A0A"/>
                  </a:solidFill>
                  <a:latin typeface="微软雅黑"/>
                  <a:ea typeface="微软雅黑"/>
                </a:rPr>
                <a:t>知识补全</a:t>
              </a:r>
              <a:endParaRPr sz="800" b="1" dirty="0">
                <a:solidFill>
                  <a:srgbClr val="0A0A0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32" name="agent-kb-det">
              <a:extLst>
                <a:ext uri="{FF2B5EF4-FFF2-40B4-BE49-F238E27FC236}">
                  <a16:creationId xmlns:a16="http://schemas.microsoft.com/office/drawing/2014/main" id="{7C680747-B586-43E0-81F3-DDD453F224E6}"/>
                </a:ext>
              </a:extLst>
            </p:cNvPr>
            <p:cNvSpPr txBox="1"/>
            <p:nvPr/>
          </p:nvSpPr>
          <p:spPr>
            <a:xfrm>
              <a:off x="6514106" y="5226591"/>
              <a:ext cx="5504688" cy="1280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latinLnBrk="1"/>
              <a:r>
                <a:rPr sz="700" b="0">
                  <a:solidFill>
                    <a:srgbClr val="3D3C3A"/>
                  </a:solidFill>
                  <a:latin typeface="微软雅黑"/>
                  <a:ea typeface="微软雅黑"/>
                </a:rPr>
                <a:t>检索未知商户/对手方，补充企业、品牌、关键词与分类信息，识别新增业务实体</a:t>
              </a:r>
            </a:p>
          </p:txBody>
        </p:sp>
        <p:sp>
          <p:nvSpPr>
            <p:cNvPr id="135" name="agent-kb-it">
              <a:extLst>
                <a:ext uri="{FF2B5EF4-FFF2-40B4-BE49-F238E27FC236}">
                  <a16:creationId xmlns:a16="http://schemas.microsoft.com/office/drawing/2014/main" id="{7443065A-FB4C-472C-900B-FC90C0C4BDD6}"/>
                </a:ext>
              </a:extLst>
            </p:cNvPr>
            <p:cNvSpPr txBox="1"/>
            <p:nvPr/>
          </p:nvSpPr>
          <p:spPr>
            <a:xfrm>
              <a:off x="6361043" y="5409471"/>
              <a:ext cx="5650992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latinLnBrk="1"/>
              <a:r>
                <a:rPr sz="800" b="1" dirty="0">
                  <a:solidFill>
                    <a:srgbClr val="1F4E79"/>
                  </a:solidFill>
                  <a:latin typeface="微软雅黑"/>
                  <a:ea typeface="微软雅黑"/>
                </a:rPr>
                <a:t> </a:t>
              </a:r>
              <a:r>
                <a:rPr sz="800" b="1" dirty="0" err="1">
                  <a:solidFill>
                    <a:srgbClr val="0A0A0A"/>
                  </a:solidFill>
                  <a:latin typeface="微软雅黑"/>
                  <a:ea typeface="微软雅黑"/>
                </a:rPr>
                <a:t>知识库更新</a:t>
              </a:r>
              <a:endParaRPr sz="800" b="1" dirty="0">
                <a:solidFill>
                  <a:srgbClr val="0A0A0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36" name="agent-kb-det">
              <a:extLst>
                <a:ext uri="{FF2B5EF4-FFF2-40B4-BE49-F238E27FC236}">
                  <a16:creationId xmlns:a16="http://schemas.microsoft.com/office/drawing/2014/main" id="{FB4CE0D0-5B59-40F3-B563-F40E0F64D94A}"/>
                </a:ext>
              </a:extLst>
            </p:cNvPr>
            <p:cNvSpPr txBox="1"/>
            <p:nvPr/>
          </p:nvSpPr>
          <p:spPr>
            <a:xfrm>
              <a:off x="6534779" y="5564919"/>
              <a:ext cx="5504688" cy="10772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latinLnBrk="1"/>
              <a:r>
                <a:rPr sz="700" b="0" dirty="0" err="1">
                  <a:solidFill>
                    <a:srgbClr val="3D3C3A"/>
                  </a:solidFill>
                  <a:latin typeface="微软雅黑"/>
                  <a:ea typeface="微软雅黑"/>
                </a:rPr>
                <a:t>自动生成新增</a:t>
              </a:r>
              <a:r>
                <a:rPr sz="700" b="0" dirty="0">
                  <a:solidFill>
                    <a:srgbClr val="3D3C3A"/>
                  </a:solidFill>
                  <a:latin typeface="微软雅黑"/>
                  <a:ea typeface="微软雅黑"/>
                </a:rPr>
                <a:t>/</a:t>
              </a:r>
              <a:r>
                <a:rPr sz="700" b="0" dirty="0" err="1">
                  <a:solidFill>
                    <a:srgbClr val="3D3C3A"/>
                  </a:solidFill>
                  <a:latin typeface="微软雅黑"/>
                  <a:ea typeface="微软雅黑"/>
                </a:rPr>
                <a:t>修改</a:t>
              </a:r>
              <a:r>
                <a:rPr lang="zh-CN" altLang="en-US" sz="700" dirty="0">
                  <a:solidFill>
                    <a:srgbClr val="3D3C3A"/>
                  </a:solidFill>
                  <a:latin typeface="微软雅黑"/>
                  <a:ea typeface="微软雅黑"/>
                </a:rPr>
                <a:t>知识库</a:t>
              </a:r>
              <a:r>
                <a:rPr sz="700" b="0" dirty="0" err="1">
                  <a:solidFill>
                    <a:srgbClr val="3D3C3A"/>
                  </a:solidFill>
                  <a:latin typeface="微软雅黑"/>
                  <a:ea typeface="微软雅黑"/>
                </a:rPr>
                <a:t>建议，人工审核后进入正式知识库，持续沉淀规则与案例</a:t>
              </a:r>
              <a:endParaRPr sz="700" b="0" dirty="0">
                <a:solidFill>
                  <a:srgbClr val="3D3C3A"/>
                </a:solidFill>
                <a:latin typeface="微软雅黑"/>
                <a:ea typeface="微软雅黑"/>
              </a:endParaRPr>
            </a:p>
          </p:txBody>
        </p:sp>
      </p:grpSp>
      <p:sp>
        <p:nvSpPr>
          <p:cNvPr id="138" name="Shape 117">
            <a:extLst>
              <a:ext uri="{FF2B5EF4-FFF2-40B4-BE49-F238E27FC236}">
                <a16:creationId xmlns:a16="http://schemas.microsoft.com/office/drawing/2014/main" id="{904062DB-44F0-424B-8CAE-0292C1BCD756}"/>
              </a:ext>
            </a:extLst>
          </p:cNvPr>
          <p:cNvSpPr/>
          <p:nvPr/>
        </p:nvSpPr>
        <p:spPr>
          <a:xfrm>
            <a:off x="457200" y="2291798"/>
            <a:ext cx="11109960" cy="347472"/>
          </a:xfrm>
          <a:prstGeom prst="rect">
            <a:avLst/>
          </a:prstGeom>
          <a:solidFill>
            <a:srgbClr val="FFF4D4"/>
          </a:solidFill>
          <a:ln w="6350">
            <a:solidFill>
              <a:srgbClr val="FFF4D4">
                <a:alpha val="0"/>
              </a:srgbClr>
            </a:solidFill>
            <a:prstDash val="solid"/>
          </a:ln>
        </p:spPr>
      </p:sp>
      <p:sp>
        <p:nvSpPr>
          <p:cNvPr id="139" name="Text 118">
            <a:extLst>
              <a:ext uri="{FF2B5EF4-FFF2-40B4-BE49-F238E27FC236}">
                <a16:creationId xmlns:a16="http://schemas.microsoft.com/office/drawing/2014/main" id="{AC636412-B702-433E-9119-7433BC4B4CCB}"/>
              </a:ext>
            </a:extLst>
          </p:cNvPr>
          <p:cNvSpPr/>
          <p:nvPr/>
        </p:nvSpPr>
        <p:spPr>
          <a:xfrm>
            <a:off x="667512" y="2374094"/>
            <a:ext cx="10661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核心取舍：让 BS-CAT 输出“可直接用于信审”的分类、对手方与标签结果；IDA 只保留必要调度、汇总与基础计算，降低下游复杂度。</a:t>
            </a:r>
            <a:endParaRPr lang="en-US" sz="910" dirty="0"/>
          </a:p>
        </p:txBody>
      </p:sp>
      <p:sp>
        <p:nvSpPr>
          <p:cNvPr id="140" name="tl-line"/>
          <p:cNvSpPr/>
          <p:nvPr/>
        </p:nvSpPr>
        <p:spPr>
          <a:xfrm>
            <a:off x="658368" y="3830421"/>
            <a:ext cx="10698480" cy="201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l-dot-0"/>
          <p:cNvSpPr/>
          <p:nvPr/>
        </p:nvSpPr>
        <p:spPr>
          <a:xfrm>
            <a:off x="1353312" y="3771900"/>
            <a:ext cx="137160" cy="1371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l-date-0"/>
          <p:cNvSpPr txBox="1"/>
          <p:nvPr/>
        </p:nvSpPr>
        <p:spPr>
          <a:xfrm>
            <a:off x="512064" y="3547872"/>
            <a:ext cx="1819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latinLnBrk="1"/>
            <a:r>
              <a:rPr sz="800" b="1">
                <a:solidFill>
                  <a:srgbClr val="1F4E79"/>
                </a:solidFill>
                <a:latin typeface="微软雅黑"/>
                <a:ea typeface="微软雅黑"/>
              </a:rPr>
              <a:t>8月9日</a:t>
            </a:r>
          </a:p>
        </p:txBody>
      </p:sp>
      <p:sp>
        <p:nvSpPr>
          <p:cNvPr id="143" name="tl-stdot-0-0"/>
          <p:cNvSpPr/>
          <p:nvPr/>
        </p:nvSpPr>
        <p:spPr>
          <a:xfrm>
            <a:off x="530352" y="4101084"/>
            <a:ext cx="68580" cy="685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l-item-0-0"/>
          <p:cNvSpPr txBox="1"/>
          <p:nvPr/>
        </p:nvSpPr>
        <p:spPr>
          <a:xfrm>
            <a:off x="630936" y="4059936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latinLnBrk="1">
              <a:lnSpc>
                <a:spcPct val="95000"/>
              </a:lnSpc>
            </a:pPr>
            <a:r>
              <a:rPr sz="700" b="0">
                <a:solidFill>
                  <a:srgbClr val="3D3C3A"/>
                </a:solidFill>
                <a:latin typeface="微软雅黑"/>
                <a:ea typeface="微软雅黑"/>
              </a:rPr>
              <a:t>943 模型平台 preview 版本完成部署，开放模型输出接口</a:t>
            </a:r>
          </a:p>
        </p:txBody>
      </p:sp>
      <p:sp>
        <p:nvSpPr>
          <p:cNvPr id="145" name="tl-stdot-0-1"/>
          <p:cNvSpPr/>
          <p:nvPr/>
        </p:nvSpPr>
        <p:spPr>
          <a:xfrm>
            <a:off x="530352" y="4375404"/>
            <a:ext cx="68580" cy="68580"/>
          </a:xfrm>
          <a:prstGeom prst="ellipse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l-item-0-1"/>
          <p:cNvSpPr txBox="1"/>
          <p:nvPr/>
        </p:nvSpPr>
        <p:spPr>
          <a:xfrm>
            <a:off x="630936" y="4334256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latinLnBrk="1">
              <a:lnSpc>
                <a:spcPct val="95000"/>
              </a:lnSpc>
            </a:pPr>
            <a:r>
              <a:rPr sz="700" b="0">
                <a:solidFill>
                  <a:srgbClr val="3D3C3A"/>
                </a:solidFill>
                <a:latin typeface="微软雅黑"/>
                <a:ea typeface="微软雅黑"/>
              </a:rPr>
              <a:t>下游平台开始模型调用链路开发</a:t>
            </a:r>
          </a:p>
        </p:txBody>
      </p:sp>
      <p:sp>
        <p:nvSpPr>
          <p:cNvPr id="147" name="tl-dot-1"/>
          <p:cNvSpPr/>
          <p:nvPr/>
        </p:nvSpPr>
        <p:spPr>
          <a:xfrm>
            <a:off x="3172968" y="3771900"/>
            <a:ext cx="137160" cy="1371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l-date-1"/>
          <p:cNvSpPr txBox="1"/>
          <p:nvPr/>
        </p:nvSpPr>
        <p:spPr>
          <a:xfrm>
            <a:off x="2331720" y="3547872"/>
            <a:ext cx="1819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latinLnBrk="1"/>
            <a:r>
              <a:rPr sz="800" b="1">
                <a:solidFill>
                  <a:srgbClr val="1F4E79"/>
                </a:solidFill>
                <a:latin typeface="微软雅黑"/>
                <a:ea typeface="微软雅黑"/>
              </a:rPr>
              <a:t>当前</a:t>
            </a:r>
          </a:p>
        </p:txBody>
      </p:sp>
      <p:sp>
        <p:nvSpPr>
          <p:cNvPr id="149" name="tl-stdot-1-0"/>
          <p:cNvSpPr/>
          <p:nvPr/>
        </p:nvSpPr>
        <p:spPr>
          <a:xfrm>
            <a:off x="2350008" y="4101084"/>
            <a:ext cx="68580" cy="685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l-item-1-0"/>
          <p:cNvSpPr txBox="1"/>
          <p:nvPr/>
        </p:nvSpPr>
        <p:spPr>
          <a:xfrm>
            <a:off x="2450591" y="4059936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latinLnBrk="1">
              <a:lnSpc>
                <a:spcPct val="95000"/>
              </a:lnSpc>
            </a:pPr>
            <a:r>
              <a:rPr sz="700" b="0">
                <a:solidFill>
                  <a:srgbClr val="3D3C3A"/>
                </a:solidFill>
                <a:latin typeface="微软雅黑"/>
                <a:ea typeface="微软雅黑"/>
              </a:rPr>
              <a:t>负债 / 收入类知识库基本初始化完成，两类模型效果较好</a:t>
            </a:r>
          </a:p>
        </p:txBody>
      </p:sp>
      <p:sp>
        <p:nvSpPr>
          <p:cNvPr id="151" name="tl-stdot-1-1"/>
          <p:cNvSpPr/>
          <p:nvPr/>
        </p:nvSpPr>
        <p:spPr>
          <a:xfrm>
            <a:off x="2350008" y="4375404"/>
            <a:ext cx="68580" cy="68580"/>
          </a:xfrm>
          <a:prstGeom prst="ellipse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l-item-1-1"/>
          <p:cNvSpPr txBox="1"/>
          <p:nvPr/>
        </p:nvSpPr>
        <p:spPr>
          <a:xfrm>
            <a:off x="2450591" y="4334256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latinLnBrk="1">
              <a:lnSpc>
                <a:spcPct val="95000"/>
              </a:lnSpc>
            </a:pPr>
            <a:r>
              <a:rPr sz="700" b="0">
                <a:solidFill>
                  <a:srgbClr val="3D3C3A"/>
                </a:solidFill>
                <a:latin typeface="微软雅黑"/>
                <a:ea typeface="微软雅黑"/>
              </a:rPr>
              <a:t>消费类知识库建设中</a:t>
            </a:r>
          </a:p>
        </p:txBody>
      </p:sp>
      <p:sp>
        <p:nvSpPr>
          <p:cNvPr id="153" name="tl-dot-2"/>
          <p:cNvSpPr/>
          <p:nvPr/>
        </p:nvSpPr>
        <p:spPr>
          <a:xfrm>
            <a:off x="4992624" y="3771900"/>
            <a:ext cx="137160" cy="1371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l-date-2"/>
          <p:cNvSpPr txBox="1"/>
          <p:nvPr/>
        </p:nvSpPr>
        <p:spPr>
          <a:xfrm>
            <a:off x="4151376" y="3547872"/>
            <a:ext cx="1819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latinLnBrk="1"/>
            <a:r>
              <a:rPr sz="800" b="1">
                <a:solidFill>
                  <a:srgbClr val="1F4E79"/>
                </a:solidFill>
                <a:latin typeface="微软雅黑"/>
                <a:ea typeface="微软雅黑"/>
              </a:rPr>
              <a:t>8月21日</a:t>
            </a:r>
          </a:p>
        </p:txBody>
      </p:sp>
      <p:sp>
        <p:nvSpPr>
          <p:cNvPr id="155" name="tl-stdot-2-0"/>
          <p:cNvSpPr/>
          <p:nvPr/>
        </p:nvSpPr>
        <p:spPr>
          <a:xfrm>
            <a:off x="4169663" y="4101084"/>
            <a:ext cx="68580" cy="6858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l-item-2-0"/>
          <p:cNvSpPr txBox="1"/>
          <p:nvPr/>
        </p:nvSpPr>
        <p:spPr>
          <a:xfrm>
            <a:off x="4270248" y="4059936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latinLnBrk="1">
              <a:lnSpc>
                <a:spcPct val="95000"/>
              </a:lnSpc>
            </a:pPr>
            <a:r>
              <a:rPr sz="700" b="0">
                <a:solidFill>
                  <a:srgbClr val="3D3C3A"/>
                </a:solidFill>
                <a:latin typeface="微软雅黑"/>
                <a:ea typeface="微软雅黑"/>
              </a:rPr>
              <a:t>完成消费类知识库初始化</a:t>
            </a:r>
          </a:p>
        </p:txBody>
      </p:sp>
      <p:sp>
        <p:nvSpPr>
          <p:cNvPr id="157" name="tl-stdot-2-1"/>
          <p:cNvSpPr/>
          <p:nvPr/>
        </p:nvSpPr>
        <p:spPr>
          <a:xfrm>
            <a:off x="4169663" y="4375404"/>
            <a:ext cx="68580" cy="6858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l-item-2-1"/>
          <p:cNvSpPr txBox="1"/>
          <p:nvPr/>
        </p:nvSpPr>
        <p:spPr>
          <a:xfrm>
            <a:off x="4270248" y="4334256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latinLnBrk="1">
              <a:lnSpc>
                <a:spcPct val="95000"/>
              </a:lnSpc>
            </a:pPr>
            <a:r>
              <a:rPr sz="700" b="0">
                <a:solidFill>
                  <a:srgbClr val="3D3C3A"/>
                </a:solidFill>
                <a:latin typeface="微软雅黑"/>
                <a:ea typeface="微软雅黑"/>
              </a:rPr>
              <a:t>发布全分类详细模型效果评估报告</a:t>
            </a:r>
          </a:p>
        </p:txBody>
      </p:sp>
      <p:sp>
        <p:nvSpPr>
          <p:cNvPr id="159" name="tl-dot-3"/>
          <p:cNvSpPr/>
          <p:nvPr/>
        </p:nvSpPr>
        <p:spPr>
          <a:xfrm>
            <a:off x="6812280" y="3771900"/>
            <a:ext cx="137160" cy="1371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l-date-3"/>
          <p:cNvSpPr txBox="1"/>
          <p:nvPr/>
        </p:nvSpPr>
        <p:spPr>
          <a:xfrm>
            <a:off x="5971031" y="3547872"/>
            <a:ext cx="1819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latinLnBrk="1"/>
            <a:r>
              <a:rPr sz="800" b="1">
                <a:solidFill>
                  <a:srgbClr val="1F4E79"/>
                </a:solidFill>
                <a:latin typeface="微软雅黑"/>
                <a:ea typeface="微软雅黑"/>
              </a:rPr>
              <a:t>8月31日</a:t>
            </a:r>
          </a:p>
        </p:txBody>
      </p:sp>
      <p:sp>
        <p:nvSpPr>
          <p:cNvPr id="161" name="tl-stdot-3-0"/>
          <p:cNvSpPr/>
          <p:nvPr/>
        </p:nvSpPr>
        <p:spPr>
          <a:xfrm>
            <a:off x="5989319" y="4101084"/>
            <a:ext cx="68580" cy="6858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l-item-3-0"/>
          <p:cNvSpPr txBox="1"/>
          <p:nvPr/>
        </p:nvSpPr>
        <p:spPr>
          <a:xfrm>
            <a:off x="6089903" y="4059936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latinLnBrk="1">
              <a:lnSpc>
                <a:spcPct val="95000"/>
              </a:lnSpc>
            </a:pPr>
            <a:r>
              <a:rPr sz="700" b="0">
                <a:solidFill>
                  <a:srgbClr val="3D3C3A"/>
                </a:solidFill>
                <a:latin typeface="微软雅黑"/>
                <a:ea typeface="微软雅黑"/>
              </a:rPr>
              <a:t>发布正式版模型</a:t>
            </a:r>
          </a:p>
        </p:txBody>
      </p:sp>
      <p:sp>
        <p:nvSpPr>
          <p:cNvPr id="163" name="tl-stdot-3-1"/>
          <p:cNvSpPr/>
          <p:nvPr/>
        </p:nvSpPr>
        <p:spPr>
          <a:xfrm>
            <a:off x="5989319" y="4375404"/>
            <a:ext cx="68580" cy="6858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l-item-3-1"/>
          <p:cNvSpPr txBox="1"/>
          <p:nvPr/>
        </p:nvSpPr>
        <p:spPr>
          <a:xfrm>
            <a:off x="6089903" y="4334256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latinLnBrk="1">
              <a:lnSpc>
                <a:spcPct val="95000"/>
              </a:lnSpc>
            </a:pPr>
            <a:r>
              <a:rPr sz="700" b="0">
                <a:solidFill>
                  <a:srgbClr val="3D3C3A"/>
                </a:solidFill>
                <a:latin typeface="微软雅黑"/>
                <a:ea typeface="微软雅黑"/>
              </a:rPr>
              <a:t>链路调通</a:t>
            </a:r>
          </a:p>
        </p:txBody>
      </p:sp>
      <p:sp>
        <p:nvSpPr>
          <p:cNvPr id="165" name="tl-dot-4"/>
          <p:cNvSpPr/>
          <p:nvPr/>
        </p:nvSpPr>
        <p:spPr>
          <a:xfrm>
            <a:off x="8631936" y="3771900"/>
            <a:ext cx="137160" cy="1371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l-date-4"/>
          <p:cNvSpPr txBox="1"/>
          <p:nvPr/>
        </p:nvSpPr>
        <p:spPr>
          <a:xfrm>
            <a:off x="7790688" y="3547872"/>
            <a:ext cx="1819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latinLnBrk="1"/>
            <a:r>
              <a:rPr sz="800" b="1">
                <a:solidFill>
                  <a:srgbClr val="1F4E79"/>
                </a:solidFill>
                <a:latin typeface="微软雅黑"/>
                <a:ea typeface="微软雅黑"/>
              </a:rPr>
              <a:t>9月15日之前</a:t>
            </a:r>
          </a:p>
        </p:txBody>
      </p:sp>
      <p:sp>
        <p:nvSpPr>
          <p:cNvPr id="167" name="tl-stdot-4-0"/>
          <p:cNvSpPr/>
          <p:nvPr/>
        </p:nvSpPr>
        <p:spPr>
          <a:xfrm>
            <a:off x="7808975" y="4101084"/>
            <a:ext cx="68580" cy="6858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l-item-4-0"/>
          <p:cNvSpPr txBox="1"/>
          <p:nvPr/>
        </p:nvSpPr>
        <p:spPr>
          <a:xfrm>
            <a:off x="7909560" y="4059936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latinLnBrk="1">
              <a:lnSpc>
                <a:spcPct val="95000"/>
              </a:lnSpc>
            </a:pPr>
            <a:r>
              <a:rPr sz="700" b="0">
                <a:solidFill>
                  <a:srgbClr val="3D3C3A"/>
                </a:solidFill>
                <a:latin typeface="微软雅黑"/>
                <a:ea typeface="微软雅黑"/>
              </a:rPr>
              <a:t>新 S-CALC 开发完成</a:t>
            </a:r>
          </a:p>
        </p:txBody>
      </p:sp>
      <p:sp>
        <p:nvSpPr>
          <p:cNvPr id="169" name="tl-stdot-4-1"/>
          <p:cNvSpPr/>
          <p:nvPr/>
        </p:nvSpPr>
        <p:spPr>
          <a:xfrm>
            <a:off x="7808975" y="4375404"/>
            <a:ext cx="68580" cy="6858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l-item-4-1"/>
          <p:cNvSpPr txBox="1"/>
          <p:nvPr/>
        </p:nvSpPr>
        <p:spPr>
          <a:xfrm>
            <a:off x="7909560" y="4334256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latinLnBrk="1">
              <a:lnSpc>
                <a:spcPct val="95000"/>
              </a:lnSpc>
            </a:pPr>
            <a:r>
              <a:rPr sz="700" b="0">
                <a:solidFill>
                  <a:srgbClr val="3D3C3A"/>
                </a:solidFill>
                <a:latin typeface="微软雅黑"/>
                <a:ea typeface="微软雅黑"/>
              </a:rPr>
              <a:t>LMS 新页面开发完成，开 AB 前交付人审使用</a:t>
            </a:r>
          </a:p>
        </p:txBody>
      </p:sp>
      <p:sp>
        <p:nvSpPr>
          <p:cNvPr id="171" name="tl-dot-5"/>
          <p:cNvSpPr/>
          <p:nvPr/>
        </p:nvSpPr>
        <p:spPr>
          <a:xfrm>
            <a:off x="10451592" y="3771900"/>
            <a:ext cx="137160" cy="1371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l-date-5"/>
          <p:cNvSpPr txBox="1"/>
          <p:nvPr/>
        </p:nvSpPr>
        <p:spPr>
          <a:xfrm>
            <a:off x="9610344" y="3547872"/>
            <a:ext cx="1819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latinLnBrk="1"/>
            <a:r>
              <a:rPr sz="800" b="1">
                <a:solidFill>
                  <a:srgbClr val="1F4E79"/>
                </a:solidFill>
                <a:latin typeface="微软雅黑"/>
                <a:ea typeface="微软雅黑"/>
              </a:rPr>
              <a:t>S-CALC 开发完成后</a:t>
            </a:r>
          </a:p>
        </p:txBody>
      </p:sp>
      <p:sp>
        <p:nvSpPr>
          <p:cNvPr id="173" name="tl-stdot-5-0"/>
          <p:cNvSpPr/>
          <p:nvPr/>
        </p:nvSpPr>
        <p:spPr>
          <a:xfrm>
            <a:off x="9628632" y="4101084"/>
            <a:ext cx="68580" cy="6858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l-item-5-0"/>
          <p:cNvSpPr txBox="1"/>
          <p:nvPr/>
        </p:nvSpPr>
        <p:spPr>
          <a:xfrm>
            <a:off x="9729216" y="4059936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latinLnBrk="1">
              <a:lnSpc>
                <a:spcPct val="95000"/>
              </a:lnSpc>
            </a:pPr>
            <a:r>
              <a:rPr sz="700" b="0">
                <a:solidFill>
                  <a:srgbClr val="3D3C3A"/>
                </a:solidFill>
                <a:latin typeface="微软雅黑"/>
                <a:ea typeface="微软雅黑"/>
              </a:rPr>
              <a:t>开通 AB 测试</a:t>
            </a:r>
          </a:p>
        </p:txBody>
      </p:sp>
    </p:spTree>
    <p:extLst>
      <p:ext uri="{BB962C8B-B14F-4D97-AF65-F5344CB8AC3E}">
        <p14:creationId xmlns:p14="http://schemas.microsoft.com/office/powerpoint/2010/main" val="3322463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491</Words>
  <Application>Microsoft Office PowerPoint</Application>
  <PresentationFormat>宽屏</PresentationFormat>
  <Paragraphs>143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Microsoft YaHei</vt:lpstr>
      <vt:lpstr>Microsoft YaHei</vt:lpstr>
      <vt:lpstr>等线</vt:lpstr>
      <vt:lpstr>Arial</vt:lpstr>
      <vt:lpstr>Office Theme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端到端流程与模型规划</dc:title>
  <dc:subject>端到端流程与模型规划</dc:subject>
  <dc:creator>OpenAI</dc:creator>
  <cp:lastModifiedBy>昱良</cp:lastModifiedBy>
  <cp:revision>10</cp:revision>
  <dcterms:created xsi:type="dcterms:W3CDTF">2026-08-12T01:33:12Z</dcterms:created>
  <dcterms:modified xsi:type="dcterms:W3CDTF">2026-08-12T02:12:26Z</dcterms:modified>
</cp:coreProperties>
</file>