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80" r:id="rId4"/>
    <p:sldId id="279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80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31" autoAdjust="0"/>
    <p:restoredTop sz="94610"/>
  </p:normalViewPr>
  <p:slideViewPr>
    <p:cSldViewPr snapToGrid="0" snapToObjects="1">
      <p:cViewPr varScale="1">
        <p:scale>
          <a:sx n="94" d="100"/>
          <a:sy n="94" d="100"/>
        </p:scale>
        <p:origin x="78" y="6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font" Target="fonts/font4.fntdata"/><Relationship Id="rId10" Type="http://schemas.openxmlformats.org/officeDocument/2006/relationships/font" Target="fonts/font5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2026/8/10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altLang="en-US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银行流水</a:t>
            </a:r>
            <a:r>
              <a:rPr 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识别决定收入、支出与负债计算结果，是信审判断的直接输入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客户有多少稳定收入、承担多少必要支出、正在偿还哪些贷款，以及是否具备新增还款能力。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altLang="en-US" sz="2000" b="1" noProof="1">
                <a:solidFill>
                  <a:srgbClr val="0A0A0A"/>
                </a:solidFill>
                <a:latin typeface="微软雅黑"/>
                <a:ea typeface="微软雅黑"/>
              </a:rPr>
              <a:t>从一笔交易到完整客户财务画像直接回答新增还款能力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altLang="en-US" dirty="0" sz="1800">
                <a:solidFill>
                  <a:srgbClr val="606060"/>
                </a:solidFill>
                <a:latin typeface="微软雅黑"/>
                <a:ea typeface="微软雅黑"/>
              </a:rPr>
              <a:t>原始流水 → 单笔交易识别 → 用户</a:t>
            </a:r>
            <a:r>
              <a:rPr lang="zh-CN" altLang="zh-CN" dirty="0" sz="1800">
                <a:solidFill>
                  <a:srgbClr val="606060"/>
                </a:solidFill>
                <a:latin typeface="微软雅黑"/>
                <a:ea typeface="微软雅黑"/>
              </a:rPr>
              <a:t>/</a:t>
            </a:r>
            <a:r>
              <a:rPr lang="zh-CN" altLang="en-US" dirty="0" sz="1800">
                <a:solidFill>
                  <a:srgbClr val="606060"/>
                </a:solidFill>
                <a:latin typeface="微软雅黑"/>
                <a:ea typeface="微软雅黑"/>
              </a:rPr>
              <a:t>贷款汇总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048C4CBE-160F-411B-AF93-58FE8230110E}"/>
              </a:ext>
            </a:extLst>
          </p:cNvPr>
          <p:cNvSpPr txBox="1"/>
          <p:nvPr/>
        </p:nvSpPr>
        <p:spPr>
          <a:xfrm>
            <a:off x="568385" y="1113405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原始银行流水（输入示例）</a:t>
            </a:r>
            <a:endParaRPr kumimoji="0" lang="en-US" sz="12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568386" y="2523256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568385" y="3989324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5" name="init-table">
            <a:extLst>
              <a:ext uri="{FF2B5EF4-FFF2-40B4-BE49-F238E27FC236}">
                <a16:creationId xmlns:a16="http://schemas.microsoft.com/office/drawing/2014/main" id="{B20AEE83-7381-40E9-867F-987DE9C5B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6992607"/>
              </p:ext>
            </p:extLst>
          </p:nvPr>
        </p:nvGraphicFramePr>
        <p:xfrm>
          <a:off x="568385" y="1435904"/>
          <a:ext cx="10901630" cy="1022238"/>
        </p:xfrm>
        <a:graphic>
          <a:graphicData uri="http://schemas.openxmlformats.org/drawingml/2006/table">
            <a:tbl>
              <a:tblPr/>
              <a:tblGrid>
                <a:gridCol w="1326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2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6901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日期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金额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交易描述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BPAY FAIR GO FINANCE BILLER 354127 REF 5837201937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 STORE 006123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BRISBANE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 AMAZON.COM.AU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WAGES ACME PTY LTD FORTNIGHTLY PAY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3041013"/>
              </p:ext>
            </p:extLst>
          </p:nvPr>
        </p:nvGraphicFramePr>
        <p:xfrm>
          <a:off x="568385" y="2839315"/>
          <a:ext cx="10901631" cy="1022238"/>
        </p:xfrm>
        <a:graphic>
          <a:graphicData uri="http://schemas.openxmlformats.org/drawingml/2006/table">
            <a:tbl>
              <a:tblPr/>
              <a:tblGrid>
                <a:gridCol w="7969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70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9622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2772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3613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76780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350395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一级分类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BPAY FAIR GO FINANCE BILLER 354127 REF 5837201937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 STORE 006123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BRISBANE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 AMAZON.COM.AU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WAGES ACME PTY LTD FORTNIGHTLY PAY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 / 收入付款方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用户-bg"/>
          <p:cNvSpPr/>
          <p:nvPr/>
        </p:nvSpPr>
        <p:spPr>
          <a:xfrm>
            <a:off x="566928" y="4297680"/>
            <a:ext cx="5376672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用户-bar"/>
          <p:cNvSpPr/>
          <p:nvPr/>
        </p:nvSpPr>
        <p:spPr>
          <a:xfrm>
            <a:off x="566928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用户-title"/>
          <p:cNvSpPr txBox="1"/>
          <p:nvPr/>
        </p:nvSpPr>
        <p:spPr>
          <a:xfrm>
            <a:off x="749808" y="4398264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用户整体负债画像</a:t>
            </a:r>
          </a:p>
        </p:txBody>
      </p:sp>
      <p:sp>
        <p:nvSpPr>
          <p:cNvPr id="20" name="用户-k1"/>
          <p:cNvSpPr txBox="1"/>
          <p:nvPr/>
        </p:nvSpPr>
        <p:spPr>
          <a:xfrm>
            <a:off x="749808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平均月还款金额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A$428</a:t>
            </a:r>
          </a:p>
        </p:txBody>
      </p:sp>
      <p:sp>
        <p:nvSpPr>
          <p:cNvPr id="21" name="用户-k2"/>
          <p:cNvSpPr txBox="1"/>
          <p:nvPr/>
        </p:nvSpPr>
        <p:spPr>
          <a:xfrm>
            <a:off x="2505456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A$1,016</a:t>
            </a:r>
          </a:p>
        </p:txBody>
      </p:sp>
      <p:sp>
        <p:nvSpPr>
          <p:cNvPr id="22" name="用户-k3"/>
          <p:cNvSpPr txBox="1"/>
          <p:nvPr/>
        </p:nvSpPr>
        <p:spPr>
          <a:xfrm>
            <a:off x="4261104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贷款机构数量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2 家</a:t>
            </a:r>
          </a:p>
        </p:txBody>
      </p:sp>
      <p:sp>
        <p:nvSpPr>
          <p:cNvPr id="24" name="Fa-bg"/>
          <p:cNvSpPr/>
          <p:nvPr/>
        </p:nvSpPr>
        <p:spPr>
          <a:xfrm>
            <a:off x="6217920" y="4297680"/>
            <a:ext cx="5376672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Fa-bar"/>
          <p:cNvSpPr/>
          <p:nvPr/>
        </p:nvSpPr>
        <p:spPr>
          <a:xfrm>
            <a:off x="6217920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a-title"/>
          <p:cNvSpPr txBox="1"/>
          <p:nvPr/>
        </p:nvSpPr>
        <p:spPr>
          <a:xfrm>
            <a:off x="6400800" y="4398264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Fair Go Finance 单笔贷款画像</a:t>
            </a:r>
          </a:p>
        </p:txBody>
      </p:sp>
      <p:sp>
        <p:nvSpPr>
          <p:cNvPr id="27" name="Fa-k1"/>
          <p:cNvSpPr txBox="1"/>
          <p:nvPr/>
        </p:nvSpPr>
        <p:spPr>
          <a:xfrm>
            <a:off x="6400800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借款金额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A$1,500</a:t>
            </a:r>
          </a:p>
        </p:txBody>
      </p:sp>
      <p:sp>
        <p:nvSpPr>
          <p:cNvPr id="28" name="Fa-k2"/>
          <p:cNvSpPr txBox="1"/>
          <p:nvPr/>
        </p:nvSpPr>
        <p:spPr>
          <a:xfrm>
            <a:off x="8156448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月还款金额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约 A$338</a:t>
            </a:r>
          </a:p>
          <a:p>
            <a:pPr algn="l"/>
            <a:r>
              <a:rPr lang="zh-CN" sz="750" b="0">
                <a:solidFill>
                  <a:srgbClr val="606060"/>
                </a:solidFill>
                <a:latin typeface="微软雅黑"/>
                <a:ea typeface="微软雅黑"/>
              </a:rPr>
              <a:t>A$156 × 26/12</a:t>
            </a:r>
          </a:p>
        </p:txBody>
      </p:sp>
      <p:sp>
        <p:nvSpPr>
          <p:cNvPr id="29" name="Fa-k3"/>
          <p:cNvSpPr txBox="1"/>
          <p:nvPr/>
        </p:nvSpPr>
        <p:spPr>
          <a:xfrm>
            <a:off x="9912096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A$564</a:t>
            </a:r>
          </a:p>
        </p:txBody>
      </p:sp>
      <p:sp>
        <p:nvSpPr>
          <p:cNvPr id="31" name="concl-bar"/>
          <p:cNvSpPr/>
          <p:nvPr/>
        </p:nvSpPr>
        <p:spPr>
          <a:xfrm>
            <a:off x="566928" y="6327648"/>
            <a:ext cx="11045952" cy="402336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concl-bar-line"/>
          <p:cNvSpPr/>
          <p:nvPr/>
        </p:nvSpPr>
        <p:spPr>
          <a:xfrm>
            <a:off x="566928" y="6327648"/>
            <a:ext cx="64008" cy="40233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concl-text"/>
          <p:cNvSpPr txBox="1"/>
          <p:nvPr/>
        </p:nvSpPr>
        <p:spPr>
          <a:xfrm>
            <a:off x="749808" y="6382512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900" b="1">
                <a:solidFill>
                  <a:srgbClr val="0A0A0A"/>
                </a:solidFill>
                <a:latin typeface="微软雅黑"/>
                <a:ea typeface="微软雅黑"/>
              </a:rPr>
              <a:t>识别贷款 → 计算剩余负债与月还款额（平均月还款金额 A$428）→ 支撑新增还款能力判断</a:t>
            </a:r>
          </a:p>
        </p:txBody>
      </p:sp>
      <p:sp>
        <p:nvSpPr>
          <p:cNvPr id="34" name="用户-m1"/>
          <p:cNvSpPr txBox="1"/>
          <p:nvPr/>
        </p:nvSpPr>
        <p:spPr>
          <a:xfrm>
            <a:off x="749808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天借款金额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A$2,300</a:t>
            </a:r>
          </a:p>
        </p:txBody>
      </p:sp>
      <p:sp>
        <p:nvSpPr>
          <p:cNvPr id="35" name="用户-m2"/>
          <p:cNvSpPr txBox="1"/>
          <p:nvPr/>
        </p:nvSpPr>
        <p:spPr>
          <a:xfrm>
            <a:off x="2450592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天还款金额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A$1,284</a:t>
            </a:r>
          </a:p>
        </p:txBody>
      </p:sp>
      <p:sp>
        <p:nvSpPr>
          <p:cNvPr id="36" name="用户-m3"/>
          <p:cNvSpPr txBox="1"/>
          <p:nvPr/>
        </p:nvSpPr>
        <p:spPr>
          <a:xfrm>
            <a:off x="4151376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还款次数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9 次</a:t>
            </a:r>
          </a:p>
        </p:txBody>
      </p:sp>
      <p:sp>
        <p:nvSpPr>
          <p:cNvPr id="37" name="用户-m4"/>
          <p:cNvSpPr txBox="1"/>
          <p:nvPr/>
        </p:nvSpPr>
        <p:spPr>
          <a:xfrm>
            <a:off x="749808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SACC 贷款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38" name="用户-m5"/>
          <p:cNvSpPr txBox="1"/>
          <p:nvPr/>
        </p:nvSpPr>
        <p:spPr>
          <a:xfrm>
            <a:off x="2020824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多头借贷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39" name="用户-m6"/>
          <p:cNvSpPr txBox="1"/>
          <p:nvPr/>
        </p:nvSpPr>
        <p:spPr>
          <a:xfrm>
            <a:off x="3291839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持续还款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40" name="用户-m7"/>
          <p:cNvSpPr txBox="1"/>
          <p:nvPr/>
        </p:nvSpPr>
        <p:spPr>
          <a:xfrm>
            <a:off x="4562856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还款中断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41" name="Fa-m1"/>
          <p:cNvSpPr txBox="1"/>
          <p:nvPr/>
        </p:nvSpPr>
        <p:spPr>
          <a:xfrm>
            <a:off x="6400800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贷款类型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SACC</a:t>
            </a:r>
          </a:p>
        </p:txBody>
      </p:sp>
      <p:sp>
        <p:nvSpPr>
          <p:cNvPr id="42" name="Fa-m2"/>
          <p:cNvSpPr txBox="1"/>
          <p:nvPr/>
        </p:nvSpPr>
        <p:spPr>
          <a:xfrm>
            <a:off x="8101583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天已还金额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A$936</a:t>
            </a:r>
          </a:p>
        </p:txBody>
      </p:sp>
      <p:sp>
        <p:nvSpPr>
          <p:cNvPr id="43" name="Fa-m3"/>
          <p:cNvSpPr txBox="1"/>
          <p:nvPr/>
        </p:nvSpPr>
        <p:spPr>
          <a:xfrm>
            <a:off x="9802368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还款频率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每两周 A$156</a:t>
            </a:r>
          </a:p>
        </p:txBody>
      </p:sp>
      <p:sp>
        <p:nvSpPr>
          <p:cNvPr id="44" name="Fa-m4"/>
          <p:cNvSpPr txBox="1"/>
          <p:nvPr/>
        </p:nvSpPr>
        <p:spPr>
          <a:xfrm>
            <a:off x="6400800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天还款次数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6 次</a:t>
            </a:r>
          </a:p>
        </p:txBody>
      </p:sp>
      <p:sp>
        <p:nvSpPr>
          <p:cNvPr id="45" name="Fa-m5"/>
          <p:cNvSpPr txBox="1"/>
          <p:nvPr/>
        </p:nvSpPr>
        <p:spPr>
          <a:xfrm>
            <a:off x="7671816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当前状态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在贷</a:t>
            </a:r>
          </a:p>
        </p:txBody>
      </p:sp>
      <p:sp>
        <p:nvSpPr>
          <p:cNvPr id="46" name="Fa-m6"/>
          <p:cNvSpPr txBox="1"/>
          <p:nvPr/>
        </p:nvSpPr>
        <p:spPr>
          <a:xfrm>
            <a:off x="8942832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扣款失败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47" name="Fa-m7"/>
          <p:cNvSpPr txBox="1"/>
          <p:nvPr/>
        </p:nvSpPr>
        <p:spPr>
          <a:xfrm>
            <a:off x="10213848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年化利率（APR）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【待补充】</a:t>
            </a:r>
          </a:p>
        </p:txBody>
      </p:sp>
      <p:sp>
        <p:nvSpPr>
          <p:cNvPr id="48" name="s2-bar"/>
          <p:cNvSpPr/>
          <p:nvPr/>
        </p:nvSpPr>
        <p:spPr>
          <a:xfrm>
            <a:off x="393192" y="1115568"/>
            <a:ext cx="73152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s2-bar"/>
          <p:cNvSpPr/>
          <p:nvPr/>
        </p:nvSpPr>
        <p:spPr>
          <a:xfrm>
            <a:off x="393192" y="2523744"/>
            <a:ext cx="73152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s2-bar"/>
          <p:cNvSpPr/>
          <p:nvPr/>
        </p:nvSpPr>
        <p:spPr>
          <a:xfrm>
            <a:off x="393192" y="3986784"/>
            <a:ext cx="73152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alt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多引擎分工分类，AI 建设与维护知识库并驱动持续优化闭环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流水依次经过多个分类引擎，各引擎输出交易类别、交易对手，后续引擎发现更明确证据可修正前序分类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32980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AI 建设与维护知识库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426464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2. AI 质检 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025288"/>
              </p:ext>
            </p:extLst>
          </p:nvPr>
        </p:nvGraphicFramePr>
        <p:xfrm>
          <a:off x="6311255" y="4049611"/>
          <a:ext cx="5540236" cy="1042416"/>
        </p:xfrm>
        <a:graphic>
          <a:graphicData uri="http://schemas.openxmlformats.org/drawingml/2006/table">
            <a:tbl>
              <a:tblPr/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 BPAY ... 被 Transfer 归为转账、被 Liability 识别为还款，需按业务语义裁决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月初集中缴费、节假日消费高峰导致某类别占比短期上升，属正常范围，无需干预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281928" y="528523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9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11257" y="5556879"/>
          <a:ext cx="5540234" cy="694944"/>
        </p:xfrm>
        <a:graphic>
          <a:graphicData uri="http://schemas.openxmlformats.org/drawingml/2006/table">
            <a:tbl>
              <a:tblPr/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81928" y="37764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200" b="1" dirty="0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77647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17920" y="528523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81928" y="6327648"/>
            <a:ext cx="5541264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17920" y="6327648"/>
            <a:ext cx="54864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73368" y="6327648"/>
            <a:ext cx="5349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1975104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① 监控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捕捉分类批量漂移、同一交易对手归类不一致、覆盖率或命中率明显下降、新描述未被任何引擎识别等异常信号。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975104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09360" y="2587752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② 定位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对异常逐笔细挖交易描述、金额、方向、交易对手、命中引擎和分类依据，归类为五类原因。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2587752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3200400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③ 输出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200400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zh-CN" altLang="zh-CN" sz="2000" b="1" i="0" u="none" strike="noStrike" kern="1200" cap="none" spc="0" normalizeH="0" baseline="0" noProof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Liability 贷款识别：覆盖、一致性与精度全面优于 illion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Home loan - Receipt ... To Orange Everyday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Loans（Home Loan）&lt;br&gt;按产品关键词判定为贷款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122529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Disbursement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2026/05/11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2026/05/25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413247"/>
          <a:ext cx="7004304" cy="104241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Loan Advance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sz="1800" lang="zh-CN">
                <a:solidFill>
                  <a:srgbClr val="606060"/>
                </a:solidFill>
                <a:latin typeface="微软雅黑"/>
                <a:ea typeface="微软雅黑"/>
              </a:rPr>
              <a:t>OOT 样本对比：1,519 申请 ｜ 1,958,480 交易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2023" y="1069849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051560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贷款识别覆盖交集：我方漏识别更少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7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29767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29767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Finv 识别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5,680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覆盖率 12.8%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37943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837943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837943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双方共识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37943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5,284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37943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一致率 92.0%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6119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246119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246119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illion 识别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46119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5,363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46119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覆盖率 12.1%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9768" y="5321808"/>
            <a:ext cx="4114800" cy="45720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429767" y="5321808"/>
            <a:ext cx="64008" cy="4572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03503" y="5394960"/>
            <a:ext cx="42062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双方识别高度重合，但 Finv 覆盖更多、漏识更少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一致性：同一贷款流内 illion 标签自相矛盾（MoneySpot）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425696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425696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462272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882896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5175503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81727" y="6327647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681727" y="6327647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09743" y="6364223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venn-blue"/>
          <p:cNvSpPr/>
          <p:nvPr/>
        </p:nvSpPr>
        <p:spPr>
          <a:xfrm>
            <a:off x="841248" y="1609344"/>
            <a:ext cx="2578608" cy="2578608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venn-gold"/>
          <p:cNvSpPr/>
          <p:nvPr/>
        </p:nvSpPr>
        <p:spPr>
          <a:xfrm>
            <a:off x="1947671" y="1609344"/>
            <a:ext cx="2487168" cy="2487168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venn-label-blue"/>
          <p:cNvSpPr txBox="1"/>
          <p:nvPr/>
        </p:nvSpPr>
        <p:spPr>
          <a:xfrm>
            <a:off x="841248" y="1298448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Finv 识别 5,680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覆盖率 12.8%</a:t>
            </a:r>
          </a:p>
        </p:txBody>
      </p:sp>
      <p:sp>
        <p:nvSpPr>
          <p:cNvPr id="67" name="venn-label-gold"/>
          <p:cNvSpPr txBox="1"/>
          <p:nvPr/>
        </p:nvSpPr>
        <p:spPr>
          <a:xfrm>
            <a:off x="2971799" y="1298448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r>
              <a:rPr lang="zh-CN" sz="900" b="1">
                <a:solidFill>
                  <a:srgbClr val="D6A000"/>
                </a:solidFill>
                <a:latin typeface="微软雅黑"/>
                <a:ea typeface="微软雅黑"/>
              </a:rPr>
              <a:t>illion 识别 5,363</a:t>
            </a:r>
          </a:p>
          <a:p>
            <a:pPr algn="r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覆盖率 12.1%</a:t>
            </a:r>
          </a:p>
        </p:txBody>
      </p:sp>
      <p:sp>
        <p:nvSpPr>
          <p:cNvPr id="68" name="venn-blue-only"/>
          <p:cNvSpPr txBox="1"/>
          <p:nvPr/>
        </p:nvSpPr>
        <p:spPr>
          <a:xfrm>
            <a:off x="987552" y="2743200"/>
            <a:ext cx="82296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lang="zh-CN" sz="1100" b="1">
                <a:solidFill>
                  <a:srgbClr val="0A0A0A"/>
                </a:solidFill>
                <a:latin typeface="微软雅黑"/>
                <a:ea typeface="微软雅黑"/>
              </a:rPr>
              <a:t>396</a:t>
            </a:r>
          </a:p>
        </p:txBody>
      </p:sp>
      <p:sp>
        <p:nvSpPr>
          <p:cNvPr id="69" name="venn-gold-only"/>
          <p:cNvSpPr txBox="1"/>
          <p:nvPr/>
        </p:nvSpPr>
        <p:spPr>
          <a:xfrm>
            <a:off x="3520440" y="2743200"/>
            <a:ext cx="82296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lang="zh-CN" sz="1100" b="1">
                <a:solidFill>
                  <a:srgbClr val="0A0A0A"/>
                </a:solidFill>
                <a:latin typeface="微软雅黑"/>
                <a:ea typeface="微软雅黑"/>
              </a:rPr>
              <a:t>79</a:t>
            </a:r>
          </a:p>
        </p:txBody>
      </p:sp>
      <p:sp>
        <p:nvSpPr>
          <p:cNvPr id="70" name="venn-intersect"/>
          <p:cNvSpPr txBox="1"/>
          <p:nvPr/>
        </p:nvSpPr>
        <p:spPr>
          <a:xfrm>
            <a:off x="2276856" y="2670048"/>
            <a:ext cx="82296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5,284</a:t>
            </a:r>
          </a:p>
        </p:txBody>
      </p:sp>
      <p:sp>
        <p:nvSpPr>
          <p:cNvPr id="71" name="venn-rate"/>
          <p:cNvSpPr txBox="1"/>
          <p:nvPr/>
        </p:nvSpPr>
        <p:spPr>
          <a:xfrm>
            <a:off x="2276856" y="2962656"/>
            <a:ext cx="82296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lang="zh-CN" sz="750" b="0">
                <a:solidFill>
                  <a:srgbClr val="606060"/>
                </a:solidFill>
                <a:latin typeface="微软雅黑"/>
                <a:ea typeface="微软雅黑"/>
              </a:rPr>
              <a:t>一致率 92.0%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520</TotalTime>
  <Words>1241</Words>
  <Application>Microsoft Office PowerPoint</Application>
  <PresentationFormat>宽屏</PresentationFormat>
  <Paragraphs>356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微软雅黑 Light</vt:lpstr>
      <vt:lpstr>Arial</vt:lpstr>
      <vt:lpstr>微软雅黑</vt:lpstr>
      <vt:lpstr>等线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110</cp:revision>
  <dcterms:modified xsi:type="dcterms:W3CDTF">2026-08-10T10:17:31Z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