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81" r:id="rId15"/>
    <p:sldId id="280" r:id="rId4"/>
    <p:sldId id="279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80"/>
            <p14:sldId id="279"/>
          </p14:sldIdLst>
        </p14:section>
        <p14:section name="draft2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1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2026/8/10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zh-CN" alt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</a:t>
            </a: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客户有多少稳定收入、承担多少必要支出、正在偿还哪些贷款，以及是否具备新增还款能力。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39630" y="1238321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717430" y="121292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FCBB4B-1910-4A8F-A184-2DB248819995}"/>
              </a:ext>
            </a:extLst>
          </p:cNvPr>
          <p:cNvGrpSpPr/>
          <p:nvPr/>
        </p:nvGrpSpPr>
        <p:grpSpPr>
          <a:xfrm>
            <a:off x="511115" y="2361688"/>
            <a:ext cx="11173968" cy="635000"/>
            <a:chOff x="489948" y="2635555"/>
            <a:chExt cx="5588000" cy="635000"/>
          </a:xfrm>
        </p:grpSpPr>
        <p:sp>
          <p:nvSpPr>
            <p:cNvPr id="10" name="s1-formula-bg">
              <a:extLst>
                <a:ext uri="{FF2B5EF4-FFF2-40B4-BE49-F238E27FC236}">
                  <a16:creationId xmlns:a16="http://schemas.microsoft.com/office/drawing/2014/main" id="{588EFC8B-6D9B-4BC6-A58A-94C590D91AE6}"/>
                </a:ext>
              </a:extLst>
            </p:cNvPr>
            <p:cNvSpPr/>
            <p:nvPr/>
          </p:nvSpPr>
          <p:spPr>
            <a:xfrm>
              <a:off x="489948" y="2635555"/>
              <a:ext cx="5588000" cy="635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</p:sp>
        <p:sp>
          <p:nvSpPr>
            <p:cNvPr id="11" name="s1-formula-bar">
              <a:extLst>
                <a:ext uri="{FF2B5EF4-FFF2-40B4-BE49-F238E27FC236}">
                  <a16:creationId xmlns:a16="http://schemas.microsoft.com/office/drawing/2014/main" id="{54C6A925-1E42-4045-8D2E-2CC8F4C7EE07}"/>
                </a:ext>
              </a:extLst>
            </p:cNvPr>
            <p:cNvSpPr/>
            <p:nvPr/>
          </p:nvSpPr>
          <p:spPr>
            <a:xfrm>
              <a:off x="489948" y="2635555"/>
              <a:ext cx="50800" cy="635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s1-formula">
              <a:extLst>
                <a:ext uri="{FF2B5EF4-FFF2-40B4-BE49-F238E27FC236}">
                  <a16:creationId xmlns:a16="http://schemas.microsoft.com/office/drawing/2014/main" id="{A03A2A13-DC76-4440-BC65-6AA049FAFCE2}"/>
                </a:ext>
              </a:extLst>
            </p:cNvPr>
            <p:cNvSpPr txBox="1"/>
            <p:nvPr/>
          </p:nvSpPr>
          <p:spPr>
            <a:xfrm>
              <a:off x="667748" y="2635555"/>
              <a:ext cx="203402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核心计算逻辑（Serviceability）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717430" y="3243783"/>
            <a:ext cx="39582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2. </a:t>
            </a:r>
            <a:r>
              <a:rPr lang="zh-CN" altLang="en-US" sz="1400" b="1" dirty="0">
                <a:solidFill>
                  <a:srgbClr val="0A0A0A"/>
                </a:solidFill>
                <a:latin typeface="微软雅黑"/>
                <a:ea typeface="微软雅黑"/>
              </a:rPr>
              <a:t>合规背景：</a:t>
            </a: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Responsible Lending </a:t>
            </a:r>
            <a:r>
              <a:rPr sz="1400" b="1" dirty="0" err="1">
                <a:solidFill>
                  <a:srgbClr val="0A0A0A"/>
                </a:solidFill>
                <a:latin typeface="微软雅黑"/>
                <a:ea typeface="微软雅黑"/>
              </a:rPr>
              <a:t>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l-divider">
            <a:extLst>
              <a:ext uri="{FF2B5EF4-FFF2-40B4-BE49-F238E27FC236}">
                <a16:creationId xmlns:a16="http://schemas.microsoft.com/office/drawing/2014/main" id="{7976569D-3495-4B8E-88A6-7289825D95F9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eyJ2aWV3Qm94IjpbMSwzNDBdLCJwb2ludHMiOiIwLDAgMCwzNDAifQ</pptd:line>
              </p:ext>
            </p:extLst>
          </p:nvPr>
        </p:nvSpPr>
        <p:spPr>
          <a:xfrm>
            <a:off x="5129594" y="3292912"/>
            <a:ext cx="14116" cy="3212231"/>
          </a:xfrm>
          <a:custGeom>
            <a:avLst/>
            <a:gdLst/>
            <a:ahLst/>
            <a:cxnLst/>
            <a:rect l="l" t="t" r="r" b="b"/>
            <a:pathLst>
              <a:path w="1" h="340">
                <a:moveTo>
                  <a:pt x="0" y="0"/>
                </a:moveTo>
                <a:lnTo>
                  <a:pt x="0" y="34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8" name="s3-title">
            <a:extLst>
              <a:ext uri="{FF2B5EF4-FFF2-40B4-BE49-F238E27FC236}">
                <a16:creationId xmlns:a16="http://schemas.microsoft.com/office/drawing/2014/main" id="{1FFE6DD4-7A46-4B3E-BC75-CF290B1DDE30}"/>
              </a:ext>
            </a:extLst>
          </p:cNvPr>
          <p:cNvSpPr txBox="1"/>
          <p:nvPr/>
        </p:nvSpPr>
        <p:spPr>
          <a:xfrm>
            <a:off x="5762312" y="3265172"/>
            <a:ext cx="5138312" cy="170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/>
                <a:ea typeface="微软雅黑"/>
              </a:rPr>
              <a:t>三、传统第三方分类服务的主要局限（当前高度依赖 illion）</a:t>
            </a:r>
          </a:p>
        </p:txBody>
      </p:sp>
      <p:sp>
        <p:nvSpPr>
          <p:cNvPr id="19" name="lim1">
            <a:extLst>
              <a:ext uri="{FF2B5EF4-FFF2-40B4-BE49-F238E27FC236}">
                <a16:creationId xmlns:a16="http://schemas.microsoft.com/office/drawing/2014/main" id="{29CFB0D9-DDBE-46F7-A89B-345F1DB3EE89}"/>
              </a:ext>
            </a:extLst>
          </p:cNvPr>
          <p:cNvSpPr txBox="1"/>
          <p:nvPr/>
        </p:nvSpPr>
        <p:spPr>
          <a:xfrm>
            <a:off x="5746239" y="3581143"/>
            <a:ext cx="5307707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分类逻辑不透明，问题难以定位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黑盒模型：出现漏识别或误分类时，无法判断是交易描述、商户映射、分类规则还是计算逻辑的问题。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m1-line">
            <a:extLst>
              <a:ext uri="{FF2B5EF4-FFF2-40B4-BE49-F238E27FC236}">
                <a16:creationId xmlns:a16="http://schemas.microsoft.com/office/drawing/2014/main" id="{C26D36D6-CB8D-47F6-A278-A0A3C117738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416034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1" name="lim2">
            <a:extLst>
              <a:ext uri="{FF2B5EF4-FFF2-40B4-BE49-F238E27FC236}">
                <a16:creationId xmlns:a16="http://schemas.microsoft.com/office/drawing/2014/main" id="{3DD835B9-3D5D-4CF4-8B3A-387F16BA1963}"/>
              </a:ext>
            </a:extLst>
          </p:cNvPr>
          <p:cNvSpPr txBox="1"/>
          <p:nvPr/>
        </p:nvSpPr>
        <p:spPr>
          <a:xfrm>
            <a:off x="5746239" y="4321693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分类粒度与覆盖不足，难以满足下游需求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无法拆分 SACC、Non-SACC、BNPL、Line of Credit、Wage Advance 等贷款类型；小型商户、新兴平台、交易别名易被归入 Other 或错误分类，影响贷款归属、还款匹配及收入、支出、负债计算。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m2-line">
            <a:extLst>
              <a:ext uri="{FF2B5EF4-FFF2-40B4-BE49-F238E27FC236}">
                <a16:creationId xmlns:a16="http://schemas.microsoft.com/office/drawing/2014/main" id="{69CFA63F-F5C1-43D0-A14B-E681108AAB2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5109939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3" name="lim3">
            <a:extLst>
              <a:ext uri="{FF2B5EF4-FFF2-40B4-BE49-F238E27FC236}">
                <a16:creationId xmlns:a16="http://schemas.microsoft.com/office/drawing/2014/main" id="{DF394D01-5901-4F99-B01E-ADB1FCD8BFCC}"/>
              </a:ext>
            </a:extLst>
          </p:cNvPr>
          <p:cNvSpPr txBox="1"/>
          <p:nvPr/>
        </p:nvSpPr>
        <p:spPr>
          <a:xfrm>
            <a:off x="5746239" y="5175199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输出字段与计算口径缺乏控制权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下游 IDP 所需字段可能缺失，公式、数据窗口、异常处理无法按内部标准配置；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Banking 等新数据源无分类字段，多供应商需维护多套适配逻辑，增加系统复杂度。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m3-line">
            <a:extLst>
              <a:ext uri="{FF2B5EF4-FFF2-40B4-BE49-F238E27FC236}">
                <a16:creationId xmlns:a16="http://schemas.microsoft.com/office/drawing/2014/main" id="{336ACEC6-E59C-48C3-943D-F0CA55FF227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591010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5" name="lim4">
            <a:extLst>
              <a:ext uri="{FF2B5EF4-FFF2-40B4-BE49-F238E27FC236}">
                <a16:creationId xmlns:a16="http://schemas.microsoft.com/office/drawing/2014/main" id="{8C3E2394-8FDD-4456-9360-CEBCC189CB32}"/>
              </a:ext>
            </a:extLst>
          </p:cNvPr>
          <p:cNvSpPr txBox="1"/>
          <p:nvPr/>
        </p:nvSpPr>
        <p:spPr>
          <a:xfrm>
            <a:off x="5746239" y="6030781"/>
            <a:ext cx="6235773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合规应对</a:t>
            </a: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能力受制于外部供应商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调整依赖供应商排期、响应周期长；交易分类作为基础能力，长期依赖会限制模型优化、策略调整与产品创新的自主性。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8677383-B1C4-48C4-91A6-25AC7845E58D}"/>
              </a:ext>
            </a:extLst>
          </p:cNvPr>
          <p:cNvGrpSpPr/>
          <p:nvPr/>
        </p:nvGrpSpPr>
        <p:grpSpPr>
          <a:xfrm>
            <a:off x="511115" y="1595715"/>
            <a:ext cx="11174917" cy="566928"/>
            <a:chOff x="452053" y="1496128"/>
            <a:chExt cx="11174917" cy="566928"/>
          </a:xfrm>
        </p:grpSpPr>
        <p:sp>
          <p:nvSpPr>
            <p:cNvPr id="27" name="divider">
              <a:extLst>
                <a:ext uri="{FF2B5EF4-FFF2-40B4-BE49-F238E27FC236}">
                  <a16:creationId xmlns:a16="http://schemas.microsoft.com/office/drawing/2014/main" id="{BEE32B51-BB5D-4E33-B31F-EC2D7C3D3A69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  </p:ext>
              </p:extLst>
            </p:nvPr>
          </p:nvSpPr>
          <p:spPr>
            <a:xfrm>
              <a:off x="452053" y="1608779"/>
              <a:ext cx="10871200" cy="12700"/>
            </a:xfrm>
            <a:custGeom>
              <a:avLst/>
              <a:gdLst/>
              <a:ahLst/>
              <a:cxnLst/>
              <a:rect l="l" t="t" r="r" b="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EAB4CD9B-EDE7-41BB-A1AF-99FE71C9208A}"/>
                </a:ext>
              </a:extLst>
            </p:cNvPr>
            <p:cNvSpPr/>
            <p:nvPr/>
          </p:nvSpPr>
          <p:spPr>
            <a:xfrm>
              <a:off x="453002" y="1496128"/>
              <a:ext cx="11173968" cy="566928"/>
            </a:xfrm>
            <a:prstGeom prst="rect">
              <a:avLst/>
            </a:prstGeom>
            <a:solidFill>
              <a:srgbClr val="EFF3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538BC8E8-0C5A-459D-9D36-4DF7BBE37EEB}"/>
                </a:ext>
              </a:extLst>
            </p:cNvPr>
            <p:cNvSpPr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77EA475-068C-4CAF-8013-0567E6F71289}"/>
                </a:ext>
              </a:extLst>
            </p:cNvPr>
            <p:cNvSpPr txBox="1"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用户申请</a:t>
              </a:r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4B04AD0F-D11B-477C-A748-4CDF5F1767B1}"/>
                </a:ext>
              </a:extLst>
            </p:cNvPr>
            <p:cNvSpPr txBox="1"/>
            <p:nvPr/>
          </p:nvSpPr>
          <p:spPr>
            <a:xfrm>
              <a:off x="2048630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C02AA16F-41EE-482C-AE2A-D1543CA101C1}"/>
                </a:ext>
              </a:extLst>
            </p:cNvPr>
            <p:cNvSpPr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930C9C75-9CB4-4BD5-B884-62518D3CCE17}"/>
                </a:ext>
              </a:extLst>
            </p:cNvPr>
            <p:cNvSpPr txBox="1"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银行卡绑定</a:t>
              </a: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91BC7BE8-D199-4CBB-BA6C-7109D747F49C}"/>
                </a:ext>
              </a:extLst>
            </p:cNvPr>
            <p:cNvSpPr txBox="1"/>
            <p:nvPr/>
          </p:nvSpPr>
          <p:spPr>
            <a:xfrm>
              <a:off x="3964298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5E7A4B48-7F1A-4666-9E21-5E8C8EC7B2CC}"/>
                </a:ext>
              </a:extLst>
            </p:cNvPr>
            <p:cNvSpPr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7F1330EF-EB40-488C-823E-B52850D6ADD7}"/>
                </a:ext>
              </a:extLst>
            </p:cNvPr>
            <p:cNvSpPr txBox="1"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数据解析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E7EB72EF-5357-4C89-9D96-05AB1E10C47F}"/>
                </a:ext>
              </a:extLst>
            </p:cNvPr>
            <p:cNvSpPr txBox="1"/>
            <p:nvPr/>
          </p:nvSpPr>
          <p:spPr>
            <a:xfrm>
              <a:off x="5879966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A0AB3994-E868-4E38-B322-7F0D5E75B741}"/>
                </a:ext>
              </a:extLst>
            </p:cNvPr>
            <p:cNvSpPr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9C14CCCE-6E5D-49B5-AECF-609ED1D2F343}"/>
                </a:ext>
              </a:extLst>
            </p:cNvPr>
            <p:cNvSpPr txBox="1"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银行流水识别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40" name="TextBox 18">
              <a:extLst>
                <a:ext uri="{FF2B5EF4-FFF2-40B4-BE49-F238E27FC236}">
                  <a16:creationId xmlns:a16="http://schemas.microsoft.com/office/drawing/2014/main" id="{2A545774-8F38-4F54-BBF9-86E026FD8886}"/>
                </a:ext>
              </a:extLst>
            </p:cNvPr>
            <p:cNvSpPr txBox="1"/>
            <p:nvPr/>
          </p:nvSpPr>
          <p:spPr>
            <a:xfrm>
              <a:off x="7795634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41" name="Rectangle 19">
              <a:extLst>
                <a:ext uri="{FF2B5EF4-FFF2-40B4-BE49-F238E27FC236}">
                  <a16:creationId xmlns:a16="http://schemas.microsoft.com/office/drawing/2014/main" id="{9BC878EF-C63E-449E-8D1E-F4F80FF61DA8}"/>
                </a:ext>
              </a:extLst>
            </p:cNvPr>
            <p:cNvSpPr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2" name="TextBox 20">
              <a:extLst>
                <a:ext uri="{FF2B5EF4-FFF2-40B4-BE49-F238E27FC236}">
                  <a16:creationId xmlns:a16="http://schemas.microsoft.com/office/drawing/2014/main" id="{C7C5C193-A007-4D1A-AC47-110AE06D49DA}"/>
                </a:ext>
              </a:extLst>
            </p:cNvPr>
            <p:cNvSpPr txBox="1"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Serviceability</a:t>
              </a:r>
            </a:p>
          </p:txBody>
        </p:sp>
        <p:sp>
          <p:nvSpPr>
            <p:cNvPr id="43" name="TextBox 21">
              <a:extLst>
                <a:ext uri="{FF2B5EF4-FFF2-40B4-BE49-F238E27FC236}">
                  <a16:creationId xmlns:a16="http://schemas.microsoft.com/office/drawing/2014/main" id="{210F5A51-87C0-42C1-BB96-6E16A0206047}"/>
                </a:ext>
              </a:extLst>
            </p:cNvPr>
            <p:cNvSpPr txBox="1"/>
            <p:nvPr/>
          </p:nvSpPr>
          <p:spPr>
            <a:xfrm>
              <a:off x="9711302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9B4A2284-CDE0-47A0-9DB3-1E359B1CD771}"/>
                </a:ext>
              </a:extLst>
            </p:cNvPr>
            <p:cNvSpPr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558A63B5-5727-4E26-85E9-6D5769D74E7E}"/>
                </a:ext>
              </a:extLst>
            </p:cNvPr>
            <p:cNvSpPr txBox="1"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信审决策</a:t>
              </a:r>
            </a:p>
          </p:txBody>
        </p:sp>
      </p:grpSp>
      <p:sp>
        <p:nvSpPr>
          <p:cNvPr id="48" name="TextBox 30">
            <a:extLst>
              <a:ext uri="{FF2B5EF4-FFF2-40B4-BE49-F238E27FC236}">
                <a16:creationId xmlns:a16="http://schemas.microsoft.com/office/drawing/2014/main" id="{A74F03BE-04AA-4633-B517-2C54F22254B0}"/>
              </a:ext>
            </a:extLst>
          </p:cNvPr>
          <p:cNvSpPr txBox="1"/>
          <p:nvPr/>
        </p:nvSpPr>
        <p:spPr>
          <a:xfrm>
            <a:off x="665747" y="3571159"/>
            <a:ext cx="4837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依据《National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Consumer Credit Protection Act 2009》及 ASIC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监管要求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49" name="Rectangle 31">
            <a:extLst>
              <a:ext uri="{FF2B5EF4-FFF2-40B4-BE49-F238E27FC236}">
                <a16:creationId xmlns:a16="http://schemas.microsoft.com/office/drawing/2014/main" id="{A2FA0AE9-4D92-4732-A5A0-A296D8BA97E1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0" name="Oval 32">
            <a:extLst>
              <a:ext uri="{FF2B5EF4-FFF2-40B4-BE49-F238E27FC236}">
                <a16:creationId xmlns:a16="http://schemas.microsoft.com/office/drawing/2014/main" id="{A5579E95-F88C-4AF8-8750-9BC4E7E9D8F0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33">
            <a:extLst>
              <a:ext uri="{FF2B5EF4-FFF2-40B4-BE49-F238E27FC236}">
                <a16:creationId xmlns:a16="http://schemas.microsoft.com/office/drawing/2014/main" id="{32F5559E-8B73-4A7F-A408-D7C4BDC80C90}"/>
              </a:ext>
            </a:extLst>
          </p:cNvPr>
          <p:cNvSpPr txBox="1"/>
          <p:nvPr/>
        </p:nvSpPr>
        <p:spPr>
          <a:xfrm>
            <a:off x="717430" y="403231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</a:p>
        </p:txBody>
      </p:sp>
      <p:sp>
        <p:nvSpPr>
          <p:cNvPr id="52" name="TextBox 34">
            <a:extLst>
              <a:ext uri="{FF2B5EF4-FFF2-40B4-BE49-F238E27FC236}">
                <a16:creationId xmlns:a16="http://schemas.microsoft.com/office/drawing/2014/main" id="{57ADD348-D0FF-4D39-A8DC-D0C347575C7F}"/>
              </a:ext>
            </a:extLst>
          </p:cNvPr>
          <p:cNvSpPr txBox="1"/>
          <p:nvPr/>
        </p:nvSpPr>
        <p:spPr>
          <a:xfrm>
            <a:off x="1138054" y="3972545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合理了解客户</a:t>
            </a:r>
          </a:p>
        </p:txBody>
      </p:sp>
      <p:sp>
        <p:nvSpPr>
          <p:cNvPr id="53" name="TextBox 35">
            <a:extLst>
              <a:ext uri="{FF2B5EF4-FFF2-40B4-BE49-F238E27FC236}">
                <a16:creationId xmlns:a16="http://schemas.microsoft.com/office/drawing/2014/main" id="{EC0038C9-BCC9-4430-A791-E141B6A1B314}"/>
              </a:ext>
            </a:extLst>
          </p:cNvPr>
          <p:cNvSpPr txBox="1"/>
          <p:nvPr/>
        </p:nvSpPr>
        <p:spPr>
          <a:xfrm>
            <a:off x="1138054" y="423772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财务状况及借款目的</a:t>
            </a:r>
          </a:p>
        </p:txBody>
      </p:sp>
      <p:sp>
        <p:nvSpPr>
          <p:cNvPr id="54" name="Rectangle 36">
            <a:extLst>
              <a:ext uri="{FF2B5EF4-FFF2-40B4-BE49-F238E27FC236}">
                <a16:creationId xmlns:a16="http://schemas.microsoft.com/office/drawing/2014/main" id="{8A0D6B43-3C67-4A4F-9E6D-B70A87154077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Oval 37">
            <a:extLst>
              <a:ext uri="{FF2B5EF4-FFF2-40B4-BE49-F238E27FC236}">
                <a16:creationId xmlns:a16="http://schemas.microsoft.com/office/drawing/2014/main" id="{B7242A86-D3D5-4C58-931C-765CBAD54C35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38">
            <a:extLst>
              <a:ext uri="{FF2B5EF4-FFF2-40B4-BE49-F238E27FC236}">
                <a16:creationId xmlns:a16="http://schemas.microsoft.com/office/drawing/2014/main" id="{E5F2741E-0434-4E48-882C-10356025D796}"/>
              </a:ext>
            </a:extLst>
          </p:cNvPr>
          <p:cNvSpPr txBox="1"/>
          <p:nvPr/>
        </p:nvSpPr>
        <p:spPr>
          <a:xfrm>
            <a:off x="717430" y="4672394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</a:p>
        </p:txBody>
      </p:sp>
      <p:sp>
        <p:nvSpPr>
          <p:cNvPr id="57" name="TextBox 39">
            <a:extLst>
              <a:ext uri="{FF2B5EF4-FFF2-40B4-BE49-F238E27FC236}">
                <a16:creationId xmlns:a16="http://schemas.microsoft.com/office/drawing/2014/main" id="{A1481323-2DF4-4D58-9C75-F6B0C709734B}"/>
              </a:ext>
            </a:extLst>
          </p:cNvPr>
          <p:cNvSpPr txBox="1"/>
          <p:nvPr/>
        </p:nvSpPr>
        <p:spPr>
          <a:xfrm>
            <a:off x="1138054" y="461262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核实收入与支出</a:t>
            </a:r>
          </a:p>
        </p:txBody>
      </p:sp>
      <p:sp>
        <p:nvSpPr>
          <p:cNvPr id="58" name="TextBox 40">
            <a:extLst>
              <a:ext uri="{FF2B5EF4-FFF2-40B4-BE49-F238E27FC236}">
                <a16:creationId xmlns:a16="http://schemas.microsoft.com/office/drawing/2014/main" id="{BE9E9A98-8D50-48BD-94A1-E982F0172F9C}"/>
              </a:ext>
            </a:extLst>
          </p:cNvPr>
          <p:cNvSpPr txBox="1"/>
          <p:nvPr/>
        </p:nvSpPr>
        <p:spPr>
          <a:xfrm>
            <a:off x="1138054" y="488749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必要支出、现有负债及可预见变化</a:t>
            </a:r>
          </a:p>
        </p:txBody>
      </p:sp>
      <p:sp>
        <p:nvSpPr>
          <p:cNvPr id="59" name="Rectangle 41">
            <a:extLst>
              <a:ext uri="{FF2B5EF4-FFF2-40B4-BE49-F238E27FC236}">
                <a16:creationId xmlns:a16="http://schemas.microsoft.com/office/drawing/2014/main" id="{E20FFFFF-8306-4D81-9797-B6875D55FBCF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0" name="Oval 42">
            <a:extLst>
              <a:ext uri="{FF2B5EF4-FFF2-40B4-BE49-F238E27FC236}">
                <a16:creationId xmlns:a16="http://schemas.microsoft.com/office/drawing/2014/main" id="{6C67CC53-D2BE-4820-9D43-0D1AE75F9247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1" name="TextBox 43">
            <a:extLst>
              <a:ext uri="{FF2B5EF4-FFF2-40B4-BE49-F238E27FC236}">
                <a16:creationId xmlns:a16="http://schemas.microsoft.com/office/drawing/2014/main" id="{961ABED2-5B10-452C-9231-FA993119AA81}"/>
              </a:ext>
            </a:extLst>
          </p:cNvPr>
          <p:cNvSpPr txBox="1"/>
          <p:nvPr/>
        </p:nvSpPr>
        <p:spPr>
          <a:xfrm>
            <a:off x="717430" y="531247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</a:p>
        </p:txBody>
      </p:sp>
      <p:sp>
        <p:nvSpPr>
          <p:cNvPr id="62" name="TextBox 44">
            <a:extLst>
              <a:ext uri="{FF2B5EF4-FFF2-40B4-BE49-F238E27FC236}">
                <a16:creationId xmlns:a16="http://schemas.microsoft.com/office/drawing/2014/main" id="{F6B71D29-3684-4835-BD9B-1B8B542261F0}"/>
              </a:ext>
            </a:extLst>
          </p:cNvPr>
          <p:cNvSpPr txBox="1"/>
          <p:nvPr/>
        </p:nvSpPr>
        <p:spPr>
          <a:xfrm>
            <a:off x="1138054" y="525270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评估还款能力</a:t>
            </a:r>
          </a:p>
        </p:txBody>
      </p:sp>
      <p:sp>
        <p:nvSpPr>
          <p:cNvPr id="63" name="TextBox 45">
            <a:extLst>
              <a:ext uri="{FF2B5EF4-FFF2-40B4-BE49-F238E27FC236}">
                <a16:creationId xmlns:a16="http://schemas.microsoft.com/office/drawing/2014/main" id="{C1DECE94-B828-49A6-B8C6-DECC0F60783F}"/>
              </a:ext>
            </a:extLst>
          </p:cNvPr>
          <p:cNvSpPr txBox="1"/>
          <p:nvPr/>
        </p:nvSpPr>
        <p:spPr>
          <a:xfrm>
            <a:off x="1138054" y="551788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能否在不造成重大经济困难的情况下履行还款</a:t>
            </a:r>
          </a:p>
        </p:txBody>
      </p:sp>
      <p:sp>
        <p:nvSpPr>
          <p:cNvPr id="64" name="Rectangle 46">
            <a:extLst>
              <a:ext uri="{FF2B5EF4-FFF2-40B4-BE49-F238E27FC236}">
                <a16:creationId xmlns:a16="http://schemas.microsoft.com/office/drawing/2014/main" id="{00AB5131-4387-462A-924F-86E4F8D7A710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5" name="Oval 47">
            <a:extLst>
              <a:ext uri="{FF2B5EF4-FFF2-40B4-BE49-F238E27FC236}">
                <a16:creationId xmlns:a16="http://schemas.microsoft.com/office/drawing/2014/main" id="{8B351B70-6E28-4451-921A-23C9AAE60D19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6" name="TextBox 48">
            <a:extLst>
              <a:ext uri="{FF2B5EF4-FFF2-40B4-BE49-F238E27FC236}">
                <a16:creationId xmlns:a16="http://schemas.microsoft.com/office/drawing/2014/main" id="{129AAB2F-B8BE-4A65-B2F8-858AA4712095}"/>
              </a:ext>
            </a:extLst>
          </p:cNvPr>
          <p:cNvSpPr txBox="1"/>
          <p:nvPr/>
        </p:nvSpPr>
        <p:spPr>
          <a:xfrm>
            <a:off x="717430" y="595255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r>
          </a:p>
        </p:txBody>
      </p:sp>
      <p:sp>
        <p:nvSpPr>
          <p:cNvPr id="67" name="TextBox 49">
            <a:extLst>
              <a:ext uri="{FF2B5EF4-FFF2-40B4-BE49-F238E27FC236}">
                <a16:creationId xmlns:a16="http://schemas.microsoft.com/office/drawing/2014/main" id="{D7B37FCA-B11E-4709-A69A-DE5AD64C07A4}"/>
              </a:ext>
            </a:extLst>
          </p:cNvPr>
          <p:cNvSpPr txBox="1"/>
          <p:nvPr/>
        </p:nvSpPr>
        <p:spPr>
          <a:xfrm>
            <a:off x="1138054" y="589278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提供合适产品</a:t>
            </a:r>
          </a:p>
        </p:txBody>
      </p:sp>
      <p:sp>
        <p:nvSpPr>
          <p:cNvPr id="68" name="TextBox 50">
            <a:extLst>
              <a:ext uri="{FF2B5EF4-FFF2-40B4-BE49-F238E27FC236}">
                <a16:creationId xmlns:a16="http://schemas.microsoft.com/office/drawing/2014/main" id="{33E3165C-2497-4F10-9F7A-D5F082C30F6F}"/>
              </a:ext>
            </a:extLst>
          </p:cNvPr>
          <p:cNvSpPr txBox="1"/>
          <p:nvPr/>
        </p:nvSpPr>
        <p:spPr>
          <a:xfrm>
            <a:off x="1138054" y="615796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不得提供“不适合”的信贷产品</a:t>
            </a:r>
          </a:p>
        </p:txBody>
      </p:sp>
      <p:sp>
        <p:nvSpPr>
          <p:cNvPr id="69" name="s1-bar">
            <a:extLst>
              <a:ext uri="{FF2B5EF4-FFF2-40B4-BE49-F238E27FC236}">
                <a16:creationId xmlns:a16="http://schemas.microsoft.com/office/drawing/2014/main" id="{3917B42F-FA74-4554-8F0C-544990D93B30}"/>
              </a:ext>
            </a:extLst>
          </p:cNvPr>
          <p:cNvSpPr/>
          <p:nvPr/>
        </p:nvSpPr>
        <p:spPr>
          <a:xfrm>
            <a:off x="536497" y="3250133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0" name="s1-bar">
            <a:extLst>
              <a:ext uri="{FF2B5EF4-FFF2-40B4-BE49-F238E27FC236}">
                <a16:creationId xmlns:a16="http://schemas.microsoft.com/office/drawing/2014/main" id="{487BA4DB-34AC-4C3D-8298-2747717BF951}"/>
              </a:ext>
            </a:extLst>
          </p:cNvPr>
          <p:cNvSpPr/>
          <p:nvPr/>
        </p:nvSpPr>
        <p:spPr>
          <a:xfrm>
            <a:off x="5561124" y="3254349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1" name="TextBox 27">
            <a:extLst>
              <a:ext uri="{FF2B5EF4-FFF2-40B4-BE49-F238E27FC236}">
                <a16:creationId xmlns:a16="http://schemas.microsoft.com/office/drawing/2014/main" id="{96C622F6-B610-4482-8FA4-F6373D622738}"/>
              </a:ext>
            </a:extLst>
          </p:cNvPr>
          <p:cNvSpPr txBox="1"/>
          <p:nvPr/>
        </p:nvSpPr>
        <p:spPr>
          <a:xfrm>
            <a:off x="3807968" y="2528026"/>
            <a:ext cx="49022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收入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必要支出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负债还款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 ＝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客户可支配盈余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3504" y="65149"/>
            <a:ext cx="109728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lang="zh-CN" altLang="en-US" sz="2000" b="1" noProof="1">
                <a:solidFill>
                  <a:srgbClr val="0A0A0A"/>
                </a:solidFill>
                <a:latin typeface="微软雅黑"/>
                <a:ea typeface="微软雅黑"/>
              </a:rPr>
              <a:t>从一笔交易到完整客户财务画像直接回答新增还款能力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66724"/>
            <a:ext cx="10901632" cy="44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lang="zh-CN" altLang="en-US" dirty="0">
                <a:latin typeface="微软雅黑"/>
                <a:ea typeface="微软雅黑"/>
              </a:rPr>
              <a:t>原始流水 → 单笔交易识别 → 用户</a:t>
            </a:r>
            <a:r>
              <a:rPr lang="en-US" altLang="zh-CN" dirty="0">
                <a:latin typeface="微软雅黑"/>
                <a:ea typeface="微软雅黑"/>
              </a:rPr>
              <a:t>/</a:t>
            </a:r>
            <a:r>
              <a:rPr lang="zh-CN" altLang="en-US" dirty="0">
                <a:latin typeface="微软雅黑"/>
                <a:ea typeface="微软雅黑"/>
              </a:rPr>
              <a:t>贷款汇总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68385" y="111340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原始银行流水（输入示例）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568386" y="2523256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2.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交易明细维度：理解每一笔交易（输出示例）</a:t>
            </a:r>
            <a:endParaRPr kumimoji="0" lang="en-US" sz="1200" b="1" i="0" u="none" strike="noStrike" kern="1200" cap="none" spc="0" normalizeH="0" baseline="0" noProof="1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568385" y="3989324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3.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用户汇总维度：形成完整负债画像（输出示例）</a:t>
            </a:r>
            <a:endParaRPr kumimoji="0" lang="en-US" sz="1200" b="1" i="0" u="none" strike="noStrike" kern="1200" cap="none" spc="0" normalizeH="0" baseline="0" noProof="1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15" name="init-table">
            <a:extLst>
              <a:ext uri="{FF2B5EF4-FFF2-40B4-BE49-F238E27FC236}">
                <a16:creationId xmlns:a16="http://schemas.microsoft.com/office/drawing/2014/main" id="{B20AEE83-7381-40E9-867F-987DE9C5B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992607"/>
              </p:ext>
            </p:extLst>
          </p:nvPr>
        </p:nvGraphicFramePr>
        <p:xfrm>
          <a:off x="568385" y="1435904"/>
          <a:ext cx="10901630" cy="1022238"/>
        </p:xfrm>
        <a:graphic>
          <a:graphicData uri="http://schemas.openxmlformats.org/drawingml/2006/table">
            <a:tbl>
              <a:tblPr/>
              <a:tblGrid>
                <a:gridCol w="13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6901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日期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金额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方向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交易描述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BILL PAY Fair Go Finance DT.58oa72 SACC 239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MCDONALDS BRISBANE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 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AMZNPRIMEA*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Credit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PAYROLL ACME PTY LTD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init-table">
            <a:extLst>
              <a:ext uri="{FF2B5EF4-FFF2-40B4-BE49-F238E27FC236}">
                <a16:creationId xmlns:a16="http://schemas.microsoft.com/office/drawing/2014/main" id="{3C86CAD7-1100-4D7C-B8CF-F22C4AFE4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041013"/>
              </p:ext>
            </p:extLst>
          </p:nvPr>
        </p:nvGraphicFramePr>
        <p:xfrm>
          <a:off x="568385" y="2839315"/>
          <a:ext cx="10901631" cy="1022238"/>
        </p:xfrm>
        <a:graphic>
          <a:graphicData uri="http://schemas.openxmlformats.org/drawingml/2006/table">
            <a:tbl>
              <a:tblPr/>
              <a:tblGrid>
                <a:gridCol w="796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7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622">
                  <a:extLst>
                    <a:ext uri="{9D8B030D-6E8A-4147-A177-3AD203B41FA5}">
                      <a16:colId xmlns:a16="http://schemas.microsoft.com/office/drawing/2014/main" val="2631831465"/>
                    </a:ext>
                  </a:extLst>
                </a:gridCol>
                <a:gridCol w="1277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613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  <a:gridCol w="676780">
                  <a:extLst>
                    <a:ext uri="{9D8B030D-6E8A-4147-A177-3AD203B41FA5}">
                      <a16:colId xmlns:a16="http://schemas.microsoft.com/office/drawing/2014/main" val="2534051383"/>
                    </a:ext>
                  </a:extLst>
                </a:gridCol>
                <a:gridCol w="2350395">
                  <a:extLst>
                    <a:ext uri="{9D8B030D-6E8A-4147-A177-3AD203B41FA5}">
                      <a16:colId xmlns:a16="http://schemas.microsoft.com/office/drawing/2014/main" val="994888910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交易金额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标准交易对手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主体类型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一级分类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分类依据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BILL PAY Fair Go Finance DT.58oa72 SACC 239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Fair Go Finance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小额信贷机构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贷款及还款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交易方向、机构名称、产品关键词及历史交易模式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MCDONALDS BRISBANE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McDonald's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 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AMZNPRIMEA*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Amazon Prime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订阅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PAYROLL ACME PTY LTD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ACME PTY LTD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雇主 / 收入付款方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收入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工资文本模式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双周周期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稳定金额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用户-bg"/>
          <p:cNvSpPr/>
          <p:nvPr/>
        </p:nvSpPr>
        <p:spPr>
          <a:xfrm>
            <a:off x="566928" y="4297680"/>
            <a:ext cx="5376672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用户-bar"/>
          <p:cNvSpPr/>
          <p:nvPr/>
        </p:nvSpPr>
        <p:spPr>
          <a:xfrm>
            <a:off x="566928" y="4297680"/>
            <a:ext cx="53766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用户-title"/>
          <p:cNvSpPr txBox="1"/>
          <p:nvPr/>
        </p:nvSpPr>
        <p:spPr>
          <a:xfrm>
            <a:off x="749808" y="4398264"/>
            <a:ext cx="5010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lang="zh-CN">
                <a:solidFill>
                  <a:srgbClr val="0A0A0A"/>
                </a:solidFill>
                <a:latin typeface="微软雅黑"/>
                <a:ea typeface="微软雅黑"/>
              </a:rPr>
              <a:t>用户整体负债画像</a:t>
            </a:r>
          </a:p>
        </p:txBody>
      </p:sp>
      <p:sp>
        <p:nvSpPr>
          <p:cNvPr id="20" name="用户-k1"/>
          <p:cNvSpPr txBox="1"/>
          <p:nvPr/>
        </p:nvSpPr>
        <p:spPr>
          <a:xfrm>
            <a:off x="749808" y="46451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平均月还款金额</a:t>
            </a:r>
          </a:p>
          <a:p>
            <a:pPr algn="l"/>
            <a:r>
              <a:rPr sz="1500" b="1" lang="zh-CN">
                <a:solidFill>
                  <a:srgbClr val="1F4E79"/>
                </a:solidFill>
                <a:latin typeface="微软雅黑"/>
                <a:ea typeface="微软雅黑"/>
              </a:rPr>
              <a:t>A$428</a:t>
            </a:r>
          </a:p>
        </p:txBody>
      </p:sp>
      <p:sp>
        <p:nvSpPr>
          <p:cNvPr id="21" name="用户-k2"/>
          <p:cNvSpPr txBox="1"/>
          <p:nvPr/>
        </p:nvSpPr>
        <p:spPr>
          <a:xfrm>
            <a:off x="2505456" y="46451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预计待还金额</a:t>
            </a:r>
          </a:p>
          <a:p>
            <a:pPr algn="l"/>
            <a:r>
              <a:rPr sz="1500" b="1" lang="zh-CN">
                <a:solidFill>
                  <a:srgbClr val="1F4E79"/>
                </a:solidFill>
                <a:latin typeface="微软雅黑"/>
                <a:ea typeface="微软雅黑"/>
              </a:rPr>
              <a:t>A$1,016</a:t>
            </a:r>
          </a:p>
        </p:txBody>
      </p:sp>
      <p:sp>
        <p:nvSpPr>
          <p:cNvPr id="22" name="用户-k3"/>
          <p:cNvSpPr txBox="1"/>
          <p:nvPr/>
        </p:nvSpPr>
        <p:spPr>
          <a:xfrm>
            <a:off x="4261104" y="46451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贷款机构数量</a:t>
            </a:r>
          </a:p>
          <a:p>
            <a:pPr algn="l"/>
            <a:r>
              <a:rPr sz="1500" b="1" lang="zh-CN">
                <a:solidFill>
                  <a:srgbClr val="1F4E79"/>
                </a:solidFill>
                <a:latin typeface="微软雅黑"/>
                <a:ea typeface="微软雅黑"/>
              </a:rPr>
              <a:t>2 家</a:t>
            </a:r>
          </a:p>
        </p:txBody>
      </p:sp>
      <p:sp>
        <p:nvSpPr>
          <p:cNvPr id="24" name="Fa-bg"/>
          <p:cNvSpPr/>
          <p:nvPr/>
        </p:nvSpPr>
        <p:spPr>
          <a:xfrm>
            <a:off x="6217920" y="4297680"/>
            <a:ext cx="5376672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a-bar"/>
          <p:cNvSpPr/>
          <p:nvPr/>
        </p:nvSpPr>
        <p:spPr>
          <a:xfrm>
            <a:off x="6217920" y="4297680"/>
            <a:ext cx="53766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a-title"/>
          <p:cNvSpPr txBox="1"/>
          <p:nvPr/>
        </p:nvSpPr>
        <p:spPr>
          <a:xfrm>
            <a:off x="6400800" y="4398264"/>
            <a:ext cx="5010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lang="zh-CN">
                <a:solidFill>
                  <a:srgbClr val="0A0A0A"/>
                </a:solidFill>
                <a:latin typeface="微软雅黑"/>
                <a:ea typeface="微软雅黑"/>
              </a:rPr>
              <a:t>Fair Go Finance 单笔贷款画像</a:t>
            </a:r>
          </a:p>
        </p:txBody>
      </p:sp>
      <p:sp>
        <p:nvSpPr>
          <p:cNvPr id="27" name="Fa-k1"/>
          <p:cNvSpPr txBox="1"/>
          <p:nvPr/>
        </p:nvSpPr>
        <p:spPr>
          <a:xfrm>
            <a:off x="6400800" y="46451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借款金额</a:t>
            </a:r>
          </a:p>
          <a:p>
            <a:pPr algn="l"/>
            <a:r>
              <a:rPr sz="1500" b="1" lang="zh-CN">
                <a:solidFill>
                  <a:srgbClr val="1F4E79"/>
                </a:solidFill>
                <a:latin typeface="微软雅黑"/>
                <a:ea typeface="微软雅黑"/>
              </a:rPr>
              <a:t>A$1,500</a:t>
            </a:r>
          </a:p>
        </p:txBody>
      </p:sp>
      <p:sp>
        <p:nvSpPr>
          <p:cNvPr id="28" name="Fa-k2"/>
          <p:cNvSpPr txBox="1"/>
          <p:nvPr/>
        </p:nvSpPr>
        <p:spPr>
          <a:xfrm>
            <a:off x="8156448" y="46451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月还款金额</a:t>
            </a:r>
          </a:p>
          <a:p>
            <a:pPr algn="l"/>
            <a:r>
              <a:rPr sz="1500" b="1" lang="zh-CN">
                <a:solidFill>
                  <a:srgbClr val="1F4E79"/>
                </a:solidFill>
                <a:latin typeface="微软雅黑"/>
                <a:ea typeface="微软雅黑"/>
              </a:rPr>
              <a:t>约 A$338</a:t>
            </a:r>
          </a:p>
          <a:p>
            <a:pPr algn="l"/>
            <a:r>
              <a:rPr sz="750" b="0" lang="zh-CN">
                <a:solidFill>
                  <a:srgbClr val="606060"/>
                </a:solidFill>
                <a:latin typeface="微软雅黑"/>
                <a:ea typeface="微软雅黑"/>
              </a:rPr>
              <a:t>A$156 × 26/12</a:t>
            </a:r>
          </a:p>
        </p:txBody>
      </p:sp>
      <p:sp>
        <p:nvSpPr>
          <p:cNvPr id="29" name="Fa-k3"/>
          <p:cNvSpPr txBox="1"/>
          <p:nvPr/>
        </p:nvSpPr>
        <p:spPr>
          <a:xfrm>
            <a:off x="9912096" y="46451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预计待还金额</a:t>
            </a:r>
          </a:p>
          <a:p>
            <a:pPr algn="l"/>
            <a:r>
              <a:rPr sz="1500" b="1" lang="zh-CN">
                <a:solidFill>
                  <a:srgbClr val="1F4E79"/>
                </a:solidFill>
                <a:latin typeface="微软雅黑"/>
                <a:ea typeface="微软雅黑"/>
              </a:rPr>
              <a:t>A$564</a:t>
            </a:r>
          </a:p>
        </p:txBody>
      </p:sp>
      <p:sp>
        <p:nvSpPr>
          <p:cNvPr id="31" name="concl-bar"/>
          <p:cNvSpPr/>
          <p:nvPr/>
        </p:nvSpPr>
        <p:spPr>
          <a:xfrm>
            <a:off x="566928" y="6327648"/>
            <a:ext cx="11045952" cy="402336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ncl-bar-line"/>
          <p:cNvSpPr/>
          <p:nvPr/>
        </p:nvSpPr>
        <p:spPr>
          <a:xfrm>
            <a:off x="566928" y="6327648"/>
            <a:ext cx="64008" cy="402336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ncl-text"/>
          <p:cNvSpPr txBox="1"/>
          <p:nvPr/>
        </p:nvSpPr>
        <p:spPr>
          <a:xfrm>
            <a:off x="749808" y="638251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lang="zh-CN">
                <a:solidFill>
                  <a:srgbClr val="0A0A0A"/>
                </a:solidFill>
                <a:latin typeface="微软雅黑"/>
                <a:ea typeface="微软雅黑"/>
              </a:rPr>
              <a:t>识别贷款 → 计算剩余负债与月还款额（平均月还款金额 A$428）→ 支撑新增还款能力判断</a:t>
            </a:r>
          </a:p>
        </p:txBody>
      </p:sp>
      <p:sp>
        <p:nvSpPr>
          <p:cNvPr id="34" name="用户-m1"/>
          <p:cNvSpPr txBox="1"/>
          <p:nvPr/>
        </p:nvSpPr>
        <p:spPr>
          <a:xfrm>
            <a:off x="749808" y="5248656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90 天借款金额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A$2,300</a:t>
            </a:r>
          </a:p>
        </p:txBody>
      </p:sp>
      <p:sp>
        <p:nvSpPr>
          <p:cNvPr id="35" name="用户-m2"/>
          <p:cNvSpPr txBox="1"/>
          <p:nvPr/>
        </p:nvSpPr>
        <p:spPr>
          <a:xfrm>
            <a:off x="2450592" y="5248656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90 天还款金额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A$1,284</a:t>
            </a:r>
          </a:p>
        </p:txBody>
      </p:sp>
      <p:sp>
        <p:nvSpPr>
          <p:cNvPr id="36" name="用户-m3"/>
          <p:cNvSpPr txBox="1"/>
          <p:nvPr/>
        </p:nvSpPr>
        <p:spPr>
          <a:xfrm>
            <a:off x="4151376" y="5248656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还款次数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9 次</a:t>
            </a:r>
          </a:p>
        </p:txBody>
      </p:sp>
      <p:sp>
        <p:nvSpPr>
          <p:cNvPr id="37" name="用户-m4"/>
          <p:cNvSpPr txBox="1"/>
          <p:nvPr/>
        </p:nvSpPr>
        <p:spPr>
          <a:xfrm>
            <a:off x="749808" y="5779008"/>
            <a:ext cx="11704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SACC 贷款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38" name="用户-m5"/>
          <p:cNvSpPr txBox="1"/>
          <p:nvPr/>
        </p:nvSpPr>
        <p:spPr>
          <a:xfrm>
            <a:off x="2020824" y="5779008"/>
            <a:ext cx="11704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多头借贷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39" name="用户-m6"/>
          <p:cNvSpPr txBox="1"/>
          <p:nvPr/>
        </p:nvSpPr>
        <p:spPr>
          <a:xfrm>
            <a:off x="3291839" y="5779008"/>
            <a:ext cx="11704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持续还款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40" name="用户-m7"/>
          <p:cNvSpPr txBox="1"/>
          <p:nvPr/>
        </p:nvSpPr>
        <p:spPr>
          <a:xfrm>
            <a:off x="4562856" y="5779008"/>
            <a:ext cx="11704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还款中断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41" name="Fa-m1"/>
          <p:cNvSpPr txBox="1"/>
          <p:nvPr/>
        </p:nvSpPr>
        <p:spPr>
          <a:xfrm>
            <a:off x="6400800" y="5248656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贷款类型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SACC</a:t>
            </a:r>
          </a:p>
        </p:txBody>
      </p:sp>
      <p:sp>
        <p:nvSpPr>
          <p:cNvPr id="42" name="Fa-m2"/>
          <p:cNvSpPr txBox="1"/>
          <p:nvPr/>
        </p:nvSpPr>
        <p:spPr>
          <a:xfrm>
            <a:off x="8101583" y="5248656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90 天已还金额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A$936</a:t>
            </a:r>
          </a:p>
        </p:txBody>
      </p:sp>
      <p:sp>
        <p:nvSpPr>
          <p:cNvPr id="43" name="Fa-m3"/>
          <p:cNvSpPr txBox="1"/>
          <p:nvPr/>
        </p:nvSpPr>
        <p:spPr>
          <a:xfrm>
            <a:off x="9802368" y="5248656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还款频率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每两周 A$156</a:t>
            </a:r>
          </a:p>
        </p:txBody>
      </p:sp>
      <p:sp>
        <p:nvSpPr>
          <p:cNvPr id="44" name="Fa-m4"/>
          <p:cNvSpPr txBox="1"/>
          <p:nvPr/>
        </p:nvSpPr>
        <p:spPr>
          <a:xfrm>
            <a:off x="6400800" y="5779008"/>
            <a:ext cx="11704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90 天还款次数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6 次</a:t>
            </a:r>
          </a:p>
        </p:txBody>
      </p:sp>
      <p:sp>
        <p:nvSpPr>
          <p:cNvPr id="45" name="Fa-m5"/>
          <p:cNvSpPr txBox="1"/>
          <p:nvPr/>
        </p:nvSpPr>
        <p:spPr>
          <a:xfrm>
            <a:off x="7671816" y="5779008"/>
            <a:ext cx="11704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当前状态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在贷</a:t>
            </a:r>
          </a:p>
        </p:txBody>
      </p:sp>
      <p:sp>
        <p:nvSpPr>
          <p:cNvPr id="46" name="Fa-m6"/>
          <p:cNvSpPr txBox="1"/>
          <p:nvPr/>
        </p:nvSpPr>
        <p:spPr>
          <a:xfrm>
            <a:off x="8942832" y="5779008"/>
            <a:ext cx="11704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扣款失败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47" name="Fa-m7"/>
          <p:cNvSpPr txBox="1"/>
          <p:nvPr/>
        </p:nvSpPr>
        <p:spPr>
          <a:xfrm>
            <a:off x="10213848" y="5779008"/>
            <a:ext cx="11704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年化利率（APR）</a:t>
            </a:r>
          </a:p>
          <a:p>
            <a:pPr algn="l"/>
            <a:r>
              <a:rPr sz="1400" b="1" lang="zh-CN">
                <a:solidFill>
                  <a:srgbClr val="1F4E79"/>
                </a:solidFill>
                <a:latin typeface="微软雅黑"/>
                <a:ea typeface="微软雅黑"/>
              </a:rPr>
              <a:t>【待补充】</a:t>
            </a:r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3504" y="65149"/>
            <a:ext cx="109728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lang="zh-CN" altLang="en-US" sz="2000" b="1" noProof="1">
                <a:solidFill>
                  <a:srgbClr val="0A0A0A"/>
                </a:solidFill>
                <a:latin typeface="微软雅黑"/>
                <a:ea typeface="微软雅黑"/>
              </a:rPr>
              <a:t>从一笔交易到完整客户财务画像直接回答新增还款能力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66724"/>
            <a:ext cx="10901632" cy="44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lang="zh-CN" altLang="en-US" dirty="0">
                <a:latin typeface="微软雅黑"/>
                <a:ea typeface="微软雅黑"/>
              </a:rPr>
              <a:t>原始流水 → 单笔交易识别 → 用户</a:t>
            </a:r>
            <a:r>
              <a:rPr lang="en-US" altLang="zh-CN" dirty="0">
                <a:latin typeface="微软雅黑"/>
                <a:ea typeface="微软雅黑"/>
              </a:rPr>
              <a:t>/</a:t>
            </a:r>
            <a:r>
              <a:rPr lang="zh-CN" altLang="en-US" dirty="0">
                <a:latin typeface="微软雅黑"/>
                <a:ea typeface="微软雅黑"/>
              </a:rPr>
              <a:t>贷款汇总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68385" y="111340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原始银行流水（输入示例）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568386" y="2523256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2.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交易明细维度：理解每一笔交易（输出示例）</a:t>
            </a:r>
            <a:endParaRPr kumimoji="0" lang="en-US" sz="1200" b="1" i="0" u="none" strike="noStrike" kern="1200" cap="none" spc="0" normalizeH="0" baseline="0" noProof="1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568385" y="3989324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3.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用户汇总维度：形成完整负债画像（输出示例）</a:t>
            </a:r>
            <a:endParaRPr kumimoji="0" lang="en-US" sz="1200" b="1" i="0" u="none" strike="noStrike" kern="1200" cap="none" spc="0" normalizeH="0" baseline="0" noProof="1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15" name="init-table">
            <a:extLst>
              <a:ext uri="{FF2B5EF4-FFF2-40B4-BE49-F238E27FC236}">
                <a16:creationId xmlns:a16="http://schemas.microsoft.com/office/drawing/2014/main" id="{B20AEE83-7381-40E9-867F-987DE9C5B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992607"/>
              </p:ext>
            </p:extLst>
          </p:nvPr>
        </p:nvGraphicFramePr>
        <p:xfrm>
          <a:off x="568385" y="1435904"/>
          <a:ext cx="10901630" cy="1022238"/>
        </p:xfrm>
        <a:graphic>
          <a:graphicData uri="http://schemas.openxmlformats.org/drawingml/2006/table">
            <a:tbl>
              <a:tblPr/>
              <a:tblGrid>
                <a:gridCol w="13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6901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日期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金额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方向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交易描述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BILL PAY Fair Go Finance DT.58oa72 SACC 239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MCDONALDS BRISBANE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 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AMZNPRIMEA*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Credit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PAYROLL ACME PTY LTD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init-table">
            <a:extLst>
              <a:ext uri="{FF2B5EF4-FFF2-40B4-BE49-F238E27FC236}">
                <a16:creationId xmlns:a16="http://schemas.microsoft.com/office/drawing/2014/main" id="{3C86CAD7-1100-4D7C-B8CF-F22C4AFE4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041013"/>
              </p:ext>
            </p:extLst>
          </p:nvPr>
        </p:nvGraphicFramePr>
        <p:xfrm>
          <a:off x="568385" y="2839315"/>
          <a:ext cx="10901631" cy="1022238"/>
        </p:xfrm>
        <a:graphic>
          <a:graphicData uri="http://schemas.openxmlformats.org/drawingml/2006/table">
            <a:tbl>
              <a:tblPr/>
              <a:tblGrid>
                <a:gridCol w="796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7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622">
                  <a:extLst>
                    <a:ext uri="{9D8B030D-6E8A-4147-A177-3AD203B41FA5}">
                      <a16:colId xmlns:a16="http://schemas.microsoft.com/office/drawing/2014/main" val="2631831465"/>
                    </a:ext>
                  </a:extLst>
                </a:gridCol>
                <a:gridCol w="1277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613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  <a:gridCol w="676780">
                  <a:extLst>
                    <a:ext uri="{9D8B030D-6E8A-4147-A177-3AD203B41FA5}">
                      <a16:colId xmlns:a16="http://schemas.microsoft.com/office/drawing/2014/main" val="2534051383"/>
                    </a:ext>
                  </a:extLst>
                </a:gridCol>
                <a:gridCol w="2350395">
                  <a:extLst>
                    <a:ext uri="{9D8B030D-6E8A-4147-A177-3AD203B41FA5}">
                      <a16:colId xmlns:a16="http://schemas.microsoft.com/office/drawing/2014/main" val="994888910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交易金额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标准交易对手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主体类型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一级分类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分类依据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BILL PAY Fair Go Finance DT.58oa72 SACC 239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Fair Go Finance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小额信贷机构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贷款及还款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交易方向、机构名称、产品关键词及历史交易模式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MCDONALDS BRISBANE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McDonald's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 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AMZNPRIMEA*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Amazon Prime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订阅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PAYROLL ACME PTY LTD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ACME PTY LTD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雇主 / 收入付款方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收入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工资文本模式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双周周期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稳定金额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income-table">
            <a:extLst>
              <a:ext uri="{FF2B5EF4-FFF2-40B4-BE49-F238E27FC236}">
                <a16:creationId xmlns:a16="http://schemas.microsoft.com/office/drawing/2014/main" id="{FC75553F-AD69-4A96-9AF1-99CAAD383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014883"/>
              </p:ext>
            </p:extLst>
          </p:nvPr>
        </p:nvGraphicFramePr>
        <p:xfrm>
          <a:off x="1573182" y="4380696"/>
          <a:ext cx="3127663" cy="2082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贷款机构数量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 家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天借款金额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A$2,300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天还款金额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A$1,284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平均月还款金额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A$1,016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236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还款次数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 次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9274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 SACC 贷款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3308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是否存在多头借贷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3973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是否持续还款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9859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是否出现还款中断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63822"/>
                  </a:ext>
                </a:extLst>
              </a:tr>
            </a:tbl>
          </a:graphicData>
        </a:graphic>
      </p:graphicFrame>
      <p:graphicFrame>
        <p:nvGraphicFramePr>
          <p:cNvPr id="18" name="income-table">
            <a:extLst>
              <a:ext uri="{FF2B5EF4-FFF2-40B4-BE49-F238E27FC236}">
                <a16:creationId xmlns:a16="http://schemas.microsoft.com/office/drawing/2014/main" id="{0131C662-720B-4BDB-BAEC-1EB37B537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090616"/>
              </p:ext>
            </p:extLst>
          </p:nvPr>
        </p:nvGraphicFramePr>
        <p:xfrm>
          <a:off x="7374542" y="4380696"/>
          <a:ext cx="3127663" cy="2082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Fair Go Finance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贷款类型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借款金额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A$1,500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天已还金额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A$936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A$564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还款频率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每两周 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236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月还款金额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约 A$338（A$156 × 26/12）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9274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天还款次数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 次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3973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当前状态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在贷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9859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扣款失败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638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年化利率（APR）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【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待补充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】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09694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B718013-4527-4C93-A16A-71AD3CA129A4}"/>
              </a:ext>
            </a:extLst>
          </p:cNvPr>
          <p:cNvSpPr/>
          <p:nvPr/>
        </p:nvSpPr>
        <p:spPr>
          <a:xfrm>
            <a:off x="1003046" y="4888696"/>
            <a:ext cx="384048" cy="1097280"/>
          </a:xfrm>
          <a:prstGeom prst="rect">
            <a:avLst/>
          </a:prstGeom>
          <a:solidFill>
            <a:srgbClr val="E3EB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用户维度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FCD25F0-EBC1-4E3E-A4AA-77C198517982}"/>
              </a:ext>
            </a:extLst>
          </p:cNvPr>
          <p:cNvSpPr/>
          <p:nvPr/>
        </p:nvSpPr>
        <p:spPr>
          <a:xfrm>
            <a:off x="6803390" y="4888696"/>
            <a:ext cx="384048" cy="1097280"/>
          </a:xfrm>
          <a:prstGeom prst="rect">
            <a:avLst/>
          </a:prstGeom>
          <a:solidFill>
            <a:srgbClr val="E3EB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单笔借款维度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8182" y="4888696"/>
            <a:ext cx="54864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48526" y="4888696"/>
            <a:ext cx="54864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流水依次经过多个分类引擎，各引擎输出交易类别、交易对手，后续引擎发现更明确证据可修正前序分类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AI 建设与维护知识库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821530"/>
              </p:ext>
            </p:extLst>
          </p:nvPr>
        </p:nvGraphicFramePr>
        <p:xfrm>
          <a:off x="568716" y="2274555"/>
          <a:ext cx="5222483" cy="1280160"/>
        </p:xfrm>
        <a:graphic>
          <a:graphicData uri="http://schemas.openxmlformats.org/drawingml/2006/table">
            <a:tbl>
              <a:tblPr/>
              <a:tblGrid>
                <a:gridCol w="131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557541" y="361039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557541" y="3610392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41547" y="3918704"/>
          <a:ext cx="5222483" cy="1066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511115" y="5015663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511115" y="5015663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1115" y="5244263"/>
          <a:ext cx="5540237" cy="1426464"/>
        </p:xfrm>
        <a:graphic>
          <a:graphicData uri="http://schemas.openxmlformats.org/drawingml/2006/table">
            <a:tbl>
              <a:tblPr/>
              <a:tblGrid>
                <a:gridCol w="162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  <p:sp>
        <p:nvSpPr>
          <p:cNvPr id="25" name="s1-bar">
            <a:extLst>
              <a:ext uri="{FF2B5EF4-FFF2-40B4-BE49-F238E27FC236}">
                <a16:creationId xmlns:a16="http://schemas.microsoft.com/office/drawing/2014/main" id="{A8EBEEE2-E859-4ED2-B0ED-270FD3E8E714}"/>
              </a:ext>
            </a:extLst>
          </p:cNvPr>
          <p:cNvSpPr/>
          <p:nvPr/>
        </p:nvSpPr>
        <p:spPr>
          <a:xfrm>
            <a:off x="6285857" y="1737516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s1-title">
            <a:extLst>
              <a:ext uri="{FF2B5EF4-FFF2-40B4-BE49-F238E27FC236}">
                <a16:creationId xmlns:a16="http://schemas.microsoft.com/office/drawing/2014/main" id="{04C828B8-086B-404C-8643-9D85D8368225}"/>
              </a:ext>
            </a:extLst>
          </p:cNvPr>
          <p:cNvSpPr txBox="1"/>
          <p:nvPr/>
        </p:nvSpPr>
        <p:spPr>
          <a:xfrm>
            <a:off x="6438257" y="1699416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AI 质检 Agent：监控分类波动并输出诊断报告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25288"/>
              </p:ext>
            </p:extLst>
          </p:nvPr>
        </p:nvGraphicFramePr>
        <p:xfrm>
          <a:off x="6311255" y="4049611"/>
          <a:ext cx="5540236" cy="1042416"/>
        </p:xfrm>
        <a:graphic>
          <a:graphicData uri="http://schemas.openxmlformats.org/drawingml/2006/table">
            <a:tbl>
              <a:tblPr/>
              <a:tblGrid>
                <a:gridCol w="92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示例场景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排除规则过宽，房租、保险、水电被误归为内部转账，导致租金支出在支出计算中漏算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新开业商户或新兴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BNPL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平台的交易描述未收录，落入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Other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或无法归集为负债流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数据本身异常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银行返回描述被截断（仅剩 EFTPOS *）、金额与方向矛盾、同一笔交易重复入账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多引擎冲突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同一笔 BPAY ... 被 Transfer 归为转账、被 Liability 识别为还款，需按业务语义裁决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月初集中缴费、节假日消费高峰导致某类别占比短期上升，属正常范围，无需干预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281928" y="52852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诊断报告输出示例</a:t>
            </a:r>
            <a:endParaRPr sz="9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11257" y="5556879"/>
          <a:ext cx="5540234" cy="694944"/>
        </p:xfrm>
        <a:graphic>
          <a:graphicData uri="http://schemas.openxmlformats.org/drawingml/2006/table">
            <a:tbl>
              <a:tblPr/>
              <a:tblGrid>
                <a:gridCol w="554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问题描述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建议动作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房租交易批量被归为内部转账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优化 Transfer 排除规则并补充回归用例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 BNPL 平台还款未被识别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补充平台名称及扣款描述关键词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某商户 7 月分类占比短期上升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无需处理，持续观察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Box 29">
            <a:extLst>
              <a:ext uri="{FF2B5EF4-FFF2-40B4-BE49-F238E27FC236}">
                <a16:creationId xmlns:a16="http://schemas.microsoft.com/office/drawing/2014/main" id="{59843E63-6597-4DF7-94AC-310E51A426D8}"/>
              </a:ext>
            </a:extLst>
          </p:cNvPr>
          <p:cNvSpPr txBox="1"/>
          <p:nvPr/>
        </p:nvSpPr>
        <p:spPr>
          <a:xfrm>
            <a:off x="6281928" y="37764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altLang="en-US" sz="1200" b="1" dirty="0">
                <a:solidFill>
                  <a:srgbClr val="0A0A0A"/>
                </a:solidFill>
                <a:latin typeface="微软雅黑"/>
                <a:ea typeface="微软雅黑"/>
              </a:rPr>
              <a:t>五类定位原因示例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776472"/>
            <a:ext cx="54864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5285232"/>
            <a:ext cx="54864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81928" y="6327648"/>
            <a:ext cx="5541264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6327648"/>
            <a:ext cx="54864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3368" y="6327648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知识库随注册商户的新增、变更、失效持续更新，并从真实交易中补齐注册数据未覆盖的支付描述和商户别名。由此形成“分类 → 监控 → 定位 → 输出 → 更新 → 再分类”的持续优化闭环。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975104"/>
            <a:ext cx="5541264" cy="5303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73152" bIns="36576" rtlCol="0" anchor="ctr"/>
          <a:lstStyle/>
          <a:p>
            <a:pPr latinLnBrk="1"/>
            <a:r>
              <a:rPr lang="zh-CN" sz="1100" b="1">
                <a:solidFill>
                  <a:srgbClr val="1F4E79"/>
                </a:solidFill>
                <a:latin typeface="微软雅黑"/>
                <a:ea typeface="微软雅黑"/>
              </a:rPr>
              <a:t>① 监控</a:t>
            </a:r>
          </a:p>
          <a:p>
            <a:pPr latinLnBrk="1"/>
            <a:r>
              <a:rPr lang="zh-CN" sz="850" b="0">
                <a:solidFill>
                  <a:srgbClr val="3D3C3A"/>
                </a:solidFill>
                <a:latin typeface="微软雅黑"/>
                <a:ea typeface="微软雅黑"/>
              </a:rPr>
              <a:t>捕捉分类批量漂移、同一交易对手归类不一致、覆盖率或命中率明显下降、新描述未被任何引擎识别等异常信号。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975104"/>
            <a:ext cx="5541264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2587752"/>
            <a:ext cx="5541264" cy="5303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73152" bIns="36576" rtlCol="0" anchor="ctr"/>
          <a:lstStyle/>
          <a:p>
            <a:pPr latinLnBrk="1"/>
            <a:r>
              <a:rPr lang="zh-CN" sz="1100" b="1">
                <a:solidFill>
                  <a:srgbClr val="1F4E79"/>
                </a:solidFill>
                <a:latin typeface="微软雅黑"/>
                <a:ea typeface="微软雅黑"/>
              </a:rPr>
              <a:t>② 定位</a:t>
            </a:r>
          </a:p>
          <a:p>
            <a:pPr latinLnBrk="1"/>
            <a:r>
              <a:rPr lang="zh-CN" sz="850" b="0">
                <a:solidFill>
                  <a:srgbClr val="3D3C3A"/>
                </a:solidFill>
                <a:latin typeface="微软雅黑"/>
                <a:ea typeface="微软雅黑"/>
              </a:rPr>
              <a:t>对异常逐笔细挖交易描述、金额、方向、交易对手、命中引擎和分类依据，归类为五类原因。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587752"/>
            <a:ext cx="5541264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3200400"/>
            <a:ext cx="5541264" cy="5303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73152" bIns="36576" rtlCol="0" anchor="ctr"/>
          <a:lstStyle/>
          <a:p>
            <a:pPr latinLnBrk="1"/>
            <a:r>
              <a:rPr lang="zh-CN" sz="1100" b="1">
                <a:solidFill>
                  <a:srgbClr val="1F4E79"/>
                </a:solidFill>
                <a:latin typeface="微软雅黑"/>
                <a:ea typeface="微软雅黑"/>
              </a:rPr>
              <a:t>③ 输出</a:t>
            </a:r>
          </a:p>
          <a:p>
            <a:pPr latinLnBrk="1"/>
            <a:r>
              <a:rPr lang="zh-CN" sz="850" b="0">
                <a:solidFill>
                  <a:srgbClr val="3D3C3A"/>
                </a:solidFill>
                <a:latin typeface="微软雅黑"/>
                <a:ea typeface="微软雅黑"/>
              </a:rPr>
              <a:t>生成按优先级排序的诊断报告，直接标明问题引擎、需检查的规则、缺失的商户／关键词及应补充的知识库，供业务确认。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0400"/>
            <a:ext cx="5541264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Liability 贷款识别：覆盖、一致性与精度全面优于 illion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681727" y="1591056"/>
          <a:ext cx="7004304" cy="62179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2026/07/05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A$1,248.00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Home loan - Receipt ... To Orange Everyday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Internal Transfer（内部转账）&lt;br&gt;住房贷款完全遗漏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Loans（Home Loan）&lt;br&gt;按产品关键词判定为贷款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681727" y="3108960"/>
          <a:ext cx="7004304" cy="122529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2026/03/02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A$750.00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Loan Disbursement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2026/03/16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2026/05/11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2026/05/25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2026/07/20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81727" y="5413247"/>
          <a:ext cx="7004304" cy="104241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2026/02/10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A$300.00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Loan Advance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2026/04/14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2026/06/22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12064" y="5669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OOT 样本对比：1,519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个申请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case ｜ 1,958,480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条交易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｜ 2026/07/27–2026/07/31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3" y="1069849"/>
            <a:ext cx="64008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9182" y="1051560"/>
            <a:ext cx="40233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 贷款识别覆盖交集：我方漏识别更少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" y="4242816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9767" y="4242816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9767" y="4370832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Finv 识别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" y="4608577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5,680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" y="4919473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覆盖率 12.8%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37943" y="4242816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837943" y="4242816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37943" y="4370832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双方共识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7943" y="4608577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5,284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37943" y="4919473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一致率 92.0%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19" y="4242816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46119" y="4242816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46119" y="4370832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illion 识别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19" y="4608577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5,363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19" y="4919473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覆盖率 12.1%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" y="5321808"/>
            <a:ext cx="4114800" cy="45720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9767" y="5321808"/>
            <a:ext cx="64008" cy="4572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3503" y="5394960"/>
            <a:ext cx="4206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双方识别高度重合，但 Finv 覆盖更多、漏识更少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Case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1060704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覆盖提升：Home Loan 被 illion 漏识别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1353312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同一笔 Home Loan 还款，illion 归为 Internal Transfer，住房贷款完全遗漏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81727" y="2218945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681727" y="2218945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809743" y="2255521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✓ Finv 通过产品词库识别 Home Loan，扩大贷款识别覆盖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Case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2578608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一致性：同一贷款流内 illion 标签自相矛盾（MoneySpot）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7" y="2871216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同一贷款流共 11 笔：放款 1 笔（A$750）+ 等额还款 10 笔（A$49.09/期），illion 前 6 笔标 SACC、后 5 笔标 Non-SACC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81727" y="4425696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681727" y="4425696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09743" y="4462272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✓ Finv 基于完整贷款流统一判断，避免交易级标签前后冲突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Case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882896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分类精度：Credit24 被 illion 泛化为 SACC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7" y="5175503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同一用户共 19 笔 Credit24 交易全部被标为 SACC Loans，忽略产品类型差异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7" y="6327647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681727" y="6327647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809743" y="6364223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✓ Finv 结合交易模式与机构产品知识识别 LOC，提升贷款类型精度</a:t>
            </a:r>
          </a:p>
        </p:txBody>
      </p:sp>
      <p:sp>
        <p:nvSpPr>
          <p:cNvPr id="64" name="venn-blue"/>
          <p:cNvSpPr/>
          <p:nvPr/>
        </p:nvSpPr>
        <p:spPr>
          <a:xfrm>
            <a:off x="841248" y="1609344"/>
            <a:ext cx="2578608" cy="2578608"/>
          </a:xfrm>
          <a:prstGeom prst="ellipse">
            <a:avLst/>
          </a:prstGeom>
          <a:solidFill>
            <a:srgbClr val="1F4E79">
              <a:alpha val="28000"/>
            </a:srgbClr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enn-gold"/>
          <p:cNvSpPr/>
          <p:nvPr/>
        </p:nvSpPr>
        <p:spPr>
          <a:xfrm>
            <a:off x="1947671" y="1609344"/>
            <a:ext cx="2487168" cy="2487168"/>
          </a:xfrm>
          <a:prstGeom prst="ellipse">
            <a:avLst/>
          </a:prstGeom>
          <a:solidFill>
            <a:srgbClr val="D6A000">
              <a:alpha val="28000"/>
            </a:srgbClr>
          </a:solidFill>
          <a:ln w="1524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enn-label-blue"/>
          <p:cNvSpPr txBox="1"/>
          <p:nvPr/>
        </p:nvSpPr>
        <p:spPr>
          <a:xfrm>
            <a:off x="841248" y="1298448"/>
            <a:ext cx="1463040" cy="4023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1" lang="zh-CN">
                <a:solidFill>
                  <a:srgbClr val="1F4E79"/>
                </a:solidFill>
                <a:latin typeface="微软雅黑"/>
                <a:ea typeface="微软雅黑"/>
              </a:rPr>
              <a:t>Finv 识别 5,680</a:t>
            </a:r>
          </a:p>
          <a:p>
            <a:pPr algn="l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覆盖率 12.8%</a:t>
            </a:r>
          </a:p>
        </p:txBody>
      </p:sp>
      <p:sp>
        <p:nvSpPr>
          <p:cNvPr id="67" name="venn-label-gold"/>
          <p:cNvSpPr txBox="1"/>
          <p:nvPr/>
        </p:nvSpPr>
        <p:spPr>
          <a:xfrm>
            <a:off x="2971799" y="1298448"/>
            <a:ext cx="1463040" cy="4023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900" b="1" lang="zh-CN">
                <a:solidFill>
                  <a:srgbClr val="D6A000"/>
                </a:solidFill>
                <a:latin typeface="微软雅黑"/>
                <a:ea typeface="微软雅黑"/>
              </a:rPr>
              <a:t>illion 识别 5,363</a:t>
            </a:r>
          </a:p>
          <a:p>
            <a:pPr algn="r"/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覆盖率 12.1%</a:t>
            </a:r>
          </a:p>
        </p:txBody>
      </p:sp>
      <p:sp>
        <p:nvSpPr>
          <p:cNvPr id="68" name="venn-blue-only"/>
          <p:cNvSpPr txBox="1"/>
          <p:nvPr/>
        </p:nvSpPr>
        <p:spPr>
          <a:xfrm>
            <a:off x="987552" y="274320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lang="zh-CN">
                <a:solidFill>
                  <a:srgbClr val="0A0A0A"/>
                </a:solidFill>
                <a:latin typeface="微软雅黑"/>
                <a:ea typeface="微软雅黑"/>
              </a:rPr>
              <a:t>396</a:t>
            </a:r>
          </a:p>
        </p:txBody>
      </p:sp>
      <p:sp>
        <p:nvSpPr>
          <p:cNvPr id="69" name="venn-gold-only"/>
          <p:cNvSpPr txBox="1"/>
          <p:nvPr/>
        </p:nvSpPr>
        <p:spPr>
          <a:xfrm>
            <a:off x="3520440" y="274320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 lang="zh-CN">
                <a:solidFill>
                  <a:srgbClr val="0A0A0A"/>
                </a:solidFill>
                <a:latin typeface="微软雅黑"/>
                <a:ea typeface="微软雅黑"/>
              </a:rPr>
              <a:t>79</a:t>
            </a:r>
          </a:p>
        </p:txBody>
      </p:sp>
      <p:sp>
        <p:nvSpPr>
          <p:cNvPr id="70" name="venn-intersect"/>
          <p:cNvSpPr txBox="1"/>
          <p:nvPr/>
        </p:nvSpPr>
        <p:spPr>
          <a:xfrm>
            <a:off x="2276856" y="2670048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 lang="zh-CN">
                <a:solidFill>
                  <a:srgbClr val="1F4E79"/>
                </a:solidFill>
                <a:latin typeface="微软雅黑"/>
                <a:ea typeface="微软雅黑"/>
              </a:rPr>
              <a:t>5,284</a:t>
            </a:r>
          </a:p>
        </p:txBody>
      </p:sp>
      <p:sp>
        <p:nvSpPr>
          <p:cNvPr id="71" name="venn-rate"/>
          <p:cNvSpPr txBox="1"/>
          <p:nvPr/>
        </p:nvSpPr>
        <p:spPr>
          <a:xfrm>
            <a:off x="2276856" y="2962656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lang="zh-CN">
                <a:solidFill>
                  <a:srgbClr val="606060"/>
                </a:solidFill>
                <a:latin typeface="微软雅黑"/>
                <a:ea typeface="微软雅黑"/>
              </a:rPr>
              <a:t>一致率 92.0%</a:t>
            </a:r>
          </a:p>
        </p:txBody>
      </p:sp>
    </p:spTree>
    <p:extLst>
      <p:ext uri="{BB962C8B-B14F-4D97-AF65-F5344CB8AC3E}">
        <p14:creationId xmlns:p14="http://schemas.microsoft.com/office/powerpoint/2010/main" val="187524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</TotalTime>
  <Words>1158</Words>
  <Application>Microsoft Office PowerPoint</Application>
  <PresentationFormat>宽屏</PresentationFormat>
  <Paragraphs>358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微软雅黑 Light</vt:lpstr>
      <vt:lpstr>Arial</vt:lpstr>
      <vt:lpstr>微软雅黑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109</cp:revision>
  <dcterms:modified xsi:type="dcterms:W3CDTF">2026-08-10T05:52:06Z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