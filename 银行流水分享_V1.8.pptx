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</a:t>
            </a:r>
            <a:r>
              <a:rPr lang="zh-CN" altLang="zh-CN" dirty="0" sz="1800">
                <a:solidFill>
                  <a:srgbClr val="606060"/>
                </a:solidFill>
                <a:latin typeface="微软雅黑"/>
                <a:ea typeface="微软雅黑"/>
              </a:rPr>
              <a:t>/</a:t>
            </a: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【待补充】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zh-CN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800" lang="zh-CN">
                <a:solidFill>
                  <a:srgbClr val="606060"/>
                </a:solidFill>
                <a:latin typeface="微软雅黑"/>
                <a:ea typeface="微软雅黑"/>
              </a:rPr>
              <a:t>OOT 样本对比：1,519 申请 ｜ 1,958,480 交易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100" b="1">
                <a:solidFill>
                  <a:srgbClr val="0A0A0A"/>
                </a:solidFill>
                <a:latin typeface="微软雅黑"/>
                <a:ea typeface="微软雅黑"/>
              </a:rPr>
              <a:t>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100" b="1">
                <a:solidFill>
                  <a:srgbClr val="0A0A0A"/>
                </a:solidFill>
                <a:latin typeface="微软雅黑"/>
                <a:ea typeface="微软雅黑"/>
              </a:rPr>
              <a:t>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5,284</a:t>
            </a:r>
          </a:p>
        </p:txBody>
      </p:sp>
      <p:sp>
        <p:nvSpPr>
          <p:cNvPr id="71" name="venn-rate"/>
          <p:cNvSpPr txBox="1"/>
          <p:nvPr/>
        </p:nvSpPr>
        <p:spPr>
          <a:xfrm>
            <a:off x="2276856" y="2962656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一致率 92.0%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