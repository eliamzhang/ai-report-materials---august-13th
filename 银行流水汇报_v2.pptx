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覆盖率</c:v>
                </c:pt>
              </c:strCache>
            </c:strRef>
          </c:tx>
          <c:spPr>
            <a:solidFill>
              <a:srgbClr val="0878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8E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B8E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我方</c:v>
                  </c:pt>
                  <c:pt idx="1">
                    <c:v>illion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12.8</c:v>
                </c:pt>
                <c:pt idx="1">
                  <c:v>12.1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124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 w="12700">
            <a:solidFill>
              <a:srgbClr val="0B2E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BANK STATEMENT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银行流水识别与 AI 分类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基于交易分类、商户知识库与 AI 质量闭环的银行流水加工方案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2407C"/>
          </a:solidFill>
          <a:ln w="12700">
            <a:solidFill>
              <a:srgbClr val="2C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754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8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大分类引擎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1488" y="4754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2407C"/>
          </a:solidFill>
          <a:ln w="12700">
            <a:solidFill>
              <a:srgbClr val="2C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1488" y="4754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8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商户知识库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0016" y="4754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2407C"/>
          </a:solidFill>
          <a:ln w="12700">
            <a:solidFill>
              <a:srgbClr val="2C5F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4754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8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质量闭环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38544" y="475488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2407C"/>
          </a:solidFill>
          <a:ln w="12700">
            <a:solidFill>
              <a:srgbClr val="2C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47548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8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Liability 识别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银行流水识别解决什么问题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原始流水 → 结构化数据 → 收入评估、负债识别与偿付能力计算，支撑信审决策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2912" y="136245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用户申请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38832" y="1581912"/>
            <a:ext cx="91440" cy="18288"/>
          </a:xfrm>
          <a:prstGeom prst="rect">
            <a:avLst/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48560" y="136245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银行卡绑定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4480" y="1581912"/>
            <a:ext cx="91440" cy="18288"/>
          </a:xfrm>
          <a:prstGeom prst="rect">
            <a:avLst/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4208" y="136245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数据解析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0128" y="1581912"/>
            <a:ext cx="91440" cy="18288"/>
          </a:xfrm>
          <a:prstGeom prst="rect">
            <a:avLst/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59856" y="136245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交易对手与分类识别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05776" y="1581912"/>
            <a:ext cx="91440" cy="18288"/>
          </a:xfrm>
          <a:prstGeom prst="rect">
            <a:avLst/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15504" y="136245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Serviceability 计算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61424" y="1581912"/>
            <a:ext cx="91440" cy="18288"/>
          </a:xfrm>
          <a:prstGeom prst="rect">
            <a:avLst/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71152" y="1362456"/>
            <a:ext cx="16276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信审决策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1965960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148840"/>
            <a:ext cx="457200" cy="45720"/>
          </a:xfrm>
          <a:prstGeom prst="rect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Serviceability 核心公式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 − 必要支出 − 负债还款 = 可支配盈余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流水识别准确性直接影响收入、支出与负债的计算结果，进而影响最终信审判断。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1965960"/>
            <a:ext cx="718718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监管依据：Responsible Lending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《National Consumer Credit Protection Act 2009》与 ASIC 监管要求：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816352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合理了解客户财务状况与借款目的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75320" y="2816352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核实收入、必要支出、现有负债及可预见变化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127248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判断能否在不造成重大经济困难下履行还款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75320" y="3127248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不得提供"不适合"的信贷产品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611880"/>
            <a:ext cx="369813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3813048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交易对手与分类识别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识别实际交易对手、机构属性与交易类别，建立结构化识别结果。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46778" y="3611880"/>
            <a:ext cx="369813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29658" y="3813048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29658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Serviceability 计算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基于识别结果判断客户能否在重大经济压力下维持还款能力。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27797" y="3611880"/>
            <a:ext cx="3698138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10677" y="3813048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0677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信贷决策支持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识别准确性直接决定收入、支出与负债核算，影响最终信审判断。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为什么自建分类能力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当前交易分类与对手识别高度依赖 illion，存在以下痛点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47218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分类逻辑不透明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规则与模型是黑盒，漏识别或误分类时难以定位具体原因。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40682" y="132588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5274" y="147218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5274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无法快速调整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规则与口径调整依赖外部供应商，难以快速响应业务与合规变化。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115605" y="132588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0197" y="147218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0197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分类粒度不足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SACC / Non-SACC / BNPL / LOC / Wage Advance 等类型需进一步拆分。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75234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长尾商户覆盖不足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小型商户、新兴平台与特殊描述易落入 Other 或错误分类。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240682" y="260604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5274" y="275234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05274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对手识别能力有限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无法准确识别具体商户或贷款机构，下游归属计算难以开展。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115605" y="260604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80197" y="275234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80197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字段与口径缺控制权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 与 Serviceability 所需字段及公式、窗口无法按内部标准配置。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365760" y="388620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03250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效果难以系统监控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无法掌握模型版本与知识库变化，难以建立效果评估与回溯机制。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4240682" y="388620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05274" y="403250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5274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多数据源不一致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Banking 接入后，多供应商字段与分类体系差异增加复杂度。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8115605" y="3886200"/>
            <a:ext cx="371033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0197" y="403250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80197" y="4032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受制于外部供应商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长期依赖外部限制模型优化、策略调整与产品创新的自主性。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65760" y="5111496"/>
            <a:ext cx="11460175" cy="566928"/>
          </a:xfrm>
          <a:prstGeom prst="roundRect">
            <a:avLst>
              <a:gd name="adj" fmla="val 9677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结论：需要逐步建设自主的交易分类模型与商户知识库，将对手识别、分类规则与计算逻辑沉淀为内部能力，提升可解释性、可配置性与迭代效率。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银行流水识别需要完成哪些加工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两个维度：交易明细识别 + 用户汇总指标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07592"/>
            <a:ext cx="5669280" cy="4590288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1 · 交易明细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原始交易文本 → 结构化信息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2039112"/>
            <a:ext cx="5266944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原始交易示例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2026-03-26 · 156 澳元 · Debit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PAY Fair Go Finance DT.58oa72 SACC 239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026664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26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交易对手识别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对手名称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Fair Go Finance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主体类型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贷款机构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机构属性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小额信贷机构（SACC）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常见对手：商户企业（Woolworths / Telstra）、贷款机构（Fair Go Finance）、政府机构（Services Australia / ATO）、个人账户。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4654296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654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交易分类识别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" y="4946904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一级分类：贷款及还款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27248" y="4946904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二级分类：SACC Loans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常见分类：工资收入 · 赌博支出 · 房租 · 水电通信 · 内部转账 · 外部个人转账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1307592"/>
            <a:ext cx="5577840" cy="4590288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2 · 用户汇总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按客户、账户与观察周期汇总，形成用户级负债与还款指标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55664" y="2112264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Fair Go Finance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每两周还款 156 澳元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55664" y="2459736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 Corp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每月还款 90 澳元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55664" y="2807208"/>
            <a:ext cx="109728" cy="109728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其他贷款还款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 澳元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汇总输出（最近 90 天）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19088" y="352044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当前贷款机构数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家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16568" y="352044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借款总额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2,300 澳元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19088" y="388620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还款总额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1,284 澳元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116568" y="388620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平均月还款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澳元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419088" y="425196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预计待还金额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1,016 澳元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116568" y="425196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还款次数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次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419088" y="461772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 SACC 贷款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116568" y="461772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存在多头借贷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419088" y="4983480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持续还款 / 还款中断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 / 否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用户负债汇总（最近 90 天）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识别到的贷款机构：Fair Go Finance 每两周 156 澳元 · Credit Corp 每月 90 澳元 · 其他贷款还款 78 澳元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178810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当前贷款机构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00173" y="1353312"/>
            <a:ext cx="178810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2,300 澳元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90 天借款总额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34586" y="1353312"/>
            <a:ext cx="178810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1,284 澳元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90 天还款总额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9000" y="1353312"/>
            <a:ext cx="178810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澳元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平均月还款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03413" y="1353312"/>
            <a:ext cx="178810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1,016 澳元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预计待还金额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37826" y="1353312"/>
            <a:ext cx="1788109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还款次数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560320"/>
            <a:ext cx="11460175" cy="603504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判断结论：存在 SACC 贷款 · 存在多头借贷 · 存在持续还款 · 不存在还款中断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371033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54787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Fair Go Finance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32688" y="385876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3858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SACC 贷款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每两周还款 156 澳元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90 天还款 6 次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4240682" y="3291840"/>
            <a:ext cx="371033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23562" y="354787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3562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 Corp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07610" y="385876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7610" y="3858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债务催收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每月还款 90 澳元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90 天持续还款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8115605" y="3291840"/>
            <a:ext cx="371033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98485" y="354787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8485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其他贷款还款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682533" y="3858768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2533" y="3858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多项还款交易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78 澳元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归入其他负债还款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注：预计待还金额根据借款金额与已还金额估算，可能涉及利息、费用、重复借款及观察期外还款，仅作参考。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单笔负债详情：Fair Go 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贷款明细、还款频率与贷款状态识别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07592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贷款信息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5216" y="1911096"/>
            <a:ext cx="59618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贷款机构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Fair Go Finance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5216" y="2331720"/>
            <a:ext cx="5961888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贷款类型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SACC 贷款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5216" y="2752344"/>
            <a:ext cx="59618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借款金额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1,500 澳元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" y="3172968"/>
            <a:ext cx="5961888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90 天已还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936 澳元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5216" y="3593592"/>
            <a:ext cx="59618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预计待还金额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564 澳元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85216" y="4014216"/>
            <a:ext cx="5961888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还款频率 / 单次金额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每两周一次 · 156 澳元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5216" y="4434840"/>
            <a:ext cx="59618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 90 天还款次数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次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85216" y="4855464"/>
            <a:ext cx="5961888" cy="42062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贷款状态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在贷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85216" y="5276088"/>
            <a:ext cx="59618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扣款失败 / 还款中断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 / 否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040880" y="1307592"/>
            <a:ext cx="4782312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贷款状态判定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260336" y="1911096"/>
            <a:ext cx="4343400" cy="804672"/>
          </a:xfrm>
          <a:prstGeom prst="roundRect">
            <a:avLst>
              <a:gd name="adj" fmla="val 6818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24928" y="2039112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203911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在贷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29600" y="2039112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20391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贷款尚未结清，近期仍存在正常还款。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7260336" y="2862072"/>
            <a:ext cx="4343400" cy="804672"/>
          </a:xfrm>
          <a:prstGeom prst="roundRect">
            <a:avLst>
              <a:gd name="adj" fmla="val 681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24928" y="2990088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99008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结清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贷款已完成还款，近期不再产生相关还款交易。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7260336" y="3813048"/>
            <a:ext cx="4343400" cy="804672"/>
          </a:xfrm>
          <a:prstGeom prst="roundRect">
            <a:avLst>
              <a:gd name="adj" fmla="val 6818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24928" y="3941064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39410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违约中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持续逾期、长期停止还款或多次扣款失败等异常。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7260336" y="4764024"/>
            <a:ext cx="4343400" cy="804672"/>
          </a:xfrm>
          <a:prstGeom prst="roundRect">
            <a:avLst>
              <a:gd name="adj" fmla="val 6818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24928" y="4892040"/>
            <a:ext cx="658368" cy="237744"/>
          </a:xfrm>
          <a:prstGeom prst="roundRect">
            <a:avLst>
              <a:gd name="adj" fmla="val 50000"/>
            </a:avLst>
          </a:prstGeom>
          <a:solidFill>
            <a:srgbClr val="858A91"/>
          </a:solidFill>
          <a:ln w="12700">
            <a:solidFill>
              <a:srgbClr val="858A9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24928" y="48920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状态不明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观察周期不足或交易信息不完整，暂时无法准确判断。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在流水处理中的应用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个分类引擎依次处理，后续引擎发现更明确证据时可修正前序分类，最终以最匹配业务语义为准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· Init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5991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· Dishonour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66221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· Transfer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16452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· Income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66683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· Liability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16914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· Other Credit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67144" y="1325880"/>
            <a:ext cx="155879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· Fee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90008" y="1892808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· 质量评估与优化闭环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75808" y="1783080"/>
            <a:ext cx="640080" cy="109728"/>
          </a:xfrm>
          <a:prstGeom prst="rect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78024"/>
            <a:ext cx="56477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流水线一：澳洲官方注册商户数据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定期拉取注册商户数据  →  提取法定 / 商业 / 交易名称  →  与现有知识库增量比对  →  新增、更新、下线处理  →  清洗无效关键词  →  AI 联网验证业务与类别  →  更新标准名 / 关键词 / 链接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78144" y="2478024"/>
            <a:ext cx="56477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流水线二：线上未识别商户交易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定期拉取未识别流水  →  筛选未打上商户的交易  →  AI 联网核验真实性  →  提取标准名与关键词  →  去重合并新别名  →  回写商户知识库  →  下一轮 Init 分类自动生效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商户知识库沉淀示例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325112"/>
          <a:ext cx="11521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651760"/>
                <a:gridCol w="356616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原始交易描述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标准商户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 / 别名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MCDONALDS BRISBANE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McDonald's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MCDONALDS、MCDONALD'S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Dining Out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CHEMIST WAREHOUSE 123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Chemist Warehouse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CHEMIST WAREHOUSE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Health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AMZNPRIMEA*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 Prime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AMZNPRIMEA*、Amazon Prime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Subscription 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*CHATGPT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 *CHATGPT、OpenAI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Information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应用：退票 / 转账 / 收入识别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Dishonour Engine 与 Transfer Engine 使用明确规则，Income Engine 综合文本与行为证据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1033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Dishonour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退票识别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识别退票、撤销、失败扣款及直接扣款退回，标记为退票类交易。使用明确交易文本规则，无需实时 AI 判断；新退票描述通过评估闭环补充为规则。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40682" y="1325880"/>
            <a:ext cx="371033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3562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23562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资金搬运识别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识别内部转账与外部转账，避免资金搬运被误分类为消费、收入或负债。综合转账文本、交易对手、方向与排除规则判断；误判场景由 AI 审计给出优化建议。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115605" y="1325880"/>
            <a:ext cx="371033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8485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8485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Income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收入识别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识别工资、薪酬包装、政府补助与零工收入。综合交易方向、金额、付款方重复次数、金额稳定性与周 / 双周 / 月规律周期判断。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Income 知识库示例：文本模式 + 行为证据共同成立才归为收入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575304"/>
          <a:ext cx="11521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  <a:gridCol w="374904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交易描述与行为线索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命中的知识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普通工资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PAYROLL ACME PTY LTD，同一付款方每两周入账，金额稳定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工资文本模式 + 双周周期 + 稳定金额阈值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salary_payg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薪酬包装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SALARY PACKAGING ...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薪酬包装模式优先于普通工资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salary_packaging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政府补助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CENTRELINK ...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Centrelink 专项模式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centrelink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零工收入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UBER ... 入账，不含退款 / 贷款 / 转账信号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零工模式 + 入账方向 + 排除规则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self_employed_gig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非收入排除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LOAN DEPOSIT、退款或内部转账描述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贷款 / 退款 / 转账负向模式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不归为收入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Liability Engine：贷款 / 信用卡 / 催收识别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先识别交易对手与产品类型，再将同类还款交易归集为负债流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521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420624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知识库 / 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交易描述示例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识别逻辑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BNPL 交易对手库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DIRECT DEBIT AFTERPAY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Afterpay 命中 BNPL 关键词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Afterpay · BNPL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信用卡还款规则库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BPAY ... ANZ CARDS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银行 / 账户 / 信用卡文本模式匹配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Credit Card Repayment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房贷规则库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MORTGAGE REPAYMENT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Mortgage、Home Loan 关键词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Home Loan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车贷规则库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车贷机构或专用描述扣款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车贷标记 + 交易对手规则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Car Loan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催收规则库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已知催收机构名称或关键词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催收机构关键词与专项标记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Debt Collection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债务整合规则库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债务整合机构或描述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债务整合关键词与专项标记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Debt Consolidation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退票规则库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Return ... Loan Repayment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贷款还款被退回的文本模式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Dishonours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透支规则库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OVERDRAWN ...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透支专用关键词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Overdrawn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通用贷款兜底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未命中机构但含完整 LOAN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专项规则未命中后的兜底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Generic Loans · Non SACC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623560"/>
            <a:ext cx="11460175" cy="777240"/>
          </a:xfrm>
          <a:prstGeom prst="roundRect">
            <a:avLst>
              <a:gd name="adj" fmla="val 7059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复杂交易特例处理：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Credit Corp 按子产品线索判断为 BNPL / 循环额度 / 个人贷款；Cash Converters 含门店、终端或卡尾号消费证据时归为零售，含贷款合同编号时保留贷款含义；Afterpay 限额信息用于额度分析而非单笔判定。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兜底引擎与 AI 质量闭环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Other Credit 与 Fee 引擎兜底未识别交易，质量闭环持续监控与优化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6477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Other Credit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未识别入账兜底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归集未被收入、转账、负债引擎识别的入账交易。确保不遗漏可识别入账；高频落入该类的交易提示对应知识库仍有补充空间。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8144" y="1325880"/>
            <a:ext cx="56477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1024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1024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 Engine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费用识别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ATM、账户、国际交易、透支、退票与现金预支费用。使用费用描述与交易模式规则，在流水线最后完成归类，新费用类型可经闭环补充。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62072"/>
            <a:ext cx="11460175" cy="246888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质量评估闭环：AI 质检 Agent 监控分类波动并输出诊断报告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374136"/>
            <a:ext cx="210915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50215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引擎规则问题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规则或优先级配置错误，导致误改或漏分类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804099" y="3374136"/>
            <a:ext cx="210915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32115" y="350215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32115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知识库不足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缺失商户、关键词或机构，落入兜底分类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41270" y="3374136"/>
            <a:ext cx="210915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9286" y="350215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9286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数据本身异常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描述格式变化、字段变更或上游数据异常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278441" y="3374136"/>
            <a:ext cx="210915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06457" y="350215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457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多引擎冲突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引擎规则冲突，最终分类被错误覆盖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515612" y="3374136"/>
            <a:ext cx="2109155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43628" y="3502152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43628" y="3502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正常波动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可接受的分类变化，无需处理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处置：AI 输出按优先级排序的诊断报告，标明问题引擎、需检查的规则、缺失的商户或关键词，以及应补充的知识库 / 规则表；业务审核后写回，下一轮分类生效。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Liability 分类效果：OOT 样本对比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个申请 case · 44,241 条交易 · 2026/07/20–21，对比基准为 illion 外部标签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2252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5,680 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我方识别贷款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12.8%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34586" y="1325880"/>
            <a:ext cx="372252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5,363 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illion 识别贷款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12.1%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03413" y="1325880"/>
            <a:ext cx="3722522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92.0%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共认贷款分类一致率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双方案例标签一致性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020824"/>
            <a:ext cx="512064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贷款识别覆盖率对比</a:t>
            </a:r>
            <a:endParaRPr lang="en-US" sz="12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66928" y="2441448"/>
          <a:ext cx="466344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5669280" y="2020824"/>
            <a:ext cx="61264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识别覆盖交集（韦恩图数据）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72200" y="2459736"/>
            <a:ext cx="1325880" cy="1325880"/>
          </a:xfrm>
          <a:prstGeom prst="ellipse">
            <a:avLst/>
          </a:prstGeom>
          <a:solidFill>
            <a:srgbClr val="0878E3">
              <a:alpha val="65000"/>
            </a:srgbClr>
          </a:solidFill>
          <a:ln w="19050">
            <a:solidFill>
              <a:srgbClr val="0878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0" y="2459736"/>
            <a:ext cx="1325880" cy="1325880"/>
          </a:xfrm>
          <a:prstGeom prst="ellipse">
            <a:avLst/>
          </a:prstGeom>
          <a:solidFill>
            <a:srgbClr val="9AB8E0">
              <a:alpha val="65000"/>
            </a:srgbClr>
          </a:solidFill>
          <a:ln w="19050">
            <a:solidFill>
              <a:srgbClr val="5B84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 5,680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共认 5,284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illion 5,363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我方独有 396 条：BNPL · EWA · Home Loan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illion 独有 79 条：知识库缺失或归属差异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我方漏识别更少，整体覆盖更优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共认贷款标签一致性矩阵（5,284 条）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489704"/>
          <a:ext cx="11521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2377440"/>
                <a:gridCol w="219456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illion 分类 \ 我方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SACC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Non-SACC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 Unknown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8E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illion SACC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262 · 60.0%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 · 20.8%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 · 18.3%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illion Non-SACC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106 · 2.2%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4,601 · 93.4%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144 · 2.9%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4,926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我方小计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5,072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021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5,284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365760" y="5916168"/>
            <a:ext cx="11460175" cy="402336"/>
          </a:xfrm>
          <a:prstGeom prst="roundRect">
            <a:avLst>
              <a:gd name="adj" fmla="val 13636"/>
            </a:avLst>
          </a:prstGeom>
          <a:solidFill>
            <a:srgbClr val="EAF4FF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解读：illion 的 SACC 标记中 39.1% 被我方修正（过分类明显）；我方 Non-SACC 与 illion 一致率 93.4%，分类更稳健。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典型案例：覆盖 → 一致性 → 精度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OOT 对比分析（35 个申请 case）中三类差异化价值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710330" cy="4663440"/>
          </a:xfrm>
          <a:prstGeom prst="roundRect">
            <a:avLst>
              <a:gd name="adj" fmla="val 147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904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覆盖优势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1 · Home Loan 被 illion 漏识别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 "Home loan - Receipt ... To Orange Everyday" 被 illion 标为 Internal Transfer（非贷款），完全遗漏住房贷款。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我方逻辑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我方基于 "Home loan" 产品关键词判定为贷款，细分为 Non-SACC Loans（Home Loan）。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548640" y="4654296"/>
            <a:ext cx="3344570" cy="841248"/>
          </a:xfrm>
          <a:prstGeom prst="roundRect">
            <a:avLst>
              <a:gd name="adj" fmla="val 6522"/>
            </a:avLst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价值：通过产品词库识别捕捉 illion 覆盖盲区，扩大贷款识别面。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240682" y="1325880"/>
            <a:ext cx="3710330" cy="4663440"/>
          </a:xfrm>
          <a:prstGeom prst="roundRect">
            <a:avLst>
              <a:gd name="adj" fmla="val 147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23562" y="14904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3562" y="1490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2 · 同一贷款流内 illion 标签自相矛盾（MoneySpot）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放款 750 澳元、等额还款 49.09 澳元 × 10；illion 前 6 笔标 SACC、后 5 笔标 Non-SACC。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我方逻辑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我方通过放款与还款匹配识别为单一贷款流，按小额等额高频特征统一判定为 SACC Loans。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4423562" y="4654296"/>
            <a:ext cx="334457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价值：验证贷款流粒度分类一致性，纠正 illion 碎片化误判。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115605" y="1325880"/>
            <a:ext cx="3710330" cy="4663440"/>
          </a:xfrm>
          <a:prstGeom prst="roundRect">
            <a:avLst>
              <a:gd name="adj" fmla="val 147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8485" y="14904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8485" y="1490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 3 · LOC 产品被 illion 泛化为 SACC（Credit24）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同一用户 19 笔 Credit24 交易，illion 全部标为 SACC Loans，忽略产品类型差异。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我方逻辑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我方结合交易模式与机构产品库识别为循环授信（LOC），归入 Non-SACC Loans。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298485" y="4654296"/>
            <a:ext cx="3344570" cy="841248"/>
          </a:xfrm>
          <a:prstGeom prst="roundRect">
            <a:avLst>
              <a:gd name="adj" fmla="val 6522"/>
            </a:avLst>
          </a:prstGeom>
          <a:solidFill>
            <a:srgbClr val="FDEBEC"/>
          </a:solidFill>
          <a:ln w="12700">
            <a:solidFill>
              <a:srgbClr val="FDEB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600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价值：细粒度产品区分，避免非 SACC 产品误判为高风险 SACC，为风控提供准确信号。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24128" y="292608"/>
            <a:ext cx="10783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总结与价值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60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自主交易分类能力带来的业务与工程价值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1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收入、负债、支出识别更准确，Serviceability 计算更可靠，支撑 Responsible Lending 合规要求。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1952" y="1325880"/>
            <a:ext cx="2741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4832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4832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能力自主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沉淀商户知识库与规则，脱离供应商黑盒，快速响应业务、风险与合规变化。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8144" y="1325880"/>
            <a:ext cx="2741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61024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1024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赋能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引擎流水线 + 知识库自动维护 + 质量闭环，AI 辅助实时判断与规则优化。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84335" y="1325880"/>
            <a:ext cx="27416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7215" y="1508760"/>
            <a:ext cx="310896" cy="310896"/>
          </a:xfrm>
          <a:prstGeom prst="ellipse">
            <a:avLst/>
          </a:prstGeom>
          <a:solidFill>
            <a:srgbClr val="EAF4FF"/>
          </a:solidFill>
          <a:ln w="12700">
            <a:solidFill>
              <a:srgbClr val="EAF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7215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OOT 覆盖 12.8% vs 12.1%，共认一致率 92.0%，SACC 修正率 39.1%，Non-SACC 一致率 93.4%。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11460175" cy="1737360"/>
          </a:xfrm>
          <a:prstGeom prst="roundRect">
            <a:avLst>
              <a:gd name="adj" fmla="val 3158"/>
            </a:avLst>
          </a:prstGeom>
          <a:solidFill>
            <a:srgbClr val="202020"/>
          </a:solidFill>
          <a:ln w="12700">
            <a:solidFill>
              <a:srgbClr val="202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78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51960"/>
            <a:ext cx="128016" cy="128016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持续扩充商户与负债知识库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4251960"/>
            <a:ext cx="128016" cy="128016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Open Banking 多源数据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251960"/>
            <a:ext cx="128016" cy="128016"/>
          </a:xfrm>
          <a:prstGeom prst="ellipse">
            <a:avLst/>
          </a:prstGeom>
          <a:solidFill>
            <a:srgbClr val="0878E3"/>
          </a:solidFill>
          <a:ln w="12700">
            <a:solidFill>
              <a:srgbClr val="0878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建立效果监控与模型版本管理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6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通过自主模型提升分类可解释性、可配置性与迭代效率，降低长期供应商依赖。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银行流水识别方案</dc:title>
  <dc:subject>PptxGenJS Presentation</dc:subject>
  <dc:creator>AI Report</dc:creator>
  <cp:lastModifiedBy>AI Report</cp:lastModifiedBy>
  <cp:revision>1</cp:revision>
  <dcterms:created xsi:type="dcterms:W3CDTF">2026-08-05T12:53:28Z</dcterms:created>
  <dcterms:modified xsi:type="dcterms:W3CDTF">2026-08-05T12:53:28Z</dcterms:modified>
</cp:coreProperties>
</file>