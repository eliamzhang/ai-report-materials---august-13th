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1" r:id="rId4"/>
    <p:sldId id="280" r:id="rId5"/>
    <p:sldId id="279" r:id="rId6"/>
  </p:sldIdLst>
  <p:sldSz cx="12192000" cy="6858000"/>
  <p:notesSz cx="12192000" cy="6858000"/>
  <p:embeddedFontLst>
    <p:embeddedFont>
      <p:font typeface="微软雅黑" panose="020B0503020204020204" pitchFamily="34" charset="-122"/>
      <p:regular r:id="rId7"/>
      <p:bold r:id="rId8"/>
    </p:embeddedFont>
    <p:embeddedFont>
      <p:font typeface="微软雅黑 Light" panose="020B0502040204020203" pitchFamily="34" charset="-122"/>
      <p:regular r:id="rId9"/>
    </p:embeddedFont>
    <p:embeddedFont>
      <p:font typeface="等线" panose="02010600030101010101" pitchFamily="2" charset="-122"/>
      <p:regular r:id="rId10"/>
      <p:bold r:id="rId11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1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12064" y="121615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39495" y="3154578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561995"/>
              </p:ext>
            </p:extLst>
          </p:nvPr>
        </p:nvGraphicFramePr>
        <p:xfrm>
          <a:off x="512064" y="1690949"/>
          <a:ext cx="10901631" cy="1205748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96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8131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1048131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154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48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38038" y="346293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38038" y="3462934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20918" y="3563518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4" name="Fa-bg"/>
          <p:cNvSpPr/>
          <p:nvPr/>
        </p:nvSpPr>
        <p:spPr>
          <a:xfrm>
            <a:off x="6189030" y="346293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189030" y="3462934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371910" y="3563518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31" name="concl-bar"/>
          <p:cNvSpPr/>
          <p:nvPr/>
        </p:nvSpPr>
        <p:spPr>
          <a:xfrm>
            <a:off x="538038" y="6126480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38038" y="6126480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20918" y="6181344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lang="zh-CN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336870" y="121664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364302" y="315203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用户-tag1"/>
          <p:cNvSpPr/>
          <p:nvPr/>
        </p:nvSpPr>
        <p:spPr>
          <a:xfrm>
            <a:off x="722376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用户-tag1-t"/>
          <p:cNvSpPr txBox="1"/>
          <p:nvPr/>
        </p:nvSpPr>
        <p:spPr>
          <a:xfrm>
            <a:off x="722376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</p:txBody>
      </p:sp>
      <p:sp>
        <p:nvSpPr>
          <p:cNvPr id="53" name="用户-tag2"/>
          <p:cNvSpPr/>
          <p:nvPr/>
        </p:nvSpPr>
        <p:spPr>
          <a:xfrm>
            <a:off x="1993392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用户-tag2-t"/>
          <p:cNvSpPr txBox="1"/>
          <p:nvPr/>
        </p:nvSpPr>
        <p:spPr>
          <a:xfrm>
            <a:off x="1993392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近期借贷活跃</a:t>
            </a:r>
          </a:p>
        </p:txBody>
      </p:sp>
      <p:sp>
        <p:nvSpPr>
          <p:cNvPr id="55" name="用户-tag3"/>
          <p:cNvSpPr/>
          <p:nvPr/>
        </p:nvSpPr>
        <p:spPr>
          <a:xfrm>
            <a:off x="3264408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用户-tag3-t"/>
          <p:cNvSpPr txBox="1"/>
          <p:nvPr/>
        </p:nvSpPr>
        <p:spPr>
          <a:xfrm>
            <a:off x="3264408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持续正常还款</a:t>
            </a:r>
          </a:p>
        </p:txBody>
      </p:sp>
      <p:sp>
        <p:nvSpPr>
          <p:cNvPr id="57" name="用户-tag4"/>
          <p:cNvSpPr/>
          <p:nvPr/>
        </p:nvSpPr>
        <p:spPr>
          <a:xfrm>
            <a:off x="4535424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用户-tag4-t"/>
          <p:cNvSpPr txBox="1"/>
          <p:nvPr/>
        </p:nvSpPr>
        <p:spPr>
          <a:xfrm>
            <a:off x="4535424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暂无明显违约</a:t>
            </a:r>
          </a:p>
        </p:txBody>
      </p:sp>
      <p:sp>
        <p:nvSpPr>
          <p:cNvPr id="59" name="用户-g1-bar"/>
          <p:cNvSpPr/>
          <p:nvPr/>
        </p:nvSpPr>
        <p:spPr>
          <a:xfrm>
            <a:off x="566928" y="4201668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用户-g1-t"/>
          <p:cNvSpPr txBox="1"/>
          <p:nvPr/>
        </p:nvSpPr>
        <p:spPr>
          <a:xfrm>
            <a:off x="658368" y="4187952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负债压力</a:t>
            </a:r>
          </a:p>
        </p:txBody>
      </p:sp>
      <p:sp>
        <p:nvSpPr>
          <p:cNvPr id="61" name="用户-g1-1"/>
          <p:cNvSpPr txBox="1"/>
          <p:nvPr/>
        </p:nvSpPr>
        <p:spPr>
          <a:xfrm>
            <a:off x="722376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62" name="用户-g1-2"/>
          <p:cNvSpPr txBox="1"/>
          <p:nvPr/>
        </p:nvSpPr>
        <p:spPr>
          <a:xfrm>
            <a:off x="1993392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63" name="用户-g1-3"/>
          <p:cNvSpPr txBox="1"/>
          <p:nvPr/>
        </p:nvSpPr>
        <p:spPr>
          <a:xfrm>
            <a:off x="3264408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64" name="用户-g1-4"/>
          <p:cNvSpPr txBox="1"/>
          <p:nvPr/>
        </p:nvSpPr>
        <p:spPr>
          <a:xfrm>
            <a:off x="4535424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65" name="用户-g2-bar"/>
          <p:cNvSpPr/>
          <p:nvPr/>
        </p:nvSpPr>
        <p:spPr>
          <a:xfrm>
            <a:off x="566928" y="4823459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用户-g2-t"/>
          <p:cNvSpPr txBox="1"/>
          <p:nvPr/>
        </p:nvSpPr>
        <p:spPr>
          <a:xfrm>
            <a:off x="658368" y="4809744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借贷特征</a:t>
            </a:r>
          </a:p>
        </p:txBody>
      </p:sp>
      <p:sp>
        <p:nvSpPr>
          <p:cNvPr id="67" name="用户-g2-1"/>
          <p:cNvSpPr txBox="1"/>
          <p:nvPr/>
        </p:nvSpPr>
        <p:spPr>
          <a:xfrm>
            <a:off x="722376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多头借贷</a:t>
            </a:r>
          </a:p>
        </p:txBody>
      </p:sp>
      <p:sp>
        <p:nvSpPr>
          <p:cNvPr id="68" name="用户-g2-2"/>
          <p:cNvSpPr txBox="1"/>
          <p:nvPr/>
        </p:nvSpPr>
        <p:spPr>
          <a:xfrm>
            <a:off x="1993392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持续还款</a:t>
            </a:r>
          </a:p>
        </p:txBody>
      </p:sp>
      <p:sp>
        <p:nvSpPr>
          <p:cNvPr id="69" name="用户-g2-3"/>
          <p:cNvSpPr txBox="1"/>
          <p:nvPr/>
        </p:nvSpPr>
        <p:spPr>
          <a:xfrm>
            <a:off x="3264408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SACC 贷款</a:t>
            </a:r>
          </a:p>
        </p:txBody>
      </p:sp>
      <p:sp>
        <p:nvSpPr>
          <p:cNvPr id="70" name="用户-g2-4"/>
          <p:cNvSpPr txBox="1"/>
          <p:nvPr/>
        </p:nvSpPr>
        <p:spPr>
          <a:xfrm>
            <a:off x="4535424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90 天还款 9 次</a:t>
            </a:r>
          </a:p>
        </p:txBody>
      </p:sp>
      <p:sp>
        <p:nvSpPr>
          <p:cNvPr id="71" name="用户-g3-bar"/>
          <p:cNvSpPr/>
          <p:nvPr/>
        </p:nvSpPr>
        <p:spPr>
          <a:xfrm>
            <a:off x="566928" y="5445252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用户-g3-t"/>
          <p:cNvSpPr txBox="1"/>
          <p:nvPr/>
        </p:nvSpPr>
        <p:spPr>
          <a:xfrm>
            <a:off x="658368" y="5431536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还款表现</a:t>
            </a:r>
          </a:p>
        </p:txBody>
      </p:sp>
      <p:sp>
        <p:nvSpPr>
          <p:cNvPr id="73" name="用户-g3-1"/>
          <p:cNvSpPr txBox="1"/>
          <p:nvPr/>
        </p:nvSpPr>
        <p:spPr>
          <a:xfrm>
            <a:off x="722376" y="5614416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74" name="用户-g3-2"/>
          <p:cNvSpPr txBox="1"/>
          <p:nvPr/>
        </p:nvSpPr>
        <p:spPr>
          <a:xfrm>
            <a:off x="1993392" y="5614416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违约次数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0 次</a:t>
            </a:r>
          </a:p>
        </p:txBody>
      </p:sp>
      <p:sp>
        <p:nvSpPr>
          <p:cNvPr id="75" name="用户-g3-3"/>
          <p:cNvSpPr txBox="1"/>
          <p:nvPr/>
        </p:nvSpPr>
        <p:spPr>
          <a:xfrm>
            <a:off x="3264408" y="5614416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扣款失败次数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0 次</a:t>
            </a:r>
          </a:p>
        </p:txBody>
      </p:sp>
      <p:sp>
        <p:nvSpPr>
          <p:cNvPr id="76" name="用户-g3-4"/>
          <p:cNvSpPr txBox="1"/>
          <p:nvPr/>
        </p:nvSpPr>
        <p:spPr>
          <a:xfrm>
            <a:off x="4535424" y="5614416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77" name="Fa-head"/>
          <p:cNvSpPr/>
          <p:nvPr/>
        </p:nvSpPr>
        <p:spPr>
          <a:xfrm>
            <a:off x="6373368" y="3840480"/>
            <a:ext cx="5010912" cy="237744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a-h1"/>
          <p:cNvSpPr txBox="1"/>
          <p:nvPr/>
        </p:nvSpPr>
        <p:spPr>
          <a:xfrm>
            <a:off x="6464807" y="386791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Fair Go Finance</a:t>
            </a:r>
          </a:p>
        </p:txBody>
      </p:sp>
      <p:sp>
        <p:nvSpPr>
          <p:cNvPr id="79" name="Fa-h2"/>
          <p:cNvSpPr txBox="1"/>
          <p:nvPr/>
        </p:nvSpPr>
        <p:spPr>
          <a:xfrm>
            <a:off x="7973567" y="388620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80" name="Fa-h3"/>
          <p:cNvSpPr txBox="1"/>
          <p:nvPr/>
        </p:nvSpPr>
        <p:spPr>
          <a:xfrm>
            <a:off x="8750808" y="38862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81" name="Fa-h4"/>
          <p:cNvSpPr txBox="1"/>
          <p:nvPr/>
        </p:nvSpPr>
        <p:spPr>
          <a:xfrm>
            <a:off x="9619488" y="386791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100" b="1" lang="zh-CN">
                <a:solidFill>
                  <a:srgbClr val="D6A000"/>
                </a:solidFill>
                <a:latin typeface="微软雅黑"/>
                <a:ea typeface="微软雅黑"/>
              </a:rPr>
              <a:t>APR 42%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6373368" y="420624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借款</a:t>
            </a:r>
          </a:p>
        </p:txBody>
      </p:sp>
      <p:sp>
        <p:nvSpPr>
          <p:cNvPr id="83" name="Fa-life1"/>
          <p:cNvSpPr txBox="1"/>
          <p:nvPr/>
        </p:nvSpPr>
        <p:spPr>
          <a:xfrm>
            <a:off x="6373368" y="4352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046720" y="420624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已还</a:t>
            </a:r>
          </a:p>
        </p:txBody>
      </p:sp>
      <p:sp>
        <p:nvSpPr>
          <p:cNvPr id="85" name="Fa-life2"/>
          <p:cNvSpPr txBox="1"/>
          <p:nvPr/>
        </p:nvSpPr>
        <p:spPr>
          <a:xfrm>
            <a:off x="8046720" y="4352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9720072" y="420624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待还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9720072" y="4352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7836408" y="4315968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9509760" y="4315968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90" name="Fa-prog-lab"/>
          <p:cNvSpPr txBox="1"/>
          <p:nvPr/>
        </p:nvSpPr>
        <p:spPr>
          <a:xfrm>
            <a:off x="6373368" y="466344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还款进度</a:t>
            </a:r>
          </a:p>
        </p:txBody>
      </p:sp>
      <p:sp>
        <p:nvSpPr>
          <p:cNvPr id="91" name="Fa-prog-pct"/>
          <p:cNvSpPr txBox="1"/>
          <p:nvPr/>
        </p:nvSpPr>
        <p:spPr>
          <a:xfrm>
            <a:off x="10808208" y="464515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62%</a:t>
            </a:r>
          </a:p>
        </p:txBody>
      </p:sp>
      <p:sp>
        <p:nvSpPr>
          <p:cNvPr id="92" name="Fa-prog-bar"/>
          <p:cNvSpPr/>
          <p:nvPr/>
        </p:nvSpPr>
        <p:spPr>
          <a:xfrm>
            <a:off x="6373368" y="4846320"/>
            <a:ext cx="5010912" cy="128016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a-prog-fill"/>
          <p:cNvSpPr/>
          <p:nvPr/>
        </p:nvSpPr>
        <p:spPr>
          <a:xfrm>
            <a:off x="6373368" y="4846320"/>
            <a:ext cx="3126809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a-g1-t"/>
          <p:cNvSpPr txBox="1"/>
          <p:nvPr/>
        </p:nvSpPr>
        <p:spPr>
          <a:xfrm>
            <a:off x="6373368" y="508406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还款计划</a:t>
            </a:r>
          </a:p>
        </p:txBody>
      </p:sp>
      <p:sp>
        <p:nvSpPr>
          <p:cNvPr id="95" name="Fa-g1-1"/>
          <p:cNvSpPr txBox="1"/>
          <p:nvPr/>
        </p:nvSpPr>
        <p:spPr>
          <a:xfrm>
            <a:off x="6373368" y="5248656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月还款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约 A$338</a:t>
            </a:r>
          </a:p>
        </p:txBody>
      </p:sp>
      <p:sp>
        <p:nvSpPr>
          <p:cNvPr id="96" name="Fa-g1-2"/>
          <p:cNvSpPr txBox="1"/>
          <p:nvPr/>
        </p:nvSpPr>
        <p:spPr>
          <a:xfrm>
            <a:off x="6373368" y="5422392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每两周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A$156</a:t>
            </a:r>
          </a:p>
        </p:txBody>
      </p:sp>
      <p:sp>
        <p:nvSpPr>
          <p:cNvPr id="97" name="Fa-g1-3"/>
          <p:cNvSpPr txBox="1"/>
          <p:nvPr/>
        </p:nvSpPr>
        <p:spPr>
          <a:xfrm>
            <a:off x="6373368" y="5596128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90 天还款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98" name="Fa-g2-t"/>
          <p:cNvSpPr txBox="1"/>
          <p:nvPr/>
        </p:nvSpPr>
        <p:spPr>
          <a:xfrm>
            <a:off x="8092440" y="508406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风险表现</a:t>
            </a:r>
          </a:p>
        </p:txBody>
      </p:sp>
      <p:sp>
        <p:nvSpPr>
          <p:cNvPr id="99" name="Fa-g2-1"/>
          <p:cNvSpPr txBox="1"/>
          <p:nvPr/>
        </p:nvSpPr>
        <p:spPr>
          <a:xfrm>
            <a:off x="8092440" y="5248656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违约次数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0 次</a:t>
            </a:r>
          </a:p>
        </p:txBody>
      </p:sp>
      <p:sp>
        <p:nvSpPr>
          <p:cNvPr id="100" name="Fa-g2-2"/>
          <p:cNvSpPr txBox="1"/>
          <p:nvPr/>
        </p:nvSpPr>
        <p:spPr>
          <a:xfrm>
            <a:off x="8092440" y="5422392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01" name="Fa-g2-3"/>
          <p:cNvSpPr txBox="1"/>
          <p:nvPr/>
        </p:nvSpPr>
        <p:spPr>
          <a:xfrm>
            <a:off x="8092440" y="5596128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02" name="Fa-g2-4"/>
          <p:cNvSpPr txBox="1"/>
          <p:nvPr/>
        </p:nvSpPr>
        <p:spPr>
          <a:xfrm>
            <a:off x="8092440" y="5769864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连续正常还款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6 期</a:t>
            </a:r>
          </a:p>
        </p:txBody>
      </p:sp>
      <p:sp>
        <p:nvSpPr>
          <p:cNvPr id="103" name="Fa-g3-t"/>
          <p:cNvSpPr txBox="1"/>
          <p:nvPr/>
        </p:nvSpPr>
        <p:spPr>
          <a:xfrm>
            <a:off x="9811512" y="508406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产品与定价</a:t>
            </a:r>
          </a:p>
        </p:txBody>
      </p:sp>
      <p:sp>
        <p:nvSpPr>
          <p:cNvPr id="104" name="Fa-g3-1"/>
          <p:cNvSpPr txBox="1"/>
          <p:nvPr/>
        </p:nvSpPr>
        <p:spPr>
          <a:xfrm>
            <a:off x="9811512" y="5248656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105" name="Fa-g3-2"/>
          <p:cNvSpPr txBox="1"/>
          <p:nvPr/>
        </p:nvSpPr>
        <p:spPr>
          <a:xfrm>
            <a:off x="9811512" y="5422392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APR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42%</a:t>
            </a:r>
          </a:p>
        </p:txBody>
      </p:sp>
      <p:sp>
        <p:nvSpPr>
          <p:cNvPr id="106" name="Fa-g3-3"/>
          <p:cNvSpPr txBox="1"/>
          <p:nvPr/>
        </p:nvSpPr>
        <p:spPr>
          <a:xfrm>
            <a:off x="9811512" y="5596128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当前余额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A$564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c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-c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-c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-c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-c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-c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-c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-c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-c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-c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-c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-c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-c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-c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-c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-c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-c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-c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-c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-c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-c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-c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-c"/>
          <p:cNvSpPr txBox="1"/>
          <p:nvPr/>
        </p:nvSpPr>
        <p:spPr>
          <a:xfrm>
            <a:off x="74980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-c"/>
          <p:cNvSpPr txBox="1"/>
          <p:nvPr/>
        </p:nvSpPr>
        <p:spPr>
          <a:xfrm>
            <a:off x="2450592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-c"/>
          <p:cNvSpPr txBox="1"/>
          <p:nvPr/>
        </p:nvSpPr>
        <p:spPr>
          <a:xfrm>
            <a:off x="4151376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-c"/>
          <p:cNvSpPr txBox="1"/>
          <p:nvPr/>
        </p:nvSpPr>
        <p:spPr>
          <a:xfrm>
            <a:off x="74980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8" name="用户-m5-c"/>
          <p:cNvSpPr txBox="1"/>
          <p:nvPr/>
        </p:nvSpPr>
        <p:spPr>
          <a:xfrm>
            <a:off x="2020824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9" name="用户-m6-c"/>
          <p:cNvSpPr txBox="1"/>
          <p:nvPr/>
        </p:nvSpPr>
        <p:spPr>
          <a:xfrm>
            <a:off x="3291839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40" name="用户-m7-c"/>
          <p:cNvSpPr txBox="1"/>
          <p:nvPr/>
        </p:nvSpPr>
        <p:spPr>
          <a:xfrm>
            <a:off x="456285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1" name="Fa-m1-c"/>
          <p:cNvSpPr txBox="1"/>
          <p:nvPr/>
        </p:nvSpPr>
        <p:spPr>
          <a:xfrm>
            <a:off x="6400800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-c"/>
          <p:cNvSpPr txBox="1"/>
          <p:nvPr/>
        </p:nvSpPr>
        <p:spPr>
          <a:xfrm>
            <a:off x="8101583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-c"/>
          <p:cNvSpPr txBox="1"/>
          <p:nvPr/>
        </p:nvSpPr>
        <p:spPr>
          <a:xfrm>
            <a:off x="980236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-c"/>
          <p:cNvSpPr txBox="1"/>
          <p:nvPr/>
        </p:nvSpPr>
        <p:spPr>
          <a:xfrm>
            <a:off x="6400800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-c"/>
          <p:cNvSpPr txBox="1"/>
          <p:nvPr/>
        </p:nvSpPr>
        <p:spPr>
          <a:xfrm>
            <a:off x="767181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-c"/>
          <p:cNvSpPr txBox="1"/>
          <p:nvPr/>
        </p:nvSpPr>
        <p:spPr>
          <a:xfrm>
            <a:off x="8942832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7" name="Fa-m7-c"/>
          <p:cNvSpPr txBox="1"/>
          <p:nvPr/>
        </p:nvSpPr>
        <p:spPr>
          <a:xfrm>
            <a:off x="1021384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42%</a:t>
            </a:r>
          </a:p>
        </p:txBody>
      </p:sp>
      <p:sp>
        <p:nvSpPr>
          <p:cNvPr id="48" name="s2-bar-c"/>
          <p:cNvSpPr/>
          <p:nvPr/>
        </p:nvSpPr>
        <p:spPr>
          <a:xfrm>
            <a:off x="393192" y="111556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2-bar-c"/>
          <p:cNvSpPr/>
          <p:nvPr/>
        </p:nvSpPr>
        <p:spPr>
          <a:xfrm>
            <a:off x="393192" y="252374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-c"/>
          <p:cNvSpPr/>
          <p:nvPr/>
        </p:nvSpPr>
        <p:spPr>
          <a:xfrm>
            <a:off x="393192" y="398678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r>
              <a:t>1. AI 知识库 Agent：建设与维护</a:t>
            </a: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950" b="1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531</TotalTime>
  <Words>1723</Words>
  <Application>Microsoft Office PowerPoint</Application>
  <PresentationFormat>宽屏</PresentationFormat>
  <Paragraphs>448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112</cp:revision>
  <dcterms:modified xsi:type="dcterms:W3CDTF">2026-08-10T11:55:33Z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