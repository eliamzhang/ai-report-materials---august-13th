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80" r:id="rId4"/>
    <p:sldId id="279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80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2026/8/10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2000" b="1" lang="zh-CN">
                <a:solidFill>
                  <a:srgbClr val="0A0A0A"/>
                </a:solidFill>
                <a:latin typeface="微软雅黑"/>
                <a:ea typeface="微软雅黑"/>
              </a:rPr>
              <a:t>银行流水识别，不只是交易分类，更是信审的底层决策能力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lang="zh-CN">
                <a:solidFill>
                  <a:srgbClr val="606060"/>
                </a:solidFill>
                <a:latin typeface="微软雅黑"/>
                <a:ea typeface="微软雅黑"/>
              </a:rPr>
              <a:t>从收入、必要支出到存量负债，直接决定 Serviceability 与客户新增授信空间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39630" y="1238321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717430" y="121292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511115" y="2361688"/>
            <a:ext cx="11173968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203402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17430" y="3243783"/>
            <a:ext cx="39582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lang="zh-CN" altLang="en-US" sz="1400" b="1" dirty="0">
                <a:solidFill>
                  <a:srgbClr val="0A0A0A"/>
                </a:solidFill>
                <a:latin typeface="微软雅黑"/>
                <a:ea typeface="微软雅黑"/>
              </a:rPr>
              <a:t>合规背景：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Responsible Lending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eyJ2aWV3Qm94IjpbMSwzNDBdLCJwb2ludHMiOiIwLDAgMCwzNDAifQ</pptd:line>
              </p:ext>
            </p:extLst>
          </p:nvPr>
        </p:nvSpPr>
        <p:spPr>
          <a:xfrm>
            <a:off x="5129594" y="3292912"/>
            <a:ext cx="14116" cy="3212231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5762312" y="3265172"/>
            <a:ext cx="5138312" cy="17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/>
                <a:ea typeface="微软雅黑"/>
              </a:rPr>
              <a:t>三、传统第三方分类服务的主要局限（当前高度依赖 illion）</a:t>
            </a: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5746239" y="3581143"/>
            <a:ext cx="5307707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5746239" y="416034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5746239" y="4321693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5746239" y="5109939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5746239" y="5175199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Banking 等新数据源无分类字段，多供应商需维护多套适配逻辑，增加系统复杂度。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5746239" y="591010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5746239" y="6030781"/>
            <a:ext cx="6235773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合规应对</a:t>
            </a: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能力受制于外部供应商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8677383-B1C4-48C4-91A6-25AC7845E58D}"/>
              </a:ext>
            </a:extLst>
          </p:cNvPr>
          <p:cNvGrpSpPr/>
          <p:nvPr/>
        </p:nvGrpSpPr>
        <p:grpSpPr>
          <a:xfrm>
            <a:off x="511115" y="1595715"/>
            <a:ext cx="11174917" cy="566928"/>
            <a:chOff x="452053" y="1496128"/>
            <a:chExt cx="11174917" cy="566928"/>
          </a:xfrm>
        </p:grpSpPr>
        <p:sp>
          <p:nvSpPr>
            <p:cNvPr id="27" name="divider">
              <a:extLst>
                <a:ext uri="{FF2B5EF4-FFF2-40B4-BE49-F238E27FC236}">
                  <a16:creationId xmlns:a16="http://schemas.microsoft.com/office/drawing/2014/main" id="{BEE32B51-BB5D-4E33-B31F-EC2D7C3D3A69}"/>
                </a:ext>
              </a:extLst>
            </p:cNvPr>
            <p:cNvSpPr/>
            <p:nvPr>
              <p:extLst>
                <p:ext uri="{F5677B7D-0D2A-4D9B-9A5C-6D8D7D0E5A5D}">
  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  </p:ext>
              </p:extLst>
            </p:nvPr>
          </p:nvSpPr>
          <p:spPr>
            <a:xfrm>
              <a:off x="452053" y="1608779"/>
              <a:ext cx="10871200" cy="12700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EAB4CD9B-EDE7-41BB-A1AF-99FE71C9208A}"/>
                </a:ext>
              </a:extLst>
            </p:cNvPr>
            <p:cNvSpPr/>
            <p:nvPr/>
          </p:nvSpPr>
          <p:spPr>
            <a:xfrm>
              <a:off x="453002" y="1496128"/>
              <a:ext cx="11173968" cy="566928"/>
            </a:xfrm>
            <a:prstGeom prst="rect">
              <a:avLst/>
            </a:prstGeom>
            <a:solidFill>
              <a:srgbClr val="EFF3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38BC8E8-0C5A-459D-9D36-4DF7BBE37EEB}"/>
                </a:ext>
              </a:extLst>
            </p:cNvPr>
            <p:cNvSpPr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77EA475-068C-4CAF-8013-0567E6F71289}"/>
                </a:ext>
              </a:extLst>
            </p:cNvPr>
            <p:cNvSpPr txBox="1"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用户申请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4B04AD0F-D11B-477C-A748-4CDF5F1767B1}"/>
                </a:ext>
              </a:extLst>
            </p:cNvPr>
            <p:cNvSpPr txBox="1"/>
            <p:nvPr/>
          </p:nvSpPr>
          <p:spPr>
            <a:xfrm>
              <a:off x="2048630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C02AA16F-41EE-482C-AE2A-D1543CA101C1}"/>
                </a:ext>
              </a:extLst>
            </p:cNvPr>
            <p:cNvSpPr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30C9C75-9CB4-4BD5-B884-62518D3CCE17}"/>
                </a:ext>
              </a:extLst>
            </p:cNvPr>
            <p:cNvSpPr txBox="1"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银行卡绑定</a:t>
              </a: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1BC7BE8-D199-4CBB-BA6C-7109D747F49C}"/>
                </a:ext>
              </a:extLst>
            </p:cNvPr>
            <p:cNvSpPr txBox="1"/>
            <p:nvPr/>
          </p:nvSpPr>
          <p:spPr>
            <a:xfrm>
              <a:off x="3964298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5E7A4B48-7F1A-4666-9E21-5E8C8EC7B2CC}"/>
                </a:ext>
              </a:extLst>
            </p:cNvPr>
            <p:cNvSpPr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7F1330EF-EB40-488C-823E-B52850D6ADD7}"/>
                </a:ext>
              </a:extLst>
            </p:cNvPr>
            <p:cNvSpPr txBox="1"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数据解析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E7EB72EF-5357-4C89-9D96-05AB1E10C47F}"/>
                </a:ext>
              </a:extLst>
            </p:cNvPr>
            <p:cNvSpPr txBox="1"/>
            <p:nvPr/>
          </p:nvSpPr>
          <p:spPr>
            <a:xfrm>
              <a:off x="5879966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0AB3994-E868-4E38-B322-7F0D5E75B741}"/>
                </a:ext>
              </a:extLst>
            </p:cNvPr>
            <p:cNvSpPr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9C14CCCE-6E5D-49B5-AECF-609ED1D2F343}"/>
                </a:ext>
              </a:extLst>
            </p:cNvPr>
            <p:cNvSpPr txBox="1"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银行流水识别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2A545774-8F38-4F54-BBF9-86E026FD8886}"/>
                </a:ext>
              </a:extLst>
            </p:cNvPr>
            <p:cNvSpPr txBox="1"/>
            <p:nvPr/>
          </p:nvSpPr>
          <p:spPr>
            <a:xfrm>
              <a:off x="7795634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9BC878EF-C63E-449E-8D1E-F4F80FF61DA8}"/>
                </a:ext>
              </a:extLst>
            </p:cNvPr>
            <p:cNvSpPr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7C5C193-A007-4D1A-AC47-110AE06D49DA}"/>
                </a:ext>
              </a:extLst>
            </p:cNvPr>
            <p:cNvSpPr txBox="1"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Serviceability</a:t>
              </a: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210F5A51-87C0-42C1-BB96-6E16A0206047}"/>
                </a:ext>
              </a:extLst>
            </p:cNvPr>
            <p:cNvSpPr txBox="1"/>
            <p:nvPr/>
          </p:nvSpPr>
          <p:spPr>
            <a:xfrm>
              <a:off x="9711302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→</a:t>
              </a: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B4A2284-CDE0-47A0-9DB3-1E359B1CD771}"/>
                </a:ext>
              </a:extLst>
            </p:cNvPr>
            <p:cNvSpPr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558A63B5-5727-4E26-85E9-6D5769D74E7E}"/>
                </a:ext>
              </a:extLst>
            </p:cNvPr>
            <p:cNvSpPr txBox="1"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微软雅黑"/>
                  <a:ea typeface="微软雅黑"/>
                </a:defRPr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信审决策</a:t>
              </a:r>
            </a:p>
          </p:txBody>
        </p:sp>
      </p:grpSp>
      <p:sp>
        <p:nvSpPr>
          <p:cNvPr id="48" name="TextBox 30">
            <a:extLst>
              <a:ext uri="{FF2B5EF4-FFF2-40B4-BE49-F238E27FC236}">
                <a16:creationId xmlns:a16="http://schemas.microsoft.com/office/drawing/2014/main" id="{A74F03BE-04AA-4633-B517-2C54F22254B0}"/>
              </a:ext>
            </a:extLst>
          </p:cNvPr>
          <p:cNvSpPr txBox="1"/>
          <p:nvPr/>
        </p:nvSpPr>
        <p:spPr>
          <a:xfrm>
            <a:off x="665747" y="3571159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依据《National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Consumer Credit Protection Act 2009》及 ASIC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监管要求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49" name="Rectangle 31">
            <a:extLst>
              <a:ext uri="{FF2B5EF4-FFF2-40B4-BE49-F238E27FC236}">
                <a16:creationId xmlns:a16="http://schemas.microsoft.com/office/drawing/2014/main" id="{A2FA0AE9-4D92-4732-A5A0-A296D8BA97E1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Oval 32">
            <a:extLst>
              <a:ext uri="{FF2B5EF4-FFF2-40B4-BE49-F238E27FC236}">
                <a16:creationId xmlns:a16="http://schemas.microsoft.com/office/drawing/2014/main" id="{A5579E95-F88C-4AF8-8750-9BC4E7E9D8F0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2F5559E-8B73-4A7F-A408-D7C4BDC80C90}"/>
              </a:ext>
            </a:extLst>
          </p:cNvPr>
          <p:cNvSpPr txBox="1"/>
          <p:nvPr/>
        </p:nvSpPr>
        <p:spPr>
          <a:xfrm>
            <a:off x="717430" y="403231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57ADD348-D0FF-4D39-A8DC-D0C347575C7F}"/>
              </a:ext>
            </a:extLst>
          </p:cNvPr>
          <p:cNvSpPr txBox="1"/>
          <p:nvPr/>
        </p:nvSpPr>
        <p:spPr>
          <a:xfrm>
            <a:off x="1138054" y="39725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合理了解客户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EC0038C9-BCC9-4430-A791-E141B6A1B314}"/>
              </a:ext>
            </a:extLst>
          </p:cNvPr>
          <p:cNvSpPr txBox="1"/>
          <p:nvPr/>
        </p:nvSpPr>
        <p:spPr>
          <a:xfrm>
            <a:off x="1138054" y="423772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财务状况及借款目的</a:t>
            </a:r>
          </a:p>
        </p:txBody>
      </p:sp>
      <p:sp>
        <p:nvSpPr>
          <p:cNvPr id="54" name="Rectangle 36">
            <a:extLst>
              <a:ext uri="{FF2B5EF4-FFF2-40B4-BE49-F238E27FC236}">
                <a16:creationId xmlns:a16="http://schemas.microsoft.com/office/drawing/2014/main" id="{8A0D6B43-3C67-4A4F-9E6D-B70A87154077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Oval 37">
            <a:extLst>
              <a:ext uri="{FF2B5EF4-FFF2-40B4-BE49-F238E27FC236}">
                <a16:creationId xmlns:a16="http://schemas.microsoft.com/office/drawing/2014/main" id="{B7242A86-D3D5-4C58-931C-765CBAD54C35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E5F2741E-0434-4E48-882C-10356025D796}"/>
              </a:ext>
            </a:extLst>
          </p:cNvPr>
          <p:cNvSpPr txBox="1"/>
          <p:nvPr/>
        </p:nvSpPr>
        <p:spPr>
          <a:xfrm>
            <a:off x="717430" y="4672394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A1481323-2DF4-4D58-9C75-F6B0C709734B}"/>
              </a:ext>
            </a:extLst>
          </p:cNvPr>
          <p:cNvSpPr txBox="1"/>
          <p:nvPr/>
        </p:nvSpPr>
        <p:spPr>
          <a:xfrm>
            <a:off x="1138054" y="461262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核实收入与支出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BE9E9A98-8D50-48BD-94A1-E982F0172F9C}"/>
              </a:ext>
            </a:extLst>
          </p:cNvPr>
          <p:cNvSpPr txBox="1"/>
          <p:nvPr/>
        </p:nvSpPr>
        <p:spPr>
          <a:xfrm>
            <a:off x="1138054" y="488749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必要支出、现有负债及可预见变化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E20FFFFF-8306-4D81-9797-B6875D55FBCF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6C67CC53-D2BE-4820-9D43-0D1AE75F9247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961ABED2-5B10-452C-9231-FA993119AA81}"/>
              </a:ext>
            </a:extLst>
          </p:cNvPr>
          <p:cNvSpPr txBox="1"/>
          <p:nvPr/>
        </p:nvSpPr>
        <p:spPr>
          <a:xfrm>
            <a:off x="717430" y="531247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F6B71D29-3684-4835-BD9B-1B8B542261F0}"/>
              </a:ext>
            </a:extLst>
          </p:cNvPr>
          <p:cNvSpPr txBox="1"/>
          <p:nvPr/>
        </p:nvSpPr>
        <p:spPr>
          <a:xfrm>
            <a:off x="1138054" y="525270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评估还款能力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1DECE94-B828-49A6-B8C6-DECC0F60783F}"/>
              </a:ext>
            </a:extLst>
          </p:cNvPr>
          <p:cNvSpPr txBox="1"/>
          <p:nvPr/>
        </p:nvSpPr>
        <p:spPr>
          <a:xfrm>
            <a:off x="1138054" y="551788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能否在不造成重大经济困难的情况下履行还款</a:t>
            </a: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0AB5131-4387-462A-924F-86E4F8D7A710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47">
            <a:extLst>
              <a:ext uri="{FF2B5EF4-FFF2-40B4-BE49-F238E27FC236}">
                <a16:creationId xmlns:a16="http://schemas.microsoft.com/office/drawing/2014/main" id="{8B351B70-6E28-4451-921A-23C9AAE60D19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48">
            <a:extLst>
              <a:ext uri="{FF2B5EF4-FFF2-40B4-BE49-F238E27FC236}">
                <a16:creationId xmlns:a16="http://schemas.microsoft.com/office/drawing/2014/main" id="{129AAB2F-B8BE-4A65-B2F8-858AA4712095}"/>
              </a:ext>
            </a:extLst>
          </p:cNvPr>
          <p:cNvSpPr txBox="1"/>
          <p:nvPr/>
        </p:nvSpPr>
        <p:spPr>
          <a:xfrm>
            <a:off x="717430" y="595255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D7B37FCA-B11E-4709-A69A-DE5AD64C07A4}"/>
              </a:ext>
            </a:extLst>
          </p:cNvPr>
          <p:cNvSpPr txBox="1"/>
          <p:nvPr/>
        </p:nvSpPr>
        <p:spPr>
          <a:xfrm>
            <a:off x="1138054" y="589278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提供合适产品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33E3165C-2497-4F10-9F7A-D5F082C30F6F}"/>
              </a:ext>
            </a:extLst>
          </p:cNvPr>
          <p:cNvSpPr txBox="1"/>
          <p:nvPr/>
        </p:nvSpPr>
        <p:spPr>
          <a:xfrm>
            <a:off x="1138054" y="615796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不得提供“不适合”的信贷产品</a:t>
            </a:r>
          </a:p>
        </p:txBody>
      </p:sp>
      <p:sp>
        <p:nvSpPr>
          <p:cNvPr id="69" name="s1-bar">
            <a:extLst>
              <a:ext uri="{FF2B5EF4-FFF2-40B4-BE49-F238E27FC236}">
                <a16:creationId xmlns:a16="http://schemas.microsoft.com/office/drawing/2014/main" id="{3917B42F-FA74-4554-8F0C-544990D93B30}"/>
              </a:ext>
            </a:extLst>
          </p:cNvPr>
          <p:cNvSpPr/>
          <p:nvPr/>
        </p:nvSpPr>
        <p:spPr>
          <a:xfrm>
            <a:off x="536497" y="32501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0" name="s1-bar">
            <a:extLst>
              <a:ext uri="{FF2B5EF4-FFF2-40B4-BE49-F238E27FC236}">
                <a16:creationId xmlns:a16="http://schemas.microsoft.com/office/drawing/2014/main" id="{487BA4DB-34AC-4C3D-8298-2747717BF951}"/>
              </a:ext>
            </a:extLst>
          </p:cNvPr>
          <p:cNvSpPr/>
          <p:nvPr/>
        </p:nvSpPr>
        <p:spPr>
          <a:xfrm>
            <a:off x="5561124" y="325434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6C622F6-B610-4482-8FA4-F6373D622738}"/>
              </a:ext>
            </a:extLst>
          </p:cNvPr>
          <p:cNvSpPr txBox="1"/>
          <p:nvPr/>
        </p:nvSpPr>
        <p:spPr>
          <a:xfrm>
            <a:off x="3807968" y="2528026"/>
            <a:ext cx="4902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收入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必要支出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负债还款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 ＝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客户可支配盈余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sz="2000" b="1" lang="zh-CN">
                <a:solidFill>
                  <a:srgbClr val="0A0A0A"/>
                </a:solidFill>
                <a:latin typeface="微软雅黑"/>
                <a:ea typeface="微软雅黑"/>
              </a:rPr>
              <a:t>从一笔交易出发，直接还原客户真实偿债能力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sz="1800" b="0" lang="zh-CN">
                <a:solidFill>
                  <a:srgbClr val="606060"/>
                </a:solidFill>
                <a:latin typeface="微软雅黑"/>
                <a:ea typeface="微软雅黑"/>
              </a:rPr>
              <a:t>原始流水 → 单笔交易识别 → 用户/贷款汇总，将分散交易转化为可直接用于信审的财务画像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68385" y="111340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原始银行流水（输入示例）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568386" y="25232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交易明细维度：理解每一笔交易（输出示例）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568385" y="398932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3.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用户汇总维度：形成完整负债画像（输出示例）</a:t>
            </a:r>
            <a:endParaRPr kumimoji="0" lang="en-US" sz="1200" b="1" i="0" u="none" strike="noStrike" kern="1200" cap="none" spc="0" normalizeH="0" baseline="0" noProof="1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5" name="init-table">
            <a:extLst>
              <a:ext uri="{FF2B5EF4-FFF2-40B4-BE49-F238E27FC236}">
                <a16:creationId xmlns:a16="http://schemas.microsoft.com/office/drawing/2014/main" id="{B20AEE83-7381-40E9-867F-987DE9C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92607"/>
              </p:ext>
            </p:extLst>
          </p:nvPr>
        </p:nvGraphicFramePr>
        <p:xfrm>
          <a:off x="568385" y="1435904"/>
          <a:ext cx="10901630" cy="1022238"/>
        </p:xfrm>
        <a:graphic>
          <a:graphicData uri="http://schemas.openxmlformats.org/drawingml/2006/table">
            <a:tbl>
              <a:tblPr/>
              <a:tblGrid>
                <a:gridCol w="13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901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方向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交易描述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BPAY FAIR GO FINANCE BILLER 354127 REF 5837201937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 QLD STORE 006123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BRISBANE STORE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AMZNPRIMEA*4V3KQ AMAZON.COM.AU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Credit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WAGES ACME PTY LTD FORTNIGHTLY PAY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041013"/>
              </p:ext>
            </p:extLst>
          </p:nvPr>
        </p:nvGraphicFramePr>
        <p:xfrm>
          <a:off x="568385" y="2839315"/>
          <a:ext cx="10901631" cy="1022238"/>
        </p:xfrm>
        <a:graphic>
          <a:graphicData uri="http://schemas.openxmlformats.org/drawingml/2006/table">
            <a:tbl>
              <a:tblPr/>
              <a:tblGrid>
                <a:gridCol w="79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7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622">
                  <a:extLst>
                    <a:ext uri="{9D8B030D-6E8A-4147-A177-3AD203B41FA5}">
                      <a16:colId xmlns:a16="http://schemas.microsoft.com/office/drawing/2014/main" val="2631831465"/>
                    </a:ext>
                  </a:extLst>
                </a:gridCol>
                <a:gridCol w="127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613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676780">
                  <a:extLst>
                    <a:ext uri="{9D8B030D-6E8A-4147-A177-3AD203B41FA5}">
                      <a16:colId xmlns:a16="http://schemas.microsoft.com/office/drawing/2014/main" val="2534051383"/>
                    </a:ext>
                  </a:extLst>
                </a:gridCol>
                <a:gridCol w="2350395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一级分类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D6A000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BPAY FAIR GO FINANCE BILLER 354127 REF 5837201937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贷款及还款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交易方向、机构名称、产品关键词及历史交易模式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MCDONALDS BRISBANE QLD STORE 006123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 BRISBANE STORE 123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AMZNPRIMEA*4V3KQ AMAZON.COM.AU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WAGES ACME PTY LTD FORTNIGHTLY PAY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 / 收入付款方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收入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用户-bg"/>
          <p:cNvSpPr/>
          <p:nvPr/>
        </p:nvSpPr>
        <p:spPr>
          <a:xfrm>
            <a:off x="566928" y="4297680"/>
            <a:ext cx="5376672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用户-bar"/>
          <p:cNvSpPr/>
          <p:nvPr/>
        </p:nvSpPr>
        <p:spPr>
          <a:xfrm>
            <a:off x="566928" y="4297680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用户-title"/>
          <p:cNvSpPr txBox="1"/>
          <p:nvPr/>
        </p:nvSpPr>
        <p:spPr>
          <a:xfrm>
            <a:off x="749808" y="4398264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1">
                <a:solidFill>
                  <a:srgbClr val="0A0A0A"/>
                </a:solidFill>
                <a:latin typeface="微软雅黑"/>
                <a:ea typeface="微软雅黑"/>
              </a:rPr>
              <a:t>用户整体负债画像</a:t>
            </a:r>
          </a:p>
        </p:txBody>
      </p:sp>
      <p:sp>
        <p:nvSpPr>
          <p:cNvPr id="20" name="用户-k1"/>
          <p:cNvSpPr txBox="1"/>
          <p:nvPr/>
        </p:nvSpPr>
        <p:spPr>
          <a:xfrm>
            <a:off x="749808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平均月还款金额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A$428</a:t>
            </a:r>
          </a:p>
        </p:txBody>
      </p:sp>
      <p:sp>
        <p:nvSpPr>
          <p:cNvPr id="21" name="用户-k2"/>
          <p:cNvSpPr txBox="1"/>
          <p:nvPr/>
        </p:nvSpPr>
        <p:spPr>
          <a:xfrm>
            <a:off x="2505456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预计待还金额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A$1,016</a:t>
            </a:r>
          </a:p>
        </p:txBody>
      </p:sp>
      <p:sp>
        <p:nvSpPr>
          <p:cNvPr id="22" name="用户-k3"/>
          <p:cNvSpPr txBox="1"/>
          <p:nvPr/>
        </p:nvSpPr>
        <p:spPr>
          <a:xfrm>
            <a:off x="4261104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贷款机构数量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2 家</a:t>
            </a:r>
          </a:p>
        </p:txBody>
      </p:sp>
      <p:sp>
        <p:nvSpPr>
          <p:cNvPr id="24" name="Fa-bg"/>
          <p:cNvSpPr/>
          <p:nvPr/>
        </p:nvSpPr>
        <p:spPr>
          <a:xfrm>
            <a:off x="6217920" y="4297680"/>
            <a:ext cx="5376672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a-bar"/>
          <p:cNvSpPr/>
          <p:nvPr/>
        </p:nvSpPr>
        <p:spPr>
          <a:xfrm>
            <a:off x="6217920" y="4297680"/>
            <a:ext cx="53766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a-title"/>
          <p:cNvSpPr txBox="1"/>
          <p:nvPr/>
        </p:nvSpPr>
        <p:spPr>
          <a:xfrm>
            <a:off x="6400800" y="4398264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050" b="1">
                <a:solidFill>
                  <a:srgbClr val="0A0A0A"/>
                </a:solidFill>
                <a:latin typeface="微软雅黑"/>
                <a:ea typeface="微软雅黑"/>
              </a:rPr>
              <a:t>Fair Go Finance 单笔贷款画像</a:t>
            </a:r>
          </a:p>
        </p:txBody>
      </p:sp>
      <p:sp>
        <p:nvSpPr>
          <p:cNvPr id="27" name="Fa-k1"/>
          <p:cNvSpPr txBox="1"/>
          <p:nvPr/>
        </p:nvSpPr>
        <p:spPr>
          <a:xfrm>
            <a:off x="6400800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借款金额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A$1,500</a:t>
            </a:r>
          </a:p>
        </p:txBody>
      </p:sp>
      <p:sp>
        <p:nvSpPr>
          <p:cNvPr id="28" name="Fa-k2"/>
          <p:cNvSpPr txBox="1"/>
          <p:nvPr/>
        </p:nvSpPr>
        <p:spPr>
          <a:xfrm>
            <a:off x="8156448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月还款金额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约 A$338</a:t>
            </a:r>
          </a:p>
          <a:p>
            <a:pPr algn="l"/>
            <a:r>
              <a:rPr lang="zh-CN" sz="750" b="0">
                <a:solidFill>
                  <a:srgbClr val="606060"/>
                </a:solidFill>
                <a:latin typeface="微软雅黑"/>
                <a:ea typeface="微软雅黑"/>
              </a:rPr>
              <a:t>A$156 × 26/12</a:t>
            </a:r>
          </a:p>
        </p:txBody>
      </p:sp>
      <p:sp>
        <p:nvSpPr>
          <p:cNvPr id="29" name="Fa-k3"/>
          <p:cNvSpPr txBox="1"/>
          <p:nvPr/>
        </p:nvSpPr>
        <p:spPr>
          <a:xfrm>
            <a:off x="9912096" y="464515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预计待还金额</a:t>
            </a:r>
          </a:p>
          <a:p>
            <a:pPr algn="l"/>
            <a:r>
              <a:rPr lang="zh-CN" sz="1500" b="1">
                <a:solidFill>
                  <a:srgbClr val="1F4E79"/>
                </a:solidFill>
                <a:latin typeface="微软雅黑"/>
                <a:ea typeface="微软雅黑"/>
              </a:rPr>
              <a:t>A$564</a:t>
            </a:r>
          </a:p>
        </p:txBody>
      </p:sp>
      <p:sp>
        <p:nvSpPr>
          <p:cNvPr id="31" name="concl-bar"/>
          <p:cNvSpPr/>
          <p:nvPr/>
        </p:nvSpPr>
        <p:spPr>
          <a:xfrm>
            <a:off x="566928" y="6327648"/>
            <a:ext cx="11045952" cy="402336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ncl-bar-line"/>
          <p:cNvSpPr/>
          <p:nvPr/>
        </p:nvSpPr>
        <p:spPr>
          <a:xfrm>
            <a:off x="566928" y="6327648"/>
            <a:ext cx="64008" cy="402336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ncl-text"/>
          <p:cNvSpPr txBox="1"/>
          <p:nvPr/>
        </p:nvSpPr>
        <p:spPr>
          <a:xfrm>
            <a:off x="749808" y="638251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900" b="1">
                <a:solidFill>
                  <a:srgbClr val="0A0A0A"/>
                </a:solidFill>
                <a:latin typeface="微软雅黑"/>
                <a:ea typeface="微软雅黑"/>
              </a:rPr>
              <a:t>识别贷款 → 计算剩余负债与月还款额（平均月还款金额 A$428）→ 支撑新增还款能力判断</a:t>
            </a:r>
          </a:p>
        </p:txBody>
      </p:sp>
      <p:sp>
        <p:nvSpPr>
          <p:cNvPr id="34" name="用户-m1"/>
          <p:cNvSpPr txBox="1"/>
          <p:nvPr/>
        </p:nvSpPr>
        <p:spPr>
          <a:xfrm>
            <a:off x="749808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90 天借款金额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A$2,300</a:t>
            </a:r>
          </a:p>
        </p:txBody>
      </p:sp>
      <p:sp>
        <p:nvSpPr>
          <p:cNvPr id="35" name="用户-m2"/>
          <p:cNvSpPr txBox="1"/>
          <p:nvPr/>
        </p:nvSpPr>
        <p:spPr>
          <a:xfrm>
            <a:off x="2450592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90 天还款金额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A$1,284</a:t>
            </a:r>
          </a:p>
        </p:txBody>
      </p:sp>
      <p:sp>
        <p:nvSpPr>
          <p:cNvPr id="36" name="用户-m3"/>
          <p:cNvSpPr txBox="1"/>
          <p:nvPr/>
        </p:nvSpPr>
        <p:spPr>
          <a:xfrm>
            <a:off x="4151376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还款次数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9 次</a:t>
            </a:r>
          </a:p>
        </p:txBody>
      </p:sp>
      <p:sp>
        <p:nvSpPr>
          <p:cNvPr id="37" name="用户-m4"/>
          <p:cNvSpPr txBox="1"/>
          <p:nvPr/>
        </p:nvSpPr>
        <p:spPr>
          <a:xfrm>
            <a:off x="749808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SACC 贷款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8" name="用户-m5"/>
          <p:cNvSpPr txBox="1"/>
          <p:nvPr/>
        </p:nvSpPr>
        <p:spPr>
          <a:xfrm>
            <a:off x="2020824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多头借贷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9" name="用户-m6"/>
          <p:cNvSpPr txBox="1"/>
          <p:nvPr/>
        </p:nvSpPr>
        <p:spPr>
          <a:xfrm>
            <a:off x="3291839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持续还款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40" name="用户-m7"/>
          <p:cNvSpPr txBox="1"/>
          <p:nvPr/>
        </p:nvSpPr>
        <p:spPr>
          <a:xfrm>
            <a:off x="4562856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还款中断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1" name="Fa-m1"/>
          <p:cNvSpPr txBox="1"/>
          <p:nvPr/>
        </p:nvSpPr>
        <p:spPr>
          <a:xfrm>
            <a:off x="6400800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贷款类型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SACC</a:t>
            </a:r>
          </a:p>
        </p:txBody>
      </p:sp>
      <p:sp>
        <p:nvSpPr>
          <p:cNvPr id="42" name="Fa-m2"/>
          <p:cNvSpPr txBox="1"/>
          <p:nvPr/>
        </p:nvSpPr>
        <p:spPr>
          <a:xfrm>
            <a:off x="8101583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90 天已还金额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A$936</a:t>
            </a:r>
          </a:p>
        </p:txBody>
      </p:sp>
      <p:sp>
        <p:nvSpPr>
          <p:cNvPr id="43" name="Fa-m3"/>
          <p:cNvSpPr txBox="1"/>
          <p:nvPr/>
        </p:nvSpPr>
        <p:spPr>
          <a:xfrm>
            <a:off x="9802368" y="5248656"/>
            <a:ext cx="16002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还款频率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每两周 A$156</a:t>
            </a:r>
          </a:p>
        </p:txBody>
      </p:sp>
      <p:sp>
        <p:nvSpPr>
          <p:cNvPr id="44" name="Fa-m4"/>
          <p:cNvSpPr txBox="1"/>
          <p:nvPr/>
        </p:nvSpPr>
        <p:spPr>
          <a:xfrm>
            <a:off x="6400800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90 天还款次数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6 次</a:t>
            </a:r>
          </a:p>
        </p:txBody>
      </p:sp>
      <p:sp>
        <p:nvSpPr>
          <p:cNvPr id="45" name="Fa-m5"/>
          <p:cNvSpPr txBox="1"/>
          <p:nvPr/>
        </p:nvSpPr>
        <p:spPr>
          <a:xfrm>
            <a:off x="7671816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当前状态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在贷</a:t>
            </a:r>
          </a:p>
        </p:txBody>
      </p:sp>
      <p:sp>
        <p:nvSpPr>
          <p:cNvPr id="46" name="Fa-m6"/>
          <p:cNvSpPr txBox="1"/>
          <p:nvPr/>
        </p:nvSpPr>
        <p:spPr>
          <a:xfrm>
            <a:off x="8942832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扣款失败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7" name="Fa-m7"/>
          <p:cNvSpPr txBox="1"/>
          <p:nvPr/>
        </p:nvSpPr>
        <p:spPr>
          <a:xfrm>
            <a:off x="10213848" y="5779008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>
                <a:solidFill>
                  <a:srgbClr val="1F4E79"/>
                </a:solidFill>
                <a:latin typeface="微软雅黑"/>
                <a:ea typeface="微软雅黑"/>
              </a:rPr>
              <a:t>年化利率（APR）</a:t>
            </a:r>
          </a:p>
          <a:p>
            <a:pPr algn="l">
              <a:lnSpc>
                <a:spcPct val="100000"/>
              </a:lnSpc>
            </a:pPr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【待补充】</a:t>
            </a:r>
          </a:p>
        </p:txBody>
      </p:sp>
      <p:sp>
        <p:nvSpPr>
          <p:cNvPr id="48" name="s2-bar"/>
          <p:cNvSpPr/>
          <p:nvPr/>
        </p:nvSpPr>
        <p:spPr>
          <a:xfrm>
            <a:off x="393192" y="1115568"/>
            <a:ext cx="73152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2-bar"/>
          <p:cNvSpPr/>
          <p:nvPr/>
        </p:nvSpPr>
        <p:spPr>
          <a:xfrm>
            <a:off x="393192" y="2523744"/>
            <a:ext cx="73152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2-bar"/>
          <p:cNvSpPr/>
          <p:nvPr/>
        </p:nvSpPr>
        <p:spPr>
          <a:xfrm>
            <a:off x="393192" y="3986784"/>
            <a:ext cx="73152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sz="2000" b="1" lang="zh-CN">
                <a:solidFill>
                  <a:srgbClr val="0A0A0A"/>
                </a:solidFill>
                <a:latin typeface="微软雅黑"/>
                <a:ea typeface="微软雅黑"/>
              </a:rPr>
              <a:t>真正的壁垒，不只是模型，而是一套持续进化的分类体系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lang="zh-CN">
                <a:solidFill>
                  <a:srgbClr val="606060"/>
                </a:solidFill>
                <a:latin typeface="微软雅黑"/>
                <a:ea typeface="微软雅黑"/>
              </a:rPr>
              <a:t>多引擎分工 + AI 知识库 + 质量 Agent，持续发现问题、修正分类并沉淀能力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21530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426464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25288"/>
              </p:ext>
            </p:extLst>
          </p:nvPr>
        </p:nvGraphicFramePr>
        <p:xfrm>
          <a:off x="6311255" y="4049611"/>
          <a:ext cx="5540236" cy="1042416"/>
        </p:xfrm>
        <a:graphic>
          <a:graphicData uri="http://schemas.openxmlformats.org/drawingml/2006/table">
            <a:tbl>
              <a:tblPr/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281928" y="5285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/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>
                      <a:solidFill>
                        <a:srgbClr val="0A0A0A"/>
                      </a:solidFill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>
            <a:extLst>
              <a:ext uri="{FF2B5EF4-FFF2-40B4-BE49-F238E27FC236}">
                <a16:creationId xmlns:a16="http://schemas.microsoft.com/office/drawing/2014/main" id="{59843E63-6597-4DF7-94AC-310E51A426D8}"/>
              </a:ext>
            </a:extLst>
          </p:cNvPr>
          <p:cNvSpPr txBox="1"/>
          <p:nvPr/>
        </p:nvSpPr>
        <p:spPr>
          <a:xfrm>
            <a:off x="6281928" y="37764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sz="1200" b="1" dirty="0">
                <a:solidFill>
                  <a:srgbClr val="0A0A0A"/>
                </a:solidFill>
                <a:latin typeface="微软雅黑"/>
                <a:ea typeface="微软雅黑"/>
              </a:rPr>
              <a:t>五类定位原因示例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76472"/>
            <a:ext cx="54864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5285232"/>
            <a:ext cx="54864" cy="2286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81928" y="6327648"/>
            <a:ext cx="5541264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6327648"/>
            <a:ext cx="54864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6327648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知识库随注册商户的新增、变更、失效持续更新，并从真实交易中补齐注册数据未覆盖的支付描述和商户别名。由此形成“分类 → 监控 → 定位 → 输出 → 更新 → 再分类”的持续优化闭环。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975104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① 监控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捕捉分类批量漂移、同一交易对手归类不一致、覆盖率或命中率明显下降、新描述未被任何引擎识别等异常信号。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975104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2587752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② 定位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对异常逐笔细挖交易描述、金额、方向、交易对手、命中引擎和分类依据，归类为五类原因。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587752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5541264" cy="5303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73152" bIns="36576" rtlCol="0" anchor="ctr"/>
          <a:lstStyle/>
          <a:p>
            <a:pPr latinLnBrk="1"/>
            <a:r>
              <a:rPr lang="zh-CN" sz="1100" b="1">
                <a:solidFill>
                  <a:srgbClr val="1F4E79"/>
                </a:solidFill>
                <a:latin typeface="微软雅黑"/>
                <a:ea typeface="微软雅黑"/>
              </a:rPr>
              <a:t>③ 输出</a:t>
            </a:r>
          </a:p>
          <a:p>
            <a:pPr latinLnBrk="1"/>
            <a:r>
              <a:rPr lang="zh-CN" sz="850" b="0">
                <a:solidFill>
                  <a:srgbClr val="3D3C3A"/>
                </a:solidFill>
                <a:latin typeface="微软雅黑"/>
                <a:ea typeface="微软雅黑"/>
              </a:rPr>
              <a:t>生成按优先级排序的诊断报告，直接标明问题引擎、需检查的规则、缺失的商户／关键词及应补充的知识库，供业务确认。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0400"/>
            <a:ext cx="5541264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3504" y="210312"/>
            <a:ext cx="8887968" cy="3566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sz="2000" b="1" lang="zh-CN">
                <a:solidFill>
                  <a:srgbClr val="0A0A0A"/>
                </a:solidFill>
                <a:latin typeface="微软雅黑"/>
                <a:ea typeface="微软雅黑"/>
              </a:rPr>
              <a:t>OOT实测：自主 Liability 能力已具备替代 illion 的基础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7004304" cy="62179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7004304" cy="12252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413247"/>
          <a:ext cx="7004304" cy="10424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92023" y="1069849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2" y="1051560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 贷款识别覆盖交集：我方漏识别更少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" y="5650992"/>
            <a:ext cx="4114800" cy="45720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9767" y="5650992"/>
            <a:ext cx="64008" cy="4572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3" y="5724144"/>
            <a:ext cx="405993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sz="950" b="1" lang="zh-CN">
                <a:solidFill>
                  <a:srgbClr val="0A0A0A"/>
                </a:solidFill>
                <a:latin typeface="微软雅黑"/>
                <a:ea typeface="微软雅黑"/>
              </a:rPr>
              <a:t>双方识别高度重合；Finv 在保持 98.5% illion 覆盖的同时，实现更高整体覆盖。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218945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81727" y="2218945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9743" y="2255521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一致性：同一贷款流内 illion 标签自相矛盾（MoneySpot）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425696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681727" y="4425696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09743" y="4462272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82896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5175503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7" y="6327647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81727" y="6327647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09743" y="6364223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微软雅黑"/>
                <a:ea typeface="微软雅黑"/>
              </a:defRPr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✓ Finv 结合交易模式与机构产品知识识别 LOC，提升贷款类型精度</a:t>
            </a:r>
          </a:p>
        </p:txBody>
      </p:sp>
      <p:sp>
        <p:nvSpPr>
          <p:cNvPr id="64" name="venn-blue"/>
          <p:cNvSpPr/>
          <p:nvPr/>
        </p:nvSpPr>
        <p:spPr>
          <a:xfrm>
            <a:off x="841248" y="1609344"/>
            <a:ext cx="2578608" cy="2578608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venn-gold"/>
          <p:cNvSpPr/>
          <p:nvPr/>
        </p:nvSpPr>
        <p:spPr>
          <a:xfrm>
            <a:off x="1947671" y="1609344"/>
            <a:ext cx="2487168" cy="2487168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venn-label-blue"/>
          <p:cNvSpPr txBox="1"/>
          <p:nvPr/>
        </p:nvSpPr>
        <p:spPr>
          <a:xfrm>
            <a:off x="841248" y="1298448"/>
            <a:ext cx="1463040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1F4E79"/>
                </a:solidFill>
                <a:latin typeface="微软雅黑"/>
                <a:ea typeface="微软雅黑"/>
              </a:rPr>
              <a:t>Finv 识别 5,680</a:t>
            </a:r>
          </a:p>
          <a:p>
            <a:pPr algn="l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覆盖率 12.8%</a:t>
            </a:r>
          </a:p>
        </p:txBody>
      </p:sp>
      <p:sp>
        <p:nvSpPr>
          <p:cNvPr id="67" name="venn-label-gold"/>
          <p:cNvSpPr txBox="1"/>
          <p:nvPr/>
        </p:nvSpPr>
        <p:spPr>
          <a:xfrm>
            <a:off x="2971799" y="1298448"/>
            <a:ext cx="1463040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lang="zh-CN" sz="900" b="1">
                <a:solidFill>
                  <a:srgbClr val="D6A000"/>
                </a:solidFill>
                <a:latin typeface="微软雅黑"/>
                <a:ea typeface="微软雅黑"/>
              </a:rPr>
              <a:t>illion 识别 5,363</a:t>
            </a:r>
          </a:p>
          <a:p>
            <a:pPr algn="r"/>
            <a:r>
              <a:rPr lang="zh-CN" sz="800" b="0">
                <a:solidFill>
                  <a:srgbClr val="606060"/>
                </a:solidFill>
                <a:latin typeface="微软雅黑"/>
                <a:ea typeface="微软雅黑"/>
              </a:rPr>
              <a:t>覆盖率 12.1%</a:t>
            </a:r>
          </a:p>
        </p:txBody>
      </p:sp>
      <p:sp>
        <p:nvSpPr>
          <p:cNvPr id="68" name="venn-blue-only"/>
          <p:cNvSpPr txBox="1"/>
          <p:nvPr/>
        </p:nvSpPr>
        <p:spPr>
          <a:xfrm>
            <a:off x="987552" y="2743200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lang="zh-CN">
                <a:solidFill>
                  <a:srgbClr val="1F4E79"/>
                </a:solidFill>
                <a:latin typeface="微软雅黑"/>
                <a:ea typeface="微软雅黑"/>
              </a:rPr>
              <a:t>6.9%</a:t>
            </a:r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 / 396</a:t>
            </a:r>
          </a:p>
        </p:txBody>
      </p:sp>
      <p:sp>
        <p:nvSpPr>
          <p:cNvPr id="69" name="venn-gold-only"/>
          <p:cNvSpPr txBox="1"/>
          <p:nvPr/>
        </p:nvSpPr>
        <p:spPr>
          <a:xfrm>
            <a:off x="3520440" y="2743200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lang="zh-CN">
                <a:solidFill>
                  <a:srgbClr val="D6A000"/>
                </a:solidFill>
                <a:latin typeface="微软雅黑"/>
                <a:ea typeface="微软雅黑"/>
              </a:rPr>
              <a:t>1.4%</a:t>
            </a:r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 / 79</a:t>
            </a:r>
          </a:p>
        </p:txBody>
      </p:sp>
      <p:sp>
        <p:nvSpPr>
          <p:cNvPr id="70" name="venn-intersect"/>
          <p:cNvSpPr txBox="1"/>
          <p:nvPr/>
        </p:nvSpPr>
        <p:spPr>
          <a:xfrm>
            <a:off x="2276856" y="2670048"/>
            <a:ext cx="8229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lang="zh-CN">
                <a:solidFill>
                  <a:srgbClr val="1F4E79"/>
                </a:solidFill>
                <a:latin typeface="微软雅黑"/>
                <a:ea typeface="微软雅黑"/>
              </a:rPr>
              <a:t>91.8%</a:t>
            </a:r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 / 5,284</a:t>
            </a:r>
          </a:p>
        </p:txBody>
      </p:sp>
      <p:sp>
        <p:nvSpPr>
          <p:cNvPr id="72" name="subtitle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40000"/>
              </a:lnSpc>
            </a:pPr>
            <a:r>
              <a:rPr sz="1800" b="0" lang="zh-CN">
                <a:solidFill>
                  <a:srgbClr val="606060"/>
                </a:solidFill>
                <a:latin typeface="微软雅黑"/>
                <a:ea typeface="微软雅黑"/>
              </a:rPr>
              <a:t>让客户负债画像更接近真实状态，核心负债识别能力自主可控，为后续规则与模型优化保留更大空间</a:t>
            </a:r>
          </a:p>
        </p:txBody>
      </p:sp>
      <p:sp>
        <p:nvSpPr>
          <p:cNvPr id="73" name="m1"/>
          <p:cNvSpPr txBox="1"/>
          <p:nvPr/>
        </p:nvSpPr>
        <p:spPr>
          <a:xfrm>
            <a:off x="429768" y="448056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1F4E79"/>
                </a:solidFill>
                <a:latin typeface="微软雅黑"/>
                <a:ea typeface="微软雅黑"/>
              </a:rPr>
              <a:t>98.5%</a:t>
            </a:r>
          </a:p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0A0A0A"/>
                </a:solidFill>
                <a:latin typeface="微软雅黑"/>
                <a:ea typeface="微软雅黑"/>
              </a:rPr>
              <a:t>Finv 对 illion 已识别结果覆盖</a:t>
            </a:r>
          </a:p>
          <a:p>
            <a:pPr algn="l">
              <a:lnSpc>
                <a:spcPct val="100000"/>
              </a:lnSpc>
            </a:pPr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5,284 / 5,363</a:t>
            </a:r>
          </a:p>
        </p:txBody>
      </p:sp>
      <p:sp>
        <p:nvSpPr>
          <p:cNvPr id="74" name="m2"/>
          <p:cNvSpPr txBox="1"/>
          <p:nvPr/>
        </p:nvSpPr>
        <p:spPr>
          <a:xfrm>
            <a:off x="2560320" y="448056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1F4E79"/>
                </a:solidFill>
                <a:latin typeface="微软雅黑"/>
                <a:ea typeface="微软雅黑"/>
              </a:rPr>
              <a:t>+317</a:t>
            </a:r>
          </a:p>
          <a:p>
            <a:pPr algn="l">
              <a:lnSpc>
                <a:spcPct val="100000"/>
              </a:lnSpc>
            </a:pPr>
            <a:r>
              <a:rPr sz="900" b="0" lang="zh-CN">
                <a:solidFill>
                  <a:srgbClr val="0A0A0A"/>
                </a:solidFill>
                <a:latin typeface="微软雅黑"/>
                <a:ea typeface="微软雅黑"/>
              </a:rPr>
              <a:t>Finv 净增识别</a:t>
            </a:r>
          </a:p>
          <a:p>
            <a:pPr algn="l">
              <a:lnSpc>
                <a:spcPct val="100000"/>
              </a:lnSpc>
            </a:pPr>
            <a:r>
              <a:rPr sz="800" b="0" lang="zh-CN">
                <a:solidFill>
                  <a:srgbClr val="606060"/>
                </a:solidFill>
                <a:latin typeface="微软雅黑"/>
                <a:ea typeface="微软雅黑"/>
              </a:rPr>
              <a:t>396 − 79</a:t>
            </a:r>
          </a:p>
        </p:txBody>
      </p:sp>
    </p:spTree>
    <p:extLst>
      <p:ext uri="{BB962C8B-B14F-4D97-AF65-F5344CB8AC3E}">
        <p14:creationId xmlns:p14="http://schemas.microsoft.com/office/powerpoint/2010/main" val="18752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Words>1241</Words>
  <Application>Microsoft Office PowerPoint</Application>
  <PresentationFormat>宽屏</PresentationFormat>
  <Paragraphs>356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微软雅黑 Light</vt:lpstr>
      <vt:lpstr>Arial</vt:lpstr>
      <vt:lpstr>微软雅黑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110</cp:revision>
  <dcterms:modified xsi:type="dcterms:W3CDTF">2026-08-10T10:17:31Z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