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4528" y="502920"/>
            <a:ext cx="694944" cy="69494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24528" y="76809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endParaRPr lang="en-US" sz="1672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银行流水识别与 AI 交易分类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4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基于交易分类、商户知识库与 AI 评估闭环的智能流水加工方案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9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8 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315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申请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952" y="4105656"/>
            <a:ext cx="1115568" cy="0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3977640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4315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绑卡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30552" y="4105656"/>
            <a:ext cx="1115568" cy="0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977640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4315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illion 解析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02152" y="4105656"/>
            <a:ext cx="1115568" cy="0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3977640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315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交易分类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73752" y="4105656"/>
            <a:ext cx="1115568" cy="0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3977640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4315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Serviceability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45352" y="4105656"/>
            <a:ext cx="1115568" cy="0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3977640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4315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信审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银行流水识别：解决什么问题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把银行原始交易记录加工为结构化数据，支撑收入评估、负债识别与偿付能力计算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在澳洲信贷流程中的位置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184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用户申请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25880" y="18470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20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银行卡绑定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22494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231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illion 数据解析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25880" y="26517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779776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254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交易对手与分类识别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25880" y="3054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8211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27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Serviceability 计算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25880" y="34564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584448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FDF3E3"/>
          </a:solidFill>
          <a:ln w="12700">
            <a:solidFill>
              <a:srgbClr val="E3C8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30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A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信审决策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120700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316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Serviceability 核心公式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 − 必要支出 − 负债还款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1828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＝ 可支配盈余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2331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监管依据：Responsible Lending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09160" y="2670048"/>
            <a:ext cx="237744" cy="23774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70662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572" dirty="0"/>
          </a:p>
        </p:txBody>
      </p:sp>
      <p:sp>
        <p:nvSpPr>
          <p:cNvPr id="30" name="Text 28"/>
          <p:cNvSpPr/>
          <p:nvPr/>
        </p:nvSpPr>
        <p:spPr>
          <a:xfrm>
            <a:off x="507492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符合《National Consumer Credit Protection Act 2009》及 ASIC 监管要求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127248"/>
            <a:ext cx="237744" cy="23774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16382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572" dirty="0"/>
          </a:p>
        </p:txBody>
      </p:sp>
      <p:sp>
        <p:nvSpPr>
          <p:cNvPr id="33" name="Text 31"/>
          <p:cNvSpPr/>
          <p:nvPr/>
        </p:nvSpPr>
        <p:spPr>
          <a:xfrm>
            <a:off x="507492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调查核实收入、必要支出、现有负债及可预见变化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584448"/>
            <a:ext cx="237744" cy="23774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62102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572" dirty="0"/>
          </a:p>
        </p:txBody>
      </p:sp>
      <p:sp>
        <p:nvSpPr>
          <p:cNvPr id="36" name="Text 34"/>
          <p:cNvSpPr/>
          <p:nvPr/>
        </p:nvSpPr>
        <p:spPr>
          <a:xfrm>
            <a:off x="507492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判断能否在不造成重大经济困难的前提下还款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4041648"/>
            <a:ext cx="237744" cy="23774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07822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572" dirty="0"/>
          </a:p>
        </p:txBody>
      </p:sp>
      <p:sp>
        <p:nvSpPr>
          <p:cNvPr id="39" name="Text 37"/>
          <p:cNvSpPr/>
          <p:nvPr/>
        </p:nvSpPr>
        <p:spPr>
          <a:xfrm>
            <a:off x="50749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不得提供“不适合”的信贷产品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识别准确性直接影响收入、支出与负债计算，进而影响最终信审判断。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 illion 分类能力的痛点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交易分类、交易对手识别及部分 Serviceability 计算高度依赖外部供应商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98448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分类逻辑不透明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黑盒规则与模型，漏识别或误分类时难以定位原因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298448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3749040" y="1298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无法快速调整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依赖供应商排期，难以及时响应业务、风险与合规变化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70432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98448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6537960" y="1298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分类粒度不足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72200" y="16276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SACC / Non-SACC / BNPL / LOC / Wage Advance 等需进一步拆分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414016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4688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960120" y="24140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长尾覆盖不足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2743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小型商户、新兴平台、特殊交易描述易落入 Other 或错误分类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28600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2414016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4688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749040" y="24140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交易对手识别有限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83280" y="2743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难以识别具体商户或贷款机构，贷款归属与还款匹配无法开展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28600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2414016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4688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6537960" y="24140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输出与口径缺控制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172200" y="2743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IDP 与 Serviceability 所需字段及计算口径无法按内部标准配置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4015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3529584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584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960120" y="3529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效果难以监控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94360" y="3858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无法掌握模型版本与规则更新，输出波动时难以回溯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46120" y="34015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3280" y="3529584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584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660" dirty="0"/>
          </a:p>
        </p:txBody>
      </p:sp>
      <p:sp>
        <p:nvSpPr>
          <p:cNvPr id="43" name="Text 41"/>
          <p:cNvSpPr/>
          <p:nvPr/>
        </p:nvSpPr>
        <p:spPr>
          <a:xfrm>
            <a:off x="3749040" y="3529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多源数据不一致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383280" y="3858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 Banking 接入后，多供应商字段与分类体系差异增加复杂度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34015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3529584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584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6537960" y="3529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关键能力受制于人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172200" y="3858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交易分类是收入、负债与消费分析的基础，外依赖限制自主创新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需要自建交易分类模型与商户知识库，沉淀内部能力，提升可解释性、可配置性与迭代效率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银行流水识别：需要完成哪些加工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两个层面：交易明细维度 × 用户汇总维度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25880"/>
            <a:ext cx="384048" cy="38404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24" dirty="0"/>
          </a:p>
        </p:txBody>
      </p:sp>
      <p:sp>
        <p:nvSpPr>
          <p:cNvPr id="8" name="Text 6"/>
          <p:cNvSpPr/>
          <p:nvPr/>
        </p:nvSpPr>
        <p:spPr>
          <a:xfrm>
            <a:off x="1170432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交易明细维度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7556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原始交易文本 → 交易对手（商户 / 贷款机构 / 政府 / 个人）＋ 交易分类（收入 / 负债 / 消费）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1325880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24" dirty="0"/>
          </a:p>
        </p:txBody>
      </p:sp>
      <p:sp>
        <p:nvSpPr>
          <p:cNvPr id="13" name="Text 11"/>
          <p:cNvSpPr/>
          <p:nvPr/>
        </p:nvSpPr>
        <p:spPr>
          <a:xfrm>
            <a:off x="5422392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用户汇总维度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0328" y="17556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按客户、账户及观察周期汇总，形成用户级负债与还款指标（近 90 天）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示例：贷款还款交易识别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FFF8E8"/>
          </a:solidFill>
          <a:ln w="12700">
            <a:solidFill>
              <a:srgbClr val="E3C8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80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原始交易：2026-03-26 ｜ 156 澳元 ｜ Debit ｜ BILL PAY Fair Go Finance DT.58oa72 SACC 239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01568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493008"/>
            <a:ext cx="237744" cy="23774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95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en-US" sz="572" dirty="0"/>
          </a:p>
        </p:txBody>
      </p:sp>
      <p:sp>
        <p:nvSpPr>
          <p:cNvPr id="21" name="Text 19"/>
          <p:cNvSpPr/>
          <p:nvPr/>
        </p:nvSpPr>
        <p:spPr>
          <a:xfrm>
            <a:off x="932688" y="3456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交易对手识别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Fair Go Finance ｜ 贷款机构 ｜ 小额信贷机构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401568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493008"/>
            <a:ext cx="237744" cy="23774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5295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en-US" sz="572" dirty="0"/>
          </a:p>
        </p:txBody>
      </p:sp>
      <p:sp>
        <p:nvSpPr>
          <p:cNvPr id="26" name="Text 24"/>
          <p:cNvSpPr/>
          <p:nvPr/>
        </p:nvSpPr>
        <p:spPr>
          <a:xfrm>
            <a:off x="5184648" y="3456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交易分类识别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84648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一级：贷款及还款 ｜ 二级：SACC Loans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常见交易对手与分类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商户：Woolworths、Telstra 等 ｜ 贷款机构：Fair Go Finance ｜ 政府：Services Australia、ATO ｜ 个人：家庭成员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分类：工资及收入 ｜ 赌博支出 ｜ 房租 ｜ 水电通信等生活支出 ｜ 内部转账 ｜ 外部个人转账 ｜ 贷款及还款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用户汇总：整体负债情况（近 90 天）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识别到的还款流：Fair Go Finance 每两周 156 澳元 ｜ Credit Corp 每月 90 澳元 ｜ 其他贷款 78 澳元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07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家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801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当前贷款机构数量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3807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2,300 澳元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246120" y="1801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最近 90 天借款总额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3807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1,284 澳元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035040" y="1801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最近 90 天还款总额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32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428 澳元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7200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平均月还款金额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286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 w="12700">
            <a:solidFill>
              <a:srgbClr val="E3C8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432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1,016 澳元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246120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预计待还金额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432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次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035040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最近 90 天还款次数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定性标记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DECEA"/>
          </a:solidFill>
          <a:ln w="12700">
            <a:solidFill>
              <a:srgbClr val="E5B8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13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SACC 贷款：是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0" y="37490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DECEA"/>
          </a:solidFill>
          <a:ln w="12700">
            <a:solidFill>
              <a:srgbClr val="E5B8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813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多头借贷：是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7490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DECEA"/>
          </a:solidFill>
          <a:ln w="12700">
            <a:solidFill>
              <a:srgbClr val="E5B8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813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持续还款：是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66560" y="37490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AF4E9"/>
          </a:solidFill>
          <a:ln w="12700">
            <a:solidFill>
              <a:srgbClr val="B8D8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3813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还款中断：否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注：预计待还金额根据借款与已还金额估算；因涉及利息、费用、重复借款及观察期外还款，该指标仅作参考。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用户汇总：单笔负债情况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针对每笔贷款识别机构、金额、还款频率与贷款状态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贷款机构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Fair Go Finance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贷款类型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SACC 贷款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借款金额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1,500 澳元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最近 90 天已还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936 澳元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预计待还金额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564 澳元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还款频率 / 单次金额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每两周一次 ／ 156 澳元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最近 90 天还款次数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贷款状态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在贷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扣款失败 / 还款中断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 ／ 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常见贷款状态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37760" y="1572768"/>
            <a:ext cx="3749040" cy="694944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74920" y="1636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在贷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16367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贷款尚未结清，近期仍存在正常还款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37760" y="2377440"/>
            <a:ext cx="3749040" cy="694944"/>
          </a:xfrm>
          <a:prstGeom prst="roundRect">
            <a:avLst>
              <a:gd name="adj" fmla="val 7895"/>
            </a:avLst>
          </a:prstGeom>
          <a:solidFill>
            <a:srgbClr val="EAF4E9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4920" y="2441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2441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贷款已完成还款，不再产生相关还款交易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37760" y="3182112"/>
            <a:ext cx="3749040" cy="694944"/>
          </a:xfrm>
          <a:prstGeom prst="roundRect">
            <a:avLst>
              <a:gd name="adj" fmla="val 7895"/>
            </a:avLst>
          </a:prstGeom>
          <a:solidFill>
            <a:srgbClr val="FDECE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违约中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26480" y="32461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持续逾期、长期停止还款或多次扣款失败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937760" y="3986784"/>
            <a:ext cx="3749040" cy="694944"/>
          </a:xfrm>
          <a:prstGeom prst="roundRect">
            <a:avLst>
              <a:gd name="adj" fmla="val 7895"/>
            </a:avLst>
          </a:prstGeom>
          <a:solidFill>
            <a:srgbClr val="FDF3E3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4920" y="4050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A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状态不明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26480" y="40507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观察周期不足或交易信息不完整，无法准确判断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在整个流程中的应用：7 个分类引擎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每个引擎专注一种交易语义；后续引擎发现更明确证据可修正前序分类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28016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3807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93776" y="16916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9110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已知商户与消费分类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517904" y="148132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1207008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84248" y="128016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13807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682496" y="16916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Dishonour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09928" y="19110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退票与失败扣款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06624" y="148132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1207008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2968" y="128016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13807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871216" y="16916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Transfer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98648" y="19110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内部转账识别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95344" y="148132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1207008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61688" y="128016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61688" y="13807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059936" y="16916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Income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87368" y="19110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工资与稳定收入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84064" y="148132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12080" y="1207008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3C8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50408" y="1280160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0408" y="13807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248656" y="16916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Liability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76088" y="19110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贷款信用卡催收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72784" y="148132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1207008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39128" y="128016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39128" y="13807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6437376" y="16916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Other Credit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64808" y="19110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未识别入账兜底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461504" y="148132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589520" y="1207008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27848" y="128016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27848" y="13807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7626096" y="16916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53528" y="19110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银行与交易费用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57200" y="2240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分类以最匹配交易业务语义的结果为准；AI 不参与每笔交易的实时判断。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Init Engine：商户知识库自动维护（两条流水线）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57200" y="2907792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2980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流水线一：官方注册商户数据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21792" y="323697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定期拉取 → 提取法定/商业/交易名称 → 与知识库增量比对 → 新增 / 更新 / 下线 → 清洗无效关键词 → AI 联网核验业务与类别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2907792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73752" y="2980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流水线二：线上未识别商户交易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873752" y="323697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筛选未识别流水 → AI 联网核验 → 提取标准名与真实关键词 → 去重合并新别名 → 回写知识库 → 下一轮分类自动生效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39136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商户知识库沉淀示例（关键词取自真实交易文本，经联网核验确认标准名与类别）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9664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1645920"/>
                <a:gridCol w="210312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原始交易描述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标准商户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官网链接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MCDONALDS BRISBANE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McDonald's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Dining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CHEMIST WAREHOUSE 123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Chemist Warehouse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OPENAI *CHATGPT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OpenAI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openai.com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AMZNPRIMEA*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Amazon Prime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Subscription TV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amazon.com.au/prime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应用：退票、转账与收入识别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规则引擎实时判断；AI 通过评估闭环持续优化规则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280160"/>
            <a:ext cx="310896" cy="31089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35331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748" dirty="0"/>
          </a:p>
        </p:txBody>
      </p:sp>
      <p:sp>
        <p:nvSpPr>
          <p:cNvPr id="8" name="Text 6"/>
          <p:cNvSpPr/>
          <p:nvPr/>
        </p:nvSpPr>
        <p:spPr>
          <a:xfrm>
            <a:off x="1024128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Dishonour Engine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17520" y="1261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退票识别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51790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识别退票、撤销、失败扣款与直接扣款退回；使用明确交易文本规则，不需实时 AI 判断；质量评估发现新描述时补充为新规则。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" y="2212848"/>
            <a:ext cx="310896" cy="31089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2860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748" dirty="0"/>
          </a:p>
        </p:txBody>
      </p:sp>
      <p:sp>
        <p:nvSpPr>
          <p:cNvPr id="14" name="Text 12"/>
          <p:cNvSpPr/>
          <p:nvPr/>
        </p:nvSpPr>
        <p:spPr>
          <a:xfrm>
            <a:off x="1024128" y="2194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Transfer Engine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17520" y="2194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资金搬运识别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24128" y="24505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区分内部转账与外部转账，避免资金搬运被误分类为消费、收入或负债；综合文本、对手、方向与排除规则；AI 审计对误归为转账的房租/保险/水电交易给出优化建议。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" y="3145536"/>
            <a:ext cx="310896" cy="31089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2186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748" dirty="0"/>
          </a:p>
        </p:txBody>
      </p:sp>
      <p:sp>
        <p:nvSpPr>
          <p:cNvPr id="20" name="Text 18"/>
          <p:cNvSpPr/>
          <p:nvPr/>
        </p:nvSpPr>
        <p:spPr>
          <a:xfrm>
            <a:off x="1024128" y="3127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Income Engine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17520" y="3127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收入识别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24128" y="33832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识别工资、薪酬包装、政府补助与零工收入；综合方向、金额、付款方重复次数、金额稳定性与周/双周/月周期；“入账方向 + 文本/行为证据”共同成立才归为收入。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023360"/>
                <a:gridCol w="2103120"/>
                <a:gridCol w="1097280"/>
              </a:tblGrid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</a:t>
                      </a:r>
                      <a:endParaRPr lang="en-US" sz="8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交易描述与行为线索</a:t>
                      </a:r>
                      <a:endParaRPr lang="en-US" sz="8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命中的知识</a:t>
                      </a:r>
                      <a:endParaRPr lang="en-US" sz="8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</a:t>
                      </a:r>
                      <a:endParaRPr lang="en-US" sz="8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普通工资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PAYROLL ACME PTY LTD，同一付款方双周入账，金额稳定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工资文本模式 + 双周周期 + 稳定金额阈值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salary_payg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薪酬包装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SALARY PACKAGING ...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薪酬包装模式优先于普通工资模式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salary_packaging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政府补助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CENTRELINK ...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Centrelink 专项模式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centrelink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零工收入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UBER ... 入账，不含退款/贷款/转账信号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零工模式 + 入账方向 + 排除规则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self_employed_gig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非收入排除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LOAN DEPOSIT、退款或内部转账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贷款、退款、转账等负向模式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不归为收入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Liability Engine：贷款、信用卡与催收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先识别交易对手与产品类型，再将同类还款交易归集为负债流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834640"/>
                <a:gridCol w="242316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知识库 / 场景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交易描述示例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识别逻辑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BNPL 交易对手库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DIRECT DEBIT AFTERPAY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命中 BNPL 交易对手关键词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Afterpay ｜ BNPL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信用卡还款规则库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BPAY ... ANZ CARDS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银行、账户类型、方向与信用卡模式共同匹配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Credit Card Repayment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房贷规则库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MORTGAGE REPAYMENT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Mortgage、Home Loan 关键词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Home Loan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车贷规则库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车贷机构或专用描述的扣款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车贷标记规则与交易对手规则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 Loan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催收规则库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已知催收机构名称或关键词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催收机构关键词与专项标记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Debt Collection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债务整合规则库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债务整合机构或描述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整合关键词与专项标记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Debt Consolidation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退票规则库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Return ... Loan Repayment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贷款还款被退回的文本模式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Dishonours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透支规则库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OVERDRAWN 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透支专用关键词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Overdrawn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通用贷款兜底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未命中任何机构但含完整 LOAN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专项规则均未命中后的兜底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Generic Loans ｜ Non SACC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特例处理：Credit Corp 按子产品线索区分 BNPL / 循环额度 / 个人贷款；Cash Converters 含门店、终端或卡尾号归为零售，含贷款合同编号保留贷款含义。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兜底引擎与评估闭环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 Other Credit、Fee 与 AI 审计优化闭环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25880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0817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792" dirty="0"/>
          </a:p>
        </p:txBody>
      </p:sp>
      <p:sp>
        <p:nvSpPr>
          <p:cNvPr id="8" name="Text 6"/>
          <p:cNvSpPr/>
          <p:nvPr/>
        </p:nvSpPr>
        <p:spPr>
          <a:xfrm>
            <a:off x="1060704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 Other Credit：未识别入账兜底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609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归集未被收入、转账与负债引擎识别的入账；高频落入即提示相应知识库存在补充空间。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EF3FA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73752" y="1325880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40817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792" dirty="0"/>
          </a:p>
        </p:txBody>
      </p:sp>
      <p:sp>
        <p:nvSpPr>
          <p:cNvPr id="13" name="Text 11"/>
          <p:cNvSpPr/>
          <p:nvPr/>
        </p:nvSpPr>
        <p:spPr>
          <a:xfrm>
            <a:off x="5312664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 Engine：费用识别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609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 ATM、账户、国际交易、透支、退票与现金预支费用；新费用类型经评估闭环补充到规则中。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评估闭环：AI 审计不一致标签并推动优化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个引擎完成分类后，将我方标签与 illion 外部标签对比，识别覆盖不足、类别不一致与交易对手不一致的交易。AI 逐笔查看交易描述、金额、方向、双方对手、双方类别及分类依据，判断：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8992" y="3465576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520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我方更合理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9684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我方标签正确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39696" y="3401568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61488" y="3465576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1488" y="3520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139696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illion 更合理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85416" y="39684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illion 标签正确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22192" y="3401568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43984" y="3465576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520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822192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粒度不同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67912" y="39684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双方都对，粒度有差异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04688" y="3401568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3465576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520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5504688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双方不正确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50408" y="39684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均需修正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187184" y="3401568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08976" y="3465576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08976" y="3520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660" dirty="0"/>
          </a:p>
        </p:txBody>
      </p:sp>
      <p:sp>
        <p:nvSpPr>
          <p:cNvPr id="40" name="Text 38"/>
          <p:cNvSpPr/>
          <p:nvPr/>
        </p:nvSpPr>
        <p:spPr>
          <a:xfrm>
            <a:off x="7187184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证据不足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32904" y="39684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需人工确认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57200" y="4279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输出按优先级排序的修复建议：补充商户、增加关键词、修正转账排除规则、补充收入模式、新增负债机构等；业务审核后写回对应知识库或规则表，下一轮分类自动生效。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Liability 分类效果：OOT 样本对比分析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 个申请 case ｜ 44,241 条交易 ｜ 2026/07/20–21 ｜ 对比基准：illion 外部标签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5,680 条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我方识别贷款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 12.8%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0700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261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5,363 条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24612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illion 识别贷款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18196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 12.1%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261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92.0%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3504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双方共认一致率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8196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5,284 条交集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贷款识别覆盖（韦恩图）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1554480" cy="1554480"/>
          </a:xfrm>
          <a:prstGeom prst="ellipse">
            <a:avLst/>
          </a:prstGeom>
          <a:solidFill>
            <a:srgbClr val="D9E2F3">
              <a:alpha val="70000"/>
            </a:srgbClr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2743200"/>
            <a:ext cx="1554480" cy="1554480"/>
          </a:xfrm>
          <a:prstGeom prst="ellipse">
            <a:avLst/>
          </a:prstGeom>
          <a:solidFill>
            <a:srgbClr val="FCE4EC">
              <a:alpha val="70000"/>
            </a:srgbClr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127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我方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5,680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40416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396 条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27632" y="3401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5,284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3127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illion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5,363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60320" y="40416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18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79 条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4074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左独有 396 条集中于 BNPL、EWA、Home Loan；右独有 79 条主要为知识库缺失或归属差异。我方漏识别更少，整体覆盖更优。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共认贷款分类流转矩阵（5,284 条）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651760"/>
          <a:ext cx="3794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868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illion \ 我方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SACC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Non-SACC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Unknown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illion SACC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262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illion Non-SACC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4,601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144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我方小计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5,072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224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892040" y="39319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illion 的 SACC 标记中 39.1% 被我方修正，过分类明显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我方 Non-SACC 与 illion 一致率 93.4%，分类更稳健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Liability 典型案例：覆盖 → 一致性 → 精度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OOT 样本对比分析（35 个申请 case）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310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2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060704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62456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8132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68" dirty="0"/>
          </a:p>
        </p:txBody>
      </p:sp>
      <p:sp>
        <p:nvSpPr>
          <p:cNvPr id="8" name="Text 6"/>
          <p:cNvSpPr/>
          <p:nvPr/>
        </p:nvSpPr>
        <p:spPr>
          <a:xfrm>
            <a:off x="1170432" y="1362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Case 1｜覆盖优势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362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Home Loan 被 illion 漏识别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70432" y="1636776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 "Home loan - Receipt ... To Orange Everyday" 被 illion 标为 Internal Transfer（非贷款），完全遗漏住房贷款。我方基于产品关键词判定为贷款，细分为 Non-SACC（Home Loan）。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70432" y="2029968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价值：通过产品词库识别捕捉 illion 覆盖盲区，扩大贷款识别面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1060704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551176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7004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68" dirty="0"/>
          </a:p>
        </p:txBody>
      </p:sp>
      <p:sp>
        <p:nvSpPr>
          <p:cNvPr id="15" name="Text 13"/>
          <p:cNvSpPr/>
          <p:nvPr/>
        </p:nvSpPr>
        <p:spPr>
          <a:xfrm>
            <a:off x="1170432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Case 2｜一致性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5511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同一贷款流内 illion 标签自相矛盾（MoneySpot）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70432" y="2825496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放款 750 澳元，等额还款 49.09 × 10。illion 前 6 笔标 SACC、后 5 笔标 Non-SACC。我方通过放款与还款贷款流匹配，依小额等额高频特征统一判定为 SACC。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70432" y="3218688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价值：验证贷款流粒度分类一致性，纠正碎片化误判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1060704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739896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85876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68" dirty="0"/>
          </a:p>
        </p:txBody>
      </p:sp>
      <p:sp>
        <p:nvSpPr>
          <p:cNvPr id="22" name="Text 20"/>
          <p:cNvSpPr/>
          <p:nvPr/>
        </p:nvSpPr>
        <p:spPr>
          <a:xfrm>
            <a:off x="1170432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Case 3｜精度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739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LOC 产品被 illion 泛化为 SACC（Credit24）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70432" y="4014216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同一用户 19 笔 Credit24 交易被全部标为 SACC。我方结合交易模式与机构产品库识别为循环授信（LOC），归入 Non-SACC。LOC 与 SACC 在监管属性、利率上限上本质不同。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70432" y="4407408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价值：细粒度产品区分，避免误判高风险 SACC，为风控提供准确信号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案例逻辑主线：覆盖（不漏识别）→ 一致性（不碎片化）→ 精度（不分错产品）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9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从外部依赖到自主可控的智能交易分类能力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2365F"/>
          </a:solidFill>
          <a:ln w="12700">
            <a:solidFill>
              <a:srgbClr val="3349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481328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5636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792" dirty="0"/>
          </a:p>
        </p:txBody>
      </p:sp>
      <p:sp>
        <p:nvSpPr>
          <p:cNvPr id="7" name="Text 5"/>
          <p:cNvSpPr/>
          <p:nvPr/>
        </p:nvSpPr>
        <p:spPr>
          <a:xfrm>
            <a:off x="1078992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业务价值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1499616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收入、负债与支出识别更准确 → Serviceability 计算更可靠 → 支撑 Responsible Lending 合规与信审决策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2365F"/>
          </a:solidFill>
          <a:ln w="12700">
            <a:solidFill>
              <a:srgbClr val="3349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2322576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404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792" dirty="0"/>
          </a:p>
        </p:txBody>
      </p:sp>
      <p:sp>
        <p:nvSpPr>
          <p:cNvPr id="12" name="Text 10"/>
          <p:cNvSpPr/>
          <p:nvPr/>
        </p:nvSpPr>
        <p:spPr>
          <a:xfrm>
            <a:off x="1078992" y="2322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自主可控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340864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分类规则、商户知识库与计算口径内部沉淀，快速响应业务、风险与合规变化，摆脱供应商黑盒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2365F"/>
          </a:solidFill>
          <a:ln w="12700">
            <a:solidFill>
              <a:srgbClr val="3349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3163824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2461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792" dirty="0"/>
          </a:p>
        </p:txBody>
      </p:sp>
      <p:sp>
        <p:nvSpPr>
          <p:cNvPr id="17" name="Text 15"/>
          <p:cNvSpPr/>
          <p:nvPr/>
        </p:nvSpPr>
        <p:spPr>
          <a:xfrm>
            <a:off x="1078992" y="31638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驱动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3182112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引擎流水线 + 商户知识库自动维护 + 评估闭环；AI 不参与实时判断，但持续审计标签并优化规则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2365F"/>
          </a:solidFill>
          <a:ln w="12700">
            <a:solidFill>
              <a:srgbClr val="3349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" y="4005072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0873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172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792" dirty="0"/>
          </a:p>
        </p:txBody>
      </p:sp>
      <p:sp>
        <p:nvSpPr>
          <p:cNvPr id="22" name="Text 20"/>
          <p:cNvSpPr/>
          <p:nvPr/>
        </p:nvSpPr>
        <p:spPr>
          <a:xfrm>
            <a:off x="1078992" y="4005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效果验证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23160" y="402336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OOT 样本：覆盖 12.8% vs 12.1%，一致率 92.0%，SACC 过分类 39.1% 被修正，Non-SACC 一致率 93.4%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下一步：持续扩充商户与负债知识库、接入 Open Banking 多源数据、完善效果评估与版本管理机制。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 AI 交易分类</dc:title>
  <dc:subject>PptxGenJS Presentation</dc:subject>
  <dc:creator>AI 智能汇报</dc:creator>
  <cp:lastModifiedBy>AI 智能汇报</cp:lastModifiedBy>
  <cp:revision>1</cp:revision>
  <dcterms:created xsi:type="dcterms:W3CDTF">2026-08-05T12:21:38Z</dcterms:created>
  <dcterms:modified xsi:type="dcterms:W3CDTF">2026-08-05T12:21:38Z</dcterms:modified>
</cp:coreProperties>
</file>