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1" r:id="rId3"/>
    <p:sldId id="262" r:id="rId4"/>
    <p:sldId id="265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1"/>
            <p14:sldId id="262"/>
            <p14:sldId id="265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>
        <p:scale>
          <a:sx n="130" d="100"/>
          <a:sy n="130" d="100"/>
        </p:scale>
        <p:origin x="99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2026/8/7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 · 合规背景 · 第三方分类服务局限 ｜ NCCP Act 2009 及 ASIC 监管要求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558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交易对手及交易分类识别 → Serviceability 计算 → 信审决策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关键影响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：流水识别准确性 → 决定收入、支出、负债的计算结果 → 影响最终信审判断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1-formula-bg">
            <a:extLst>
              <a:ext uri="{FF2B5EF4-FFF2-40B4-BE49-F238E27FC236}">
                <a16:creationId xmlns:a16="http://schemas.microsoft.com/office/drawing/2014/main" id="{588EFC8B-6D9B-4BC6-A58A-94C590D91AE6}"/>
              </a:ext>
            </a:extLst>
          </p:cNvPr>
          <p:cNvSpPr/>
          <p:nvPr/>
        </p:nvSpPr>
        <p:spPr>
          <a:xfrm>
            <a:off x="489948" y="3196166"/>
            <a:ext cx="5588000" cy="63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11" name="s1-formula-bar">
            <a:extLst>
              <a:ext uri="{FF2B5EF4-FFF2-40B4-BE49-F238E27FC236}">
                <a16:creationId xmlns:a16="http://schemas.microsoft.com/office/drawing/2014/main" id="{54C6A925-1E42-4045-8D2E-2CC8F4C7EE07}"/>
              </a:ext>
            </a:extLst>
          </p:cNvPr>
          <p:cNvSpPr/>
          <p:nvPr/>
        </p:nvSpPr>
        <p:spPr>
          <a:xfrm>
            <a:off x="489948" y="3196166"/>
            <a:ext cx="50800" cy="635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12" name="s1-formula">
            <a:extLst>
              <a:ext uri="{FF2B5EF4-FFF2-40B4-BE49-F238E27FC236}">
                <a16:creationId xmlns:a16="http://schemas.microsoft.com/office/drawing/2014/main" id="{A03A2A13-DC76-4440-BC65-6AA049FAFCE2}"/>
              </a:ext>
            </a:extLst>
          </p:cNvPr>
          <p:cNvSpPr txBox="1"/>
          <p:nvPr/>
        </p:nvSpPr>
        <p:spPr>
          <a:xfrm>
            <a:off x="667748" y="3196166"/>
            <a:ext cx="533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05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核心计算逻辑（Serviceability）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Serviceability ＝ 收入 − 必要支出 − 负债还款 ＝ 客户可支配盈余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498415" y="410417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650815" y="4049144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489948" y="4476789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5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7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</p:ext>
            </p:extLst>
          </p:nvPr>
        </p:nvSpPr>
        <p:spPr>
          <a:xfrm>
            <a:off x="6353115" y="1481586"/>
            <a:ext cx="12700" cy="4318000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7" name="s3-bar">
            <a:extLst>
              <a:ext uri="{FF2B5EF4-FFF2-40B4-BE49-F238E27FC236}">
                <a16:creationId xmlns:a16="http://schemas.microsoft.com/office/drawing/2014/main" id="{21522F87-C40C-40E0-893E-783C6AA054A4}"/>
              </a:ext>
            </a:extLst>
          </p:cNvPr>
          <p:cNvSpPr/>
          <p:nvPr/>
        </p:nvSpPr>
        <p:spPr>
          <a:xfrm>
            <a:off x="6607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6759515" y="1454111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三、传统第三方分类服务的主要局限（当前高度依赖 illion）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6607115" y="1860374"/>
            <a:ext cx="4775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6607115" y="2698574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6607115" y="2908059"/>
            <a:ext cx="4775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6607115" y="3949463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6607115" y="4078616"/>
            <a:ext cx="4775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所需字段可能缺失，公式、数据窗口、异常处理无法按内部标准配置；Open Banking 等新数据源无分类字段，多供应商需维护多套适配逻辑，增加系统复杂度。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6607115" y="5111553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6607115" y="5238630"/>
            <a:ext cx="4775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关键业务能力受制于外部供应商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m4-line">
            <a:extLst>
              <a:ext uri="{FF2B5EF4-FFF2-40B4-BE49-F238E27FC236}">
                <a16:creationId xmlns:a16="http://schemas.microsoft.com/office/drawing/2014/main" id="{B06F18DC-59DF-4006-887C-06DD5753F50F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6607115" y="6076830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 ｜ 示例为客户级 90 天观察周期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s1-table">
            <a:extLst>
              <a:ext uri="{FF2B5EF4-FFF2-40B4-BE49-F238E27FC236}">
                <a16:creationId xmlns:a16="http://schemas.microsoft.com/office/drawing/2014/main" id="{59DAD8A2-147A-4949-9AAC-F759D673D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88381"/>
              </p:ext>
            </p:extLst>
          </p:nvPr>
        </p:nvGraphicFramePr>
        <p:xfrm>
          <a:off x="431800" y="1524000"/>
          <a:ext cx="5080000" cy="111760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2026-03-26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BILL PAY Fair Go Finance DT.58oa72 SACC 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1-questions">
            <a:extLst>
              <a:ext uri="{FF2B5EF4-FFF2-40B4-BE49-F238E27FC236}">
                <a16:creationId xmlns:a16="http://schemas.microsoft.com/office/drawing/2014/main" id="{CB90CD92-1AD6-4995-B71E-F39F64432130}"/>
              </a:ext>
            </a:extLst>
          </p:cNvPr>
          <p:cNvSpPr txBox="1"/>
          <p:nvPr/>
        </p:nvSpPr>
        <p:spPr>
          <a:xfrm>
            <a:off x="431800" y="2700867"/>
            <a:ext cx="5080000" cy="138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仅依靠原始字段，无法直接判断：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交易对象是谁；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交易属于消费、转账还是贷款还款；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对应什么贷款产品；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客户是否仍处于还款状态；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该笔交易对整体偿付能力有什么影响。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31800" y="4318002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584200" y="427990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二、交易明细维度：理解每一笔交易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s2-table">
            <a:extLst>
              <a:ext uri="{FF2B5EF4-FFF2-40B4-BE49-F238E27FC236}">
                <a16:creationId xmlns:a16="http://schemas.microsoft.com/office/drawing/2014/main" id="{5191A559-08D1-4FBA-85F6-BF224119B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82174"/>
              </p:ext>
            </p:extLst>
          </p:nvPr>
        </p:nvGraphicFramePr>
        <p:xfrm>
          <a:off x="431800" y="4597402"/>
          <a:ext cx="5080000" cy="1213104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标准交易对手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 Go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主体类型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贷款机构 / 小额信贷机构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交易分类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贷款及还款 ／ 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交易性质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贷款还款（还款金额 A$156）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分类依据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交易方向、机构名称、产品关键词及历史交易模式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1214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6273800" y="1206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三、用户汇总维度：形成完整负债画像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3-table1-head">
            <a:extLst>
              <a:ext uri="{FF2B5EF4-FFF2-40B4-BE49-F238E27FC236}">
                <a16:creationId xmlns:a16="http://schemas.microsoft.com/office/drawing/2014/main" id="{93110C1D-AC01-4B49-A621-DF4DC66DDC30}"/>
              </a:ext>
            </a:extLst>
          </p:cNvPr>
          <p:cNvSpPr txBox="1"/>
          <p:nvPr/>
        </p:nvSpPr>
        <p:spPr>
          <a:xfrm>
            <a:off x="6121400" y="1565734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天整体负债情况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s3-table1">
            <a:extLst>
              <a:ext uri="{FF2B5EF4-FFF2-40B4-BE49-F238E27FC236}">
                <a16:creationId xmlns:a16="http://schemas.microsoft.com/office/drawing/2014/main" id="{9DE093E5-6B2D-4029-A415-C57317415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84623"/>
              </p:ext>
            </p:extLst>
          </p:nvPr>
        </p:nvGraphicFramePr>
        <p:xfrm>
          <a:off x="6096000" y="1882635"/>
          <a:ext cx="2413000" cy="2514600"/>
        </p:xfrm>
        <a:graphic>
          <a:graphicData uri="http://schemas.openxmlformats.org/drawingml/2006/table">
            <a:tbl>
              <a:tblPr/>
              <a:tblGrid>
                <a:gridCol w="125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贷款机构数量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天借款金额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A$2,300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天还款金额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A$1,284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平均月还款金额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A$428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预计待还金额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还款次数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 SACC 贷款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存在多头借贷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持续还款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还款中断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s3-table2-head">
            <a:extLst>
              <a:ext uri="{FF2B5EF4-FFF2-40B4-BE49-F238E27FC236}">
                <a16:creationId xmlns:a16="http://schemas.microsoft.com/office/drawing/2014/main" id="{4338B3C5-3EE4-4EA1-B55D-B5FCC32A960B}"/>
              </a:ext>
            </a:extLst>
          </p:cNvPr>
          <p:cNvSpPr txBox="1"/>
          <p:nvPr/>
        </p:nvSpPr>
        <p:spPr>
          <a:xfrm>
            <a:off x="8737600" y="1565734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单笔贷款情况（Fair Go Finance）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s3-table2">
            <a:extLst>
              <a:ext uri="{FF2B5EF4-FFF2-40B4-BE49-F238E27FC236}">
                <a16:creationId xmlns:a16="http://schemas.microsoft.com/office/drawing/2014/main" id="{70E3869B-5EE4-49E5-9AA1-423A41C73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11244"/>
              </p:ext>
            </p:extLst>
          </p:nvPr>
        </p:nvGraphicFramePr>
        <p:xfrm>
          <a:off x="8712200" y="1899569"/>
          <a:ext cx="2565400" cy="2194560"/>
        </p:xfrm>
        <a:graphic>
          <a:graphicData uri="http://schemas.openxmlformats.org/drawingml/2006/table">
            <a:tbl>
              <a:tblPr/>
              <a:tblGrid>
                <a:gridCol w="123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2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天已还金额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A$936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预计待还金额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A$564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还款频率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每两周 A$156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天还款次数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 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当前状态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扣款失败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还款中断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s3-states">
            <a:extLst>
              <a:ext uri="{FF2B5EF4-FFF2-40B4-BE49-F238E27FC236}">
                <a16:creationId xmlns:a16="http://schemas.microsoft.com/office/drawing/2014/main" id="{A46000DA-7646-4EB8-960A-C284A6D08465}"/>
              </a:ext>
            </a:extLst>
          </p:cNvPr>
          <p:cNvSpPr txBox="1"/>
          <p:nvPr/>
        </p:nvSpPr>
        <p:spPr>
          <a:xfrm>
            <a:off x="6121400" y="4546600"/>
            <a:ext cx="51816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贷款状态判断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在贷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——近期仍在持续还款；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结清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——已完成还款、近期无相关交易；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违约中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——长期停止还款或多次扣款失败；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状态不明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——观察周期不足或交易信息不完整。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还可识别的交易对手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：商户企业（Woolworths、Telstra）、政府机构（Services Australia、ATO）、雇主与收入付款方、BNPL／信用卡／催收／工资预支机构、内部账户与外部个人账户。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band-bg">
            <a:extLst>
              <a:ext uri="{FF2B5EF4-FFF2-40B4-BE49-F238E27FC236}">
                <a16:creationId xmlns:a16="http://schemas.microsoft.com/office/drawing/2014/main" id="{D9FC0C98-9290-48B2-A50D-01CA3F539F22}"/>
              </a:ext>
            </a:extLst>
          </p:cNvPr>
          <p:cNvSpPr/>
          <p:nvPr/>
        </p:nvSpPr>
        <p:spPr>
          <a:xfrm>
            <a:off x="431800" y="5952069"/>
            <a:ext cx="10871200" cy="58420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0" name="band-capsule">
            <a:extLst>
              <a:ext uri="{FF2B5EF4-FFF2-40B4-BE49-F238E27FC236}">
                <a16:creationId xmlns:a16="http://schemas.microsoft.com/office/drawing/2014/main" id="{934B78B0-04AF-49D7-819E-F0889526294F}"/>
              </a:ext>
            </a:extLst>
          </p:cNvPr>
          <p:cNvSpPr/>
          <p:nvPr/>
        </p:nvSpPr>
        <p:spPr>
          <a:xfrm>
            <a:off x="609600" y="6079069"/>
            <a:ext cx="1498600" cy="3302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1" name="band-capsule-text">
            <a:extLst>
              <a:ext uri="{FF2B5EF4-FFF2-40B4-BE49-F238E27FC236}">
                <a16:creationId xmlns:a16="http://schemas.microsoft.com/office/drawing/2014/main" id="{76418230-E04F-4D01-B3B8-CF9BE57A0037}"/>
              </a:ext>
            </a:extLst>
          </p:cNvPr>
          <p:cNvSpPr txBox="1"/>
          <p:nvPr/>
        </p:nvSpPr>
        <p:spPr>
          <a:xfrm>
            <a:off x="609600" y="6079069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支持信审计算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band-formula">
            <a:extLst>
              <a:ext uri="{FF2B5EF4-FFF2-40B4-BE49-F238E27FC236}">
                <a16:creationId xmlns:a16="http://schemas.microsoft.com/office/drawing/2014/main" id="{77CF7CAE-866B-46D5-AA45-30E044132C71}"/>
              </a:ext>
            </a:extLst>
          </p:cNvPr>
          <p:cNvSpPr txBox="1"/>
          <p:nvPr/>
        </p:nvSpPr>
        <p:spPr>
          <a:xfrm>
            <a:off x="2311400" y="5952069"/>
            <a:ext cx="8991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稳定收入 − 必要生活支出 − 现有负债还款 ＝ 可支配盈余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band-note">
            <a:extLst>
              <a:ext uri="{FF2B5EF4-FFF2-40B4-BE49-F238E27FC236}">
                <a16:creationId xmlns:a16="http://schemas.microsoft.com/office/drawing/2014/main" id="{C0028AAC-F319-4447-8326-FE7BD0C8D54E}"/>
              </a:ext>
            </a:extLst>
          </p:cNvPr>
          <p:cNvSpPr txBox="1"/>
          <p:nvPr/>
        </p:nvSpPr>
        <p:spPr>
          <a:xfrm>
            <a:off x="2311400" y="6307669"/>
            <a:ext cx="8991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回答：客户有多少稳定收入、承担多少必要支出、正在偿还哪些贷款，以及是否具备新增还款能力。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425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一、三大知识库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40220"/>
              </p:ext>
            </p:extLst>
          </p:nvPr>
        </p:nvGraphicFramePr>
        <p:xfrm>
          <a:off x="568717" y="2274554"/>
          <a:ext cx="3175000" cy="1935480"/>
        </p:xfrm>
        <a:graphic>
          <a:graphicData uri="http://schemas.openxmlformats.org/drawingml/2006/table">
            <a:tbl>
              <a:tblPr/>
              <a:tblGrid>
                <a:gridCol w="798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init-note">
            <a:extLst>
              <a:ext uri="{FF2B5EF4-FFF2-40B4-BE49-F238E27FC236}">
                <a16:creationId xmlns:a16="http://schemas.microsoft.com/office/drawing/2014/main" id="{B625548C-85F5-4A87-B155-52266193B0F4}"/>
              </a:ext>
            </a:extLst>
          </p:cNvPr>
          <p:cNvSpPr txBox="1"/>
          <p:nvPr/>
        </p:nvSpPr>
        <p:spPr>
          <a:xfrm>
            <a:off x="621029" y="4276000"/>
            <a:ext cx="3175000" cy="94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Init：已知商户与消费分类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（餐饮、零售、健康、出行、娱乐、水电通信等），按商户知识库的标准名、别名、关键词匹配；AI 只提取交易文本中实际出现的关键词，并联网核验标准名与类别，避免误匹配。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3921517" y="199968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3921517" y="199968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8892"/>
              </p:ext>
            </p:extLst>
          </p:nvPr>
        </p:nvGraphicFramePr>
        <p:xfrm>
          <a:off x="3921517" y="2247387"/>
          <a:ext cx="3606800" cy="1779770"/>
        </p:xfrm>
        <a:graphic>
          <a:graphicData uri="http://schemas.openxmlformats.org/drawingml/2006/table">
            <a:tbl>
              <a:tblPr/>
              <a:tblGrid>
                <a:gridCol w="67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73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salary_payg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salary_packaging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self_employed_gig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income-note">
            <a:extLst>
              <a:ext uri="{FF2B5EF4-FFF2-40B4-BE49-F238E27FC236}">
                <a16:creationId xmlns:a16="http://schemas.microsoft.com/office/drawing/2014/main" id="{C6615658-9E4E-43F1-B5C2-8AA7C97BB5BC}"/>
              </a:ext>
            </a:extLst>
          </p:cNvPr>
          <p:cNvSpPr txBox="1"/>
          <p:nvPr/>
        </p:nvSpPr>
        <p:spPr>
          <a:xfrm>
            <a:off x="3973829" y="4108102"/>
            <a:ext cx="3606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Income：识别工资与其他稳定收入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，综合方向、金额、付款方重复次数、金额稳定性与周／双周／月周期判断；只有"入账方向＋文本／行为证据"共同成立才归为收入，而非只看"工资"二字。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7706117" y="199968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7706117" y="199968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57762"/>
              </p:ext>
            </p:extLst>
          </p:nvPr>
        </p:nvGraphicFramePr>
        <p:xfrm>
          <a:off x="7706117" y="2265996"/>
          <a:ext cx="4039172" cy="1955800"/>
        </p:xfrm>
        <a:graphic>
          <a:graphicData uri="http://schemas.openxmlformats.org/drawingml/2006/table">
            <a:tbl>
              <a:tblPr/>
              <a:tblGrid>
                <a:gridCol w="94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识别逻辑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Afterpay · BNPL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信用卡还款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Home Loan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Car Loan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Debt Collection 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liab-note">
            <a:extLst>
              <a:ext uri="{FF2B5EF4-FFF2-40B4-BE49-F238E27FC236}">
                <a16:creationId xmlns:a16="http://schemas.microsoft.com/office/drawing/2014/main" id="{48E5824A-DECF-4097-B9F3-AB86B4C04314}"/>
              </a:ext>
            </a:extLst>
          </p:cNvPr>
          <p:cNvSpPr txBox="1"/>
          <p:nvPr/>
        </p:nvSpPr>
        <p:spPr>
          <a:xfrm>
            <a:off x="7758429" y="4276000"/>
            <a:ext cx="3733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Liability：识别贷款、信用卡与催收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，先定产品类型再归集负债流；AI 不替代实时规则，而在评估闭环中发现新机构、新别名与规则冲突并反馈更新。辅助引擎：Dishonour（退票）、Transfer（内外部转账）、Fee（银行费用）及赌博、房租专项识别。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2-bar">
            <a:extLst>
              <a:ext uri="{FF2B5EF4-FFF2-40B4-BE49-F238E27FC236}">
                <a16:creationId xmlns:a16="http://schemas.microsoft.com/office/drawing/2014/main" id="{AB447ABD-CA21-4A0E-8B30-9C0E470A61F3}"/>
              </a:ext>
            </a:extLst>
          </p:cNvPr>
          <p:cNvSpPr/>
          <p:nvPr/>
        </p:nvSpPr>
        <p:spPr>
          <a:xfrm>
            <a:off x="541547" y="5057744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8" name="s2-title">
            <a:extLst>
              <a:ext uri="{FF2B5EF4-FFF2-40B4-BE49-F238E27FC236}">
                <a16:creationId xmlns:a16="http://schemas.microsoft.com/office/drawing/2014/main" id="{E337F18F-1584-4FB2-B57E-3CF985E58F95}"/>
              </a:ext>
            </a:extLst>
          </p:cNvPr>
          <p:cNvSpPr txBox="1"/>
          <p:nvPr/>
        </p:nvSpPr>
        <p:spPr>
          <a:xfrm>
            <a:off x="693947" y="5019644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二、评估闭环：AI 质检 Agent 监控分类波动并输出诊断报告（不参与实时分类）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loop-table">
            <a:extLst>
              <a:ext uri="{FF2B5EF4-FFF2-40B4-BE49-F238E27FC236}">
                <a16:creationId xmlns:a16="http://schemas.microsoft.com/office/drawing/2014/main" id="{0CE3767D-EDF9-47E3-B521-CF76E1432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55683"/>
              </p:ext>
            </p:extLst>
          </p:nvPr>
        </p:nvGraphicFramePr>
        <p:xfrm>
          <a:off x="541547" y="5324444"/>
          <a:ext cx="10871200" cy="1133984"/>
        </p:xfrm>
        <a:graphic>
          <a:graphicData uri="http://schemas.openxmlformats.org/drawingml/2006/table">
            <a:tbl>
              <a:tblPr/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72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监控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定位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输出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 更新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656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捕捉分类批量漂移、同一对手归类不一致、覆盖率或命中率下降、新描述未被识别等异常信号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逐笔细挖描述、金额、方向、对手、命中引擎与依据，归为五类原因：引擎规则／知识库不足／数据异常／多引擎冲突／正常波动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生成按优先级排序的诊断报告，标明问题引擎、需检查规则、缺失商户／关键词及应补充的知识库，供业务确认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处置建议写回知识库与规则表，下一轮分类生效，形成"分类→监控→定位→输出→更新→再分类"的持续优化闭环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72">
                <a:tc gridSpan="4"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5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知识库由 AI 两条流水线定期建设维护：流水线一（官方注册商户）增量比对注册数据、联网验证后回写标准名与关键词；流水线二（线上未识别交易）核验真实商户、提取实际关键词、去重合并别名后回写，下一轮分类生效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</p:spTree>
    <p:extLst>
      <p:ext uri="{BB962C8B-B14F-4D97-AF65-F5344CB8AC3E}">
        <p14:creationId xmlns:p14="http://schemas.microsoft.com/office/powerpoint/2010/main" val="178624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1,519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个申请 case ｜ 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1,958,480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/>
        </p:nvGraphicFramePr>
        <p:xfrm>
          <a:off x="409515" y="1535322"/>
          <a:ext cx="533400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venn-note">
            <a:extLst>
              <a:ext uri="{FF2B5EF4-FFF2-40B4-BE49-F238E27FC236}">
                <a16:creationId xmlns:a16="http://schemas.microsoft.com/office/drawing/2014/main" id="{E8CACBDB-E480-4B26-BF46-62E9526B4D7D}"/>
              </a:ext>
            </a:extLst>
          </p:cNvPr>
          <p:cNvSpPr txBox="1"/>
          <p:nvPr/>
        </p:nvSpPr>
        <p:spPr>
          <a:xfrm>
            <a:off x="511115" y="2485247"/>
            <a:ext cx="5334000" cy="8475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集中在 BNPL、EWA、Home Loan，是 illion 的覆盖盲区；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illion 主要为F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知识库缺失或归属差异；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贷款识别覆盖交集</a:t>
            </a:r>
            <a:r>
              <a:rPr lang="zh-CN" alt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91.75%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结论：我方漏识别更少，整体覆盖更优。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3EF311C5-A842-495C-80F3-49CB168143DC}"/>
              </a:ext>
            </a:extLst>
          </p:cNvPr>
          <p:cNvSpPr/>
          <p:nvPr/>
        </p:nvSpPr>
        <p:spPr>
          <a:xfrm>
            <a:off x="61499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D9712529-D71E-49C2-ABBB-91A6CB6E991B}"/>
              </a:ext>
            </a:extLst>
          </p:cNvPr>
          <p:cNvSpPr txBox="1"/>
          <p:nvPr/>
        </p:nvSpPr>
        <p:spPr>
          <a:xfrm>
            <a:off x="63023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二、共认贷款标签一致性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matrix">
            <a:extLst>
              <a:ext uri="{FF2B5EF4-FFF2-40B4-BE49-F238E27FC236}">
                <a16:creationId xmlns:a16="http://schemas.microsoft.com/office/drawing/2014/main" id="{5CF3F3CF-5BC2-403F-A4F6-1E25D562E910}"/>
              </a:ext>
            </a:extLst>
          </p:cNvPr>
          <p:cNvGraphicFramePr>
            <a:graphicFrameLocks noGrp="1"/>
          </p:cNvGraphicFramePr>
          <p:nvPr/>
        </p:nvGraphicFramePr>
        <p:xfrm>
          <a:off x="6149915" y="1588698"/>
          <a:ext cx="5232400" cy="800100"/>
        </p:xfrm>
        <a:graphic>
          <a:graphicData uri="http://schemas.openxmlformats.org/drawingml/2006/table">
            <a:tbl>
              <a:tblPr/>
              <a:tblGrid>
                <a:gridCol w="146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＼ 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endParaRPr lang="en-US" sz="900" b="1" noProof="1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Non-SACC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Unknown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Non-SACC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D6A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matrix-note">
            <a:extLst>
              <a:ext uri="{FF2B5EF4-FFF2-40B4-BE49-F238E27FC236}">
                <a16:creationId xmlns:a16="http://schemas.microsoft.com/office/drawing/2014/main" id="{E1E9BEED-7352-4D64-BBC6-7B0CDB54C124}"/>
              </a:ext>
            </a:extLst>
          </p:cNvPr>
          <p:cNvSpPr txBox="1"/>
          <p:nvPr/>
        </p:nvSpPr>
        <p:spPr>
          <a:xfrm>
            <a:off x="6175315" y="2651062"/>
            <a:ext cx="523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illion 的 SACC 标记中 </a:t>
            </a:r>
            <a:r>
              <a:rPr lang="en-US" sz="1000" b="1" noProof="1">
                <a:solidFill>
                  <a:srgbClr val="D6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39.1%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被F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过分类明显；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Non-SACC 与 illion 一致率 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93.4%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，分类更稳健;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整体贷款标签（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SACC&amp; Non-SACC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）上的一致率为 </a:t>
            </a:r>
            <a:r>
              <a:rPr lang="en-US" altLang="zh-CN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90.7%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endParaRPr lang="en-US" sz="1000" noProof="1">
              <a:solidFill>
                <a:srgbClr val="3D3C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3417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4" name="s3-bar">
            <a:extLst>
              <a:ext uri="{FF2B5EF4-FFF2-40B4-BE49-F238E27FC236}">
                <a16:creationId xmlns:a16="http://schemas.microsoft.com/office/drawing/2014/main" id="{9B62AF1F-24D6-49B3-B151-5590DBCE60FE}"/>
              </a:ext>
            </a:extLst>
          </p:cNvPr>
          <p:cNvSpPr/>
          <p:nvPr/>
        </p:nvSpPr>
        <p:spPr>
          <a:xfrm>
            <a:off x="511115" y="3595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5" name="s3-title">
            <a:extLst>
              <a:ext uri="{FF2B5EF4-FFF2-40B4-BE49-F238E27FC236}">
                <a16:creationId xmlns:a16="http://schemas.microsoft.com/office/drawing/2014/main" id="{E339A03A-DC08-48BA-A556-927F773CAA23}"/>
              </a:ext>
            </a:extLst>
          </p:cNvPr>
          <p:cNvSpPr txBox="1"/>
          <p:nvPr/>
        </p:nvSpPr>
        <p:spPr>
          <a:xfrm>
            <a:off x="663515" y="3557198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三、典型案例：覆盖 → 一致性 → 精度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cases-table">
            <a:extLst>
              <a:ext uri="{FF2B5EF4-FFF2-40B4-BE49-F238E27FC236}">
                <a16:creationId xmlns:a16="http://schemas.microsoft.com/office/drawing/2014/main" id="{96151FB9-F604-4371-AD9F-23D3B035C44F}"/>
              </a:ext>
            </a:extLst>
          </p:cNvPr>
          <p:cNvGraphicFramePr>
            <a:graphicFrameLocks noGrp="1"/>
          </p:cNvGraphicFramePr>
          <p:nvPr/>
        </p:nvGraphicFramePr>
        <p:xfrm>
          <a:off x="511115" y="3849298"/>
          <a:ext cx="10871201" cy="2629154"/>
        </p:xfrm>
        <a:graphic>
          <a:graphicData uri="http://schemas.openxmlformats.org/drawingml/2006/table">
            <a:tbl>
              <a:tblPr/>
              <a:tblGrid>
                <a:gridCol w="978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3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3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endParaRPr lang="en-US" sz="1050" noProof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1 · 覆盖优势（Home Loan）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2 · 分类一致性（MoneySpot）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3 · 分类精度（Credit24）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Home loan - Receipt ... To Orange Everyday 被 illion 标为 Internal Transfer，住房贷款完全遗漏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放款 A$750，等额还款 A$49.09 × 10；illion 前 6 笔标 SACC、后 5 笔标 Non-SACC，同一贷款流标签自相矛盾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同一用户 19 笔 Credit24 交易被 illion 全部标为 SACC Loans，循环授信（LOC）产品被泛化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我方逻辑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 Home loan 产品关键词判定为贷款，细分为 Non-SACC Loans（Home Loan）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放款与还款匹配为单一贷款流；依据小额、等额、高频特征及机构类型统一判定为 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结合交易模式与机构产品库识别为循环授信（LOC），归入 Non-SACC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产品词库捕捉 illion 覆盖盲区，扩大贷款识别面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贷款流粒度分类一致，纠正 illion 的碎片化误判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区分 LOC 与 SACC（监管属性、利率上限本质不同），避免非 SACC 误判为高风险 SACC，为风控提供更准确信号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5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1081</Words>
  <Application>Microsoft Office PowerPoint</Application>
  <PresentationFormat>宽屏</PresentationFormat>
  <Paragraphs>219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微软雅黑</vt:lpstr>
      <vt:lpstr>微软雅黑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64</cp:revision>
  <dcterms:modified xsi:type="dcterms:W3CDTF">2026-08-07T10:20:30Z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