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50" r:id="rId1"/>
  </p:sldMasterIdLst>
  <p:sldIdLst>
    <p:sldId id="260" r:id="rId2"/>
    <p:sldId id="261" r:id="rId3"/>
    <p:sldId id="262" r:id="rId4"/>
    <p:sldId id="265" r:id="rId5"/>
    <p:sldId id="266" r:id="rId13"/>
  </p:sldIdLst>
  <p:sldSz cx="12192000" cy="6858000"/>
  <p:notesSz cx="12192000" cy="6858000"/>
  <p:embeddedFontLst>
    <p:embeddedFont>
      <p:font typeface="微软雅黑" panose="020B0503020204020204" pitchFamily="34" charset="-122"/>
      <p:regular r:id="rId6"/>
      <p:bold r:id="rId7"/>
    </p:embeddedFont>
    <p:embeddedFont>
      <p:font typeface="微软雅黑 Light" panose="020B0502040204020203" pitchFamily="34" charset="-122"/>
      <p:regular r:id="rId8"/>
    </p:embeddedFont>
  </p:embeddedFont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plist" id="{B3605CEF-5BC4-40B4-8F96-9FBCAEE09C7D}">
          <p14:sldIdLst/>
        </p14:section>
        <p14:section name="sms" id="{BFC3A2BC-87CF-4514-9F88-2C86509F7121}">
          <p14:sldIdLst/>
        </p14:section>
        <p14:section name="银行流水" id="{C38B6FF6-1B3C-4CE4-AEDB-5CB84D573A5E}">
          <p14:sldIdLst>
            <p14:sldId id="260"/>
            <p14:sldId id="261"/>
            <p14:sldId id="262"/>
            <p14:sldId id="265"/>
          </p14:sldIdLst>
        </p14:section>
        <p14:section name="变量挖掘" id="{2D9F7100-66E6-477C-9DC3-FDDECD214F6C}">
          <p14:sldIdLst/>
        </p14:section>
        <p14:section name="draft" id="{A40B931D-2D60-49C2-9CF0-5684BA0EC20D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93B4A"/>
    <a:srgbClr val="5764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1731" autoAdjust="0"/>
    <p:restoredTop sz="94610"/>
  </p:normalViewPr>
  <p:slideViewPr>
    <p:cSldViewPr snapToGrid="0" snapToObjects="1">
      <p:cViewPr>
        <p:scale>
          <a:sx n="130" d="100"/>
          <a:sy n="130" d="100"/>
        </p:scale>
        <p:origin x="990" y="8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4" d="100"/>
        <a:sy n="104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font" Target="fonts/font1.fntdata"/><Relationship Id="rId7" Type="http://schemas.openxmlformats.org/officeDocument/2006/relationships/font" Target="fonts/font2.fntdata"/><Relationship Id="rId8" Type="http://schemas.openxmlformats.org/officeDocument/2006/relationships/font" Target="fonts/font3.fntdata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Finv独有</c:v>
                </c:pt>
              </c:strCache>
            </c:strRef>
          </c:tx>
          <c:spPr>
            <a:solidFill>
              <a:srgbClr val="0A0A0A"/>
            </a:solidFill>
          </c:spPr>
          <c:invertIfNegative val="1"/>
          <c:dLbls>
            <c:dLbl>
              <c:idx val="0"/>
              <c:layout>
                <c:manualLayout>
                  <c:x val="1.1904761904761899E-2"/>
                  <c:y val="-3.0968110722210795E-17"/>
                </c:manualLayout>
              </c:layout>
              <c:tx>
                <c:rich>
                  <a:bodyPr/>
                  <a:lstStyle/>
                  <a:p>
                    <a:r>
                      <a:rPr lang="en-US" altLang="zh-CN"/>
                      <a:t>6.88%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D526-4E6B-AB7A-0BFC9A400F84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>
                    <a:solidFill>
                      <a:schemeClr val="bg1"/>
                    </a:solidFill>
                  </a:defRPr>
                </a:pPr>
                <a:endParaRPr lang="zh-CN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</c:f>
              <c:strCache>
                <c:ptCount val="1"/>
                <c:pt idx="0">
                  <c:v>贷款识别</c:v>
                </c:pt>
              </c:strCache>
            </c:strRef>
          </c:cat>
          <c:val>
            <c:numRef>
              <c:f>Sheet1!$B$2</c:f>
              <c:numCache>
                <c:formatCode>General</c:formatCode>
                <c:ptCount val="1"/>
                <c:pt idx="0">
                  <c:v>396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6E65-4694-A153-D0117E09409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双方共认</c:v>
                </c:pt>
              </c:strCache>
            </c:strRef>
          </c:tx>
          <c:spPr>
            <a:solidFill>
              <a:srgbClr val="A7A7A7"/>
            </a:solidFill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pPr>
                      <a:defRPr sz="1100"/>
                    </a:pPr>
                    <a:r>
                      <a:rPr lang="en-US" altLang="zh-CN" dirty="0"/>
                      <a:t>91.75%</a:t>
                    </a:r>
                  </a:p>
                </c:rich>
              </c:tx>
              <c:numFmt formatCode="#,##0" sourceLinked="0"/>
              <c:spPr>
                <a:noFill/>
                <a:ln>
                  <a:noFill/>
                </a:ln>
                <a:effectLst/>
              </c:sp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6E65-4694-A153-D0117E094090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</c:f>
              <c:strCache>
                <c:ptCount val="1"/>
                <c:pt idx="0">
                  <c:v>贷款识别</c:v>
                </c:pt>
              </c:strCache>
            </c:strRef>
          </c:cat>
          <c:val>
            <c:numRef>
              <c:f>Sheet1!$C$2</c:f>
              <c:numCache>
                <c:formatCode>General</c:formatCode>
                <c:ptCount val="1"/>
                <c:pt idx="0">
                  <c:v>5284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6E65-4694-A153-D0117E09409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Illion 独有</c:v>
                </c:pt>
              </c:strCache>
            </c:strRef>
          </c:tx>
          <c:spPr>
            <a:solidFill>
              <a:srgbClr val="D6D6D6"/>
            </a:solidFill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altLang="zh-CN"/>
                      <a:t>1.37%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D526-4E6B-AB7A-0BFC9A400F84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/>
                </a:pPr>
                <a:endParaRPr lang="zh-CN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</c:f>
              <c:strCache>
                <c:ptCount val="1"/>
                <c:pt idx="0">
                  <c:v>贷款识别</c:v>
                </c:pt>
              </c:strCache>
            </c:strRef>
          </c:cat>
          <c:val>
            <c:numRef>
              <c:f>Sheet1!$D$2</c:f>
              <c:numCache>
                <c:formatCode>General</c:formatCode>
                <c:ptCount val="1"/>
                <c:pt idx="0">
                  <c:v>79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6E65-4694-A153-D0117E09409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6"/>
        <c:overlap val="100"/>
        <c:axId val="1"/>
        <c:axId val="2"/>
      </c:barChart>
      <c:catAx>
        <c:axId val="1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low"/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  <c:max val="6000"/>
          <c:min val="0"/>
        </c:scaling>
        <c:delete val="1"/>
        <c:axPos val="b"/>
        <c:majorGridlines>
          <c:spPr>
            <a:ln w="12700">
              <a:solidFill>
                <a:srgbClr val="E0E6F1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crossAx val="1"/>
        <c:crosses val="autoZero"/>
        <c:crossBetween val="between"/>
        <c:majorUnit val="1000"/>
      </c:valAx>
      <c:spPr>
        <a:noFill/>
        <a:ln>
          <a:noFill/>
        </a:ln>
      </c:spPr>
    </c:plotArea>
    <c:legend>
      <c:legendPos val="b"/>
      <c:overlay val="0"/>
    </c:legend>
    <c:plotVisOnly val="1"/>
    <c:dispBlanksAs val="gap"/>
    <c:showDLblsOverMax val="1"/>
  </c:chart>
  <c:spPr>
    <a:noFill/>
    <a:ln>
      <a:noFill/>
    </a:ln>
  </c:spPr>
  <c:txPr>
    <a:bodyPr/>
    <a:lstStyle/>
    <a:p>
      <a:pPr>
        <a:defRPr b="0" i="0" u="none" strike="noStrike" noProof="1">
          <a:latin typeface="微软雅黑" panose="020B0503020204020204" pitchFamily="34" charset="-122"/>
          <a:ea typeface="微软雅黑" panose="020B0503020204020204" pitchFamily="34" charset="-122"/>
        </a:defRPr>
      </a:pPr>
      <a:endParaRPr lang="zh-CN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24"/>
          <p:cNvSpPr/>
          <p:nvPr userDrawn="1"/>
        </p:nvSpPr>
        <p:spPr>
          <a:xfrm>
            <a:off x="1" y="0"/>
            <a:ext cx="12191999" cy="6858000"/>
          </a:xfrm>
          <a:prstGeom prst="rect">
            <a:avLst/>
          </a:prstGeom>
          <a:solidFill>
            <a:srgbClr val="555E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微软雅黑" panose="020B0503020204020204" pitchFamily="34" charset="-122"/>
            </a:endParaRPr>
          </a:p>
        </p:txBody>
      </p:sp>
      <p:sp>
        <p:nvSpPr>
          <p:cNvPr id="15" name="文本占位符 14"/>
          <p:cNvSpPr>
            <a:spLocks noGrp="1"/>
          </p:cNvSpPr>
          <p:nvPr>
            <p:ph type="body" sz="quarter" idx="13" hasCustomPrompt="1"/>
          </p:nvPr>
        </p:nvSpPr>
        <p:spPr>
          <a:xfrm>
            <a:off x="281657" y="4103406"/>
            <a:ext cx="11008067" cy="644301"/>
          </a:xfrm>
        </p:spPr>
        <p:txBody>
          <a:bodyPr/>
          <a:lstStyle>
            <a:lvl1pPr marL="0" indent="0">
              <a:buFontTx/>
              <a:buNone/>
              <a:defRPr kumimoji="1" lang="zh-CN" altLang="en-US" sz="4400" kern="120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kumimoji="1" lang="zh-CN" altLang="en-US" dirty="0"/>
              <a:t>课件标题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306895" y="4877649"/>
            <a:ext cx="9144000" cy="425221"/>
          </a:xfrm>
        </p:spPr>
        <p:txBody>
          <a:bodyPr/>
          <a:lstStyle>
            <a:lvl1pPr marL="0" indent="0" algn="l">
              <a:buFontTx/>
              <a:buNone/>
              <a:defRPr lang="zh-CN" altLang="en-US" sz="2800" kern="1200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indent="0">
              <a:buFontTx/>
              <a:buNone/>
            </a:pPr>
            <a:r>
              <a:rPr lang="zh-CN" altLang="en-US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sym typeface="Arial" panose="020B0604020202020204" pitchFamily="34" charset="0"/>
              </a:rPr>
              <a:t>副标题：副标题副标题</a:t>
            </a:r>
          </a:p>
        </p:txBody>
      </p:sp>
      <p:sp>
        <p:nvSpPr>
          <p:cNvPr id="18" name="文本占位符 17"/>
          <p:cNvSpPr>
            <a:spLocks noGrp="1"/>
          </p:cNvSpPr>
          <p:nvPr>
            <p:ph type="body" sz="quarter" idx="14" hasCustomPrompt="1"/>
          </p:nvPr>
        </p:nvSpPr>
        <p:spPr>
          <a:xfrm>
            <a:off x="334327" y="6162648"/>
            <a:ext cx="7553198" cy="324196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 kumimoji="1" lang="zh-CN" altLang="en-US" sz="1800" kern="120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kumimoji="1"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来自部门：</a:t>
            </a:r>
            <a:r>
              <a:rPr kumimoji="1"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XXXXX</a:t>
            </a:r>
            <a:r>
              <a:rPr kumimoji="1"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     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分享人：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XXX</a:t>
            </a:r>
            <a:endParaRPr lang="zh-CN" altLang="en-US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Arial" panose="020B0604020202020204" pitchFamily="34" charset="0"/>
            </a:endParaRPr>
          </a:p>
          <a:p>
            <a:endParaRPr kumimoji="1" lang="en-US" altLang="zh-CN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Arial" panose="020B0604020202020204" pitchFamily="34" charset="0"/>
            </a:endParaRPr>
          </a:p>
        </p:txBody>
      </p:sp>
      <p:cxnSp>
        <p:nvCxnSpPr>
          <p:cNvPr id="13" name="直接连接符 23"/>
          <p:cNvCxnSpPr/>
          <p:nvPr userDrawn="1"/>
        </p:nvCxnSpPr>
        <p:spPr>
          <a:xfrm flipH="1">
            <a:off x="338667" y="5912442"/>
            <a:ext cx="11514666" cy="0"/>
          </a:xfrm>
          <a:prstGeom prst="line">
            <a:avLst/>
          </a:prstGeom>
          <a:ln w="9525">
            <a:solidFill>
              <a:schemeClr val="bg1">
                <a:alpha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图片 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7190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图片占位符 33"/>
          <p:cNvSpPr>
            <a:spLocks noGrp="1"/>
          </p:cNvSpPr>
          <p:nvPr>
            <p:ph type="pic" sz="quarter" idx="14"/>
          </p:nvPr>
        </p:nvSpPr>
        <p:spPr>
          <a:xfrm>
            <a:off x="0" y="-1588"/>
            <a:ext cx="12192000" cy="4113213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kumimoji="1" lang="zh-CN" altLang="en-US" dirty="0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20" name="Прямоугольник 20"/>
          <p:cNvSpPr/>
          <p:nvPr userDrawn="1"/>
        </p:nvSpPr>
        <p:spPr>
          <a:xfrm>
            <a:off x="-369" y="-1756"/>
            <a:ext cx="12191382" cy="4112997"/>
          </a:xfrm>
          <a:prstGeom prst="rect">
            <a:avLst/>
          </a:prstGeom>
          <a:solidFill>
            <a:srgbClr val="555E6B">
              <a:alpha val="8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900" dirty="0">
              <a:latin typeface="微软雅黑" panose="020B0503020204020204" pitchFamily="34" charset="-122"/>
            </a:endParaRPr>
          </a:p>
        </p:txBody>
      </p:sp>
      <p:cxnSp>
        <p:nvCxnSpPr>
          <p:cNvPr id="24" name="直接连接符 23"/>
          <p:cNvCxnSpPr/>
          <p:nvPr userDrawn="1"/>
        </p:nvCxnSpPr>
        <p:spPr>
          <a:xfrm flipH="1">
            <a:off x="338667" y="6374454"/>
            <a:ext cx="11514666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078841" y="1762188"/>
            <a:ext cx="10515600" cy="1325563"/>
          </a:xfrm>
        </p:spPr>
        <p:txBody>
          <a:bodyPr>
            <a:normAutofit/>
          </a:bodyPr>
          <a:lstStyle>
            <a:lvl1pPr>
              <a:defRPr sz="3300" b="1" i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2" name="内容占位符 31"/>
          <p:cNvSpPr>
            <a:spLocks noGrp="1"/>
          </p:cNvSpPr>
          <p:nvPr>
            <p:ph sz="quarter" idx="13" hasCustomPrompt="1"/>
          </p:nvPr>
        </p:nvSpPr>
        <p:spPr>
          <a:xfrm>
            <a:off x="1078841" y="1456274"/>
            <a:ext cx="9317228" cy="593725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3200" b="1" i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kumimoji="1" lang="en-US" altLang="zh-CN" dirty="0"/>
              <a:t>01</a:t>
            </a:r>
            <a:endParaRPr kumimoji="1" lang="zh-CN" altLang="en-US" dirty="0"/>
          </a:p>
        </p:txBody>
      </p:sp>
      <p:sp>
        <p:nvSpPr>
          <p:cNvPr id="38" name="文本占位符 35"/>
          <p:cNvSpPr>
            <a:spLocks noGrp="1"/>
          </p:cNvSpPr>
          <p:nvPr>
            <p:ph type="body" sz="quarter" idx="16" hasCustomPrompt="1"/>
          </p:nvPr>
        </p:nvSpPr>
        <p:spPr>
          <a:xfrm>
            <a:off x="7062258" y="6437312"/>
            <a:ext cx="4791075" cy="420688"/>
          </a:xfrm>
        </p:spPr>
        <p:txBody>
          <a:bodyPr/>
          <a:lstStyle>
            <a:lvl1pPr marL="0" indent="0" algn="r">
              <a:buNone/>
              <a:defRPr kumimoji="1" lang="zh-CN" altLang="en-US" sz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marL="0" indent="0">
              <a:buNone/>
            </a:pPr>
            <a:r>
              <a:rPr kumimoji="1" lang="en-US" altLang="zh-CN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01</a:t>
            </a:r>
            <a:endParaRPr lang="zh-CN" altLang="en-US" sz="1200" dirty="0">
              <a:solidFill>
                <a:schemeClr val="tx1">
                  <a:lumMod val="65000"/>
                  <a:lumOff val="35000"/>
                </a:schemeClr>
              </a:solidFill>
              <a:latin typeface="微软雅黑 Light" panose="020B0502040204020203" pitchFamily="34" charset="-122"/>
              <a:ea typeface="微软雅黑 Light" panose="020B0502040204020203" pitchFamily="34" charset="-122"/>
              <a:sym typeface="Arial" panose="020B0604020202020204" pitchFamily="34" charset="0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42962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4"/>
          <p:cNvSpPr/>
          <p:nvPr userDrawn="1"/>
        </p:nvSpPr>
        <p:spPr>
          <a:xfrm>
            <a:off x="0" y="0"/>
            <a:ext cx="239045" cy="367749"/>
          </a:xfrm>
          <a:custGeom>
            <a:avLst/>
            <a:gdLst>
              <a:gd name="connsiteX0" fmla="*/ 0 w 239045"/>
              <a:gd name="connsiteY0" fmla="*/ 0 h 360000"/>
              <a:gd name="connsiteX1" fmla="*/ 239045 w 239045"/>
              <a:gd name="connsiteY1" fmla="*/ 0 h 360000"/>
              <a:gd name="connsiteX2" fmla="*/ 239045 w 239045"/>
              <a:gd name="connsiteY2" fmla="*/ 360000 h 360000"/>
              <a:gd name="connsiteX3" fmla="*/ 0 w 239045"/>
              <a:gd name="connsiteY3" fmla="*/ 360000 h 360000"/>
              <a:gd name="connsiteX4" fmla="*/ 0 w 239045"/>
              <a:gd name="connsiteY4" fmla="*/ 0 h 360000"/>
              <a:gd name="connsiteX0-1" fmla="*/ 0 w 239045"/>
              <a:gd name="connsiteY0-2" fmla="*/ 0 h 367749"/>
              <a:gd name="connsiteX1-3" fmla="*/ 239045 w 239045"/>
              <a:gd name="connsiteY1-4" fmla="*/ 0 h 367749"/>
              <a:gd name="connsiteX2-5" fmla="*/ 122808 w 239045"/>
              <a:gd name="connsiteY2-6" fmla="*/ 367749 h 367749"/>
              <a:gd name="connsiteX3-7" fmla="*/ 0 w 239045"/>
              <a:gd name="connsiteY3-8" fmla="*/ 360000 h 367749"/>
              <a:gd name="connsiteX4-9" fmla="*/ 0 w 239045"/>
              <a:gd name="connsiteY4-10" fmla="*/ 0 h 36774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239045" h="367749">
                <a:moveTo>
                  <a:pt x="0" y="0"/>
                </a:moveTo>
                <a:lnTo>
                  <a:pt x="239045" y="0"/>
                </a:lnTo>
                <a:lnTo>
                  <a:pt x="122808" y="367749"/>
                </a:lnTo>
                <a:lnTo>
                  <a:pt x="0" y="360000"/>
                </a:lnTo>
                <a:lnTo>
                  <a:pt x="0" y="0"/>
                </a:lnTo>
                <a:close/>
              </a:path>
            </a:pathLst>
          </a:cu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49131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09281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7AD42BD-1FBD-44F7-9A13-C1B5CA8D05F7}"/>
              </a:ext>
            </a:extLst>
          </p:cNvPr>
          <p:cNvSpPr/>
          <p:nvPr userDrawn="1"/>
        </p:nvSpPr>
        <p:spPr>
          <a:xfrm>
            <a:off x="284672" y="204548"/>
            <a:ext cx="129692" cy="369332"/>
          </a:xfrm>
          <a:prstGeom prst="rect">
            <a:avLst/>
          </a:pr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05455C4-DFF3-49B3-A21F-FE65974F3D07}"/>
              </a:ext>
            </a:extLst>
          </p:cNvPr>
          <p:cNvSpPr/>
          <p:nvPr userDrawn="1"/>
        </p:nvSpPr>
        <p:spPr>
          <a:xfrm>
            <a:off x="284672" y="627089"/>
            <a:ext cx="129017" cy="369332"/>
          </a:xfrm>
          <a:prstGeom prst="rect">
            <a:avLst/>
          </a:prstGeom>
          <a:solidFill>
            <a:srgbClr val="57647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8637A9E-CBFD-49AA-A280-5A41FC63490E}"/>
              </a:ext>
            </a:extLst>
          </p:cNvPr>
          <p:cNvSpPr txBox="1"/>
          <p:nvPr userDrawn="1"/>
        </p:nvSpPr>
        <p:spPr>
          <a:xfrm>
            <a:off x="607168" y="195922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FD0922C-CCA6-4F43-A0D1-C4E56DE4F58F}"/>
              </a:ext>
            </a:extLst>
          </p:cNvPr>
          <p:cNvSpPr txBox="1"/>
          <p:nvPr userDrawn="1"/>
        </p:nvSpPr>
        <p:spPr>
          <a:xfrm>
            <a:off x="607168" y="62036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60D58DD0-4F1D-47D9-A6E6-4433202EB99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195922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5548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49131"/>
            <a:ext cx="660090" cy="421200"/>
          </a:xfrm>
          <a:prstGeom prst="rect">
            <a:avLst/>
          </a:prstGeom>
        </p:spPr>
      </p:pic>
      <p:sp>
        <p:nvSpPr>
          <p:cNvPr id="6" name="Прямоугольник 24"/>
          <p:cNvSpPr/>
          <p:nvPr userDrawn="1"/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rgbClr val="555E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微软雅黑" panose="020B0503020204020204" pitchFamily="34" charset="-122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114122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 dirty="0"/>
              <a:t>单击此处编辑母版文本样式</a:t>
            </a:r>
          </a:p>
          <a:p>
            <a:pPr lvl="1"/>
            <a:r>
              <a:rPr kumimoji="1" lang="zh-CN" altLang="en-US" dirty="0"/>
              <a:t>二级</a:t>
            </a:r>
          </a:p>
          <a:p>
            <a:pPr lvl="2"/>
            <a:r>
              <a:rPr kumimoji="1" lang="zh-CN" altLang="en-US" dirty="0"/>
              <a:t>三级</a:t>
            </a:r>
          </a:p>
          <a:p>
            <a:pPr lvl="3"/>
            <a:r>
              <a:rPr kumimoji="1" lang="zh-CN" altLang="en-US" dirty="0"/>
              <a:t>四级</a:t>
            </a:r>
          </a:p>
          <a:p>
            <a:pPr lvl="4"/>
            <a:r>
              <a:rPr kumimoji="1" lang="zh-CN" altLang="en-US" dirty="0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4B68A51D-33DD-5B4A-A86B-549782FCD6DF}" type="datetimeFigureOut">
              <a:rPr kumimoji="1" lang="zh-CN" altLang="en-US" smtClean="0"/>
              <a:pPr/>
              <a:t>2026/8/7</a:t>
            </a:fld>
            <a:endParaRPr kumimoji="1"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kumimoji="1"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3DA5CA41-69F7-7948-A690-E401A3852CA3}" type="slidenum">
              <a:rPr kumimoji="1" lang="zh-CN" altLang="en-US" smtClean="0"/>
              <a:pPr/>
              <a:t>‹#›</a:t>
            </a:fld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21804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B628A69-E5D3-471C-9634-C9CEEE71D7D5}"/>
              </a:ext>
            </a:extLst>
          </p:cNvPr>
          <p:cNvSpPr txBox="1"/>
          <p:nvPr/>
        </p:nvSpPr>
        <p:spPr>
          <a:xfrm>
            <a:off x="600015" y="214702"/>
            <a:ext cx="889000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20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流水识别决定收入、支出与负债计算结果，是信审判断的直接输入</a:t>
            </a:r>
            <a:endParaRPr lang="en-US" sz="2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F27900C-2E0B-4FBB-B7B0-DBD3BB995BF6}"/>
              </a:ext>
            </a:extLst>
          </p:cNvPr>
          <p:cNvSpPr txBox="1"/>
          <p:nvPr/>
        </p:nvSpPr>
        <p:spPr>
          <a:xfrm>
            <a:off x="511115" y="562682"/>
            <a:ext cx="10901632" cy="438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lang="en-US" altLang="zh-CN" sz="1800" noProof="1">
                <a:solidFill>
                  <a:srgbClr val="606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业务链路 · 合规背景 · 第三方分类服务局限 ｜ NCCP Act 2009 及 ASIC 监管要求</a:t>
            </a:r>
            <a:endParaRPr lang="en-US" altLang="zh-CN" sz="18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divider">
            <a:extLst>
              <a:ext uri="{FF2B5EF4-FFF2-40B4-BE49-F238E27FC236}">
                <a16:creationId xmlns:a16="http://schemas.microsoft.com/office/drawing/2014/main" id="{DA310045-390A-4F12-B24A-86F975121384}"/>
              </a:ext>
            </a:extLst>
          </p:cNvPr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eyJ2aWV3Qm94IjpbODU2LDFdLCJwb2ludHMiOiIwLDAgODU2LDAifQ</pptd:line>
              </p:ext>
            </p:extLst>
          </p:nvPr>
        </p:nvSpPr>
        <p:spPr>
          <a:xfrm>
            <a:off x="511115" y="1191643"/>
            <a:ext cx="10871200" cy="12700"/>
          </a:xfrm>
          <a:custGeom>
            <a:avLst/>
            <a:gdLst/>
            <a:ahLst/>
            <a:cxnLst/>
            <a:rect l="l" t="t" r="r" b="b"/>
            <a:pathLst>
              <a:path w="856" h="1">
                <a:moveTo>
                  <a:pt x="0" y="0"/>
                </a:moveTo>
                <a:lnTo>
                  <a:pt x="85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7" name="s1-bar">
            <a:extLst>
              <a:ext uri="{FF2B5EF4-FFF2-40B4-BE49-F238E27FC236}">
                <a16:creationId xmlns:a16="http://schemas.microsoft.com/office/drawing/2014/main" id="{88A98C43-172E-445E-BAF1-258FD9FC097E}"/>
              </a:ext>
            </a:extLst>
          </p:cNvPr>
          <p:cNvSpPr/>
          <p:nvPr/>
        </p:nvSpPr>
        <p:spPr>
          <a:xfrm>
            <a:off x="511115" y="1492211"/>
            <a:ext cx="50800" cy="1651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8" name="s1-title">
            <a:extLst>
              <a:ext uri="{FF2B5EF4-FFF2-40B4-BE49-F238E27FC236}">
                <a16:creationId xmlns:a16="http://schemas.microsoft.com/office/drawing/2014/main" id="{17E4A091-56F2-4D55-A5FF-E1FA3A10A492}"/>
              </a:ext>
            </a:extLst>
          </p:cNvPr>
          <p:cNvSpPr txBox="1"/>
          <p:nvPr/>
        </p:nvSpPr>
        <p:spPr>
          <a:xfrm>
            <a:off x="663515" y="1454111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lang="en-US" sz="14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一、银行流水在信贷决策中的位置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s1-chain">
            <a:extLst>
              <a:ext uri="{FF2B5EF4-FFF2-40B4-BE49-F238E27FC236}">
                <a16:creationId xmlns:a16="http://schemas.microsoft.com/office/drawing/2014/main" id="{8AF677AB-108E-41E7-9868-8658AD6B41EC}"/>
              </a:ext>
            </a:extLst>
          </p:cNvPr>
          <p:cNvSpPr txBox="1"/>
          <p:nvPr/>
        </p:nvSpPr>
        <p:spPr>
          <a:xfrm>
            <a:off x="508000" y="1953659"/>
            <a:ext cx="55880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just">
              <a:lnSpc>
                <a:spcPct val="150000"/>
              </a:lnSpc>
            </a:pPr>
            <a:r>
              <a:rPr lang="en-US" sz="1100" b="1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业务链路</a:t>
            </a:r>
            <a:r>
              <a:rPr lang="en-US" sz="11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：用户申请 → 银行卡绑定 → illion 数据解析 → 交易对手及交易分类识别 → Serviceability 计算 → 信审决策</a:t>
            </a:r>
            <a:endParaRPr lang="en-US" sz="11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just">
              <a:lnSpc>
                <a:spcPct val="150000"/>
              </a:lnSpc>
              <a:spcBef>
                <a:spcPts val="800"/>
              </a:spcBef>
            </a:pPr>
            <a:r>
              <a:rPr lang="en-US" sz="1100" b="1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关键影响</a:t>
            </a:r>
            <a:r>
              <a:rPr lang="en-US" sz="11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：流水识别准确性 → 决定收入、支出、负债的计算结果 → 影响最终信审判断</a:t>
            </a:r>
            <a:endParaRPr lang="en-US" sz="11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s1-formula-bg">
            <a:extLst>
              <a:ext uri="{FF2B5EF4-FFF2-40B4-BE49-F238E27FC236}">
                <a16:creationId xmlns:a16="http://schemas.microsoft.com/office/drawing/2014/main" id="{588EFC8B-6D9B-4BC6-A58A-94C590D91AE6}"/>
              </a:ext>
            </a:extLst>
          </p:cNvPr>
          <p:cNvSpPr/>
          <p:nvPr/>
        </p:nvSpPr>
        <p:spPr>
          <a:xfrm>
            <a:off x="489948" y="3196166"/>
            <a:ext cx="5588000" cy="635000"/>
          </a:xfrm>
          <a:prstGeom prst="rect">
            <a:avLst/>
          </a:prstGeom>
          <a:solidFill>
            <a:srgbClr val="F0F0F0"/>
          </a:solidFill>
          <a:ln>
            <a:noFill/>
          </a:ln>
        </p:spPr>
      </p:sp>
      <p:sp>
        <p:nvSpPr>
          <p:cNvPr id="11" name="s1-formula-bar">
            <a:extLst>
              <a:ext uri="{FF2B5EF4-FFF2-40B4-BE49-F238E27FC236}">
                <a16:creationId xmlns:a16="http://schemas.microsoft.com/office/drawing/2014/main" id="{54C6A925-1E42-4045-8D2E-2CC8F4C7EE07}"/>
              </a:ext>
            </a:extLst>
          </p:cNvPr>
          <p:cNvSpPr/>
          <p:nvPr/>
        </p:nvSpPr>
        <p:spPr>
          <a:xfrm>
            <a:off x="489948" y="3196166"/>
            <a:ext cx="50800" cy="635000"/>
          </a:xfrm>
          <a:prstGeom prst="rect">
            <a:avLst/>
          </a:prstGeom>
          <a:solidFill>
            <a:srgbClr val="0A0A0A"/>
          </a:solidFill>
          <a:ln>
            <a:noFill/>
          </a:ln>
        </p:spPr>
      </p:sp>
      <p:sp>
        <p:nvSpPr>
          <p:cNvPr id="12" name="s1-formula">
            <a:extLst>
              <a:ext uri="{FF2B5EF4-FFF2-40B4-BE49-F238E27FC236}">
                <a16:creationId xmlns:a16="http://schemas.microsoft.com/office/drawing/2014/main" id="{A03A2A13-DC76-4440-BC65-6AA049FAFCE2}"/>
              </a:ext>
            </a:extLst>
          </p:cNvPr>
          <p:cNvSpPr txBox="1"/>
          <p:nvPr/>
        </p:nvSpPr>
        <p:spPr>
          <a:xfrm>
            <a:off x="667748" y="3196166"/>
            <a:ext cx="5334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just">
              <a:lnSpc>
                <a:spcPct val="150000"/>
              </a:lnSpc>
            </a:pPr>
            <a:r>
              <a:rPr lang="en-US" sz="1050" b="1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核心计算逻辑（Serviceability）</a:t>
            </a:r>
            <a:endParaRPr lang="en-US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just">
              <a:lnSpc>
                <a:spcPct val="150000"/>
              </a:lnSpc>
            </a:pPr>
            <a:r>
              <a:rPr lang="en-US" sz="105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Serviceability ＝ 收入 − 必要支出 − 负债还款 ＝ 客户可支配盈余</a:t>
            </a:r>
            <a:endParaRPr lang="en-US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s2-bar">
            <a:extLst>
              <a:ext uri="{FF2B5EF4-FFF2-40B4-BE49-F238E27FC236}">
                <a16:creationId xmlns:a16="http://schemas.microsoft.com/office/drawing/2014/main" id="{0C83D77B-7EAD-4D95-8F2C-EF8CF3FF368F}"/>
              </a:ext>
            </a:extLst>
          </p:cNvPr>
          <p:cNvSpPr/>
          <p:nvPr/>
        </p:nvSpPr>
        <p:spPr>
          <a:xfrm>
            <a:off x="498415" y="4104178"/>
            <a:ext cx="50800" cy="1651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14" name="s2-title">
            <a:extLst>
              <a:ext uri="{FF2B5EF4-FFF2-40B4-BE49-F238E27FC236}">
                <a16:creationId xmlns:a16="http://schemas.microsoft.com/office/drawing/2014/main" id="{E321B73C-994B-4905-99F9-38D3C5B8ACA1}"/>
              </a:ext>
            </a:extLst>
          </p:cNvPr>
          <p:cNvSpPr txBox="1"/>
          <p:nvPr/>
        </p:nvSpPr>
        <p:spPr>
          <a:xfrm>
            <a:off x="650815" y="4049144"/>
            <a:ext cx="5461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lang="en-US" sz="14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二、合规背景：Responsible Lending 的四项要求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s2-content">
            <a:extLst>
              <a:ext uri="{FF2B5EF4-FFF2-40B4-BE49-F238E27FC236}">
                <a16:creationId xmlns:a16="http://schemas.microsoft.com/office/drawing/2014/main" id="{ED8EFC04-479C-47CE-967B-363D293B4B51}"/>
              </a:ext>
            </a:extLst>
          </p:cNvPr>
          <p:cNvSpPr txBox="1"/>
          <p:nvPr/>
        </p:nvSpPr>
        <p:spPr>
          <a:xfrm>
            <a:off x="489948" y="4476789"/>
            <a:ext cx="5588000" cy="177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just">
              <a:lnSpc>
                <a:spcPct val="150000"/>
              </a:lnSpc>
            </a:pPr>
            <a:r>
              <a:rPr lang="en-US" sz="1050" noProof="1">
                <a:solidFill>
                  <a:srgbClr val="606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依据《National Consumer Credit Protection Act 2009》及 ASIC 监管要求：</a:t>
            </a:r>
            <a:endParaRPr lang="en-US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just">
              <a:lnSpc>
                <a:spcPct val="150000"/>
              </a:lnSpc>
              <a:spcBef>
                <a:spcPts val="700"/>
              </a:spcBef>
            </a:pPr>
            <a:r>
              <a:rPr lang="en-US" sz="105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① 合理了解客户财务状况及借款目的；</a:t>
            </a:r>
            <a:endParaRPr lang="en-US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just">
              <a:lnSpc>
                <a:spcPct val="150000"/>
              </a:lnSpc>
              <a:spcBef>
                <a:spcPts val="500"/>
              </a:spcBef>
            </a:pPr>
            <a:r>
              <a:rPr lang="en-US" sz="105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② 核实收入、必要支出、现有负债及可预见变化；</a:t>
            </a:r>
            <a:endParaRPr lang="en-US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just">
              <a:lnSpc>
                <a:spcPct val="150000"/>
              </a:lnSpc>
              <a:spcBef>
                <a:spcPts val="500"/>
              </a:spcBef>
            </a:pPr>
            <a:r>
              <a:rPr lang="en-US" sz="105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③ 判断客户能否在不造成重大经济困难的情况下履行还款义务；</a:t>
            </a:r>
            <a:endParaRPr lang="en-US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just">
              <a:lnSpc>
                <a:spcPct val="150000"/>
              </a:lnSpc>
              <a:spcBef>
                <a:spcPts val="500"/>
              </a:spcBef>
            </a:pPr>
            <a:r>
              <a:rPr lang="en-US" sz="105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④ 不得提供"不适合"的信贷产品。</a:t>
            </a:r>
            <a:endParaRPr lang="en-US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col-divider">
            <a:extLst>
              <a:ext uri="{FF2B5EF4-FFF2-40B4-BE49-F238E27FC236}">
                <a16:creationId xmlns:a16="http://schemas.microsoft.com/office/drawing/2014/main" id="{7976569D-3495-4B8E-88A6-7289825D95F9}"/>
              </a:ext>
            </a:extLst>
          </p:cNvPr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eyJ2aWV3Qm94IjpbMSwzNDBdLCJwb2ludHMiOiIwLDAgMCwzNDAifQ</pptd:line>
              </p:ext>
            </p:extLst>
          </p:nvPr>
        </p:nvSpPr>
        <p:spPr>
          <a:xfrm>
            <a:off x="6353115" y="1481586"/>
            <a:ext cx="12700" cy="4318000"/>
          </a:xfrm>
          <a:custGeom>
            <a:avLst/>
            <a:gdLst/>
            <a:ahLst/>
            <a:cxnLst/>
            <a:rect l="l" t="t" r="r" b="b"/>
            <a:pathLst>
              <a:path w="1" h="340">
                <a:moveTo>
                  <a:pt x="0" y="0"/>
                </a:moveTo>
                <a:lnTo>
                  <a:pt x="0" y="34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17" name="s3-bar">
            <a:extLst>
              <a:ext uri="{FF2B5EF4-FFF2-40B4-BE49-F238E27FC236}">
                <a16:creationId xmlns:a16="http://schemas.microsoft.com/office/drawing/2014/main" id="{21522F87-C40C-40E0-893E-783C6AA054A4}"/>
              </a:ext>
            </a:extLst>
          </p:cNvPr>
          <p:cNvSpPr/>
          <p:nvPr/>
        </p:nvSpPr>
        <p:spPr>
          <a:xfrm>
            <a:off x="6607115" y="1492211"/>
            <a:ext cx="50800" cy="1651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18" name="s3-title">
            <a:extLst>
              <a:ext uri="{FF2B5EF4-FFF2-40B4-BE49-F238E27FC236}">
                <a16:creationId xmlns:a16="http://schemas.microsoft.com/office/drawing/2014/main" id="{1FFE6DD4-7A46-4B3E-BC75-CF290B1DDE30}"/>
              </a:ext>
            </a:extLst>
          </p:cNvPr>
          <p:cNvSpPr txBox="1"/>
          <p:nvPr/>
        </p:nvSpPr>
        <p:spPr>
          <a:xfrm>
            <a:off x="6759515" y="1454111"/>
            <a:ext cx="46228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lang="en-US" sz="14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三、传统第三方分类服务的主要局限（当前高度依赖 illion）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9" name="lim1">
            <a:extLst>
              <a:ext uri="{FF2B5EF4-FFF2-40B4-BE49-F238E27FC236}">
                <a16:creationId xmlns:a16="http://schemas.microsoft.com/office/drawing/2014/main" id="{29CFB0D9-DDBE-46F7-A89B-345F1DB3EE89}"/>
              </a:ext>
            </a:extLst>
          </p:cNvPr>
          <p:cNvSpPr txBox="1"/>
          <p:nvPr/>
        </p:nvSpPr>
        <p:spPr>
          <a:xfrm>
            <a:off x="6607115" y="1860374"/>
            <a:ext cx="4775200" cy="711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05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1. 分类逻辑不透明，问题难以定位</a:t>
            </a:r>
            <a:endParaRPr lang="en-US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105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黑盒模型：出现漏识别或误分类时，无法判断是交易描述、商户映射、分类规则还是计算逻辑的问题。</a:t>
            </a:r>
            <a:endParaRPr lang="en-US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lim1-line">
            <a:extLst>
              <a:ext uri="{FF2B5EF4-FFF2-40B4-BE49-F238E27FC236}">
                <a16:creationId xmlns:a16="http://schemas.microsoft.com/office/drawing/2014/main" id="{C26D36D6-CB8D-47F6-A278-A0A3C1177384}"/>
              </a:ext>
            </a:extLst>
          </p:cNvPr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eyJ2aWV3Qm94IjpbMzc2LDFdLCJwb2ludHMiOiIwLDAgMzc2LDAifQ</pptd:line>
              </p:ext>
            </p:extLst>
          </p:nvPr>
        </p:nvSpPr>
        <p:spPr>
          <a:xfrm>
            <a:off x="6607115" y="2698574"/>
            <a:ext cx="4775200" cy="12700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1" name="lim2">
            <a:extLst>
              <a:ext uri="{FF2B5EF4-FFF2-40B4-BE49-F238E27FC236}">
                <a16:creationId xmlns:a16="http://schemas.microsoft.com/office/drawing/2014/main" id="{3DD835B9-3D5D-4CF4-8B3A-387F16BA1963}"/>
              </a:ext>
            </a:extLst>
          </p:cNvPr>
          <p:cNvSpPr txBox="1"/>
          <p:nvPr/>
        </p:nvSpPr>
        <p:spPr>
          <a:xfrm>
            <a:off x="6607115" y="2908059"/>
            <a:ext cx="47752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05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2. 分类粒度与覆盖不足，难以满足下游需求</a:t>
            </a:r>
            <a:endParaRPr lang="en-US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105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无法拆分 SACC、Non-SACC、BNPL、Line of Credit、Wage Advance 等贷款类型；小型商户、新兴平台、交易别名易被归入 Other 或错误分类，影响贷款归属、还款匹配及收入、支出、负债计算。</a:t>
            </a:r>
            <a:endParaRPr lang="en-US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lim2-line">
            <a:extLst>
              <a:ext uri="{FF2B5EF4-FFF2-40B4-BE49-F238E27FC236}">
                <a16:creationId xmlns:a16="http://schemas.microsoft.com/office/drawing/2014/main" id="{69CFA63F-F5C1-43D0-A14B-E681108AAB27}"/>
              </a:ext>
            </a:extLst>
          </p:cNvPr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eyJ2aWV3Qm94IjpbMzc2LDFdLCJwb2ludHMiOiIwLDAgMzc2LDAifQ</pptd:line>
              </p:ext>
            </p:extLst>
          </p:nvPr>
        </p:nvSpPr>
        <p:spPr>
          <a:xfrm>
            <a:off x="6607115" y="3949463"/>
            <a:ext cx="4775200" cy="12700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3" name="lim3">
            <a:extLst>
              <a:ext uri="{FF2B5EF4-FFF2-40B4-BE49-F238E27FC236}">
                <a16:creationId xmlns:a16="http://schemas.microsoft.com/office/drawing/2014/main" id="{DF394D01-5901-4F99-B01E-ADB1FCD8BFCC}"/>
              </a:ext>
            </a:extLst>
          </p:cNvPr>
          <p:cNvSpPr txBox="1"/>
          <p:nvPr/>
        </p:nvSpPr>
        <p:spPr>
          <a:xfrm>
            <a:off x="6607115" y="4078616"/>
            <a:ext cx="47752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05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3. 输出字段与计算口径缺乏控制权</a:t>
            </a:r>
            <a:endParaRPr lang="en-US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105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下游 IDP 所需字段可能缺失，公式、数据窗口、异常处理无法按内部标准配置；Open Banking 等新数据源无分类字段，多供应商需维护多套适配逻辑，增加系统复杂度。</a:t>
            </a:r>
            <a:endParaRPr lang="en-US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" name="lim3-line">
            <a:extLst>
              <a:ext uri="{FF2B5EF4-FFF2-40B4-BE49-F238E27FC236}">
                <a16:creationId xmlns:a16="http://schemas.microsoft.com/office/drawing/2014/main" id="{336ACEC6-E59C-48C3-943D-F0CA55FF2277}"/>
              </a:ext>
            </a:extLst>
          </p:cNvPr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eyJ2aWV3Qm94IjpbMzc2LDFdLCJwb2ludHMiOiIwLDAgMzc2LDAifQ</pptd:line>
              </p:ext>
            </p:extLst>
          </p:nvPr>
        </p:nvSpPr>
        <p:spPr>
          <a:xfrm>
            <a:off x="6607115" y="5111553"/>
            <a:ext cx="4775200" cy="12700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5" name="lim4">
            <a:extLst>
              <a:ext uri="{FF2B5EF4-FFF2-40B4-BE49-F238E27FC236}">
                <a16:creationId xmlns:a16="http://schemas.microsoft.com/office/drawing/2014/main" id="{8C3E2394-8FDD-4456-9360-CEBCC189CB32}"/>
              </a:ext>
            </a:extLst>
          </p:cNvPr>
          <p:cNvSpPr txBox="1"/>
          <p:nvPr/>
        </p:nvSpPr>
        <p:spPr>
          <a:xfrm>
            <a:off x="6607115" y="5238630"/>
            <a:ext cx="4775200" cy="711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05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4. 关键业务能力受制于外部供应商</a:t>
            </a:r>
            <a:endParaRPr lang="en-US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105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调整依赖供应商排期、响应周期长；交易分类作为基础能力，长期依赖会限制模型优化、策略调整与产品创新的自主性。</a:t>
            </a:r>
            <a:endParaRPr lang="en-US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" name="lim4-line">
            <a:extLst>
              <a:ext uri="{FF2B5EF4-FFF2-40B4-BE49-F238E27FC236}">
                <a16:creationId xmlns:a16="http://schemas.microsoft.com/office/drawing/2014/main" id="{B06F18DC-59DF-4006-887C-06DD5753F50F}"/>
              </a:ext>
            </a:extLst>
          </p:cNvPr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eyJ2aWV3Qm94IjpbMzc2LDFdLCJwb2ludHMiOiIwLDAgMzc2LDAifQ</pptd:line>
              </p:ext>
            </p:extLst>
          </p:nvPr>
        </p:nvSpPr>
        <p:spPr>
          <a:xfrm>
            <a:off x="6607115" y="6076830"/>
            <a:ext cx="4775200" cy="12700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</p:spTree>
    <p:extLst>
      <p:ext uri="{BB962C8B-B14F-4D97-AF65-F5344CB8AC3E}">
        <p14:creationId xmlns:p14="http://schemas.microsoft.com/office/powerpoint/2010/main" val="42198874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8355AB41-3856-43D4-91F4-2CF8E6943019}"/>
              </a:ext>
            </a:extLst>
          </p:cNvPr>
          <p:cNvSpPr txBox="1"/>
          <p:nvPr/>
        </p:nvSpPr>
        <p:spPr>
          <a:xfrm>
            <a:off x="600015" y="214702"/>
            <a:ext cx="889000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altLang="zh-CN" sz="20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从一笔交易到完整的客户财务画像，输出直接回答新增还款能力</a:t>
            </a:r>
            <a:endParaRPr lang="en-US" altLang="zh-CN" sz="2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3E6C3C0-EF83-43D9-A24C-47B1A5AB43C9}"/>
              </a:ext>
            </a:extLst>
          </p:cNvPr>
          <p:cNvSpPr txBox="1"/>
          <p:nvPr/>
        </p:nvSpPr>
        <p:spPr>
          <a:xfrm>
            <a:off x="511115" y="570302"/>
            <a:ext cx="10901632" cy="438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lang="en-US" altLang="zh-CN" sz="1800" noProof="1">
                <a:solidFill>
                  <a:srgbClr val="606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原始流水 → 交易明细维度 → 用户汇总维度 → Serviceability 计算 ｜ 示例为客户级 90 天观察周期</a:t>
            </a:r>
            <a:endParaRPr lang="en-US" altLang="zh-CN" sz="18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divider">
            <a:extLst>
              <a:ext uri="{FF2B5EF4-FFF2-40B4-BE49-F238E27FC236}">
                <a16:creationId xmlns:a16="http://schemas.microsoft.com/office/drawing/2014/main" id="{6D65428F-6A5F-41C4-ACB7-27279799D716}"/>
              </a:ext>
            </a:extLst>
          </p:cNvPr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eyJ2aWV3Qm94IjpbODU2LDFdLCJwb2ludHMiOiIwLDAgODU2LDAifQ</pptd:line>
              </p:ext>
            </p:extLst>
          </p:nvPr>
        </p:nvSpPr>
        <p:spPr>
          <a:xfrm>
            <a:off x="431800" y="1092200"/>
            <a:ext cx="10871200" cy="12700"/>
          </a:xfrm>
          <a:custGeom>
            <a:avLst/>
            <a:gdLst/>
            <a:ahLst/>
            <a:cxnLst/>
            <a:rect l="l" t="t" r="r" b="b"/>
            <a:pathLst>
              <a:path w="856" h="1">
                <a:moveTo>
                  <a:pt x="0" y="0"/>
                </a:moveTo>
                <a:lnTo>
                  <a:pt x="85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5" name="s1-bar">
            <a:extLst>
              <a:ext uri="{FF2B5EF4-FFF2-40B4-BE49-F238E27FC236}">
                <a16:creationId xmlns:a16="http://schemas.microsoft.com/office/drawing/2014/main" id="{256AB727-6509-4BCF-BA26-40B0BD5787C0}"/>
              </a:ext>
            </a:extLst>
          </p:cNvPr>
          <p:cNvSpPr/>
          <p:nvPr/>
        </p:nvSpPr>
        <p:spPr>
          <a:xfrm>
            <a:off x="431800" y="1244600"/>
            <a:ext cx="50800" cy="1651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6" name="s1-title">
            <a:extLst>
              <a:ext uri="{FF2B5EF4-FFF2-40B4-BE49-F238E27FC236}">
                <a16:creationId xmlns:a16="http://schemas.microsoft.com/office/drawing/2014/main" id="{048C4CBE-160F-411B-AF93-58FE8230110E}"/>
              </a:ext>
            </a:extLst>
          </p:cNvPr>
          <p:cNvSpPr txBox="1"/>
          <p:nvPr/>
        </p:nvSpPr>
        <p:spPr>
          <a:xfrm>
            <a:off x="584200" y="1206500"/>
            <a:ext cx="381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lang="en-US" sz="12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一、原始银行流水（输入示例）</a:t>
            </a:r>
            <a:endParaRPr lang="en-US" sz="12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7" name="s1-table">
            <a:extLst>
              <a:ext uri="{FF2B5EF4-FFF2-40B4-BE49-F238E27FC236}">
                <a16:creationId xmlns:a16="http://schemas.microsoft.com/office/drawing/2014/main" id="{59DAD8A2-147A-4949-9AAC-F759D673DA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0388381"/>
              </p:ext>
            </p:extLst>
          </p:nvPr>
        </p:nvGraphicFramePr>
        <p:xfrm>
          <a:off x="431800" y="1524000"/>
          <a:ext cx="5080000" cy="1117600"/>
        </p:xfrm>
        <a:graphic>
          <a:graphicData uri="http://schemas.openxmlformats.org/drawingml/2006/table">
            <a:tbl>
              <a:tblPr/>
              <a:tblGrid>
                <a:gridCol w="111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62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9400">
                <a:tc>
                  <a:txBody>
                    <a:bodyPr/>
                    <a:lstStyle/>
                    <a:p>
                      <a:pPr algn="l"/>
                      <a:r>
                        <a:rPr lang="en-US" sz="9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日期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2026-03-26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pPr algn="l"/>
                      <a:r>
                        <a:rPr lang="en-US" sz="9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金额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A$156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pPr algn="l"/>
                      <a:r>
                        <a:rPr lang="en-US" sz="9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方向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Debit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pPr algn="l"/>
                      <a:r>
                        <a:rPr lang="en-US" sz="9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交易描述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BILL PAY Fair Go Finance DT.58oa72 SACC 239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1-questions">
            <a:extLst>
              <a:ext uri="{FF2B5EF4-FFF2-40B4-BE49-F238E27FC236}">
                <a16:creationId xmlns:a16="http://schemas.microsoft.com/office/drawing/2014/main" id="{CB90CD92-1AD6-4995-B71E-F39F64432130}"/>
              </a:ext>
            </a:extLst>
          </p:cNvPr>
          <p:cNvSpPr txBox="1"/>
          <p:nvPr/>
        </p:nvSpPr>
        <p:spPr>
          <a:xfrm>
            <a:off x="431800" y="2700867"/>
            <a:ext cx="5080000" cy="13800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just">
              <a:lnSpc>
                <a:spcPct val="150000"/>
              </a:lnSpc>
            </a:pPr>
            <a:r>
              <a:rPr lang="en-US" sz="1000" b="1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仅依靠原始字段，无法直接判断：</a:t>
            </a:r>
            <a:endParaRPr lang="en-US" sz="1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just">
              <a:lnSpc>
                <a:spcPct val="150000"/>
              </a:lnSpc>
              <a:spcBef>
                <a:spcPts val="400"/>
              </a:spcBef>
            </a:pPr>
            <a:r>
              <a:rPr lang="en-US" sz="10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· 交易对象是谁；</a:t>
            </a:r>
            <a:endParaRPr lang="en-US" sz="1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just">
              <a:lnSpc>
                <a:spcPct val="150000"/>
              </a:lnSpc>
              <a:spcBef>
                <a:spcPts val="200"/>
              </a:spcBef>
            </a:pPr>
            <a:r>
              <a:rPr lang="en-US" sz="10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· 交易属于消费、转账还是贷款还款；</a:t>
            </a:r>
            <a:endParaRPr lang="en-US" sz="1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just">
              <a:lnSpc>
                <a:spcPct val="150000"/>
              </a:lnSpc>
              <a:spcBef>
                <a:spcPts val="200"/>
              </a:spcBef>
            </a:pPr>
            <a:r>
              <a:rPr lang="en-US" sz="10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· 对应什么贷款产品；</a:t>
            </a:r>
            <a:endParaRPr lang="en-US" sz="1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just">
              <a:lnSpc>
                <a:spcPct val="150000"/>
              </a:lnSpc>
              <a:spcBef>
                <a:spcPts val="200"/>
              </a:spcBef>
            </a:pPr>
            <a:r>
              <a:rPr lang="en-US" sz="10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· 客户是否仍处于还款状态；</a:t>
            </a:r>
            <a:endParaRPr lang="en-US" sz="1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just">
              <a:lnSpc>
                <a:spcPct val="150000"/>
              </a:lnSpc>
              <a:spcBef>
                <a:spcPts val="200"/>
              </a:spcBef>
            </a:pPr>
            <a:r>
              <a:rPr lang="en-US" sz="10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· 该笔交易对整体偿付能力有什么影响。</a:t>
            </a:r>
            <a:endParaRPr lang="en-US" sz="1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s2-bar">
            <a:extLst>
              <a:ext uri="{FF2B5EF4-FFF2-40B4-BE49-F238E27FC236}">
                <a16:creationId xmlns:a16="http://schemas.microsoft.com/office/drawing/2014/main" id="{7853D23C-C185-4C77-A7C2-9AB671AE2557}"/>
              </a:ext>
            </a:extLst>
          </p:cNvPr>
          <p:cNvSpPr/>
          <p:nvPr/>
        </p:nvSpPr>
        <p:spPr>
          <a:xfrm>
            <a:off x="431800" y="4318002"/>
            <a:ext cx="50800" cy="1651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10" name="s2-title">
            <a:extLst>
              <a:ext uri="{FF2B5EF4-FFF2-40B4-BE49-F238E27FC236}">
                <a16:creationId xmlns:a16="http://schemas.microsoft.com/office/drawing/2014/main" id="{C74CD74D-A21D-4088-B06A-64E758567EE9}"/>
              </a:ext>
            </a:extLst>
          </p:cNvPr>
          <p:cNvSpPr txBox="1"/>
          <p:nvPr/>
        </p:nvSpPr>
        <p:spPr>
          <a:xfrm>
            <a:off x="584200" y="4279902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lang="en-US" sz="12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二、交易明细维度：理解每一笔交易</a:t>
            </a:r>
            <a:endParaRPr lang="en-US" sz="12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1" name="s2-table">
            <a:extLst>
              <a:ext uri="{FF2B5EF4-FFF2-40B4-BE49-F238E27FC236}">
                <a16:creationId xmlns:a16="http://schemas.microsoft.com/office/drawing/2014/main" id="{5191A559-08D1-4FBA-85F6-BF224119B4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3782174"/>
              </p:ext>
            </p:extLst>
          </p:nvPr>
        </p:nvGraphicFramePr>
        <p:xfrm>
          <a:off x="431800" y="4597402"/>
          <a:ext cx="5080000" cy="1213104"/>
        </p:xfrm>
        <a:graphic>
          <a:graphicData uri="http://schemas.openxmlformats.org/drawingml/2006/table">
            <a:tbl>
              <a:tblPr/>
              <a:tblGrid>
                <a:gridCol w="1422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2024">
                <a:tc>
                  <a:txBody>
                    <a:bodyPr/>
                    <a:lstStyle/>
                    <a:p>
                      <a:pPr algn="l"/>
                      <a:r>
                        <a:rPr lang="en-US" sz="9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标准交易对手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Fair Go Finance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2024">
                <a:tc>
                  <a:txBody>
                    <a:bodyPr/>
                    <a:lstStyle/>
                    <a:p>
                      <a:pPr algn="l"/>
                      <a:r>
                        <a:rPr lang="en-US" sz="9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主体类型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贷款机构 / 小额信贷机构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2024">
                <a:tc>
                  <a:txBody>
                    <a:bodyPr/>
                    <a:lstStyle/>
                    <a:p>
                      <a:pPr algn="l"/>
                      <a:r>
                        <a:rPr lang="en-US" sz="9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交易分类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贷款及还款 ／ SACC Loans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2024">
                <a:tc>
                  <a:txBody>
                    <a:bodyPr/>
                    <a:lstStyle/>
                    <a:p>
                      <a:pPr algn="l"/>
                      <a:r>
                        <a:rPr lang="en-US" sz="9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交易性质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贷款还款（还款金额 A$156）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8704">
                <a:tc>
                  <a:txBody>
                    <a:bodyPr/>
                    <a:lstStyle/>
                    <a:p>
                      <a:pPr algn="l"/>
                      <a:r>
                        <a:rPr lang="en-US" sz="9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分类依据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交易方向、机构名称、产品关键词及历史交易模式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" name="s3-bar">
            <a:extLst>
              <a:ext uri="{FF2B5EF4-FFF2-40B4-BE49-F238E27FC236}">
                <a16:creationId xmlns:a16="http://schemas.microsoft.com/office/drawing/2014/main" id="{03AA8B0D-EE0C-4284-BAB6-CE9132870F8C}"/>
              </a:ext>
            </a:extLst>
          </p:cNvPr>
          <p:cNvSpPr/>
          <p:nvPr/>
        </p:nvSpPr>
        <p:spPr>
          <a:xfrm>
            <a:off x="6121400" y="1244600"/>
            <a:ext cx="50800" cy="1651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13" name="s3-title">
            <a:extLst>
              <a:ext uri="{FF2B5EF4-FFF2-40B4-BE49-F238E27FC236}">
                <a16:creationId xmlns:a16="http://schemas.microsoft.com/office/drawing/2014/main" id="{B2B5F18D-2962-46FD-9E6E-562ACD32D72F}"/>
              </a:ext>
            </a:extLst>
          </p:cNvPr>
          <p:cNvSpPr txBox="1"/>
          <p:nvPr/>
        </p:nvSpPr>
        <p:spPr>
          <a:xfrm>
            <a:off x="6273800" y="1206500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lang="en-US" sz="12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三、用户汇总维度：形成完整负债画像</a:t>
            </a:r>
            <a:endParaRPr lang="en-US" sz="12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s3-table1-head">
            <a:extLst>
              <a:ext uri="{FF2B5EF4-FFF2-40B4-BE49-F238E27FC236}">
                <a16:creationId xmlns:a16="http://schemas.microsoft.com/office/drawing/2014/main" id="{93110C1D-AC01-4B49-A621-DF4DC66DDC30}"/>
              </a:ext>
            </a:extLst>
          </p:cNvPr>
          <p:cNvSpPr txBox="1"/>
          <p:nvPr/>
        </p:nvSpPr>
        <p:spPr>
          <a:xfrm>
            <a:off x="6121400" y="1565734"/>
            <a:ext cx="2540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100" b="1" noProof="1">
                <a:solidFill>
                  <a:srgbClr val="606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90 天整体负债情况</a:t>
            </a:r>
            <a:endParaRPr lang="en-US" sz="11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5" name="s3-table1">
            <a:extLst>
              <a:ext uri="{FF2B5EF4-FFF2-40B4-BE49-F238E27FC236}">
                <a16:creationId xmlns:a16="http://schemas.microsoft.com/office/drawing/2014/main" id="{9DE093E5-6B2D-4029-A415-C57317415F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6184623"/>
              </p:ext>
            </p:extLst>
          </p:nvPr>
        </p:nvGraphicFramePr>
        <p:xfrm>
          <a:off x="6096000" y="1882635"/>
          <a:ext cx="2413000" cy="2514600"/>
        </p:xfrm>
        <a:graphic>
          <a:graphicData uri="http://schemas.openxmlformats.org/drawingml/2006/table">
            <a:tbl>
              <a:tblPr/>
              <a:tblGrid>
                <a:gridCol w="1254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58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1460">
                <a:tc>
                  <a:txBody>
                    <a:bodyPr/>
                    <a:lstStyle/>
                    <a:p>
                      <a:pPr algn="l"/>
                      <a:r>
                        <a:rPr lang="en-US" sz="10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贷款机构数量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 家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1460">
                <a:tc>
                  <a:txBody>
                    <a:bodyPr/>
                    <a:lstStyle/>
                    <a:p>
                      <a:pPr algn="l"/>
                      <a:r>
                        <a:rPr lang="en-US" sz="10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90 天借款金额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A$2,300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1460">
                <a:tc>
                  <a:txBody>
                    <a:bodyPr/>
                    <a:lstStyle/>
                    <a:p>
                      <a:pPr algn="l"/>
                      <a:r>
                        <a:rPr lang="en-US" sz="10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90 天还款金额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A$1,284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1460">
                <a:tc>
                  <a:txBody>
                    <a:bodyPr/>
                    <a:lstStyle/>
                    <a:p>
                      <a:pPr algn="l"/>
                      <a:r>
                        <a:rPr lang="en-US" sz="10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平均月还款金额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A$428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1460">
                <a:tc>
                  <a:txBody>
                    <a:bodyPr/>
                    <a:lstStyle/>
                    <a:p>
                      <a:pPr algn="l"/>
                      <a:r>
                        <a:rPr lang="en-US" sz="10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预计待还金额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A$1,016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1460">
                <a:tc>
                  <a:txBody>
                    <a:bodyPr/>
                    <a:lstStyle/>
                    <a:p>
                      <a:pPr algn="l"/>
                      <a:r>
                        <a:rPr lang="en-US" sz="10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还款次数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9 次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1460">
                <a:tc>
                  <a:txBody>
                    <a:bodyPr/>
                    <a:lstStyle/>
                    <a:p>
                      <a:pPr algn="l"/>
                      <a:r>
                        <a:rPr lang="en-US" sz="10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存在 SACC 贷款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是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1460">
                <a:tc>
                  <a:txBody>
                    <a:bodyPr/>
                    <a:lstStyle/>
                    <a:p>
                      <a:pPr algn="l"/>
                      <a:r>
                        <a:rPr lang="en-US" sz="10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存在多头借贷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是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1460">
                <a:tc>
                  <a:txBody>
                    <a:bodyPr/>
                    <a:lstStyle/>
                    <a:p>
                      <a:pPr algn="l"/>
                      <a:r>
                        <a:rPr lang="en-US" sz="10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持续还款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是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1460">
                <a:tc>
                  <a:txBody>
                    <a:bodyPr/>
                    <a:lstStyle/>
                    <a:p>
                      <a:pPr algn="l"/>
                      <a:r>
                        <a:rPr lang="en-US" sz="10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还款中断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否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16" name="s3-table2-head">
            <a:extLst>
              <a:ext uri="{FF2B5EF4-FFF2-40B4-BE49-F238E27FC236}">
                <a16:creationId xmlns:a16="http://schemas.microsoft.com/office/drawing/2014/main" id="{4338B3C5-3EE4-4EA1-B55D-B5FCC32A960B}"/>
              </a:ext>
            </a:extLst>
          </p:cNvPr>
          <p:cNvSpPr txBox="1"/>
          <p:nvPr/>
        </p:nvSpPr>
        <p:spPr>
          <a:xfrm>
            <a:off x="8737600" y="1565734"/>
            <a:ext cx="2540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100" b="1" noProof="1">
                <a:solidFill>
                  <a:srgbClr val="606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单笔贷款情况（Fair Go Finance）</a:t>
            </a:r>
            <a:endParaRPr lang="en-US" sz="11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7" name="s3-table2">
            <a:extLst>
              <a:ext uri="{FF2B5EF4-FFF2-40B4-BE49-F238E27FC236}">
                <a16:creationId xmlns:a16="http://schemas.microsoft.com/office/drawing/2014/main" id="{70E3869B-5EE4-49E5-9AA1-423A41C73D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211244"/>
              </p:ext>
            </p:extLst>
          </p:nvPr>
        </p:nvGraphicFramePr>
        <p:xfrm>
          <a:off x="8712200" y="1899569"/>
          <a:ext cx="2565400" cy="2194560"/>
        </p:xfrm>
        <a:graphic>
          <a:graphicData uri="http://schemas.openxmlformats.org/drawingml/2006/table">
            <a:tbl>
              <a:tblPr/>
              <a:tblGrid>
                <a:gridCol w="12313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340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30429">
                <a:tc>
                  <a:txBody>
                    <a:bodyPr/>
                    <a:lstStyle/>
                    <a:p>
                      <a:pPr algn="l"/>
                      <a:r>
                        <a:rPr lang="en-US" sz="10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贷款类型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SACC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371">
                <a:tc>
                  <a:txBody>
                    <a:bodyPr/>
                    <a:lstStyle/>
                    <a:p>
                      <a:pPr algn="l"/>
                      <a:r>
                        <a:rPr lang="en-US" sz="10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借款金额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A$1,500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371">
                <a:tc>
                  <a:txBody>
                    <a:bodyPr/>
                    <a:lstStyle/>
                    <a:p>
                      <a:pPr algn="l"/>
                      <a:r>
                        <a:rPr lang="en-US" sz="10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90 天已还金额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A$936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371">
                <a:tc>
                  <a:txBody>
                    <a:bodyPr/>
                    <a:lstStyle/>
                    <a:p>
                      <a:pPr algn="l"/>
                      <a:r>
                        <a:rPr lang="en-US" sz="10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预计待还金额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A$564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371">
                <a:tc>
                  <a:txBody>
                    <a:bodyPr/>
                    <a:lstStyle/>
                    <a:p>
                      <a:pPr algn="l"/>
                      <a:r>
                        <a:rPr lang="en-US" sz="10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还款频率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每两周 A$156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371">
                <a:tc>
                  <a:txBody>
                    <a:bodyPr/>
                    <a:lstStyle/>
                    <a:p>
                      <a:pPr algn="l"/>
                      <a:r>
                        <a:rPr lang="en-US" sz="10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90 天还款次数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 次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371">
                <a:tc>
                  <a:txBody>
                    <a:bodyPr/>
                    <a:lstStyle/>
                    <a:p>
                      <a:pPr algn="l"/>
                      <a:r>
                        <a:rPr lang="en-US" sz="10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当前状态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在贷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8371">
                <a:tc>
                  <a:txBody>
                    <a:bodyPr/>
                    <a:lstStyle/>
                    <a:p>
                      <a:pPr algn="l"/>
                      <a:r>
                        <a:rPr lang="en-US" sz="10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扣款失败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否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8371">
                <a:tc>
                  <a:txBody>
                    <a:bodyPr/>
                    <a:lstStyle/>
                    <a:p>
                      <a:pPr algn="l"/>
                      <a:r>
                        <a:rPr lang="en-US" sz="10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还款中断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否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8" name="s3-states">
            <a:extLst>
              <a:ext uri="{FF2B5EF4-FFF2-40B4-BE49-F238E27FC236}">
                <a16:creationId xmlns:a16="http://schemas.microsoft.com/office/drawing/2014/main" id="{A46000DA-7646-4EB8-960A-C284A6D08465}"/>
              </a:ext>
            </a:extLst>
          </p:cNvPr>
          <p:cNvSpPr txBox="1"/>
          <p:nvPr/>
        </p:nvSpPr>
        <p:spPr>
          <a:xfrm>
            <a:off x="6121400" y="4546600"/>
            <a:ext cx="5181600" cy="1041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just">
              <a:lnSpc>
                <a:spcPct val="150000"/>
              </a:lnSpc>
            </a:pPr>
            <a:r>
              <a:rPr lang="en-US" sz="1000" b="1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贷款状态判断</a:t>
            </a:r>
            <a:r>
              <a:rPr lang="en-US" sz="10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sz="1000" b="1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在贷</a:t>
            </a:r>
            <a:r>
              <a:rPr lang="en-US" sz="10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——近期仍在持续还款；</a:t>
            </a:r>
            <a:r>
              <a:rPr lang="en-US" sz="1000" b="1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结清</a:t>
            </a:r>
            <a:r>
              <a:rPr lang="en-US" sz="10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——已完成还款、近期无相关交易；</a:t>
            </a:r>
            <a:r>
              <a:rPr lang="en-US" sz="1000" b="1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违约中</a:t>
            </a:r>
            <a:r>
              <a:rPr lang="en-US" sz="10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——长期停止还款或多次扣款失败；</a:t>
            </a:r>
            <a:r>
              <a:rPr lang="en-US" sz="1000" b="1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状态不明</a:t>
            </a:r>
            <a:r>
              <a:rPr lang="en-US" sz="10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——观察周期不足或交易信息不完整。</a:t>
            </a:r>
            <a:endParaRPr lang="en-US" sz="1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just">
              <a:lnSpc>
                <a:spcPct val="150000"/>
              </a:lnSpc>
              <a:spcBef>
                <a:spcPts val="400"/>
              </a:spcBef>
            </a:pPr>
            <a:r>
              <a:rPr lang="en-US" sz="1000" b="1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还可识别的交易对手</a:t>
            </a:r>
            <a:r>
              <a:rPr lang="en-US" sz="10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：商户企业（Woolworths、Telstra）、政府机构（Services Australia、ATO）、雇主与收入付款方、BNPL／信用卡／催收／工资预支机构、内部账户与外部个人账户。</a:t>
            </a:r>
            <a:endParaRPr lang="en-US" sz="1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9" name="band-bg">
            <a:extLst>
              <a:ext uri="{FF2B5EF4-FFF2-40B4-BE49-F238E27FC236}">
                <a16:creationId xmlns:a16="http://schemas.microsoft.com/office/drawing/2014/main" id="{D9FC0C98-9290-48B2-A50D-01CA3F539F22}"/>
              </a:ext>
            </a:extLst>
          </p:cNvPr>
          <p:cNvSpPr/>
          <p:nvPr/>
        </p:nvSpPr>
        <p:spPr>
          <a:xfrm>
            <a:off x="431800" y="5952069"/>
            <a:ext cx="10871200" cy="584200"/>
          </a:xfrm>
          <a:prstGeom prst="rect">
            <a:avLst/>
          </a:prstGeom>
          <a:solidFill>
            <a:srgbClr val="F0F0F0"/>
          </a:solidFill>
          <a:ln>
            <a:noFill/>
          </a:ln>
        </p:spPr>
      </p:sp>
      <p:sp>
        <p:nvSpPr>
          <p:cNvPr id="20" name="band-capsule">
            <a:extLst>
              <a:ext uri="{FF2B5EF4-FFF2-40B4-BE49-F238E27FC236}">
                <a16:creationId xmlns:a16="http://schemas.microsoft.com/office/drawing/2014/main" id="{934B78B0-04AF-49D7-819E-F0889526294F}"/>
              </a:ext>
            </a:extLst>
          </p:cNvPr>
          <p:cNvSpPr/>
          <p:nvPr/>
        </p:nvSpPr>
        <p:spPr>
          <a:xfrm>
            <a:off x="609600" y="6079069"/>
            <a:ext cx="1498600" cy="3302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</p:sp>
      <p:sp>
        <p:nvSpPr>
          <p:cNvPr id="21" name="band-capsule-text">
            <a:extLst>
              <a:ext uri="{FF2B5EF4-FFF2-40B4-BE49-F238E27FC236}">
                <a16:creationId xmlns:a16="http://schemas.microsoft.com/office/drawing/2014/main" id="{76418230-E04F-4D01-B3B8-CF9BE57A0037}"/>
              </a:ext>
            </a:extLst>
          </p:cNvPr>
          <p:cNvSpPr txBox="1"/>
          <p:nvPr/>
        </p:nvSpPr>
        <p:spPr>
          <a:xfrm>
            <a:off x="609600" y="6079069"/>
            <a:ext cx="14986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0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支持信审计算</a:t>
            </a:r>
            <a:endParaRPr lang="en-US" sz="1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band-formula">
            <a:extLst>
              <a:ext uri="{FF2B5EF4-FFF2-40B4-BE49-F238E27FC236}">
                <a16:creationId xmlns:a16="http://schemas.microsoft.com/office/drawing/2014/main" id="{77CF7CAE-866B-46D5-AA45-30E044132C71}"/>
              </a:ext>
            </a:extLst>
          </p:cNvPr>
          <p:cNvSpPr txBox="1"/>
          <p:nvPr/>
        </p:nvSpPr>
        <p:spPr>
          <a:xfrm>
            <a:off x="2311400" y="5952069"/>
            <a:ext cx="899160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1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稳定收入 − 必要生活支出 − 现有负债还款 ＝ 可支配盈余</a:t>
            </a:r>
            <a:endParaRPr lang="en-US" sz="11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" name="band-note">
            <a:extLst>
              <a:ext uri="{FF2B5EF4-FFF2-40B4-BE49-F238E27FC236}">
                <a16:creationId xmlns:a16="http://schemas.microsoft.com/office/drawing/2014/main" id="{C0028AAC-F319-4447-8326-FE7BD0C8D54E}"/>
              </a:ext>
            </a:extLst>
          </p:cNvPr>
          <p:cNvSpPr txBox="1"/>
          <p:nvPr/>
        </p:nvSpPr>
        <p:spPr>
          <a:xfrm>
            <a:off x="2311400" y="6307669"/>
            <a:ext cx="89916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800" noProof="1">
                <a:solidFill>
                  <a:srgbClr val="606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回答：客户有多少稳定收入、承担多少必要支出、正在偿还哪些贷款，以及是否具备新增还款能力。</a:t>
            </a:r>
            <a:endParaRPr lang="en-US" sz="8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142568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band-bg">
            <a:extLst>
              <a:ext uri="{FF2B5EF4-FFF2-40B4-BE49-F238E27FC236}">
                <a16:creationId xmlns:a16="http://schemas.microsoft.com/office/drawing/2014/main" id="{D6429189-C8AA-4544-BEC8-9DF6FD837EF5}"/>
              </a:ext>
            </a:extLst>
          </p:cNvPr>
          <p:cNvSpPr/>
          <p:nvPr/>
        </p:nvSpPr>
        <p:spPr>
          <a:xfrm>
            <a:off x="584453" y="1105291"/>
            <a:ext cx="10871200" cy="505124"/>
          </a:xfrm>
          <a:prstGeom prst="rect">
            <a:avLst/>
          </a:prstGeom>
          <a:solidFill>
            <a:srgbClr val="F0F0F0"/>
          </a:solidFill>
          <a:ln>
            <a:noFill/>
          </a:ln>
        </p:spPr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2D6C6528-4DFB-4D29-B578-BC3E760E6C21}"/>
              </a:ext>
            </a:extLst>
          </p:cNvPr>
          <p:cNvSpPr txBox="1"/>
          <p:nvPr/>
        </p:nvSpPr>
        <p:spPr>
          <a:xfrm>
            <a:off x="600015" y="214702"/>
            <a:ext cx="889000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altLang="zh-CN" sz="20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多引擎分工分类，AI 建设与维护知识库并驱动持续优化闭环</a:t>
            </a:r>
            <a:endParaRPr lang="en-US" altLang="zh-CN" sz="2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4D96AA42-FD16-4226-8E79-584F342FB5EE}"/>
              </a:ext>
            </a:extLst>
          </p:cNvPr>
          <p:cNvSpPr txBox="1"/>
          <p:nvPr/>
        </p:nvSpPr>
        <p:spPr>
          <a:xfrm>
            <a:off x="511115" y="570302"/>
            <a:ext cx="10901632" cy="438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lang="en-US" altLang="zh-CN" sz="1800" noProof="1">
                <a:solidFill>
                  <a:srgbClr val="606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流水依次经过多个分类引擎，各引擎输出交易类别、交易对手，后续引擎发现更明确证据可修正前序分类</a:t>
            </a:r>
            <a:endParaRPr lang="en-US" altLang="zh-CN" sz="18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s1-bar">
            <a:extLst>
              <a:ext uri="{FF2B5EF4-FFF2-40B4-BE49-F238E27FC236}">
                <a16:creationId xmlns:a16="http://schemas.microsoft.com/office/drawing/2014/main" id="{91A77EEA-A124-4DAB-9FE8-7A3DD468C350}"/>
              </a:ext>
            </a:extLst>
          </p:cNvPr>
          <p:cNvSpPr/>
          <p:nvPr/>
        </p:nvSpPr>
        <p:spPr>
          <a:xfrm>
            <a:off x="568717" y="1732980"/>
            <a:ext cx="50800" cy="1651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6" name="s1-title">
            <a:extLst>
              <a:ext uri="{FF2B5EF4-FFF2-40B4-BE49-F238E27FC236}">
                <a16:creationId xmlns:a16="http://schemas.microsoft.com/office/drawing/2014/main" id="{2E0EF8C0-7EE5-4A89-9BFB-5F574061D5AA}"/>
              </a:ext>
            </a:extLst>
          </p:cNvPr>
          <p:cNvSpPr txBox="1"/>
          <p:nvPr/>
        </p:nvSpPr>
        <p:spPr>
          <a:xfrm>
            <a:off x="721117" y="1694880"/>
            <a:ext cx="4064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lang="en-US" sz="14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一、三大知识库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7" name="init-table">
            <a:extLst>
              <a:ext uri="{FF2B5EF4-FFF2-40B4-BE49-F238E27FC236}">
                <a16:creationId xmlns:a16="http://schemas.microsoft.com/office/drawing/2014/main" id="{296C6557-7410-4A1E-A4E0-C1913FA164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9540220"/>
              </p:ext>
            </p:extLst>
          </p:nvPr>
        </p:nvGraphicFramePr>
        <p:xfrm>
          <a:off x="568717" y="2274554"/>
          <a:ext cx="3175000" cy="1935480"/>
        </p:xfrm>
        <a:graphic>
          <a:graphicData uri="http://schemas.openxmlformats.org/drawingml/2006/table">
            <a:tbl>
              <a:tblPr/>
              <a:tblGrid>
                <a:gridCol w="79893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356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52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9959">
                <a:tc>
                  <a:txBody>
                    <a:bodyPr/>
                    <a:lstStyle/>
                    <a:p>
                      <a:pPr algn="l"/>
                      <a:r>
                        <a:rPr lang="en-US" sz="9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标准商户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关键词／别名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类别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9959">
                <a:tc>
                  <a:txBody>
                    <a:bodyPr/>
                    <a:lstStyle/>
                    <a:p>
                      <a:pPr algn="l"/>
                      <a:r>
                        <a:rPr lang="en-US" sz="9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Temu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TEMU.COM、TEMU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Online Shopping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9959">
                <a:tc>
                  <a:txBody>
                    <a:bodyPr/>
                    <a:lstStyle/>
                    <a:p>
                      <a:pPr algn="l"/>
                      <a:r>
                        <a:rPr lang="en-US" sz="9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Eats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EATS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Dining Out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9959">
                <a:tc>
                  <a:txBody>
                    <a:bodyPr/>
                    <a:lstStyle/>
                    <a:p>
                      <a:pPr algn="l"/>
                      <a:r>
                        <a:rPr lang="en-US" sz="9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Netflix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NETFLIX.COM、NETFLIX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Subscription TV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8282">
                <a:tc>
                  <a:txBody>
                    <a:bodyPr/>
                    <a:lstStyle/>
                    <a:p>
                      <a:pPr algn="l"/>
                      <a:r>
                        <a:rPr lang="en-US" sz="9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Spotify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SPOTIFY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Entertainment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8282">
                <a:tc>
                  <a:txBody>
                    <a:bodyPr/>
                    <a:lstStyle/>
                    <a:p>
                      <a:pPr algn="l"/>
                      <a:r>
                        <a:rPr lang="en-US" sz="9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OpenAI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OPENAI *CHATGPT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Information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init-note">
            <a:extLst>
              <a:ext uri="{FF2B5EF4-FFF2-40B4-BE49-F238E27FC236}">
                <a16:creationId xmlns:a16="http://schemas.microsoft.com/office/drawing/2014/main" id="{B625548C-85F5-4A87-B155-52266193B0F4}"/>
              </a:ext>
            </a:extLst>
          </p:cNvPr>
          <p:cNvSpPr txBox="1"/>
          <p:nvPr/>
        </p:nvSpPr>
        <p:spPr>
          <a:xfrm>
            <a:off x="621029" y="4276000"/>
            <a:ext cx="3175000" cy="9462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just">
              <a:lnSpc>
                <a:spcPct val="150000"/>
              </a:lnSpc>
            </a:pPr>
            <a:r>
              <a:rPr lang="en-US" sz="800" b="1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Init：已知商户与消费分类</a:t>
            </a:r>
            <a:r>
              <a:rPr lang="en-US" sz="800" noProof="1">
                <a:solidFill>
                  <a:srgbClr val="606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（餐饮、零售、健康、出行、娱乐、水电通信等），按商户知识库的标准名、别名、关键词匹配；AI 只提取交易文本中实际出现的关键词，并联网核验标准名与类别，避免误匹配。</a:t>
            </a:r>
            <a:endParaRPr lang="en-US" sz="8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income-capsule">
            <a:extLst>
              <a:ext uri="{FF2B5EF4-FFF2-40B4-BE49-F238E27FC236}">
                <a16:creationId xmlns:a16="http://schemas.microsoft.com/office/drawing/2014/main" id="{B4CB0565-A9AE-4A45-8F6A-44E49726E461}"/>
              </a:ext>
            </a:extLst>
          </p:cNvPr>
          <p:cNvSpPr/>
          <p:nvPr/>
        </p:nvSpPr>
        <p:spPr>
          <a:xfrm>
            <a:off x="3921517" y="1999680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</p:sp>
      <p:sp>
        <p:nvSpPr>
          <p:cNvPr id="10" name="income-capsule-text">
            <a:extLst>
              <a:ext uri="{FF2B5EF4-FFF2-40B4-BE49-F238E27FC236}">
                <a16:creationId xmlns:a16="http://schemas.microsoft.com/office/drawing/2014/main" id="{3B41C0CB-B265-49B8-8346-7A67CD243C57}"/>
              </a:ext>
            </a:extLst>
          </p:cNvPr>
          <p:cNvSpPr txBox="1"/>
          <p:nvPr/>
        </p:nvSpPr>
        <p:spPr>
          <a:xfrm>
            <a:off x="3921517" y="1999680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收入识别知识库</a:t>
            </a:r>
            <a:endParaRPr lang="en-US" altLang="zh-CN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1" name="income-table">
            <a:extLst>
              <a:ext uri="{FF2B5EF4-FFF2-40B4-BE49-F238E27FC236}">
                <a16:creationId xmlns:a16="http://schemas.microsoft.com/office/drawing/2014/main" id="{437DE33D-539A-4A03-AC67-AB16184E7F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4568892"/>
              </p:ext>
            </p:extLst>
          </p:nvPr>
        </p:nvGraphicFramePr>
        <p:xfrm>
          <a:off x="3921517" y="2247387"/>
          <a:ext cx="3606800" cy="1779770"/>
        </p:xfrm>
        <a:graphic>
          <a:graphicData uri="http://schemas.openxmlformats.org/drawingml/2006/table">
            <a:tbl>
              <a:tblPr/>
              <a:tblGrid>
                <a:gridCol w="6779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49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338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004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6730">
                <a:tc>
                  <a:txBody>
                    <a:bodyPr/>
                    <a:lstStyle/>
                    <a:p>
                      <a:pPr algn="l"/>
                      <a:r>
                        <a:rPr lang="en-US" sz="9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场景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交易描述与线索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命中的知识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结果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2826">
                <a:tc>
                  <a:txBody>
                    <a:bodyPr/>
                    <a:lstStyle/>
                    <a:p>
                      <a:pPr algn="l"/>
                      <a:r>
                        <a:rPr lang="en-US" sz="9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普通工资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PAYROLL ACME 双周入账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Payroll 模式＋周期＋稳定阈值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salary_payg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2826">
                <a:tc>
                  <a:txBody>
                    <a:bodyPr/>
                    <a:lstStyle/>
                    <a:p>
                      <a:pPr algn="l"/>
                      <a:r>
                        <a:rPr lang="en-US" sz="9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薪酬包装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SALARY PACKAGING ...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薪酬包装模式优先于普通工资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salary_packaging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2826">
                <a:tc>
                  <a:txBody>
                    <a:bodyPr/>
                    <a:lstStyle/>
                    <a:p>
                      <a:pPr algn="l"/>
                      <a:r>
                        <a:rPr lang="en-US" sz="9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政府补助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CENTRELINK ...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Centrelink 专项模式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centrelink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2826">
                <a:tc>
                  <a:txBody>
                    <a:bodyPr/>
                    <a:lstStyle/>
                    <a:p>
                      <a:pPr algn="l"/>
                      <a:r>
                        <a:rPr lang="en-US" sz="9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零工收入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入账，无退款信号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零工模式＋入账方向＋排除规则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self_employed_gig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" name="income-note">
            <a:extLst>
              <a:ext uri="{FF2B5EF4-FFF2-40B4-BE49-F238E27FC236}">
                <a16:creationId xmlns:a16="http://schemas.microsoft.com/office/drawing/2014/main" id="{C6615658-9E4E-43F1-B5C2-8AA7C97BB5BC}"/>
              </a:ext>
            </a:extLst>
          </p:cNvPr>
          <p:cNvSpPr txBox="1"/>
          <p:nvPr/>
        </p:nvSpPr>
        <p:spPr>
          <a:xfrm>
            <a:off x="3973829" y="4108102"/>
            <a:ext cx="36068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just">
              <a:lnSpc>
                <a:spcPct val="150000"/>
              </a:lnSpc>
            </a:pPr>
            <a:r>
              <a:rPr lang="en-US" sz="800" b="1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Income：识别工资与其他稳定收入</a:t>
            </a:r>
            <a:r>
              <a:rPr lang="en-US" sz="800" noProof="1">
                <a:solidFill>
                  <a:srgbClr val="606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，综合方向、金额、付款方重复次数、金额稳定性与周／双周／月周期判断；只有"入账方向＋文本／行为证据"共同成立才归为收入，而非只看"工资"二字。</a:t>
            </a:r>
            <a:endParaRPr lang="en-US" sz="8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liab-capsule">
            <a:extLst>
              <a:ext uri="{FF2B5EF4-FFF2-40B4-BE49-F238E27FC236}">
                <a16:creationId xmlns:a16="http://schemas.microsoft.com/office/drawing/2014/main" id="{A571CED0-8DA4-453B-8B62-551D2F39A966}"/>
              </a:ext>
            </a:extLst>
          </p:cNvPr>
          <p:cNvSpPr/>
          <p:nvPr/>
        </p:nvSpPr>
        <p:spPr>
          <a:xfrm>
            <a:off x="7706117" y="1999680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</p:sp>
      <p:sp>
        <p:nvSpPr>
          <p:cNvPr id="14" name="liab-capsule-text">
            <a:extLst>
              <a:ext uri="{FF2B5EF4-FFF2-40B4-BE49-F238E27FC236}">
                <a16:creationId xmlns:a16="http://schemas.microsoft.com/office/drawing/2014/main" id="{671DCB91-F81B-448D-8287-02975156DBAA}"/>
              </a:ext>
            </a:extLst>
          </p:cNvPr>
          <p:cNvSpPr txBox="1"/>
          <p:nvPr/>
        </p:nvSpPr>
        <p:spPr>
          <a:xfrm>
            <a:off x="7706117" y="1999680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贷款识别知识库</a:t>
            </a:r>
            <a:endParaRPr lang="en-US" altLang="zh-CN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5" name="liab-table">
            <a:extLst>
              <a:ext uri="{FF2B5EF4-FFF2-40B4-BE49-F238E27FC236}">
                <a16:creationId xmlns:a16="http://schemas.microsoft.com/office/drawing/2014/main" id="{D9D16F0A-2CA9-444A-9C30-0D63C131C9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1657762"/>
              </p:ext>
            </p:extLst>
          </p:nvPr>
        </p:nvGraphicFramePr>
        <p:xfrm>
          <a:off x="7706117" y="2265996"/>
          <a:ext cx="4039172" cy="1955800"/>
        </p:xfrm>
        <a:graphic>
          <a:graphicData uri="http://schemas.openxmlformats.org/drawingml/2006/table">
            <a:tbl>
              <a:tblPr/>
              <a:tblGrid>
                <a:gridCol w="9493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509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309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078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9400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知识库／场景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交易描述示例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识别逻辑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结果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BNPL 对手库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DIRECT DEBIT AFTERPAY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BNPL 交易对手关键词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Afterpay · BNPL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信用卡规则库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BPAY ... ANZ CARDS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银行、账户类型、方向与文本共同匹配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信用卡还款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房贷规则库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MORTGAGE REPAYMENT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Mortgage、Home Loan 关键词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Home Loan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车贷机构或专用描述扣款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车贷标记＋交易对手规则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Car Loan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催收／债务整合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已知催收机构或整合描述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催收、整合关键词与专项标记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Debt Collection 等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6" name="liab-note">
            <a:extLst>
              <a:ext uri="{FF2B5EF4-FFF2-40B4-BE49-F238E27FC236}">
                <a16:creationId xmlns:a16="http://schemas.microsoft.com/office/drawing/2014/main" id="{48E5824A-DECF-4097-B9F3-AB86B4C04314}"/>
              </a:ext>
            </a:extLst>
          </p:cNvPr>
          <p:cNvSpPr txBox="1"/>
          <p:nvPr/>
        </p:nvSpPr>
        <p:spPr>
          <a:xfrm>
            <a:off x="7758429" y="4276000"/>
            <a:ext cx="37338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800" b="1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Liability：识别贷款、信用卡与催收</a:t>
            </a:r>
            <a:r>
              <a:rPr lang="en-US" sz="800" noProof="1">
                <a:solidFill>
                  <a:srgbClr val="606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，先定产品类型再归集负债流；AI 不替代实时规则，而在评估闭环中发现新机构、新别名与规则冲突并反馈更新。辅助引擎：Dishonour（退票）、Transfer（内外部转账）、Fee（银行费用）及赌博、房租专项识别。</a:t>
            </a:r>
            <a:endParaRPr lang="en-US" sz="8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s2-bar">
            <a:extLst>
              <a:ext uri="{FF2B5EF4-FFF2-40B4-BE49-F238E27FC236}">
                <a16:creationId xmlns:a16="http://schemas.microsoft.com/office/drawing/2014/main" id="{AB447ABD-CA21-4A0E-8B30-9C0E470A61F3}"/>
              </a:ext>
            </a:extLst>
          </p:cNvPr>
          <p:cNvSpPr/>
          <p:nvPr/>
        </p:nvSpPr>
        <p:spPr>
          <a:xfrm>
            <a:off x="541547" y="5057744"/>
            <a:ext cx="50800" cy="1651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18" name="s2-title">
            <a:extLst>
              <a:ext uri="{FF2B5EF4-FFF2-40B4-BE49-F238E27FC236}">
                <a16:creationId xmlns:a16="http://schemas.microsoft.com/office/drawing/2014/main" id="{E337F18F-1584-4FB2-B57E-3CF985E58F95}"/>
              </a:ext>
            </a:extLst>
          </p:cNvPr>
          <p:cNvSpPr txBox="1"/>
          <p:nvPr/>
        </p:nvSpPr>
        <p:spPr>
          <a:xfrm>
            <a:off x="693947" y="5019644"/>
            <a:ext cx="7874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lang="en-US" sz="14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二、评估闭环：AI 质检 Agent 监控分类波动并输出诊断报告（不参与实时分类）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9" name="loop-table">
            <a:extLst>
              <a:ext uri="{FF2B5EF4-FFF2-40B4-BE49-F238E27FC236}">
                <a16:creationId xmlns:a16="http://schemas.microsoft.com/office/drawing/2014/main" id="{0CE3767D-EDF9-47E3-B521-CF76E14320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8855683"/>
              </p:ext>
            </p:extLst>
          </p:nvPr>
        </p:nvGraphicFramePr>
        <p:xfrm>
          <a:off x="541547" y="5324444"/>
          <a:ext cx="10871200" cy="1133984"/>
        </p:xfrm>
        <a:graphic>
          <a:graphicData uri="http://schemas.openxmlformats.org/drawingml/2006/table">
            <a:tbl>
              <a:tblPr/>
              <a:tblGrid>
                <a:gridCol w="2717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17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17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1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95072">
                <a:tc>
                  <a:txBody>
                    <a:bodyPr/>
                    <a:lstStyle/>
                    <a:p>
                      <a:pPr algn="l">
                        <a:lnSpc>
                          <a:spcPct val="140000"/>
                        </a:lnSpc>
                      </a:pPr>
                      <a:r>
                        <a:rPr lang="en-US" sz="85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① 监控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0A0A0A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40000"/>
                        </a:lnSpc>
                      </a:pPr>
                      <a:r>
                        <a:rPr lang="en-US" sz="85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② 定位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0A0A0A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40000"/>
                        </a:lnSpc>
                      </a:pPr>
                      <a:r>
                        <a:rPr lang="en-US" sz="85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③ 输出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0A0A0A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40000"/>
                        </a:lnSpc>
                      </a:pPr>
                      <a:r>
                        <a:rPr lang="en-US" sz="85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④ 更新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0A0A0A"/>
                      </a:solidFill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2656">
                <a:tc>
                  <a:txBody>
                    <a:bodyPr/>
                    <a:lstStyle/>
                    <a:p>
                      <a:pPr algn="l">
                        <a:lnSpc>
                          <a:spcPct val="140000"/>
                        </a:lnSpc>
                      </a:pPr>
                      <a:r>
                        <a:rPr lang="en-US" sz="9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捕捉分类批量漂移、同一对手归类不一致、覆盖率或命中率下降、新描述未被识别等异常信号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40000"/>
                        </a:lnSpc>
                      </a:pPr>
                      <a:r>
                        <a:rPr lang="en-US" sz="9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逐笔细挖描述、金额、方向、对手、命中引擎与依据，归为五类原因：引擎规则／知识库不足／数据异常／多引擎冲突／正常波动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40000"/>
                        </a:lnSpc>
                      </a:pPr>
                      <a:r>
                        <a:rPr lang="en-US" sz="9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生成按优先级排序的诊断报告，标明问题引擎、需检查规则、缺失商户／关键词及应补充的知识库，供业务确认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40000"/>
                        </a:lnSpc>
                      </a:pPr>
                      <a:r>
                        <a:rPr lang="en-US" sz="9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处置建议写回知识库与规则表，下一轮分类生效，形成"分类→监控→定位→输出→更新→再分类"的持续优化闭环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5072">
                <a:tc gridSpan="4">
                  <a:txBody>
                    <a:bodyPr/>
                    <a:lstStyle/>
                    <a:p>
                      <a:pPr algn="l">
                        <a:lnSpc>
                          <a:spcPct val="140000"/>
                        </a:lnSpc>
                      </a:pPr>
                      <a:r>
                        <a:rPr lang="en-US" sz="75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知识库由 AI 两条流水线定期建设维护：流水线一（官方注册商户）增量比对注册数据、联网验证后回写标准名与关键词；流水线二（线上未识别交易）核验真实商户、提取实际关键词、去重合并别名后回写，下一轮分类生效。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solidFill>
                      <a:srgbClr val="F3F3F3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3" name="income-capsule">
            <a:extLst>
              <a:ext uri="{FF2B5EF4-FFF2-40B4-BE49-F238E27FC236}">
                <a16:creationId xmlns:a16="http://schemas.microsoft.com/office/drawing/2014/main" id="{CFEC0F35-840B-44A5-BDAF-0D56EDB6D11F}"/>
              </a:ext>
            </a:extLst>
          </p:cNvPr>
          <p:cNvSpPr/>
          <p:nvPr/>
        </p:nvSpPr>
        <p:spPr>
          <a:xfrm>
            <a:off x="541547" y="2003724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</p:sp>
      <p:sp>
        <p:nvSpPr>
          <p:cNvPr id="24" name="income-capsule-text">
            <a:extLst>
              <a:ext uri="{FF2B5EF4-FFF2-40B4-BE49-F238E27FC236}">
                <a16:creationId xmlns:a16="http://schemas.microsoft.com/office/drawing/2014/main" id="{455365E2-0360-47A7-B894-12DC05DCC697}"/>
              </a:ext>
            </a:extLst>
          </p:cNvPr>
          <p:cNvSpPr txBox="1"/>
          <p:nvPr/>
        </p:nvSpPr>
        <p:spPr>
          <a:xfrm>
            <a:off x="541547" y="2003724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澳洲企业库</a:t>
            </a:r>
            <a:endParaRPr lang="en-US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" name="Rectangle 3">
            <a:extLst>
              <a:ext uri="{FF2B5EF4-FFF2-40B4-BE49-F238E27FC236}">
                <a16:creationId xmlns:a16="http://schemas.microsoft.com/office/drawing/2014/main" id="{BAB8C997-F392-44D6-BD9C-9CC639AE42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541" y="1241953"/>
            <a:ext cx="10898112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引擎流程：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Init → Income → Liability → Other Engines (</a:t>
            </a:r>
            <a:r>
              <a:rPr lang="en-US" altLang="zh-CN" sz="1200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Transfers,Gambling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, and Rent) → Quality Review &amp; Optimization</a:t>
            </a:r>
            <a:r>
              <a:rPr lang="zh-CN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→ 质量评估</a:t>
            </a:r>
            <a:r>
              <a:rPr kumimoji="0" lang="zh-CN" altLang="zh-CN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与优化闭环</a:t>
            </a:r>
          </a:p>
        </p:txBody>
      </p:sp>
    </p:spTree>
    <p:extLst>
      <p:ext uri="{BB962C8B-B14F-4D97-AF65-F5344CB8AC3E}">
        <p14:creationId xmlns:p14="http://schemas.microsoft.com/office/powerpoint/2010/main" val="17862434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940EE25B-7E76-419D-9567-BF44A7BCAF27}"/>
              </a:ext>
            </a:extLst>
          </p:cNvPr>
          <p:cNvSpPr txBox="1"/>
          <p:nvPr/>
        </p:nvSpPr>
        <p:spPr>
          <a:xfrm>
            <a:off x="600015" y="214702"/>
            <a:ext cx="889000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altLang="zh-CN" sz="20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Liability 贷款识别：覆盖、一致性与精度全面优于 illion</a:t>
            </a:r>
            <a:endParaRPr lang="en-US" altLang="zh-CN" sz="2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936DB2D2-B074-48BD-8B28-6034EA1CCFC2}"/>
              </a:ext>
            </a:extLst>
          </p:cNvPr>
          <p:cNvSpPr txBox="1"/>
          <p:nvPr/>
        </p:nvSpPr>
        <p:spPr>
          <a:xfrm>
            <a:off x="511115" y="570302"/>
            <a:ext cx="10901632" cy="438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lang="en-US" altLang="zh-CN" sz="1800" noProof="1">
                <a:solidFill>
                  <a:srgbClr val="606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OOT 样本对比：</a:t>
            </a:r>
            <a:r>
              <a:rPr lang="en-US" altLang="zh-CN" noProof="1">
                <a:solidFill>
                  <a:srgbClr val="606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1,519</a:t>
            </a:r>
            <a:r>
              <a:rPr lang="en-US" altLang="zh-CN" sz="1800" noProof="1">
                <a:solidFill>
                  <a:srgbClr val="606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个申请 case ｜ </a:t>
            </a:r>
            <a:r>
              <a:rPr lang="en-US" altLang="zh-CN" noProof="1">
                <a:solidFill>
                  <a:srgbClr val="606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1,958,480</a:t>
            </a:r>
            <a:r>
              <a:rPr lang="en-US" altLang="zh-CN" sz="1800" noProof="1">
                <a:solidFill>
                  <a:srgbClr val="606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条交易 ｜ 2026/07/27–2026/07/31 ｜</a:t>
            </a:r>
            <a:endParaRPr lang="en-US" altLang="zh-CN" sz="18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divider">
            <a:extLst>
              <a:ext uri="{FF2B5EF4-FFF2-40B4-BE49-F238E27FC236}">
                <a16:creationId xmlns:a16="http://schemas.microsoft.com/office/drawing/2014/main" id="{079A0AE7-E93F-4E2C-A60F-444BCE10FFC1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eyJ2aWV3Qm94IjpbODU2LDFdLCJwb2ludHMiOiIwLDAgODU2LDAifQ</pptd:line>
              </p:ext>
            </p:extLst>
          </p:nvPr>
        </p:nvSpPr>
        <p:spPr>
          <a:xfrm>
            <a:off x="511115" y="1131498"/>
            <a:ext cx="10871200" cy="12700"/>
          </a:xfrm>
          <a:custGeom>
            <a:avLst/>
            <a:gdLst/>
            <a:ahLst/>
            <a:cxnLst/>
            <a:rect l="l" t="t" r="r" b="b"/>
            <a:pathLst>
              <a:path w="856" h="1">
                <a:moveTo>
                  <a:pt x="0" y="0"/>
                </a:moveTo>
                <a:lnTo>
                  <a:pt x="85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5" name="s1-bar">
            <a:extLst>
              <a:ext uri="{FF2B5EF4-FFF2-40B4-BE49-F238E27FC236}">
                <a16:creationId xmlns:a16="http://schemas.microsoft.com/office/drawing/2014/main" id="{135386F4-E10A-4257-B55F-FE6F08318C43}"/>
              </a:ext>
            </a:extLst>
          </p:cNvPr>
          <p:cNvSpPr/>
          <p:nvPr/>
        </p:nvSpPr>
        <p:spPr>
          <a:xfrm>
            <a:off x="511115" y="1309298"/>
            <a:ext cx="50800" cy="1651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6" name="s1-title">
            <a:extLst>
              <a:ext uri="{FF2B5EF4-FFF2-40B4-BE49-F238E27FC236}">
                <a16:creationId xmlns:a16="http://schemas.microsoft.com/office/drawing/2014/main" id="{BA9491F9-AA95-407A-80D0-07D99F871C6C}"/>
              </a:ext>
            </a:extLst>
          </p:cNvPr>
          <p:cNvSpPr txBox="1"/>
          <p:nvPr/>
        </p:nvSpPr>
        <p:spPr>
          <a:xfrm>
            <a:off x="663515" y="1271198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lang="en-US" sz="14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一、贷款识别覆盖交集：我方漏识别更少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7" name="venn-chart">
            <a:extLst>
              <a:ext uri="{FF2B5EF4-FFF2-40B4-BE49-F238E27FC236}">
                <a16:creationId xmlns:a16="http://schemas.microsoft.com/office/drawing/2014/main" id="{8DB4E448-7F96-40D5-9ABC-2EAB4ADC77FB}"/>
              </a:ext>
            </a:extLst>
          </p:cNvPr>
          <p:cNvGraphicFramePr/>
          <p:nvPr/>
        </p:nvGraphicFramePr>
        <p:xfrm>
          <a:off x="409515" y="1535322"/>
          <a:ext cx="5334000" cy="939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venn-note">
            <a:extLst>
              <a:ext uri="{FF2B5EF4-FFF2-40B4-BE49-F238E27FC236}">
                <a16:creationId xmlns:a16="http://schemas.microsoft.com/office/drawing/2014/main" id="{E8CACBDB-E480-4B26-BF46-62E9526B4D7D}"/>
              </a:ext>
            </a:extLst>
          </p:cNvPr>
          <p:cNvSpPr txBox="1"/>
          <p:nvPr/>
        </p:nvSpPr>
        <p:spPr>
          <a:xfrm>
            <a:off x="511115" y="2485247"/>
            <a:ext cx="5334000" cy="8475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0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· F</a:t>
            </a:r>
            <a:r>
              <a:rPr lang="en-US" altLang="zh-CN" sz="10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inv</a:t>
            </a:r>
            <a:r>
              <a:rPr lang="en-US" sz="10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集中在 BNPL、EWA、Home Loan，是 illion 的覆盖盲区；</a:t>
            </a:r>
            <a:endParaRPr lang="en-US" sz="1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10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· illion 主要为F</a:t>
            </a:r>
            <a:r>
              <a:rPr lang="en-US" altLang="zh-CN" sz="10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inv</a:t>
            </a:r>
            <a:r>
              <a:rPr lang="en-US" sz="10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知识库缺失或归属差异；</a:t>
            </a:r>
            <a:r>
              <a:rPr lang="zh-CN" altLang="en-US" sz="10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贷款识别覆盖交集</a:t>
            </a:r>
            <a:r>
              <a:rPr lang="zh-CN" altLang="en-US" sz="1000" b="1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占</a:t>
            </a:r>
            <a:r>
              <a:rPr lang="en-US" altLang="zh-CN" sz="1000" b="1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91.75%</a:t>
            </a:r>
            <a:r>
              <a:rPr lang="en-US" sz="10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；</a:t>
            </a:r>
            <a:endParaRPr lang="en-US" sz="1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10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· </a:t>
            </a:r>
            <a:r>
              <a:rPr lang="en-US" sz="1000" b="1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结论：我方漏识别更少，整体覆盖更优。</a:t>
            </a:r>
            <a:endParaRPr lang="en-US" sz="1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s2-bar">
            <a:extLst>
              <a:ext uri="{FF2B5EF4-FFF2-40B4-BE49-F238E27FC236}">
                <a16:creationId xmlns:a16="http://schemas.microsoft.com/office/drawing/2014/main" id="{3EF311C5-A842-495C-80F3-49CB168143DC}"/>
              </a:ext>
            </a:extLst>
          </p:cNvPr>
          <p:cNvSpPr/>
          <p:nvPr/>
        </p:nvSpPr>
        <p:spPr>
          <a:xfrm>
            <a:off x="6149915" y="1309298"/>
            <a:ext cx="50800" cy="1651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10" name="s2-title">
            <a:extLst>
              <a:ext uri="{FF2B5EF4-FFF2-40B4-BE49-F238E27FC236}">
                <a16:creationId xmlns:a16="http://schemas.microsoft.com/office/drawing/2014/main" id="{D9712529-D71E-49C2-ABBB-91A6CB6E991B}"/>
              </a:ext>
            </a:extLst>
          </p:cNvPr>
          <p:cNvSpPr txBox="1"/>
          <p:nvPr/>
        </p:nvSpPr>
        <p:spPr>
          <a:xfrm>
            <a:off x="6302315" y="1271198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lang="en-US" sz="14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二、共认贷款标签一致性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1" name="matrix">
            <a:extLst>
              <a:ext uri="{FF2B5EF4-FFF2-40B4-BE49-F238E27FC236}">
                <a16:creationId xmlns:a16="http://schemas.microsoft.com/office/drawing/2014/main" id="{5CF3F3CF-5BC2-403F-A4F6-1E25D562E910}"/>
              </a:ext>
            </a:extLst>
          </p:cNvPr>
          <p:cNvGraphicFramePr>
            <a:graphicFrameLocks noGrp="1"/>
          </p:cNvGraphicFramePr>
          <p:nvPr/>
        </p:nvGraphicFramePr>
        <p:xfrm>
          <a:off x="6149915" y="1588698"/>
          <a:ext cx="5232400" cy="800100"/>
        </p:xfrm>
        <a:graphic>
          <a:graphicData uri="http://schemas.openxmlformats.org/drawingml/2006/table">
            <a:tbl>
              <a:tblPr/>
              <a:tblGrid>
                <a:gridCol w="14650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57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557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557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66700">
                <a:tc>
                  <a:txBody>
                    <a:bodyPr/>
                    <a:lstStyle/>
                    <a:p>
                      <a:pPr algn="ctr"/>
                      <a:r>
                        <a:rPr lang="en-US" sz="9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illion ＼ F</a:t>
                      </a:r>
                      <a:r>
                        <a:rPr lang="en-US" altLang="zh-CN" sz="9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inv</a:t>
                      </a:r>
                      <a:endParaRPr lang="en-US" sz="900" b="1" noProof="1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F</a:t>
                      </a:r>
                      <a:r>
                        <a:rPr lang="en-US" altLang="zh-CN" sz="9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inv</a:t>
                      </a:r>
                      <a:r>
                        <a:rPr lang="en-US" sz="9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SACC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F</a:t>
                      </a:r>
                      <a:r>
                        <a:rPr lang="en-US" altLang="zh-CN" sz="9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inv</a:t>
                      </a:r>
                      <a:r>
                        <a:rPr lang="en-US" sz="9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Non-SACC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F</a:t>
                      </a:r>
                      <a:r>
                        <a:rPr lang="en-US" altLang="zh-CN" sz="9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inv</a:t>
                      </a:r>
                      <a:r>
                        <a:rPr lang="en-US" sz="9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Unknown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lang="en-US" sz="10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illion SACC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60.0%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20.8%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18.3%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lang="en-US" sz="10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illion Non-SACC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2.2%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noProof="1">
                          <a:solidFill>
                            <a:srgbClr val="D6A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93.4%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2.9%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2" name="matrix-note">
            <a:extLst>
              <a:ext uri="{FF2B5EF4-FFF2-40B4-BE49-F238E27FC236}">
                <a16:creationId xmlns:a16="http://schemas.microsoft.com/office/drawing/2014/main" id="{E1E9BEED-7352-4D64-BBC6-7B0CDB54C124}"/>
              </a:ext>
            </a:extLst>
          </p:cNvPr>
          <p:cNvSpPr txBox="1"/>
          <p:nvPr/>
        </p:nvSpPr>
        <p:spPr>
          <a:xfrm>
            <a:off x="6175315" y="2651062"/>
            <a:ext cx="52324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0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· illion 的 SACC 标记中 </a:t>
            </a:r>
            <a:r>
              <a:rPr lang="en-US" sz="1000" b="1" noProof="1">
                <a:solidFill>
                  <a:srgbClr val="D6A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39.1%</a:t>
            </a:r>
            <a:r>
              <a:rPr lang="en-US" sz="10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被F</a:t>
            </a:r>
            <a:r>
              <a:rPr lang="en-US" altLang="zh-CN" sz="10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inv</a:t>
            </a:r>
            <a:r>
              <a:rPr lang="en-US" sz="10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修正</a:t>
            </a:r>
            <a:r>
              <a:rPr lang="zh-CN" altLang="en-US" sz="10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sz="10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过分类明显；</a:t>
            </a:r>
            <a:endParaRPr lang="en-US" sz="1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10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· F</a:t>
            </a:r>
            <a:r>
              <a:rPr lang="en-US" altLang="zh-CN" sz="10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inv</a:t>
            </a:r>
            <a:r>
              <a:rPr lang="en-US" sz="10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Non-SACC 与 illion 一致率 </a:t>
            </a:r>
            <a:r>
              <a:rPr lang="en-US" sz="1000" b="1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93.4%</a:t>
            </a:r>
            <a:r>
              <a:rPr lang="en-US" sz="10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，分类更稳健;</a:t>
            </a:r>
          </a:p>
          <a:p>
            <a:pPr>
              <a:lnSpc>
                <a:spcPct val="150000"/>
              </a:lnSpc>
              <a:spcBef>
                <a:spcPts val="300"/>
              </a:spcBef>
            </a:pPr>
            <a:r>
              <a:rPr lang="en-US" altLang="zh-CN" sz="10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· </a:t>
            </a:r>
            <a:r>
              <a:rPr lang="zh-CN" altLang="en-US" sz="10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整体贷款标签（</a:t>
            </a:r>
            <a:r>
              <a:rPr lang="en-US" altLang="zh-CN" sz="10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SACC&amp; Non-SACC</a:t>
            </a:r>
            <a:r>
              <a:rPr lang="zh-CN" altLang="en-US" sz="10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）上的一致率为 </a:t>
            </a:r>
            <a:r>
              <a:rPr lang="en-US" altLang="zh-CN" sz="1000" b="1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90.7%</a:t>
            </a:r>
            <a:r>
              <a:rPr lang="en-US" altLang="zh-CN" sz="10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;</a:t>
            </a: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endParaRPr lang="en-US" sz="1000" noProof="1">
              <a:solidFill>
                <a:srgbClr val="3D3C3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mid-divider">
            <a:extLst>
              <a:ext uri="{FF2B5EF4-FFF2-40B4-BE49-F238E27FC236}">
                <a16:creationId xmlns:a16="http://schemas.microsoft.com/office/drawing/2014/main" id="{10BC6DBA-D788-4E7C-9D13-A6EC2F8D30E4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eyJ2aWV3Qm94IjpbODU2LDFdLCJwb2ludHMiOiIwLDAgODU2LDAifQ</pptd:line>
              </p:ext>
            </p:extLst>
          </p:nvPr>
        </p:nvSpPr>
        <p:spPr>
          <a:xfrm>
            <a:off x="511115" y="3417498"/>
            <a:ext cx="10871200" cy="12700"/>
          </a:xfrm>
          <a:custGeom>
            <a:avLst/>
            <a:gdLst/>
            <a:ahLst/>
            <a:cxnLst/>
            <a:rect l="l" t="t" r="r" b="b"/>
            <a:pathLst>
              <a:path w="856" h="1">
                <a:moveTo>
                  <a:pt x="0" y="0"/>
                </a:moveTo>
                <a:lnTo>
                  <a:pt x="85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14" name="s3-bar">
            <a:extLst>
              <a:ext uri="{FF2B5EF4-FFF2-40B4-BE49-F238E27FC236}">
                <a16:creationId xmlns:a16="http://schemas.microsoft.com/office/drawing/2014/main" id="{9B62AF1F-24D6-49B3-B151-5590DBCE60FE}"/>
              </a:ext>
            </a:extLst>
          </p:cNvPr>
          <p:cNvSpPr/>
          <p:nvPr/>
        </p:nvSpPr>
        <p:spPr>
          <a:xfrm>
            <a:off x="511115" y="3595298"/>
            <a:ext cx="50800" cy="1651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15" name="s3-title">
            <a:extLst>
              <a:ext uri="{FF2B5EF4-FFF2-40B4-BE49-F238E27FC236}">
                <a16:creationId xmlns:a16="http://schemas.microsoft.com/office/drawing/2014/main" id="{E339A03A-DC08-48BA-A556-927F773CAA23}"/>
              </a:ext>
            </a:extLst>
          </p:cNvPr>
          <p:cNvSpPr txBox="1"/>
          <p:nvPr/>
        </p:nvSpPr>
        <p:spPr>
          <a:xfrm>
            <a:off x="663515" y="3557198"/>
            <a:ext cx="635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lang="en-US" sz="14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三、典型案例：覆盖 → 一致性 → 精度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6" name="cases-table">
            <a:extLst>
              <a:ext uri="{FF2B5EF4-FFF2-40B4-BE49-F238E27FC236}">
                <a16:creationId xmlns:a16="http://schemas.microsoft.com/office/drawing/2014/main" id="{96151FB9-F604-4371-AD9F-23D3B035C44F}"/>
              </a:ext>
            </a:extLst>
          </p:cNvPr>
          <p:cNvGraphicFramePr>
            <a:graphicFrameLocks noGrp="1"/>
          </p:cNvGraphicFramePr>
          <p:nvPr/>
        </p:nvGraphicFramePr>
        <p:xfrm>
          <a:off x="511115" y="3849298"/>
          <a:ext cx="10871201" cy="2629154"/>
        </p:xfrm>
        <a:graphic>
          <a:graphicData uri="http://schemas.openxmlformats.org/drawingml/2006/table">
            <a:tbl>
              <a:tblPr/>
              <a:tblGrid>
                <a:gridCol w="9784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9397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939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0484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1376">
                <a:tc>
                  <a:txBody>
                    <a:bodyPr/>
                    <a:lstStyle/>
                    <a:p>
                      <a:pPr algn="l">
                        <a:lnSpc>
                          <a:spcPct val="145000"/>
                        </a:lnSpc>
                      </a:pPr>
                      <a:endParaRPr lang="en-US" sz="1050" noProof="1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45000"/>
                        </a:lnSpc>
                      </a:pPr>
                      <a:r>
                        <a:rPr lang="en-US" sz="105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Case 1 · 覆盖优势（Home Loan）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45000"/>
                        </a:lnSpc>
                      </a:pPr>
                      <a:r>
                        <a:rPr lang="en-US" sz="105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Case 2 · 分类一致性（MoneySpot）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45000"/>
                        </a:lnSpc>
                      </a:pPr>
                      <a:r>
                        <a:rPr lang="en-US" sz="105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Case 3 · 分类精度（Credit24）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2752">
                <a:tc>
                  <a:txBody>
                    <a:bodyPr/>
                    <a:lstStyle/>
                    <a:p>
                      <a:pPr algn="l">
                        <a:lnSpc>
                          <a:spcPct val="145000"/>
                        </a:lnSpc>
                      </a:pPr>
                      <a:r>
                        <a:rPr lang="en-US" sz="105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问题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45000"/>
                        </a:lnSpc>
                      </a:pPr>
                      <a:r>
                        <a:rPr lang="en-US" sz="10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Home loan - Receipt ... To Orange Everyday 被 illion 标为 Internal Transfer，住房贷款完全遗漏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45000"/>
                        </a:lnSpc>
                      </a:pPr>
                      <a:r>
                        <a:rPr lang="en-US" sz="10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放款 A$750，等额还款 A$49.09 × 10；illion 前 6 笔标 SACC、后 5 笔标 Non-SACC，同一贷款流标签自相矛盾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45000"/>
                        </a:lnSpc>
                      </a:pPr>
                      <a:r>
                        <a:rPr lang="en-US" sz="10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同一用户 19 笔 Credit24 交易被 illion 全部标为 SACC Loans，循环授信（LOC）产品被泛化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29056">
                <a:tc>
                  <a:txBody>
                    <a:bodyPr/>
                    <a:lstStyle/>
                    <a:p>
                      <a:pPr algn="l">
                        <a:lnSpc>
                          <a:spcPct val="145000"/>
                        </a:lnSpc>
                      </a:pPr>
                      <a:r>
                        <a:rPr lang="en-US" sz="105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我方逻辑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45000"/>
                        </a:lnSpc>
                      </a:pPr>
                      <a:r>
                        <a:rPr lang="en-US" sz="10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基于 Home loan 产品关键词判定为贷款，细分为 Non-SACC Loans（Home Loan）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45000"/>
                        </a:lnSpc>
                      </a:pPr>
                      <a:r>
                        <a:rPr lang="en-US" sz="10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放款与还款匹配为单一贷款流；依据小额、等额、高频特征及机构类型统一判定为 SACC Loans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45000"/>
                        </a:lnSpc>
                      </a:pPr>
                      <a:r>
                        <a:rPr lang="en-US" sz="10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结合交易模式与机构产品库识别为循环授信（LOC），归入 Non-SACC Loans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 algn="l">
                        <a:lnSpc>
                          <a:spcPct val="145000"/>
                        </a:lnSpc>
                      </a:pPr>
                      <a:r>
                        <a:rPr lang="en-US" sz="105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价值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45000"/>
                        </a:lnSpc>
                      </a:pPr>
                      <a:r>
                        <a:rPr lang="en-US" sz="10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产品词库捕捉 illion 覆盖盲区，扩大贷款识别面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45000"/>
                        </a:lnSpc>
                      </a:pPr>
                      <a:r>
                        <a:rPr lang="en-US" sz="10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贷款流粒度分类一致，纠正 illion 的碎片化误判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45000"/>
                        </a:lnSpc>
                      </a:pPr>
                      <a:r>
                        <a:rPr lang="en-US" sz="10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区分 LOC 与 SACC（监管属性、利率上限本质不同），避免非 SACC 误判为高风险 SACC，为风控提供更准确信号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03157768"/>
      </p:ext>
    </p:extLst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">
            <a:extLst>
              <a:ext uri="{FF2B5EF4-FFF2-40B4-BE49-F238E27FC236}">
                <a16:creationId xmlns:a16="http://schemas.microsoft.com/office/drawing/2014/main" id="{6B628A69-E5D3-471C-9634-C9CEEE71D7D5}"/>
              </a:ext>
            </a:extLst>
          </p:cNvPr>
          <p:cNvSpPr txBox="1"/>
          <p:nvPr/>
        </p:nvSpPr>
        <p:spPr>
          <a:xfrm>
            <a:off x="600015" y="214702"/>
            <a:ext cx="889000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20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标题待定</a:t>
            </a:r>
            <a:endParaRPr lang="en-US" sz="2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divider">
            <a:extLst>
              <a:ext uri="{FF2B5EF4-FFF2-40B4-BE49-F238E27FC236}">
                <a16:creationId xmlns:a16="http://schemas.microsoft.com/office/drawing/2014/main" id="{DA310045-390A-4F12-B24A-86F975121384}"/>
              </a:ext>
            </a:extLst>
          </p:cNvPr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eyJ2aWV3Qm94IjpbODU2LDFdLCJwb2ludHMiOiIwLDAgODU2LDAifQ</pptd:line>
              </p:ext>
            </p:extLst>
          </p:nvPr>
        </p:nvSpPr>
        <p:spPr>
          <a:xfrm>
            <a:off x="511115" y="1191643"/>
            <a:ext cx="10871200" cy="12700"/>
          </a:xfrm>
          <a:custGeom>
            <a:avLst/>
            <a:gdLst/>
            <a:ahLst/>
            <a:cxnLst/>
            <a:rect l="l" t="t" r="r" b="b"/>
            <a:pathLst>
              <a:path w="856" h="1">
                <a:moveTo>
                  <a:pt x="0" y="0"/>
                </a:moveTo>
                <a:lnTo>
                  <a:pt x="85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374</TotalTime>
  <Words>1081</Words>
  <Application>Microsoft Office PowerPoint</Application>
  <PresentationFormat>宽屏</PresentationFormat>
  <Paragraphs>219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8" baseType="lpstr">
      <vt:lpstr>Arial</vt:lpstr>
      <vt:lpstr>微软雅黑</vt:lpstr>
      <vt:lpstr>微软雅黑 Light</vt:lpstr>
      <vt:lpstr>Office 主题​​</vt:lpstr>
      <vt:lpstr>PowerPoint 演示文稿</vt:lpstr>
      <vt:lpstr>PowerPoint 演示文稿</vt:lpstr>
      <vt:lpstr>PowerPoint 演示文稿</vt:lpstr>
      <vt:lpstr>PowerPoint 演示文稿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银行流水识别与信审决策</dc:title>
  <dc:subject>银行流水识别与信审决策</dc:subject>
  <dc:creator>Kimi</dc:creator>
  <cp:lastModifiedBy>张昱良-Eliam</cp:lastModifiedBy>
  <cp:revision>64</cp:revision>
  <dcterms:modified xsi:type="dcterms:W3CDTF">2026-08-07T10:20:30Z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银行流水识别与信审决策","ContentProducer":"001191110108MACG2KBH8F10000","ProduceID":"19fd57ab-32b2-8dc3-8000-000021f6677f","ReservedCode1":"","ContentPropagator":"001191110108MACG2KBH8F20000","PropagateID":"19fd5750-12b2-8d03-8000-09de61760ce3","ReservedCode2":""}</vt:lpwstr>
  </property>
</Properties>
</file>