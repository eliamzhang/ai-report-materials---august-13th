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0" r:id="rId1"/>
  </p:sldMasterIdLst>
  <p:sldIdLst>
    <p:sldId id="260" r:id="rId2"/>
    <p:sldId id="269" r:id="rId3"/>
    <p:sldId id="267" r:id="rId4"/>
    <p:sldId id="268" r:id="rId5"/>
  </p:sldIdLst>
  <p:sldSz cx="12192000" cy="6858000"/>
  <p:notesSz cx="12192000" cy="6858000"/>
  <p:embeddedFontLst>
    <p:embeddedFont>
      <p:font typeface="微软雅黑" panose="020B0503020204020204" pitchFamily="34" charset="-122"/>
      <p:regular r:id="rId6"/>
      <p:bold r:id="rId7"/>
    </p:embeddedFont>
    <p:embeddedFont>
      <p:font typeface="微软雅黑 Light" panose="020B0502040204020203" pitchFamily="34" charset="-122"/>
      <p:regular r:id="rId8"/>
    </p:embeddedFont>
    <p:embeddedFont>
      <p:font typeface="等线" panose="02010600030101010101" pitchFamily="2" charset="-122"/>
      <p:regular r:id="rId9"/>
      <p:bold r:id="rId1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plist" id="{B3605CEF-5BC4-40B4-8F96-9FBCAEE09C7D}">
          <p14:sldIdLst/>
        </p14:section>
        <p14:section name="sms" id="{BFC3A2BC-87CF-4514-9F88-2C86509F7121}">
          <p14:sldIdLst/>
        </p14:section>
        <p14:section name="银行流水" id="{C38B6FF6-1B3C-4CE4-AEDB-5CB84D573A5E}">
          <p14:sldIdLst>
            <p14:sldId id="260"/>
            <p14:sldId id="269"/>
            <p14:sldId id="267"/>
            <p14:sldId id="268"/>
          </p14:sldIdLst>
        </p14:section>
        <p14:section name="变量挖掘" id="{2D9F7100-66E6-477C-9DC3-FDDECD214F6C}">
          <p14:sldIdLst/>
        </p14:section>
        <p14:section name="draft" id="{A40B931D-2D60-49C2-9CF0-5684BA0EC20D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93B4A"/>
    <a:srgbClr val="5764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731" autoAdjust="0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186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4" d="100"/>
        <a:sy n="104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font" Target="fonts/font1.fntdata"/><Relationship Id="rId7" Type="http://schemas.openxmlformats.org/officeDocument/2006/relationships/font" Target="fonts/font2.fntdata"/><Relationship Id="rId8" Type="http://schemas.openxmlformats.org/officeDocument/2006/relationships/font" Target="fonts/font3.fntdata"/><Relationship Id="rId9" Type="http://schemas.openxmlformats.org/officeDocument/2006/relationships/font" Target="fonts/font4.fntdata"/><Relationship Id="rId10" Type="http://schemas.openxmlformats.org/officeDocument/2006/relationships/font" Target="fonts/font5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Finv独有</c:v>
                </c:pt>
              </c:strCache>
            </c:strRef>
          </c:tx>
          <c:spPr>
            <a:solidFill>
              <a:srgbClr val="0A0A0A"/>
            </a:solidFill>
          </c:spPr>
          <c:invertIfNegative val="1"/>
          <c:dLbls>
            <c:dLbl>
              <c:idx val="0"/>
              <c:layout>
                <c:manualLayout>
                  <c:x val="1.1904761904761899E-2"/>
                  <c:y val="-3.0968110722210795E-17"/>
                </c:manualLayout>
              </c:layout>
              <c:tx>
                <c:rich>
                  <a:bodyPr/>
                  <a:lstStyle/>
                  <a:p>
                    <a:r>
                      <a:rPr lang="en-US" altLang="zh-CN"/>
                      <a:t>6.88%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D526-4E6B-AB7A-0BFC9A400F84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solidFill>
                      <a:schemeClr val="bg1"/>
                    </a:solidFill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贷款识别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396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E65-4694-A153-D0117E09409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双方共认</c:v>
                </c:pt>
              </c:strCache>
            </c:strRef>
          </c:tx>
          <c:spPr>
            <a:solidFill>
              <a:srgbClr val="A7A7A7"/>
            </a:solidFill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pPr>
                      <a:defRPr sz="1100"/>
                    </a:pPr>
                    <a:r>
                      <a:rPr lang="en-US" altLang="zh-CN" dirty="0"/>
                      <a:t>91.75%</a:t>
                    </a:r>
                  </a:p>
                </c:rich>
              </c:tx>
              <c:numFmt formatCode="#,##0" sourceLinked="0"/>
              <c:spPr>
                <a:noFill/>
                <a:ln>
                  <a:noFill/>
                </a:ln>
                <a:effectLst/>
              </c:sp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6E65-4694-A153-D0117E094090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贷款识别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5284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6E65-4694-A153-D0117E09409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Illion 独有</c:v>
                </c:pt>
              </c:strCache>
            </c:strRef>
          </c:tx>
          <c:spPr>
            <a:solidFill>
              <a:srgbClr val="D6D6D6"/>
            </a:solidFill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/>
                      <a:t>1.37%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D526-4E6B-AB7A-0BFC9A400F84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/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贷款识别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79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6E65-4694-A153-D0117E0940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6"/>
        <c:overlap val="100"/>
        <c:axId val="1"/>
        <c:axId val="2"/>
      </c:barChart>
      <c:catAx>
        <c:axId val="1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low"/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6000"/>
          <c:min val="0"/>
        </c:scaling>
        <c:delete val="1"/>
        <c:axPos val="b"/>
        <c:majorGridlines>
          <c:spPr>
            <a:ln w="12700">
              <a:solidFill>
                <a:srgbClr val="E0E6F1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crossAx val="1"/>
        <c:crosses val="autoZero"/>
        <c:crossBetween val="between"/>
        <c:majorUnit val="1000"/>
      </c:valAx>
      <c:spPr>
        <a:noFill/>
        <a:ln>
          <a:noFill/>
        </a:ln>
      </c:spPr>
    </c:plotArea>
    <c:legend>
      <c:legendPos val="b"/>
      <c:overlay val="0"/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b="0" i="0" u="none" strike="noStrike" noProof="1"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24"/>
          <p:cNvSpPr/>
          <p:nvPr userDrawn="1"/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rgbClr val="555E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微软雅黑" panose="020B0503020204020204" pitchFamily="34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3" hasCustomPrompt="1"/>
          </p:nvPr>
        </p:nvSpPr>
        <p:spPr>
          <a:xfrm>
            <a:off x="281657" y="4103406"/>
            <a:ext cx="11008067" cy="644301"/>
          </a:xfrm>
        </p:spPr>
        <p:txBody>
          <a:bodyPr/>
          <a:lstStyle>
            <a:lvl1pPr marL="0" indent="0">
              <a:buFontTx/>
              <a:buNone/>
              <a:defRPr kumimoji="1" lang="zh-CN" altLang="en-US" sz="4400" kern="12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kumimoji="1" lang="zh-CN" altLang="en-US" dirty="0"/>
              <a:t>课件标题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06895" y="4877649"/>
            <a:ext cx="9144000" cy="425221"/>
          </a:xfrm>
        </p:spPr>
        <p:txBody>
          <a:bodyPr/>
          <a:lstStyle>
            <a:lvl1pPr marL="0" indent="0" algn="l">
              <a:buFontTx/>
              <a:buNone/>
              <a:defRPr lang="zh-CN" altLang="en-US" sz="2800" kern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indent="0">
              <a:buFontTx/>
              <a:buNone/>
            </a:pPr>
            <a:r>
              <a:rPr lang="zh-CN" altLang="en-US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副标题：副标题副标题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14" hasCustomPrompt="1"/>
          </p:nvPr>
        </p:nvSpPr>
        <p:spPr>
          <a:xfrm>
            <a:off x="334327" y="6162648"/>
            <a:ext cx="7553198" cy="324196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1" lang="zh-CN" altLang="en-US" sz="1800" kern="12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来自部门：</a:t>
            </a:r>
            <a:r>
              <a:rPr kumimoji="1"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XXXXX</a:t>
            </a: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分享人：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XXX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endParaRPr kumimoji="1"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13" name="直接连接符 23"/>
          <p:cNvCxnSpPr/>
          <p:nvPr userDrawn="1"/>
        </p:nvCxnSpPr>
        <p:spPr>
          <a:xfrm flipH="1">
            <a:off x="338667" y="5912442"/>
            <a:ext cx="11514666" cy="0"/>
          </a:xfrm>
          <a:prstGeom prst="line">
            <a:avLst/>
          </a:prstGeom>
          <a:ln w="9525">
            <a:solidFill>
              <a:schemeClr val="bg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59745"/>
            <a:ext cx="649062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19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图片占位符 33"/>
          <p:cNvSpPr>
            <a:spLocks noGrp="1"/>
          </p:cNvSpPr>
          <p:nvPr>
            <p:ph type="pic" sz="quarter" idx="14"/>
          </p:nvPr>
        </p:nvSpPr>
        <p:spPr>
          <a:xfrm>
            <a:off x="0" y="-1588"/>
            <a:ext cx="12192000" cy="411321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kumimoji="1"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20" name="Прямоугольник 20"/>
          <p:cNvSpPr/>
          <p:nvPr userDrawn="1"/>
        </p:nvSpPr>
        <p:spPr>
          <a:xfrm>
            <a:off x="-369" y="-1756"/>
            <a:ext cx="12191382" cy="4112997"/>
          </a:xfrm>
          <a:prstGeom prst="rect">
            <a:avLst/>
          </a:prstGeom>
          <a:solidFill>
            <a:srgbClr val="555E6B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 dirty="0">
              <a:latin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 flipH="1">
            <a:off x="338667" y="6374454"/>
            <a:ext cx="11514666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8841" y="1762188"/>
            <a:ext cx="10515600" cy="1325563"/>
          </a:xfrm>
        </p:spPr>
        <p:txBody>
          <a:bodyPr>
            <a:normAutofit/>
          </a:bodyPr>
          <a:lstStyle>
            <a:lvl1pPr>
              <a:defRPr sz="3300" b="1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2" name="内容占位符 31"/>
          <p:cNvSpPr>
            <a:spLocks noGrp="1"/>
          </p:cNvSpPr>
          <p:nvPr>
            <p:ph sz="quarter" idx="13" hasCustomPrompt="1"/>
          </p:nvPr>
        </p:nvSpPr>
        <p:spPr>
          <a:xfrm>
            <a:off x="1078841" y="1456274"/>
            <a:ext cx="9317228" cy="59372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3200" b="1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38" name="文本占位符 35"/>
          <p:cNvSpPr>
            <a:spLocks noGrp="1"/>
          </p:cNvSpPr>
          <p:nvPr>
            <p:ph type="body" sz="quarter" idx="16" hasCustomPrompt="1"/>
          </p:nvPr>
        </p:nvSpPr>
        <p:spPr>
          <a:xfrm>
            <a:off x="7062258" y="6437312"/>
            <a:ext cx="4791075" cy="420688"/>
          </a:xfrm>
        </p:spPr>
        <p:txBody>
          <a:bodyPr/>
          <a:lstStyle>
            <a:lvl1pPr marL="0" indent="0" algn="r">
              <a:buNone/>
              <a:defRPr kumimoji="1"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indent="0">
              <a:buNone/>
            </a:pPr>
            <a:r>
              <a:rPr kumimoji="1"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01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59745"/>
            <a:ext cx="649062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296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4"/>
          <p:cNvSpPr/>
          <p:nvPr userDrawn="1"/>
        </p:nvSpPr>
        <p:spPr>
          <a:xfrm>
            <a:off x="0" y="0"/>
            <a:ext cx="239045" cy="367749"/>
          </a:xfrm>
          <a:custGeom>
            <a:avLst/>
            <a:gdLst>
              <a:gd name="connsiteX0" fmla="*/ 0 w 239045"/>
              <a:gd name="connsiteY0" fmla="*/ 0 h 360000"/>
              <a:gd name="connsiteX1" fmla="*/ 239045 w 239045"/>
              <a:gd name="connsiteY1" fmla="*/ 0 h 360000"/>
              <a:gd name="connsiteX2" fmla="*/ 239045 w 239045"/>
              <a:gd name="connsiteY2" fmla="*/ 360000 h 360000"/>
              <a:gd name="connsiteX3" fmla="*/ 0 w 239045"/>
              <a:gd name="connsiteY3" fmla="*/ 360000 h 360000"/>
              <a:gd name="connsiteX4" fmla="*/ 0 w 239045"/>
              <a:gd name="connsiteY4" fmla="*/ 0 h 360000"/>
              <a:gd name="connsiteX0-1" fmla="*/ 0 w 239045"/>
              <a:gd name="connsiteY0-2" fmla="*/ 0 h 367749"/>
              <a:gd name="connsiteX1-3" fmla="*/ 239045 w 239045"/>
              <a:gd name="connsiteY1-4" fmla="*/ 0 h 367749"/>
              <a:gd name="connsiteX2-5" fmla="*/ 122808 w 239045"/>
              <a:gd name="connsiteY2-6" fmla="*/ 367749 h 367749"/>
              <a:gd name="connsiteX3-7" fmla="*/ 0 w 239045"/>
              <a:gd name="connsiteY3-8" fmla="*/ 360000 h 367749"/>
              <a:gd name="connsiteX4-9" fmla="*/ 0 w 239045"/>
              <a:gd name="connsiteY4-10" fmla="*/ 0 h 3677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39045" h="367749">
                <a:moveTo>
                  <a:pt x="0" y="0"/>
                </a:moveTo>
                <a:lnTo>
                  <a:pt x="239045" y="0"/>
                </a:lnTo>
                <a:lnTo>
                  <a:pt x="122808" y="367749"/>
                </a:lnTo>
                <a:lnTo>
                  <a:pt x="0" y="360000"/>
                </a:lnTo>
                <a:lnTo>
                  <a:pt x="0" y="0"/>
                </a:lnTo>
                <a:close/>
              </a:path>
            </a:pathLst>
          </a:custGeom>
          <a:solidFill>
            <a:srgbClr val="C93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49131"/>
            <a:ext cx="660090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928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7AD42BD-1FBD-44F7-9A13-C1B5CA8D05F7}"/>
              </a:ext>
            </a:extLst>
          </p:cNvPr>
          <p:cNvSpPr/>
          <p:nvPr userDrawn="1"/>
        </p:nvSpPr>
        <p:spPr>
          <a:xfrm>
            <a:off x="284672" y="204548"/>
            <a:ext cx="129692" cy="369332"/>
          </a:xfrm>
          <a:prstGeom prst="rect">
            <a:avLst/>
          </a:prstGeom>
          <a:solidFill>
            <a:srgbClr val="C93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5455C4-DFF3-49B3-A21F-FE65974F3D07}"/>
              </a:ext>
            </a:extLst>
          </p:cNvPr>
          <p:cNvSpPr/>
          <p:nvPr userDrawn="1"/>
        </p:nvSpPr>
        <p:spPr>
          <a:xfrm>
            <a:off x="284672" y="627089"/>
            <a:ext cx="129017" cy="369332"/>
          </a:xfrm>
          <a:prstGeom prst="rect">
            <a:avLst/>
          </a:prstGeom>
          <a:solidFill>
            <a:srgbClr val="576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637A9E-CBFD-49AA-A280-5A41FC63490E}"/>
              </a:ext>
            </a:extLst>
          </p:cNvPr>
          <p:cNvSpPr txBox="1"/>
          <p:nvPr userDrawn="1"/>
        </p:nvSpPr>
        <p:spPr>
          <a:xfrm>
            <a:off x="607168" y="195922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FD0922C-CCA6-4F43-A0D1-C4E56DE4F58F}"/>
              </a:ext>
            </a:extLst>
          </p:cNvPr>
          <p:cNvSpPr txBox="1"/>
          <p:nvPr userDrawn="1"/>
        </p:nvSpPr>
        <p:spPr>
          <a:xfrm>
            <a:off x="607168" y="620360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0D58DD0-4F1D-47D9-A6E6-4433202EB9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195922"/>
            <a:ext cx="660090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554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49131"/>
            <a:ext cx="660090" cy="421200"/>
          </a:xfrm>
          <a:prstGeom prst="rect">
            <a:avLst/>
          </a:prstGeom>
        </p:spPr>
      </p:pic>
      <p:sp>
        <p:nvSpPr>
          <p:cNvPr id="6" name="Прямоугольник 24"/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555E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160000" y="259745"/>
            <a:ext cx="649062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14122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B68A51D-33DD-5B4A-A86B-549782FCD6DF}" type="datetimeFigureOut">
              <a:rPr kumimoji="1" lang="zh-CN" altLang="en-US" smtClean="0"/>
              <a:pPr/>
              <a:t>2026/8/9</a:t>
            </a:fld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DA5CA41-69F7-7948-A690-E401A3852CA3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1804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B628A69-E5D3-471C-9634-C9CEEE71D7D5}"/>
              </a:ext>
            </a:extLst>
          </p:cNvPr>
          <p:cNvSpPr txBox="1"/>
          <p:nvPr/>
        </p:nvSpPr>
        <p:spPr>
          <a:xfrm>
            <a:off x="600015" y="214702"/>
            <a:ext cx="8890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20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流水识别决定收入、支出与负债计算结果，是信审判断的直接输入</a:t>
            </a:r>
            <a:endParaRPr lang="en-US" sz="2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F27900C-2E0B-4FBB-B7B0-DBD3BB995BF6}"/>
              </a:ext>
            </a:extLst>
          </p:cNvPr>
          <p:cNvSpPr txBox="1"/>
          <p:nvPr/>
        </p:nvSpPr>
        <p:spPr>
          <a:xfrm>
            <a:off x="511115" y="562682"/>
            <a:ext cx="10901632" cy="438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altLang="zh-CN" sz="1300" b="0" noProof="1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客户有多少稳定收入、承担多少必要支出、正在偿还哪些贷款，以及是否具备新增还款能力。</a:t>
            </a:r>
            <a:endParaRPr lang="en-US" altLang="zh-CN" sz="18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divider">
            <a:extLst>
              <a:ext uri="{FF2B5EF4-FFF2-40B4-BE49-F238E27FC236}">
                <a16:creationId xmlns:a16="http://schemas.microsoft.com/office/drawing/2014/main" id="{DA310045-390A-4F12-B24A-86F975121384}"/>
              </a:ext>
            </a:extLst>
          </p:cNvPr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eyJ2aWV3Qm94IjpbODU2LDFdLCJwb2ludHMiOiIwLDAgODU2LDAifQ</pptd:line>
              </p:ext>
            </p:extLst>
          </p:nvPr>
        </p:nvSpPr>
        <p:spPr>
          <a:xfrm>
            <a:off x="511115" y="1191643"/>
            <a:ext cx="10871200" cy="12700"/>
          </a:xfrm>
          <a:custGeom>
            <a:avLst/>
            <a:gdLst/>
            <a:ahLst/>
            <a:cxnLst/>
            <a:rect l="l" t="t" r="r" b="b"/>
            <a:pathLst>
              <a:path w="856" h="1">
                <a:moveTo>
                  <a:pt x="0" y="0"/>
                </a:moveTo>
                <a:lnTo>
                  <a:pt x="856" y="0"/>
                </a:lnTo>
              </a:path>
            </a:pathLst>
          </a:custGeom>
          <a:noFill/>
          <a:ln w="9525" cap="rnd">
            <a:solidFill>
              <a:srgbClr val="D6D6D6"/>
            </a:solidFill>
            <a:round/>
          </a:ln>
        </p:spPr>
      </p:sp>
      <p:sp>
        <p:nvSpPr>
          <p:cNvPr id="7" name="Rectangle 6"/>
          <p:cNvSpPr/>
          <p:nvPr/>
        </p:nvSpPr>
        <p:spPr>
          <a:xfrm>
            <a:off x="512064" y="1078992"/>
            <a:ext cx="11173968" cy="566928"/>
          </a:xfrm>
          <a:prstGeom prst="rect">
            <a:avLst/>
          </a:prstGeom>
          <a:solidFill>
            <a:srgbClr val="EF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" y="1133856"/>
            <a:ext cx="1595628" cy="457200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133856"/>
            <a:ext cx="15956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A0A0A"/>
                </a:solidFill>
                <a:latin typeface="微软雅黑"/>
              </a:rPr>
              <a:t>用户申请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7692" y="1207008"/>
            <a:ext cx="3200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D6A000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7732" y="1133856"/>
            <a:ext cx="1595628" cy="457200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7732" y="1133856"/>
            <a:ext cx="15956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A0A0A"/>
                </a:solidFill>
                <a:latin typeface="微软雅黑"/>
              </a:rPr>
              <a:t>银行卡绑定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1207008"/>
            <a:ext cx="3200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D6A000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133856"/>
            <a:ext cx="1595628" cy="457200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133856"/>
            <a:ext cx="15956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A0A0A"/>
                </a:solidFill>
                <a:latin typeface="微软雅黑"/>
              </a:rPr>
              <a:t>数据解析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39028" y="1207008"/>
            <a:ext cx="3200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D6A000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59068" y="1133856"/>
            <a:ext cx="1595628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9068" y="1133856"/>
            <a:ext cx="15956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银行流水识别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54696" y="1207008"/>
            <a:ext cx="3200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D6A000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74736" y="1133856"/>
            <a:ext cx="1595628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1133856"/>
            <a:ext cx="15956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Serviceability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70364" y="1207008"/>
            <a:ext cx="3200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D6A000"/>
                </a:solidFill>
                <a:latin typeface="微软雅黑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90404" y="1133856"/>
            <a:ext cx="1595628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90404" y="1133856"/>
            <a:ext cx="15956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信审决策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" y="1810512"/>
            <a:ext cx="11173968" cy="65836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2064" y="1810512"/>
            <a:ext cx="1417320" cy="658368"/>
          </a:xfrm>
          <a:prstGeom prst="rect">
            <a:avLst/>
          </a:prstGeom>
          <a:solidFill>
            <a:srgbClr val="1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" y="1810512"/>
            <a:ext cx="14173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核心结论
Serviceability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1810512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Serviceability ＝ 收入 − 必要支出 − 负债还款 ＝ 客户可支配盈余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" y="2697480"/>
            <a:ext cx="64008" cy="2743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" y="2679192"/>
            <a:ext cx="4572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A0A0A"/>
                </a:solidFill>
                <a:latin typeface="微软雅黑"/>
              </a:rPr>
              <a:t>Responsible Lending 四项要求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6" y="3081528"/>
            <a:ext cx="48371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06060"/>
                </a:solidFill>
                <a:latin typeface="微软雅黑"/>
              </a:rPr>
              <a:t>依据《National Consumer Credit Protection Act 2009》及 ASIC 监管要求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0352" y="3410712"/>
            <a:ext cx="310896" cy="3108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0352" y="3410712"/>
            <a:ext cx="310896" cy="310896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3410712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" y="3383279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A0A0A"/>
                </a:solidFill>
                <a:latin typeface="微软雅黑"/>
              </a:rPr>
              <a:t>合理了解客户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976" y="3648456"/>
            <a:ext cx="4389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D3C3A"/>
                </a:solidFill>
                <a:latin typeface="微软雅黑"/>
              </a:rPr>
              <a:t>财务状况及借款目的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0352" y="4050791"/>
            <a:ext cx="310896" cy="3108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30352" y="4050791"/>
            <a:ext cx="310896" cy="310896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352" y="4050791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0976" y="4023360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A0A0A"/>
                </a:solidFill>
                <a:latin typeface="微软雅黑"/>
              </a:rPr>
              <a:t>核实收入与支出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0976" y="4288536"/>
            <a:ext cx="4389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D3C3A"/>
                </a:solidFill>
                <a:latin typeface="微软雅黑"/>
              </a:rPr>
              <a:t>必要支出、现有负债及可预见变化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0352" y="4690872"/>
            <a:ext cx="310896" cy="3108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30352" y="4690872"/>
            <a:ext cx="310896" cy="310896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0352" y="4690872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0976" y="4663440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A0A0A"/>
                </a:solidFill>
                <a:latin typeface="微软雅黑"/>
              </a:rPr>
              <a:t>评估还款能力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0976" y="4928616"/>
            <a:ext cx="4389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D3C3A"/>
                </a:solidFill>
                <a:latin typeface="微软雅黑"/>
              </a:rPr>
              <a:t>能否在不造成重大经济困难的情况下履行还款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30352" y="5330952"/>
            <a:ext cx="310896" cy="3108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30352" y="5330952"/>
            <a:ext cx="310896" cy="310896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0352" y="5330952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976" y="5303520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A0A0A"/>
                </a:solidFill>
                <a:latin typeface="微软雅黑"/>
              </a:rPr>
              <a:t>提供合适产品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0976" y="5568696"/>
            <a:ext cx="4389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D3C3A"/>
                </a:solidFill>
                <a:latin typeface="微软雅黑"/>
              </a:rPr>
              <a:t>不得提供“不适合”的信贷产品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760720" y="2697480"/>
            <a:ext cx="64008" cy="2743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97880" y="2679192"/>
            <a:ext cx="4572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A0A0A"/>
                </a:solidFill>
                <a:latin typeface="微软雅黑"/>
              </a:rPr>
              <a:t>传统第三方分类服务的主要局限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88152" y="3081528"/>
            <a:ext cx="587044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06060"/>
                </a:solidFill>
                <a:latin typeface="微软雅黑"/>
              </a:rPr>
              <a:t>当前交易分类、交易对手识别及部分 Serviceability 计算高度依赖 illion</a:t>
            </a:r>
          </a:p>
        </p:txBody>
      </p:sp>
      <p:sp>
        <p:nvSpPr>
          <p:cNvPr id="55" name="Oval 54"/>
          <p:cNvSpPr/>
          <p:nvPr/>
        </p:nvSpPr>
        <p:spPr>
          <a:xfrm>
            <a:off x="5779007" y="3429000"/>
            <a:ext cx="310896" cy="310896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779007" y="3429000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7920" y="3374136"/>
            <a:ext cx="53766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A0A0A"/>
                </a:solidFill>
                <a:latin typeface="微软雅黑"/>
              </a:rPr>
              <a:t>分类逻辑黑盒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17920" y="3630168"/>
            <a:ext cx="53766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D3C3A"/>
                </a:solidFill>
                <a:latin typeface="微软雅黑"/>
              </a:rPr>
              <a:t>问题难定位：漏识别或误分类时，无法判断是描述、映射、规则还是计算逻辑的问题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779007" y="4087368"/>
            <a:ext cx="5888736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779007" y="4270248"/>
            <a:ext cx="310896" cy="310896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779007" y="4270248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17920" y="4215383"/>
            <a:ext cx="53766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A0A0A"/>
                </a:solidFill>
                <a:latin typeface="微软雅黑"/>
              </a:rPr>
              <a:t>分类粒度不足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17920" y="4471416"/>
            <a:ext cx="53766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D3C3A"/>
                </a:solidFill>
                <a:latin typeface="微软雅黑"/>
              </a:rPr>
              <a:t>难支撑 SACC / BNPL / LOC 等精细计算：小型商户、新兴平台易误归 Other 或错分类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779007" y="4928616"/>
            <a:ext cx="5888736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5779007" y="5111496"/>
            <a:ext cx="310896" cy="310896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779007" y="5111496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17920" y="5056631"/>
            <a:ext cx="53766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A0A0A"/>
                </a:solidFill>
                <a:latin typeface="微软雅黑"/>
              </a:rPr>
              <a:t>字段与计算口径受制于供应商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17920" y="5312664"/>
            <a:ext cx="53766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D3C3A"/>
                </a:solidFill>
                <a:latin typeface="微软雅黑"/>
              </a:rPr>
              <a:t>下游适配成本高：IDP 所需字段缺失，Open Banking 等新数据源需多套适配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779007" y="5769864"/>
            <a:ext cx="5888736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779007" y="5952744"/>
            <a:ext cx="310896" cy="310896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779007" y="5952744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17920" y="5897879"/>
            <a:ext cx="53766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A0A0A"/>
                </a:solidFill>
                <a:latin typeface="微软雅黑"/>
              </a:rPr>
              <a:t>核心能力依赖外部供应商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17920" y="6153912"/>
            <a:ext cx="53766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D3C3A"/>
                </a:solidFill>
                <a:latin typeface="微软雅黑"/>
              </a:rPr>
              <a:t>优化和创新受限：调整依赖供应商排期，限制模型优化、策略调整与产品创新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779007" y="6611112"/>
            <a:ext cx="5888736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4219887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355AB41-3856-43D4-91F4-2CF8E6943019}"/>
              </a:ext>
            </a:extLst>
          </p:cNvPr>
          <p:cNvSpPr txBox="1"/>
          <p:nvPr/>
        </p:nvSpPr>
        <p:spPr>
          <a:xfrm>
            <a:off x="600015" y="214702"/>
            <a:ext cx="8890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altLang="zh-CN" sz="20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从一笔交易到完整的客户财务画像，输出直接回答新增还款能力</a:t>
            </a:r>
            <a:endParaRPr lang="en-US" altLang="zh-CN" sz="2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12064" y="1298448"/>
          <a:ext cx="8229600" cy="8321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2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887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日期</a:t>
                      </a:r>
                    </a:p>
                  </a:txBody>
                  <a:tcPr marL="45720" marR="45720" marT="18288" marB="18288" anchor="ctr" w="1188720"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金额</a:t>
                      </a:r>
                    </a:p>
                  </a:txBody>
                  <a:tcPr marL="45720" marR="45720" marT="18288" marB="18288" anchor="ctr" w="1188720"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方向</a:t>
                      </a:r>
                    </a:p>
                  </a:txBody>
                  <a:tcPr marL="45720" marR="45720" marT="18288" marB="18288" anchor="ctr" w="960120"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交易描述</a:t>
                      </a:r>
                    </a:p>
                  </a:txBody>
                  <a:tcPr marL="45720" marR="45720" marT="18288" marB="18288" anchor="ctr" w="4892040">
                    <a:lnB w="19050">
                      <a:solidFill>
                        <a:srgbClr val="0A0A0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2026/03/26</a:t>
                      </a:r>
                    </a:p>
                  </a:txBody>
                  <a:tcPr marL="45720" marR="45720" marT="18288" marB="18288" anchor="ctr" w="1188720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A$156</a:t>
                      </a:r>
                    </a:p>
                  </a:txBody>
                  <a:tcPr marL="45720" marR="45720" marT="18288" marB="18288" anchor="ctr" w="1188720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Debit</a:t>
                      </a:r>
                    </a:p>
                  </a:txBody>
                  <a:tcPr marL="45720" marR="45720" marT="18288" marB="18288" anchor="ctr" w="960120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BILL PAY Fair Go Finance DT.58oa72 SACC 239</a:t>
                      </a:r>
                    </a:p>
                  </a:txBody>
                  <a:tcPr marL="45720" marR="45720" marT="18288" marB="18288" anchor="ctr" w="4892040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2026/03/28</a:t>
                      </a:r>
                    </a:p>
                  </a:txBody>
                  <a:tcPr marL="45720" marR="45720" marT="18288" marB="18288" anchor="ctr" w="118872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A$12.40</a:t>
                      </a:r>
                    </a:p>
                  </a:txBody>
                  <a:tcPr marL="45720" marR="45720" marT="18288" marB="18288" anchor="ctr" w="118872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Debit</a:t>
                      </a:r>
                    </a:p>
                  </a:txBody>
                  <a:tcPr marL="45720" marR="45720" marT="18288" marB="18288" anchor="ctr" w="96012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MCDONALDS BRISBANE</a:t>
                      </a:r>
                    </a:p>
                  </a:txBody>
                  <a:tcPr marL="45720" marR="45720" marT="18288" marB="18288" anchor="ctr" w="4892040"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7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2026/04/02</a:t>
                      </a:r>
                    </a:p>
                  </a:txBody>
                  <a:tcPr marL="45720" marR="45720" marT="18288" marB="18288" anchor="ctr" w="118872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A$35.90</a:t>
                      </a:r>
                    </a:p>
                  </a:txBody>
                  <a:tcPr marL="45720" marR="45720" marT="18288" marB="18288" anchor="ctr" w="118872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Debit</a:t>
                      </a:r>
                    </a:p>
                  </a:txBody>
                  <a:tcPr marL="45720" marR="45720" marT="18288" marB="18288" anchor="ctr" w="96012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CHEMIST WAREHOUSE 123</a:t>
                      </a:r>
                    </a:p>
                  </a:txBody>
                  <a:tcPr marL="45720" marR="45720" marT="18288" marB="18288" anchor="ctr" w="4892040"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87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2026/04/08</a:t>
                      </a:r>
                    </a:p>
                  </a:txBody>
                  <a:tcPr marL="45720" marR="45720" marT="18288" marB="18288" anchor="ctr" w="118872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A$8.99</a:t>
                      </a:r>
                    </a:p>
                  </a:txBody>
                  <a:tcPr marL="45720" marR="45720" marT="18288" marB="18288" anchor="ctr" w="118872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Debit</a:t>
                      </a:r>
                    </a:p>
                  </a:txBody>
                  <a:tcPr marL="45720" marR="45720" marT="18288" marB="18288" anchor="ctr" w="96012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AMZNPRIMEA*</a:t>
                      </a:r>
                    </a:p>
                  </a:txBody>
                  <a:tcPr marL="45720" marR="45720" marT="18288" marB="18288" anchor="ctr" w="4892040"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887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2026/04/10</a:t>
                      </a:r>
                    </a:p>
                  </a:txBody>
                  <a:tcPr marL="45720" marR="45720" marT="18288" marB="18288" anchor="ctr" w="118872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A$3,420.50</a:t>
                      </a:r>
                    </a:p>
                  </a:txBody>
                  <a:tcPr marL="45720" marR="45720" marT="18288" marB="18288" anchor="ctr" w="118872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Credit</a:t>
                      </a:r>
                    </a:p>
                  </a:txBody>
                  <a:tcPr marL="45720" marR="45720" marT="18288" marB="18288" anchor="ctr" w="96012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PAYROLL ACME PTY LTD</a:t>
                      </a:r>
                    </a:p>
                  </a:txBody>
                  <a:tcPr marL="45720" marR="45720" marT="18288" marB="18288" anchor="ctr" w="4892040"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887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2026/04/15</a:t>
                      </a:r>
                    </a:p>
                  </a:txBody>
                  <a:tcPr marL="45720" marR="45720" marT="18288" marB="18288" anchor="ctr" w="118872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A$25.00</a:t>
                      </a:r>
                    </a:p>
                  </a:txBody>
                  <a:tcPr marL="45720" marR="45720" marT="18288" marB="18288" anchor="ctr" w="118872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Debit</a:t>
                      </a:r>
                    </a:p>
                  </a:txBody>
                  <a:tcPr marL="45720" marR="45720" marT="18288" marB="18288" anchor="ctr" w="96012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EFTPOS DEBIT 20NOV LMF GAMES &amp; AMUSEMENTS NORTHMEAD NSW</a:t>
                      </a:r>
                    </a:p>
                  </a:txBody>
                  <a:tcPr marL="45720" marR="45720" marT="18288" marB="18288" anchor="ctr" w="4892040"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7226942"/>
              </p:ext>
            </p:extLst>
          </p:nvPr>
        </p:nvGraphicFramePr>
        <p:xfrm>
          <a:off x="512064" y="2212848"/>
          <a:ext cx="1115568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828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日期</a:t>
                      </a:r>
                    </a:p>
                  </a:txBody>
                  <a:tcPr marL="45720" marR="45720" marT="18288" marB="18288" anchor="ctr" w="822960"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交易描述</a:t>
                      </a:r>
                    </a:p>
                  </a:txBody>
                  <a:tcPr marL="45720" marR="45720" marT="18288" marB="18288" anchor="ctr" w="2377440"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标准交易对手</a:t>
                      </a:r>
                    </a:p>
                  </a:txBody>
                  <a:tcPr marL="45720" marR="45720" marT="18288" marB="18288" anchor="ctr" w="1554480"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主体类型</a:t>
                      </a:r>
                    </a:p>
                  </a:txBody>
                  <a:tcPr marL="45720" marR="45720" marT="18288" marB="18288" anchor="ctr" w="1097280"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一级分类</a:t>
                      </a:r>
                    </a:p>
                  </a:txBody>
                  <a:tcPr marL="45720" marR="45720" marT="18288" marB="18288" anchor="ctr" w="731520"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二级分类</a:t>
                      </a:r>
                    </a:p>
                  </a:txBody>
                  <a:tcPr marL="45720" marR="45720" marT="18288" marB="18288" anchor="ctr" w="1097280"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交易性质</a:t>
                      </a:r>
                    </a:p>
                  </a:txBody>
                  <a:tcPr marL="45720" marR="45720" marT="18288" marB="18288" anchor="ctr" w="731520"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交易金额</a:t>
                      </a:r>
                    </a:p>
                  </a:txBody>
                  <a:tcPr marL="45720" marR="45720" marT="18288" marB="18288" anchor="ctr" w="822960"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分类依据</a:t>
                      </a:r>
                    </a:p>
                  </a:txBody>
                  <a:tcPr marL="45720" marR="45720" marT="18288" marB="18288" anchor="ctr" w="1920240">
                    <a:lnB w="19050">
                      <a:solidFill>
                        <a:srgbClr val="0A0A0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2026/03/26</a:t>
                      </a:r>
                    </a:p>
                  </a:txBody>
                  <a:tcPr marL="45720" marR="45720" marT="18288" marB="18288" anchor="ctr" w="822960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BILL PAY Fair Go Finance DT.58oa72 SACC 239</a:t>
                      </a:r>
                    </a:p>
                  </a:txBody>
                  <a:tcPr marL="45720" marR="45720" marT="18288" marB="18288" anchor="ctr" w="2377440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Fair Go Finance</a:t>
                      </a:r>
                    </a:p>
                  </a:txBody>
                  <a:tcPr marL="45720" marR="45720" marT="18288" marB="18288" anchor="ctr" w="1554480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贷款机构 / 小额信贷机构</a:t>
                      </a:r>
                    </a:p>
                  </a:txBody>
                  <a:tcPr marL="45720" marR="45720" marT="18288" marB="18288" anchor="ctr" w="1097280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贷款及还款</a:t>
                      </a:r>
                    </a:p>
                  </a:txBody>
                  <a:tcPr marL="45720" marR="45720" marT="18288" marB="18288" anchor="ctr" w="731520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SACC Loans</a:t>
                      </a:r>
                    </a:p>
                  </a:txBody>
                  <a:tcPr marL="45720" marR="45720" marT="18288" marB="18288" anchor="ctr" w="1097280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贷款还款</a:t>
                      </a:r>
                    </a:p>
                  </a:txBody>
                  <a:tcPr marL="45720" marR="45720" marT="18288" marB="18288" anchor="ctr" w="731520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A$156</a:t>
                      </a:r>
                    </a:p>
                  </a:txBody>
                  <a:tcPr marL="45720" marR="45720" marT="18288" marB="18288" anchor="ctr" w="822960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交易方向、机构名称、产品关键词及历史交易模式</a:t>
                      </a:r>
                    </a:p>
                  </a:txBody>
                  <a:tcPr marL="45720" marR="45720" marT="18288" marB="18288" anchor="ctr" w="1920240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2026/03/28</a:t>
                      </a:r>
                    </a:p>
                  </a:txBody>
                  <a:tcPr marL="45720" marR="45720" marT="18288" marB="18288" anchor="ctr" w="82296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MCDONALDS BRISBANE</a:t>
                      </a:r>
                    </a:p>
                  </a:txBody>
                  <a:tcPr marL="45720" marR="45720" marT="18288" marB="18288" anchor="ctr" w="237744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McDonald's</a:t>
                      </a:r>
                    </a:p>
                  </a:txBody>
                  <a:tcPr marL="45720" marR="45720" marT="18288" marB="18288" anchor="ctr" w="155448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商户企业</a:t>
                      </a:r>
                    </a:p>
                  </a:txBody>
                  <a:tcPr marL="45720" marR="45720" marT="18288" marB="18288" anchor="ctr" w="109728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消费</a:t>
                      </a:r>
                    </a:p>
                  </a:txBody>
                  <a:tcPr marL="45720" marR="45720" marT="18288" marB="18288" anchor="ctr" w="73152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Dining Out</a:t>
                      </a:r>
                    </a:p>
                  </a:txBody>
                  <a:tcPr marL="45720" marR="45720" marT="18288" marB="18288" anchor="ctr" w="109728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消费支出</a:t>
                      </a:r>
                    </a:p>
                  </a:txBody>
                  <a:tcPr marL="45720" marR="45720" marT="18288" marB="18288" anchor="ctr" w="73152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A$12.40</a:t>
                      </a:r>
                    </a:p>
                  </a:txBody>
                  <a:tcPr marL="45720" marR="45720" marT="18288" marB="18288" anchor="ctr" w="82296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商户知识库标准名匹配</a:t>
                      </a:r>
                    </a:p>
                  </a:txBody>
                  <a:tcPr marL="45720" marR="45720" marT="18288" marB="18288" anchor="ctr" w="1920240"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2026/04/02</a:t>
                      </a:r>
                    </a:p>
                  </a:txBody>
                  <a:tcPr marL="45720" marR="45720" marT="18288" marB="18288" anchor="ctr" w="82296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CHEMIST WAREHOUSE 123</a:t>
                      </a:r>
                    </a:p>
                  </a:txBody>
                  <a:tcPr marL="45720" marR="45720" marT="18288" marB="18288" anchor="ctr" w="237744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Chemist Warehouse</a:t>
                      </a:r>
                    </a:p>
                  </a:txBody>
                  <a:tcPr marL="45720" marR="45720" marT="18288" marB="18288" anchor="ctr" w="155448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商户企业</a:t>
                      </a:r>
                    </a:p>
                  </a:txBody>
                  <a:tcPr marL="45720" marR="45720" marT="18288" marB="18288" anchor="ctr" w="109728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消费</a:t>
                      </a:r>
                    </a:p>
                  </a:txBody>
                  <a:tcPr marL="45720" marR="45720" marT="18288" marB="18288" anchor="ctr" w="73152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Health</a:t>
                      </a:r>
                    </a:p>
                  </a:txBody>
                  <a:tcPr marL="45720" marR="45720" marT="18288" marB="18288" anchor="ctr" w="109728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消费支出</a:t>
                      </a:r>
                    </a:p>
                  </a:txBody>
                  <a:tcPr marL="45720" marR="45720" marT="18288" marB="18288" anchor="ctr" w="73152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A$35.90</a:t>
                      </a:r>
                    </a:p>
                  </a:txBody>
                  <a:tcPr marL="45720" marR="45720" marT="18288" marB="18288" anchor="ctr" w="82296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商户知识库标准名匹配</a:t>
                      </a:r>
                    </a:p>
                  </a:txBody>
                  <a:tcPr marL="45720" marR="45720" marT="18288" marB="18288" anchor="ctr" w="1920240"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2026/04/08</a:t>
                      </a:r>
                    </a:p>
                  </a:txBody>
                  <a:tcPr marL="45720" marR="45720" marT="18288" marB="18288" anchor="ctr" w="82296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AMZNPRIMEA*</a:t>
                      </a:r>
                    </a:p>
                  </a:txBody>
                  <a:tcPr marL="45720" marR="45720" marT="18288" marB="18288" anchor="ctr" w="237744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Amazon Prime</a:t>
                      </a:r>
                    </a:p>
                  </a:txBody>
                  <a:tcPr marL="45720" marR="45720" marT="18288" marB="18288" anchor="ctr" w="155448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商户企业</a:t>
                      </a:r>
                    </a:p>
                  </a:txBody>
                  <a:tcPr marL="45720" marR="45720" marT="18288" marB="18288" anchor="ctr" w="109728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订阅</a:t>
                      </a:r>
                    </a:p>
                  </a:txBody>
                  <a:tcPr marL="45720" marR="45720" marT="18288" marB="18288" anchor="ctr" w="73152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Subscription TV</a:t>
                      </a:r>
                    </a:p>
                  </a:txBody>
                  <a:tcPr marL="45720" marR="45720" marT="18288" marB="18288" anchor="ctr" w="109728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订阅支出</a:t>
                      </a:r>
                    </a:p>
                  </a:txBody>
                  <a:tcPr marL="45720" marR="45720" marT="18288" marB="18288" anchor="ctr" w="73152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A$8.99</a:t>
                      </a:r>
                    </a:p>
                  </a:txBody>
                  <a:tcPr marL="45720" marR="45720" marT="18288" marB="18288" anchor="ctr" w="82296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商户知识库标准名匹配</a:t>
                      </a:r>
                    </a:p>
                  </a:txBody>
                  <a:tcPr marL="45720" marR="45720" marT="18288" marB="18288" anchor="ctr" w="1920240"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2026/04/10</a:t>
                      </a:r>
                    </a:p>
                  </a:txBody>
                  <a:tcPr marL="45720" marR="45720" marT="18288" marB="18288" anchor="ctr" w="82296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PAYROLL ACME PTY LTD</a:t>
                      </a:r>
                    </a:p>
                  </a:txBody>
                  <a:tcPr marL="45720" marR="45720" marT="18288" marB="18288" anchor="ctr" w="237744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ACME PTY LTD</a:t>
                      </a:r>
                    </a:p>
                  </a:txBody>
                  <a:tcPr marL="45720" marR="45720" marT="18288" marB="18288" anchor="ctr" w="155448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雇主 / 收入付款方</a:t>
                      </a:r>
                    </a:p>
                  </a:txBody>
                  <a:tcPr marL="45720" marR="45720" marT="18288" marB="18288" anchor="ctr" w="109728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收入</a:t>
                      </a:r>
                    </a:p>
                  </a:txBody>
                  <a:tcPr marL="45720" marR="45720" marT="18288" marB="18288" anchor="ctr" w="73152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salary_payg</a:t>
                      </a:r>
                    </a:p>
                  </a:txBody>
                  <a:tcPr marL="45720" marR="45720" marT="18288" marB="18288" anchor="ctr" w="109728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工资收入</a:t>
                      </a:r>
                    </a:p>
                  </a:txBody>
                  <a:tcPr marL="45720" marR="45720" marT="18288" marB="18288" anchor="ctr" w="73152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A$3,420.50</a:t>
                      </a:r>
                    </a:p>
                  </a:txBody>
                  <a:tcPr marL="45720" marR="45720" marT="18288" marB="18288" anchor="ctr" w="82296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工资文本模式 + 双周周期 + 稳定金额</a:t>
                      </a:r>
                    </a:p>
                  </a:txBody>
                  <a:tcPr marL="45720" marR="45720" marT="18288" marB="18288" anchor="ctr" w="1920240"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2026/04/15</a:t>
                      </a:r>
                    </a:p>
                  </a:txBody>
                  <a:tcPr marL="45720" marR="45720" marT="18288" marB="18288" anchor="ctr" w="82296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EFTPOS DEBIT 20NOV LMF GAMES &amp; AMUSEMENTS NORTHMEAD NSW</a:t>
                      </a:r>
                    </a:p>
                  </a:txBody>
                  <a:tcPr marL="45720" marR="45720" marT="18288" marB="18288" anchor="ctr" w="237744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dirty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LMF Games &amp; Amusements</a:t>
                      </a:r>
                    </a:p>
                  </a:txBody>
                  <a:tcPr marL="45720" marR="45720" marT="18288" marB="18288" anchor="ctr" w="155448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商户企业</a:t>
                      </a:r>
                    </a:p>
                  </a:txBody>
                  <a:tcPr marL="45720" marR="45720" marT="18288" marB="18288" anchor="ctr" w="109728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消费</a:t>
                      </a:r>
                    </a:p>
                  </a:txBody>
                  <a:tcPr marL="45720" marR="45720" marT="18288" marB="18288" anchor="ctr" w="73152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Entertainment</a:t>
                      </a:r>
                    </a:p>
                  </a:txBody>
                  <a:tcPr marL="45720" marR="45720" marT="18288" marB="18288" anchor="ctr" w="109728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消费支出</a:t>
                      </a:r>
                    </a:p>
                  </a:txBody>
                  <a:tcPr marL="45720" marR="45720" marT="18288" marB="18288" anchor="ctr" w="73152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A$25.00</a:t>
                      </a:r>
                    </a:p>
                  </a:txBody>
                  <a:tcPr marL="45720" marR="45720" marT="18288" marB="18288" anchor="ctr" w="82296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dirty="0" err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商户知识库标准名匹配</a:t>
                      </a:r>
                      <a:endParaRPr sz="700" b="0" dirty="0">
                        <a:solidFill>
                          <a:srgbClr val="3D3C3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 marT="18288" marB="18288" anchor="ctr" w="1920240"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512064" y="4617720"/>
          <a:ext cx="3931920" cy="19933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459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指标</a:t>
                      </a:r>
                    </a:p>
                  </a:txBody>
                  <a:tcPr marL="45720" marR="45720" marT="18288" marB="18288" anchor="ctr" w="2743200"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结果</a:t>
                      </a:r>
                    </a:p>
                  </a:txBody>
                  <a:tcPr marL="45720" marR="45720" marT="18288" marB="18288" anchor="ctr" w="1188720">
                    <a:lnB w="19050">
                      <a:solidFill>
                        <a:srgbClr val="0A0A0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贷款机构数量</a:t>
                      </a:r>
                    </a:p>
                  </a:txBody>
                  <a:tcPr marL="45720" marR="45720" marT="18288" marB="18288" anchor="ctr" w="2743200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2 家</a:t>
                      </a:r>
                    </a:p>
                  </a:txBody>
                  <a:tcPr marL="45720" marR="45720" marT="18288" marB="18288" anchor="ctr" w="1188720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90 天借款金额</a:t>
                      </a:r>
                    </a:p>
                  </a:txBody>
                  <a:tcPr marL="45720" marR="45720" marT="18288" marB="18288" anchor="ctr" w="274320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A$2,300</a:t>
                      </a:r>
                    </a:p>
                  </a:txBody>
                  <a:tcPr marL="45720" marR="45720" marT="18288" marB="18288" anchor="ctr" w="1188720"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90 天还款金额</a:t>
                      </a:r>
                    </a:p>
                  </a:txBody>
                  <a:tcPr marL="45720" marR="45720" marT="18288" marB="18288" anchor="ctr" w="274320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A$1,284</a:t>
                      </a:r>
                    </a:p>
                  </a:txBody>
                  <a:tcPr marL="45720" marR="45720" marT="18288" marB="18288" anchor="ctr" w="1188720"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平均月还款金额</a:t>
                      </a:r>
                    </a:p>
                  </a:txBody>
                  <a:tcPr marL="45720" marR="45720" marT="18288" marB="18288" anchor="ctr" w="274320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A$428</a:t>
                      </a:r>
                    </a:p>
                  </a:txBody>
                  <a:tcPr marL="45720" marR="45720" marT="18288" marB="18288" anchor="ctr" w="1188720"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预计待还金额</a:t>
                      </a:r>
                    </a:p>
                  </a:txBody>
                  <a:tcPr marL="45720" marR="45720" marT="18288" marB="18288" anchor="ctr" w="274320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A$1,016</a:t>
                      </a:r>
                    </a:p>
                  </a:txBody>
                  <a:tcPr marL="45720" marR="45720" marT="18288" marB="18288" anchor="ctr" w="1188720"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还款次数</a:t>
                      </a:r>
                    </a:p>
                  </a:txBody>
                  <a:tcPr marL="45720" marR="45720" marT="18288" marB="18288" anchor="ctr" w="274320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9 次</a:t>
                      </a:r>
                    </a:p>
                  </a:txBody>
                  <a:tcPr marL="45720" marR="45720" marT="18288" marB="18288" anchor="ctr" w="1188720"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是否存在 SACC 贷款</a:t>
                      </a:r>
                    </a:p>
                  </a:txBody>
                  <a:tcPr marL="45720" marR="45720" marT="18288" marB="18288" anchor="ctr" w="274320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是</a:t>
                      </a:r>
                    </a:p>
                  </a:txBody>
                  <a:tcPr marL="45720" marR="45720" marT="18288" marB="18288" anchor="ctr" w="1188720"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是否存在多头借贷</a:t>
                      </a:r>
                    </a:p>
                  </a:txBody>
                  <a:tcPr marL="45720" marR="45720" marT="18288" marB="18288" anchor="ctr" w="274320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是</a:t>
                      </a:r>
                    </a:p>
                  </a:txBody>
                  <a:tcPr marL="45720" marR="45720" marT="18288" marB="18288" anchor="ctr" w="1188720"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是否持续还款</a:t>
                      </a:r>
                    </a:p>
                  </a:txBody>
                  <a:tcPr marL="45720" marR="45720" marT="18288" marB="18288" anchor="ctr" w="274320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是</a:t>
                      </a:r>
                    </a:p>
                  </a:txBody>
                  <a:tcPr marL="45720" marR="45720" marT="18288" marB="18288" anchor="ctr" w="1188720"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是否出现还款中断</a:t>
                      </a:r>
                    </a:p>
                  </a:txBody>
                  <a:tcPr marL="45720" marR="45720" marT="18288" marB="18288" anchor="ctr" w="274320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否</a:t>
                      </a:r>
                    </a:p>
                  </a:txBody>
                  <a:tcPr marL="45720" marR="45720" marT="18288" marB="18288" anchor="ctr" w="1188720"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4617720" y="4617720"/>
          <a:ext cx="7223760" cy="2021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459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指标</a:t>
                      </a:r>
                    </a:p>
                  </a:txBody>
                  <a:tcPr marL="45720" marR="45720" marT="18288" marB="18288" anchor="ctr" w="4023360"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Fair Go Finance</a:t>
                      </a:r>
                    </a:p>
                  </a:txBody>
                  <a:tcPr marL="45720" marR="45720" marT="18288" marB="18288" anchor="ctr" w="3200400">
                    <a:lnB w="19050">
                      <a:solidFill>
                        <a:srgbClr val="0A0A0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74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贷款类型</a:t>
                      </a:r>
                    </a:p>
                  </a:txBody>
                  <a:tcPr marL="45720" marR="45720" marT="18288" marB="18288" anchor="ctr" w="4023360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SACC</a:t>
                      </a:r>
                    </a:p>
                  </a:txBody>
                  <a:tcPr marL="45720" marR="45720" marT="18288" marB="18288" anchor="ctr" w="3200400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474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借款金额</a:t>
                      </a:r>
                    </a:p>
                  </a:txBody>
                  <a:tcPr marL="45720" marR="45720" marT="18288" marB="18288" anchor="ctr" w="402336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A$1,500</a:t>
                      </a:r>
                    </a:p>
                  </a:txBody>
                  <a:tcPr marL="45720" marR="45720" marT="18288" marB="18288" anchor="ctr" w="3200400"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474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 dirty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90 天已还金额</a:t>
                      </a:r>
                    </a:p>
                  </a:txBody>
                  <a:tcPr marL="45720" marR="45720" marT="18288" marB="18288" anchor="ctr" w="402336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A$936</a:t>
                      </a:r>
                    </a:p>
                  </a:txBody>
                  <a:tcPr marL="45720" marR="45720" marT="18288" marB="18288" anchor="ctr" w="3200400"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474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预计待还金额</a:t>
                      </a:r>
                    </a:p>
                  </a:txBody>
                  <a:tcPr marL="45720" marR="45720" marT="18288" marB="18288" anchor="ctr" w="402336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A$564</a:t>
                      </a:r>
                    </a:p>
                  </a:txBody>
                  <a:tcPr marL="45720" marR="45720" marT="18288" marB="18288" anchor="ctr" w="3200400"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474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还款频率</a:t>
                      </a:r>
                    </a:p>
                  </a:txBody>
                  <a:tcPr marL="45720" marR="45720" marT="18288" marB="18288" anchor="ctr" w="402336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每两周 A$156</a:t>
                      </a:r>
                    </a:p>
                  </a:txBody>
                  <a:tcPr marL="45720" marR="45720" marT="18288" marB="18288" anchor="ctr" w="3200400"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474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月还款金额（估算）</a:t>
                      </a:r>
                    </a:p>
                  </a:txBody>
                  <a:tcPr marL="45720" marR="45720" marT="18288" marB="18288" anchor="ctr" w="402336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约 A$338（A$156 × 26/12）</a:t>
                      </a:r>
                    </a:p>
                  </a:txBody>
                  <a:tcPr marL="45720" marR="45720" marT="18288" marB="18288" anchor="ctr" w="3200400"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474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 dirty="0" err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预计剩余期数（估算）</a:t>
                      </a:r>
                    </a:p>
                  </a:txBody>
                  <a:tcPr marL="45720" marR="45720" marT="18288" marB="18288" anchor="ctr" w="402336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约 4 期（借款 ÷ 每期 ≈ 10 期，已还约 6 期）</a:t>
                      </a:r>
                    </a:p>
                  </a:txBody>
                  <a:tcPr marL="45720" marR="45720" marT="18288" marB="18288" anchor="ctr" w="3200400"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474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90 天还款次数</a:t>
                      </a:r>
                    </a:p>
                  </a:txBody>
                  <a:tcPr marL="45720" marR="45720" marT="18288" marB="18288" anchor="ctr" w="402336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6 次</a:t>
                      </a:r>
                    </a:p>
                  </a:txBody>
                  <a:tcPr marL="45720" marR="45720" marT="18288" marB="18288" anchor="ctr" w="3200400"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474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当前状态</a:t>
                      </a:r>
                    </a:p>
                  </a:txBody>
                  <a:tcPr marL="45720" marR="45720" marT="18288" marB="18288" anchor="ctr" w="402336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在贷</a:t>
                      </a:r>
                    </a:p>
                  </a:txBody>
                  <a:tcPr marL="45720" marR="45720" marT="18288" marB="18288" anchor="ctr" w="3200400"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474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扣款失败</a:t>
                      </a:r>
                    </a:p>
                  </a:txBody>
                  <a:tcPr marL="45720" marR="45720" marT="18288" marB="18288" anchor="ctr" w="402336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否</a:t>
                      </a:r>
                    </a:p>
                  </a:txBody>
                  <a:tcPr marL="45720" marR="45720" marT="18288" marB="18288" anchor="ctr" w="3200400"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474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还款中断</a:t>
                      </a:r>
                    </a:p>
                  </a:txBody>
                  <a:tcPr marL="45720" marR="45720" marT="18288" marB="18288" anchor="ctr" w="402336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否</a:t>
                      </a:r>
                    </a:p>
                  </a:txBody>
                  <a:tcPr marL="45720" marR="45720" marT="18288" marB="18288" anchor="ctr" w="3200400"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474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年化利率（APR）</a:t>
                      </a:r>
                    </a:p>
                  </a:txBody>
                  <a:tcPr marL="45720" marR="45720" marT="18288" marB="18288" anchor="ctr" w="402336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dirty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【待补充】</a:t>
                      </a:r>
                    </a:p>
                  </a:txBody>
                  <a:tcPr marL="45720" marR="45720" marT="18288" marB="18288" anchor="ctr" w="3200400"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512064" y="713232"/>
            <a:ext cx="2670048" cy="347472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" y="713232"/>
            <a:ext cx="26700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A0A0A"/>
                </a:solidFill>
                <a:latin typeface="微软雅黑"/>
              </a:rPr>
              <a:t>原始流水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82112" y="731520"/>
            <a:ext cx="16459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D6A000"/>
                </a:solidFill>
                <a:latin typeface="微软雅黑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46704" y="713232"/>
            <a:ext cx="2670048" cy="347472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46704" y="713232"/>
            <a:ext cx="26700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A0A0A"/>
                </a:solidFill>
                <a:latin typeface="微软雅黑"/>
              </a:rPr>
              <a:t>交易明细维度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16752" y="731520"/>
            <a:ext cx="16459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D6A000"/>
                </a:solidFill>
                <a:latin typeface="微软雅黑"/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81344" y="713232"/>
            <a:ext cx="2670048" cy="347472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81344" y="713232"/>
            <a:ext cx="26700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A0A0A"/>
                </a:solidFill>
                <a:latin typeface="微软雅黑"/>
              </a:rPr>
              <a:t>用户汇总维度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51392" y="731520"/>
            <a:ext cx="16459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D6A000"/>
                </a:solidFill>
                <a:latin typeface="微软雅黑"/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15984" y="713232"/>
            <a:ext cx="2670048" cy="34747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15984" y="713232"/>
            <a:ext cx="26700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Serviceability</a:t>
            </a:r>
          </a:p>
        </p:txBody>
      </p:sp>
    </p:spTree>
    <p:extLst>
      <p:ext uri="{BB962C8B-B14F-4D97-AF65-F5344CB8AC3E}">
        <p14:creationId xmlns:p14="http://schemas.microsoft.com/office/powerpoint/2010/main" val="932786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D6C6528-4DFB-4D29-B578-BC3E760E6C21}"/>
              </a:ext>
            </a:extLst>
          </p:cNvPr>
          <p:cNvSpPr txBox="1"/>
          <p:nvPr/>
        </p:nvSpPr>
        <p:spPr>
          <a:xfrm>
            <a:off x="600015" y="214702"/>
            <a:ext cx="8890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altLang="zh-CN" sz="20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多引擎分工分类，AI 建设与维护知识库并驱动持续优化闭环</a:t>
            </a:r>
            <a:endParaRPr lang="en-US" altLang="zh-CN" sz="2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init-table">
            <a:extLst>
              <a:ext uri="{FF2B5EF4-FFF2-40B4-BE49-F238E27FC236}">
                <a16:creationId xmlns:a16="http://schemas.microsoft.com/office/drawing/2014/main" id="{296C6557-7410-4A1E-A4E0-C1913FA164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9194211"/>
              </p:ext>
            </p:extLst>
          </p:nvPr>
        </p:nvGraphicFramePr>
        <p:xfrm>
          <a:off x="512064" y="1554480"/>
          <a:ext cx="5294376" cy="79552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96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54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1" noProof="1">
                          <a:latin typeface="微软雅黑" panose="020B0503020204020204" pitchFamily="34" charset="-122"/>
                          <a:ea typeface="微软雅黑" panose="020B0503020204020204" pitchFamily="34" charset="-122"/>
                          <a:solidFill>
                            <a:srgbClr val="0A0A0A"/>
                          </a:solidFill>
                        </a:rPr>
                        <a:t>标准商户</a:t>
                      </a:r>
                    </a:p>
                  </a:txBody>
                  <a:tcPr marL="45720" marR="45720" marT="18288" marB="18288" anchor="ctr" w="1371600"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1" noProof="1">
                          <a:latin typeface="微软雅黑" panose="020B0503020204020204" pitchFamily="34" charset="-122"/>
                          <a:ea typeface="微软雅黑" panose="020B0503020204020204" pitchFamily="34" charset="-122"/>
                          <a:solidFill>
                            <a:srgbClr val="0A0A0A"/>
                          </a:solidFill>
                        </a:rPr>
                        <a:t>关键词／别名</a:t>
                      </a:r>
                    </a:p>
                  </a:txBody>
                  <a:tcPr marL="45720" marR="45720" marT="18288" marB="18288" anchor="ctr" w="2103120"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1" noProof="1">
                          <a:latin typeface="微软雅黑" panose="020B0503020204020204" pitchFamily="34" charset="-122"/>
                          <a:ea typeface="微软雅黑" panose="020B0503020204020204" pitchFamily="34" charset="-122"/>
                          <a:solidFill>
                            <a:srgbClr val="0A0A0A"/>
                          </a:solidFill>
                        </a:rPr>
                        <a:t>类别</a:t>
                      </a:r>
                    </a:p>
                  </a:txBody>
                  <a:tcPr marL="45720" marR="45720" marT="18288" marB="18288" anchor="ctr" w="1819656">
                    <a:lnB w="19050">
                      <a:solidFill>
                        <a:srgbClr val="0A0A0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01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1" noProof="1">
                          <a:latin typeface="微软雅黑" panose="020B0503020204020204" pitchFamily="34" charset="-122"/>
                          <a:ea typeface="微软雅黑" panose="020B0503020204020204" pitchFamily="34" charset="-122"/>
                          <a:solidFill>
                            <a:srgbClr val="0A0A0A"/>
                          </a:solidFill>
                        </a:rPr>
                        <a:t>Temu</a:t>
                      </a:r>
                    </a:p>
                  </a:txBody>
                  <a:tcPr marL="45720" marR="45720" marT="18288" marB="18288" anchor="ctr" w="1371600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0" noProof="1">
                          <a:latin typeface="微软雅黑" panose="020B0503020204020204" pitchFamily="34" charset="-122"/>
                          <a:ea typeface="微软雅黑" panose="020B0503020204020204" pitchFamily="34" charset="-122"/>
                          <a:solidFill>
                            <a:srgbClr val="0A0A0A"/>
                          </a:solidFill>
                        </a:rPr>
                        <a:t>TEMU.COM、TEMU</a:t>
                      </a:r>
                    </a:p>
                  </a:txBody>
                  <a:tcPr marL="45720" marR="45720" marT="18288" marB="18288" anchor="ctr" w="2103120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0" noProof="1">
                          <a:latin typeface="微软雅黑" panose="020B0503020204020204" pitchFamily="34" charset="-122"/>
                          <a:ea typeface="微软雅黑" panose="020B0503020204020204" pitchFamily="34" charset="-122"/>
                          <a:solidFill>
                            <a:srgbClr val="0A0A0A"/>
                          </a:solidFill>
                        </a:rPr>
                        <a:t>Online Shopping</a:t>
                      </a:r>
                    </a:p>
                  </a:txBody>
                  <a:tcPr marL="45720" marR="45720" marT="18288" marB="18288" anchor="ctr" w="1819656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01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1" noProof="1">
                          <a:latin typeface="微软雅黑" panose="020B0503020204020204" pitchFamily="34" charset="-122"/>
                          <a:ea typeface="微软雅黑" panose="020B0503020204020204" pitchFamily="34" charset="-122"/>
                          <a:solidFill>
                            <a:srgbClr val="0A0A0A"/>
                          </a:solidFill>
                        </a:rPr>
                        <a:t>Uber Eats</a:t>
                      </a:r>
                    </a:p>
                  </a:txBody>
                  <a:tcPr marL="45720" marR="45720" marT="18288" marB="18288" anchor="ctr" w="137160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0" noProof="1">
                          <a:latin typeface="微软雅黑" panose="020B0503020204020204" pitchFamily="34" charset="-122"/>
                          <a:ea typeface="微软雅黑" panose="020B0503020204020204" pitchFamily="34" charset="-122"/>
                          <a:solidFill>
                            <a:srgbClr val="0A0A0A"/>
                          </a:solidFill>
                        </a:rPr>
                        <a:t>UBER EATS</a:t>
                      </a:r>
                    </a:p>
                  </a:txBody>
                  <a:tcPr marL="45720" marR="45720" marT="18288" marB="18288" anchor="ctr" w="210312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0" noProof="1">
                          <a:latin typeface="微软雅黑" panose="020B0503020204020204" pitchFamily="34" charset="-122"/>
                          <a:ea typeface="微软雅黑" panose="020B0503020204020204" pitchFamily="34" charset="-122"/>
                          <a:solidFill>
                            <a:srgbClr val="0A0A0A"/>
                          </a:solidFill>
                        </a:rPr>
                        <a:t>Dining Out</a:t>
                      </a:r>
                    </a:p>
                  </a:txBody>
                  <a:tcPr marL="45720" marR="45720" marT="18288" marB="18288" anchor="ctr" w="1819656"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801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1" noProof="1">
                          <a:latin typeface="微软雅黑" panose="020B0503020204020204" pitchFamily="34" charset="-122"/>
                          <a:ea typeface="微软雅黑" panose="020B0503020204020204" pitchFamily="34" charset="-122"/>
                          <a:solidFill>
                            <a:srgbClr val="0A0A0A"/>
                          </a:solidFill>
                        </a:rPr>
                        <a:t>Netflix</a:t>
                      </a:r>
                    </a:p>
                  </a:txBody>
                  <a:tcPr marL="45720" marR="45720" marT="18288" marB="18288" anchor="ctr" w="137160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0" noProof="1">
                          <a:latin typeface="微软雅黑" panose="020B0503020204020204" pitchFamily="34" charset="-122"/>
                          <a:ea typeface="微软雅黑" panose="020B0503020204020204" pitchFamily="34" charset="-122"/>
                          <a:solidFill>
                            <a:srgbClr val="0A0A0A"/>
                          </a:solidFill>
                        </a:rPr>
                        <a:t>NETFLIX.COM、NETFLIX</a:t>
                      </a:r>
                    </a:p>
                  </a:txBody>
                  <a:tcPr marL="45720" marR="45720" marT="18288" marB="18288" anchor="ctr" w="210312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0" noProof="1">
                          <a:latin typeface="微软雅黑" panose="020B0503020204020204" pitchFamily="34" charset="-122"/>
                          <a:ea typeface="微软雅黑" panose="020B0503020204020204" pitchFamily="34" charset="-122"/>
                          <a:solidFill>
                            <a:srgbClr val="0A0A0A"/>
                          </a:solidFill>
                        </a:rPr>
                        <a:t>Subscription TV</a:t>
                      </a:r>
                    </a:p>
                  </a:txBody>
                  <a:tcPr marL="45720" marR="45720" marT="18288" marB="18288" anchor="ctr" w="1819656"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801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1" noProof="1">
                          <a:latin typeface="微软雅黑" panose="020B0503020204020204" pitchFamily="34" charset="-122"/>
                          <a:ea typeface="微软雅黑" panose="020B0503020204020204" pitchFamily="34" charset="-122"/>
                          <a:solidFill>
                            <a:srgbClr val="0A0A0A"/>
                          </a:solidFill>
                        </a:rPr>
                        <a:t>Spotify</a:t>
                      </a:r>
                    </a:p>
                  </a:txBody>
                  <a:tcPr marL="45720" marR="45720" marT="18288" marB="18288" anchor="ctr" w="137160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0" noProof="1">
                          <a:latin typeface="微软雅黑" panose="020B0503020204020204" pitchFamily="34" charset="-122"/>
                          <a:ea typeface="微软雅黑" panose="020B0503020204020204" pitchFamily="34" charset="-122"/>
                          <a:solidFill>
                            <a:srgbClr val="0A0A0A"/>
                          </a:solidFill>
                        </a:rPr>
                        <a:t>SPOTIFY</a:t>
                      </a:r>
                    </a:p>
                  </a:txBody>
                  <a:tcPr marL="45720" marR="45720" marT="18288" marB="18288" anchor="ctr" w="210312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0" noProof="1">
                          <a:latin typeface="微软雅黑" panose="020B0503020204020204" pitchFamily="34" charset="-122"/>
                          <a:ea typeface="微软雅黑" panose="020B0503020204020204" pitchFamily="34" charset="-122"/>
                          <a:solidFill>
                            <a:srgbClr val="0A0A0A"/>
                          </a:solidFill>
                        </a:rPr>
                        <a:t>Entertainment</a:t>
                      </a:r>
                    </a:p>
                  </a:txBody>
                  <a:tcPr marL="45720" marR="45720" marT="18288" marB="18288" anchor="ctr" w="1819656"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801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1" noProof="1">
                          <a:latin typeface="微软雅黑" panose="020B0503020204020204" pitchFamily="34" charset="-122"/>
                          <a:ea typeface="微软雅黑" panose="020B0503020204020204" pitchFamily="34" charset="-122"/>
                          <a:solidFill>
                            <a:srgbClr val="0A0A0A"/>
                          </a:solidFill>
                        </a:rPr>
                        <a:t>OpenAI</a:t>
                      </a:r>
                    </a:p>
                  </a:txBody>
                  <a:tcPr marL="45720" marR="45720" marT="18288" marB="18288" anchor="ctr" w="137160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0" noProof="1">
                          <a:latin typeface="微软雅黑" panose="020B0503020204020204" pitchFamily="34" charset="-122"/>
                          <a:ea typeface="微软雅黑" panose="020B0503020204020204" pitchFamily="34" charset="-122"/>
                          <a:solidFill>
                            <a:srgbClr val="0A0A0A"/>
                          </a:solidFill>
                        </a:rPr>
                        <a:t>OPENAI *CHATGPT</a:t>
                      </a:r>
                    </a:p>
                  </a:txBody>
                  <a:tcPr marL="45720" marR="45720" marT="18288" marB="18288" anchor="ctr" w="210312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0" noProof="1">
                          <a:latin typeface="微软雅黑" panose="020B0503020204020204" pitchFamily="34" charset="-122"/>
                          <a:ea typeface="微软雅黑" panose="020B0503020204020204" pitchFamily="34" charset="-122"/>
                          <a:solidFill>
                            <a:srgbClr val="0A0A0A"/>
                          </a:solidFill>
                        </a:rPr>
                        <a:t>Information</a:t>
                      </a:r>
                    </a:p>
                  </a:txBody>
                  <a:tcPr marL="45720" marR="45720" marT="18288" marB="18288" anchor="ctr" w="1819656"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1" name="income-table">
            <a:extLst>
              <a:ext uri="{FF2B5EF4-FFF2-40B4-BE49-F238E27FC236}">
                <a16:creationId xmlns:a16="http://schemas.microsoft.com/office/drawing/2014/main" id="{437DE33D-539A-4A03-AC67-AB16184E7F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0780107"/>
              </p:ext>
            </p:extLst>
          </p:nvPr>
        </p:nvGraphicFramePr>
        <p:xfrm>
          <a:off x="512064" y="2825496"/>
          <a:ext cx="5294376" cy="6858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54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54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1" noProof="1">
                          <a:latin typeface="微软雅黑" panose="020B0503020204020204" pitchFamily="34" charset="-122"/>
                          <a:ea typeface="微软雅黑" panose="020B0503020204020204" pitchFamily="34" charset="-122"/>
                          <a:solidFill>
                            <a:srgbClr val="0A0A0A"/>
                          </a:solidFill>
                        </a:rPr>
                        <a:t>场景</a:t>
                      </a:r>
                    </a:p>
                  </a:txBody>
                  <a:tcPr marL="45720" marR="45720" marT="18288" marB="18288" anchor="ctr" w="1097280"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1" noProof="1">
                          <a:latin typeface="微软雅黑" panose="020B0503020204020204" pitchFamily="34" charset="-122"/>
                          <a:ea typeface="微软雅黑" panose="020B0503020204020204" pitchFamily="34" charset="-122"/>
                          <a:solidFill>
                            <a:srgbClr val="0A0A0A"/>
                          </a:solidFill>
                        </a:rPr>
                        <a:t>交易描述与线索</a:t>
                      </a:r>
                    </a:p>
                  </a:txBody>
                  <a:tcPr marL="45720" marR="45720" marT="18288" marB="18288" anchor="ctr" w="2011680"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1" noProof="1">
                          <a:latin typeface="微软雅黑" panose="020B0503020204020204" pitchFamily="34" charset="-122"/>
                          <a:ea typeface="微软雅黑" panose="020B0503020204020204" pitchFamily="34" charset="-122"/>
                          <a:solidFill>
                            <a:srgbClr val="0A0A0A"/>
                          </a:solidFill>
                        </a:rPr>
                        <a:t>命中的知识</a:t>
                      </a:r>
                    </a:p>
                  </a:txBody>
                  <a:tcPr marL="45720" marR="45720" marT="18288" marB="18288" anchor="ctr" w="2185416">
                    <a:lnB w="19050">
                      <a:solidFill>
                        <a:srgbClr val="0A0A0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5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1" noProof="1">
                          <a:latin typeface="微软雅黑" panose="020B0503020204020204" pitchFamily="34" charset="-122"/>
                          <a:ea typeface="微软雅黑" panose="020B0503020204020204" pitchFamily="34" charset="-122"/>
                          <a:solidFill>
                            <a:srgbClr val="0A0A0A"/>
                          </a:solidFill>
                        </a:rPr>
                        <a:t>普通工资</a:t>
                      </a:r>
                    </a:p>
                  </a:txBody>
                  <a:tcPr marL="45720" marR="45720" marT="18288" marB="18288" anchor="ctr" w="1097280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0" noProof="1">
                          <a:latin typeface="微软雅黑" panose="020B0503020204020204" pitchFamily="34" charset="-122"/>
                          <a:ea typeface="微软雅黑" panose="020B0503020204020204" pitchFamily="34" charset="-122"/>
                          <a:solidFill>
                            <a:srgbClr val="0A0A0A"/>
                          </a:solidFill>
                        </a:rPr>
                        <a:t>PAYROLL ACME 双周入账</a:t>
                      </a:r>
                    </a:p>
                  </a:txBody>
                  <a:tcPr marL="45720" marR="45720" marT="18288" marB="18288" anchor="ctr" w="2011680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0" noProof="1">
                          <a:latin typeface="微软雅黑" panose="020B0503020204020204" pitchFamily="34" charset="-122"/>
                          <a:ea typeface="微软雅黑" panose="020B0503020204020204" pitchFamily="34" charset="-122"/>
                          <a:solidFill>
                            <a:srgbClr val="0A0A0A"/>
                          </a:solidFill>
                        </a:rPr>
                        <a:t>Payroll 模式＋周期＋稳定阈值</a:t>
                      </a:r>
                    </a:p>
                  </a:txBody>
                  <a:tcPr marL="45720" marR="45720" marT="18288" marB="18288" anchor="ctr" w="2185416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5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1" noProof="1">
                          <a:latin typeface="微软雅黑" panose="020B0503020204020204" pitchFamily="34" charset="-122"/>
                          <a:ea typeface="微软雅黑" panose="020B0503020204020204" pitchFamily="34" charset="-122"/>
                          <a:solidFill>
                            <a:srgbClr val="0A0A0A"/>
                          </a:solidFill>
                        </a:rPr>
                        <a:t>薪酬包装</a:t>
                      </a:r>
                    </a:p>
                  </a:txBody>
                  <a:tcPr marL="45720" marR="45720" marT="18288" marB="18288" anchor="ctr" w="109728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0" noProof="1">
                          <a:latin typeface="微软雅黑" panose="020B0503020204020204" pitchFamily="34" charset="-122"/>
                          <a:ea typeface="微软雅黑" panose="020B0503020204020204" pitchFamily="34" charset="-122"/>
                          <a:solidFill>
                            <a:srgbClr val="0A0A0A"/>
                          </a:solidFill>
                        </a:rPr>
                        <a:t>SALARY PACKAGING ...</a:t>
                      </a:r>
                    </a:p>
                  </a:txBody>
                  <a:tcPr marL="45720" marR="45720" marT="18288" marB="18288" anchor="ctr" w="201168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0" noProof="1">
                          <a:latin typeface="微软雅黑" panose="020B0503020204020204" pitchFamily="34" charset="-122"/>
                          <a:ea typeface="微软雅黑" panose="020B0503020204020204" pitchFamily="34" charset="-122"/>
                          <a:solidFill>
                            <a:srgbClr val="0A0A0A"/>
                          </a:solidFill>
                        </a:rPr>
                        <a:t>薪酬包装模式优先于普通工资</a:t>
                      </a:r>
                    </a:p>
                  </a:txBody>
                  <a:tcPr marL="45720" marR="45720" marT="18288" marB="18288" anchor="ctr" w="2185416"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5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1" noProof="1">
                          <a:latin typeface="微软雅黑" panose="020B0503020204020204" pitchFamily="34" charset="-122"/>
                          <a:ea typeface="微软雅黑" panose="020B0503020204020204" pitchFamily="34" charset="-122"/>
                          <a:solidFill>
                            <a:srgbClr val="0A0A0A"/>
                          </a:solidFill>
                        </a:rPr>
                        <a:t>政府补助</a:t>
                      </a:r>
                    </a:p>
                  </a:txBody>
                  <a:tcPr marL="45720" marR="45720" marT="18288" marB="18288" anchor="ctr" w="109728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0" noProof="1">
                          <a:latin typeface="微软雅黑" panose="020B0503020204020204" pitchFamily="34" charset="-122"/>
                          <a:ea typeface="微软雅黑" panose="020B0503020204020204" pitchFamily="34" charset="-122"/>
                          <a:solidFill>
                            <a:srgbClr val="0A0A0A"/>
                          </a:solidFill>
                        </a:rPr>
                        <a:t>CENTRELINK ...</a:t>
                      </a:r>
                    </a:p>
                  </a:txBody>
                  <a:tcPr marL="45720" marR="45720" marT="18288" marB="18288" anchor="ctr" w="201168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0" noProof="1">
                          <a:latin typeface="微软雅黑" panose="020B0503020204020204" pitchFamily="34" charset="-122"/>
                          <a:ea typeface="微软雅黑" panose="020B0503020204020204" pitchFamily="34" charset="-122"/>
                          <a:solidFill>
                            <a:srgbClr val="0A0A0A"/>
                          </a:solidFill>
                        </a:rPr>
                        <a:t>Centrelink 专项模式</a:t>
                      </a:r>
                    </a:p>
                  </a:txBody>
                  <a:tcPr marL="45720" marR="45720" marT="18288" marB="18288" anchor="ctr" w="2185416"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25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1" noProof="1">
                          <a:latin typeface="微软雅黑" panose="020B0503020204020204" pitchFamily="34" charset="-122"/>
                          <a:ea typeface="微软雅黑" panose="020B0503020204020204" pitchFamily="34" charset="-122"/>
                          <a:solidFill>
                            <a:srgbClr val="0A0A0A"/>
                          </a:solidFill>
                        </a:rPr>
                        <a:t>零工收入</a:t>
                      </a:r>
                    </a:p>
                  </a:txBody>
                  <a:tcPr marL="45720" marR="45720" marT="18288" marB="18288" anchor="ctr" w="109728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0" noProof="1">
                          <a:latin typeface="微软雅黑" panose="020B0503020204020204" pitchFamily="34" charset="-122"/>
                          <a:ea typeface="微软雅黑" panose="020B0503020204020204" pitchFamily="34" charset="-122"/>
                          <a:solidFill>
                            <a:srgbClr val="0A0A0A"/>
                          </a:solidFill>
                        </a:rPr>
                        <a:t>UBER 入账，无退款信号</a:t>
                      </a:r>
                    </a:p>
                  </a:txBody>
                  <a:tcPr marL="45720" marR="45720" marT="18288" marB="18288" anchor="ctr" w="201168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0" noProof="1">
                          <a:latin typeface="微软雅黑" panose="020B0503020204020204" pitchFamily="34" charset="-122"/>
                          <a:ea typeface="微软雅黑" panose="020B0503020204020204" pitchFamily="34" charset="-122"/>
                          <a:solidFill>
                            <a:srgbClr val="0A0A0A"/>
                          </a:solidFill>
                        </a:rPr>
                        <a:t>零工模式＋入账方向＋排除规则</a:t>
                      </a:r>
                    </a:p>
                  </a:txBody>
                  <a:tcPr marL="45720" marR="45720" marT="18288" marB="18288" anchor="ctr" w="2185416"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5" name="liab-table">
            <a:extLst>
              <a:ext uri="{FF2B5EF4-FFF2-40B4-BE49-F238E27FC236}">
                <a16:creationId xmlns:a16="http://schemas.microsoft.com/office/drawing/2014/main" id="{D9D16F0A-2CA9-444A-9C30-0D63C131C9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1406915"/>
              </p:ext>
            </p:extLst>
          </p:nvPr>
        </p:nvGraphicFramePr>
        <p:xfrm>
          <a:off x="512064" y="3986783"/>
          <a:ext cx="5294376" cy="795528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2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54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1" noProof="1">
                          <a:latin typeface="微软雅黑" panose="020B0503020204020204" pitchFamily="34" charset="-122"/>
                          <a:ea typeface="微软雅黑" panose="020B0503020204020204" pitchFamily="34" charset="-122"/>
                          <a:solidFill>
                            <a:srgbClr val="0A0A0A"/>
                          </a:solidFill>
                        </a:rPr>
                        <a:t>知识库／场景</a:t>
                      </a:r>
                    </a:p>
                  </a:txBody>
                  <a:tcPr marL="45720" marR="45720" marT="18288" marB="18288" anchor="ctr" w="1554480"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1" noProof="1">
                          <a:latin typeface="微软雅黑" panose="020B0503020204020204" pitchFamily="34" charset="-122"/>
                          <a:ea typeface="微软雅黑" panose="020B0503020204020204" pitchFamily="34" charset="-122"/>
                          <a:solidFill>
                            <a:srgbClr val="0A0A0A"/>
                          </a:solidFill>
                        </a:rPr>
                        <a:t>交易描述示例</a:t>
                      </a:r>
                    </a:p>
                  </a:txBody>
                  <a:tcPr marL="45720" marR="45720" marT="18288" marB="18288" anchor="ctr" w="1737360"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800" b="1" noProof="1">
                          <a:latin typeface="微软雅黑" panose="020B0503020204020204" pitchFamily="34" charset="-122"/>
                          <a:ea typeface="微软雅黑" panose="020B0503020204020204" pitchFamily="34" charset="-122"/>
                          <a:solidFill>
                            <a:srgbClr val="0A0A0A"/>
                          </a:solidFill>
                        </a:rPr>
                        <a:t>命中的知识</a:t>
                      </a:r>
                    </a:p>
                  </a:txBody>
                  <a:tcPr marL="45720" marR="45720" marT="18288" marB="18288" anchor="ctr" w="2002536">
                    <a:lnB w="19050">
                      <a:solidFill>
                        <a:srgbClr val="0A0A0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01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1" noProof="1">
                          <a:latin typeface="微软雅黑" panose="020B0503020204020204" pitchFamily="34" charset="-122"/>
                          <a:ea typeface="微软雅黑" panose="020B0503020204020204" pitchFamily="34" charset="-122"/>
                          <a:solidFill>
                            <a:srgbClr val="0A0A0A"/>
                          </a:solidFill>
                        </a:rPr>
                        <a:t>BNPL 对手库</a:t>
                      </a:r>
                    </a:p>
                  </a:txBody>
                  <a:tcPr marL="45720" marR="45720" marT="18288" marB="18288" anchor="ctr" w="1554480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0" noProof="1">
                          <a:latin typeface="微软雅黑" panose="020B0503020204020204" pitchFamily="34" charset="-122"/>
                          <a:ea typeface="微软雅黑" panose="020B0503020204020204" pitchFamily="34" charset="-122"/>
                          <a:solidFill>
                            <a:srgbClr val="0A0A0A"/>
                          </a:solidFill>
                        </a:rPr>
                        <a:t>DIRECT DEBIT AFTERPAY</a:t>
                      </a:r>
                    </a:p>
                  </a:txBody>
                  <a:tcPr marL="45720" marR="45720" marT="18288" marB="18288" anchor="ctr" w="1737360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0" noProof="1">
                          <a:latin typeface="微软雅黑" panose="020B0503020204020204" pitchFamily="34" charset="-122"/>
                          <a:ea typeface="微软雅黑" panose="020B0503020204020204" pitchFamily="34" charset="-122"/>
                          <a:solidFill>
                            <a:srgbClr val="0A0A0A"/>
                          </a:solidFill>
                        </a:rPr>
                        <a:t>BNPL 交易对手关键词</a:t>
                      </a:r>
                    </a:p>
                  </a:txBody>
                  <a:tcPr marL="45720" marR="45720" marT="18288" marB="18288" anchor="ctr" w="2002536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01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1" noProof="1">
                          <a:latin typeface="微软雅黑" panose="020B0503020204020204" pitchFamily="34" charset="-122"/>
                          <a:ea typeface="微软雅黑" panose="020B0503020204020204" pitchFamily="34" charset="-122"/>
                          <a:solidFill>
                            <a:srgbClr val="0A0A0A"/>
                          </a:solidFill>
                        </a:rPr>
                        <a:t>信用卡规则库</a:t>
                      </a:r>
                    </a:p>
                  </a:txBody>
                  <a:tcPr marL="45720" marR="45720" marT="18288" marB="18288" anchor="ctr" w="155448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0" noProof="1">
                          <a:latin typeface="微软雅黑" panose="020B0503020204020204" pitchFamily="34" charset="-122"/>
                          <a:ea typeface="微软雅黑" panose="020B0503020204020204" pitchFamily="34" charset="-122"/>
                          <a:solidFill>
                            <a:srgbClr val="0A0A0A"/>
                          </a:solidFill>
                        </a:rPr>
                        <a:t>BPAY ... ANZ CARDS</a:t>
                      </a:r>
                    </a:p>
                  </a:txBody>
                  <a:tcPr marL="45720" marR="45720" marT="18288" marB="18288" anchor="ctr" w="173736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0" noProof="1">
                          <a:latin typeface="微软雅黑" panose="020B0503020204020204" pitchFamily="34" charset="-122"/>
                          <a:ea typeface="微软雅黑" panose="020B0503020204020204" pitchFamily="34" charset="-122"/>
                          <a:solidFill>
                            <a:srgbClr val="0A0A0A"/>
                          </a:solidFill>
                        </a:rPr>
                        <a:t>银行、账户类型、方向与文本共同匹配</a:t>
                      </a:r>
                    </a:p>
                  </a:txBody>
                  <a:tcPr marL="45720" marR="45720" marT="18288" marB="18288" anchor="ctr" w="2002536"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801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1" noProof="1">
                          <a:latin typeface="微软雅黑" panose="020B0503020204020204" pitchFamily="34" charset="-122"/>
                          <a:ea typeface="微软雅黑" panose="020B0503020204020204" pitchFamily="34" charset="-122"/>
                          <a:solidFill>
                            <a:srgbClr val="0A0A0A"/>
                          </a:solidFill>
                        </a:rPr>
                        <a:t>房贷规则库</a:t>
                      </a:r>
                    </a:p>
                  </a:txBody>
                  <a:tcPr marL="45720" marR="45720" marT="18288" marB="18288" anchor="ctr" w="155448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0" noProof="1">
                          <a:latin typeface="微软雅黑" panose="020B0503020204020204" pitchFamily="34" charset="-122"/>
                          <a:ea typeface="微软雅黑" panose="020B0503020204020204" pitchFamily="34" charset="-122"/>
                          <a:solidFill>
                            <a:srgbClr val="0A0A0A"/>
                          </a:solidFill>
                        </a:rPr>
                        <a:t>MORTGAGE REPAYMENT</a:t>
                      </a:r>
                    </a:p>
                  </a:txBody>
                  <a:tcPr marL="45720" marR="45720" marT="18288" marB="18288" anchor="ctr" w="173736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0" noProof="1">
                          <a:latin typeface="微软雅黑" panose="020B0503020204020204" pitchFamily="34" charset="-122"/>
                          <a:ea typeface="微软雅黑" panose="020B0503020204020204" pitchFamily="34" charset="-122"/>
                          <a:solidFill>
                            <a:srgbClr val="0A0A0A"/>
                          </a:solidFill>
                        </a:rPr>
                        <a:t>Mortgage、Home Loan 关键词</a:t>
                      </a:r>
                    </a:p>
                  </a:txBody>
                  <a:tcPr marL="45720" marR="45720" marT="18288" marB="18288" anchor="ctr" w="2002536"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801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1" noProof="1">
                          <a:latin typeface="微软雅黑" panose="020B0503020204020204" pitchFamily="34" charset="-122"/>
                          <a:ea typeface="微软雅黑" panose="020B0503020204020204" pitchFamily="34" charset="-122"/>
                          <a:solidFill>
                            <a:srgbClr val="0A0A0A"/>
                          </a:solidFill>
                        </a:rPr>
                        <a:t>车贷规则库</a:t>
                      </a:r>
                    </a:p>
                  </a:txBody>
                  <a:tcPr marL="45720" marR="45720" marT="18288" marB="18288" anchor="ctr" w="155448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0" noProof="1">
                          <a:latin typeface="微软雅黑" panose="020B0503020204020204" pitchFamily="34" charset="-122"/>
                          <a:ea typeface="微软雅黑" panose="020B0503020204020204" pitchFamily="34" charset="-122"/>
                          <a:solidFill>
                            <a:srgbClr val="0A0A0A"/>
                          </a:solidFill>
                        </a:rPr>
                        <a:t>车贷机构或专用描述扣款</a:t>
                      </a:r>
                    </a:p>
                  </a:txBody>
                  <a:tcPr marL="45720" marR="45720" marT="18288" marB="18288" anchor="ctr" w="173736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0" noProof="1">
                          <a:latin typeface="微软雅黑" panose="020B0503020204020204" pitchFamily="34" charset="-122"/>
                          <a:ea typeface="微软雅黑" panose="020B0503020204020204" pitchFamily="34" charset="-122"/>
                          <a:solidFill>
                            <a:srgbClr val="0A0A0A"/>
                          </a:solidFill>
                        </a:rPr>
                        <a:t>车贷标记＋交易对手规则</a:t>
                      </a:r>
                    </a:p>
                  </a:txBody>
                  <a:tcPr marL="45720" marR="45720" marT="18288" marB="18288" anchor="ctr" w="2002536"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801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1" noProof="1">
                          <a:latin typeface="微软雅黑" panose="020B0503020204020204" pitchFamily="34" charset="-122"/>
                          <a:ea typeface="微软雅黑" panose="020B0503020204020204" pitchFamily="34" charset="-122"/>
                          <a:solidFill>
                            <a:srgbClr val="0A0A0A"/>
                          </a:solidFill>
                        </a:rPr>
                        <a:t>催收／债务整合</a:t>
                      </a:r>
                    </a:p>
                  </a:txBody>
                  <a:tcPr marL="45720" marR="45720" marT="18288" marB="18288" anchor="ctr" w="155448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0" noProof="1">
                          <a:latin typeface="微软雅黑" panose="020B0503020204020204" pitchFamily="34" charset="-122"/>
                          <a:ea typeface="微软雅黑" panose="020B0503020204020204" pitchFamily="34" charset="-122"/>
                          <a:solidFill>
                            <a:srgbClr val="0A0A0A"/>
                          </a:solidFill>
                        </a:rPr>
                        <a:t>已知催收机构或整合描述</a:t>
                      </a:r>
                    </a:p>
                  </a:txBody>
                  <a:tcPr marL="45720" marR="45720" marT="18288" marB="18288" anchor="ctr" w="173736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800" b="0" noProof="1">
                          <a:latin typeface="微软雅黑" panose="020B0503020204020204" pitchFamily="34" charset="-122"/>
                          <a:ea typeface="微软雅黑" panose="020B0503020204020204" pitchFamily="34" charset="-122"/>
                          <a:solidFill>
                            <a:srgbClr val="0A0A0A"/>
                          </a:solidFill>
                        </a:rPr>
                        <a:t>催收、整合关键词与专项标记</a:t>
                      </a:r>
                    </a:p>
                  </a:txBody>
                  <a:tcPr marL="45720" marR="45720" marT="18288" marB="18288" anchor="ctr" w="2002536"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6172200" y="5760720"/>
          <a:ext cx="5504688" cy="731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70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28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优先级</a:t>
                      </a:r>
                    </a:p>
                  </a:txBody>
                  <a:tcPr marL="45720" marR="45720" marT="18288" marB="18288" anchor="ctr" w="640080"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问题描述</a:t>
                      </a:r>
                    </a:p>
                  </a:txBody>
                  <a:tcPr marL="45720" marR="45720" marT="18288" marB="18288" anchor="ctr" w="1920240"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定位原因</a:t>
                      </a:r>
                    </a:p>
                  </a:txBody>
                  <a:tcPr marL="45720" marR="45720" marT="18288" marB="18288" anchor="ctr" w="1097280"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建议动作</a:t>
                      </a:r>
                    </a:p>
                  </a:txBody>
                  <a:tcPr marL="45720" marR="45720" marT="18288" marB="18288" anchor="ctr" w="1847088">
                    <a:lnB w="19050">
                      <a:solidFill>
                        <a:srgbClr val="0A0A0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P0</a:t>
                      </a:r>
                    </a:p>
                  </a:txBody>
                  <a:tcPr marL="45720" marR="45720" marT="18288" marB="18288" anchor="ctr" w="640080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房租交易批量被归为内部转账</a:t>
                      </a:r>
                    </a:p>
                  </a:txBody>
                  <a:tcPr marL="45720" marR="45720" marT="18288" marB="18288" anchor="ctr" w="1920240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引擎规则问题</a:t>
                      </a:r>
                    </a:p>
                  </a:txBody>
                  <a:tcPr marL="45720" marR="45720" marT="18288" marB="18288" anchor="ctr" w="1097280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优化 Transfer 排除规则并补充回归用例</a:t>
                      </a:r>
                    </a:p>
                  </a:txBody>
                  <a:tcPr marL="45720" marR="45720" marT="18288" marB="18288" anchor="ctr" w="1847088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P1</a:t>
                      </a:r>
                    </a:p>
                  </a:txBody>
                  <a:tcPr marL="45720" marR="45720" marT="18288" marB="18288" anchor="ctr" w="64008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新 BNPL 平台还款未被识别</a:t>
                      </a:r>
                    </a:p>
                  </a:txBody>
                  <a:tcPr marL="45720" marR="45720" marT="18288" marB="18288" anchor="ctr" w="192024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知识库不足</a:t>
                      </a:r>
                    </a:p>
                  </a:txBody>
                  <a:tcPr marL="45720" marR="45720" marT="18288" marB="18288" anchor="ctr" w="109728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补充平台名称及扣款描述关键词</a:t>
                      </a:r>
                    </a:p>
                  </a:txBody>
                  <a:tcPr marL="45720" marR="45720" marT="18288" marB="18288" anchor="ctr" w="1847088"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P2</a:t>
                      </a:r>
                    </a:p>
                  </a:txBody>
                  <a:tcPr marL="45720" marR="45720" marT="18288" marB="18288" anchor="ctr" w="64008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某商户 7 月分类占比短期上升</a:t>
                      </a:r>
                    </a:p>
                  </a:txBody>
                  <a:tcPr marL="45720" marR="45720" marT="18288" marB="18288" anchor="ctr" w="192024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正常波动</a:t>
                      </a:r>
                    </a:p>
                  </a:txBody>
                  <a:tcPr marL="45720" marR="45720" marT="18288" marB="18288" anchor="ctr" w="109728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dirty="0" err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无需处理，持续观察</a:t>
                      </a:r>
                      <a:endParaRPr sz="700" b="0" dirty="0">
                        <a:solidFill>
                          <a:srgbClr val="3D3C3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45720" marR="45720" marT="18288" marB="18288" anchor="ctr" w="1847088"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512064" y="1188720"/>
            <a:ext cx="64008" cy="25603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" y="1170432"/>
            <a:ext cx="511149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A0A0A"/>
                </a:solidFill>
                <a:latin typeface="微软雅黑"/>
              </a:rPr>
              <a:t>1. AI 建设与维护知识库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2064" y="1517904"/>
            <a:ext cx="1371600" cy="21945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2064" y="1517904"/>
            <a:ext cx="13716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澳洲企业库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2064" y="2551176"/>
            <a:ext cx="1371600" cy="21945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" y="2551176"/>
            <a:ext cx="13716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收入识别知识库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12064" y="3712463"/>
            <a:ext cx="1371600" cy="21945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2064" y="3712463"/>
            <a:ext cx="13716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贷款识别知识库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2064" y="4946903"/>
            <a:ext cx="5294376" cy="502920"/>
          </a:xfrm>
          <a:prstGeom prst="rect">
            <a:avLst/>
          </a:prstGeom>
          <a:solidFill>
            <a:srgbClr val="FA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12064" y="4946903"/>
            <a:ext cx="64008" cy="502920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6656" y="5001767"/>
            <a:ext cx="5020056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A0A0A"/>
                </a:solidFill>
                <a:latin typeface="微软雅黑"/>
              </a:rPr>
              <a:t>知识库沉淀“已知规则与业务知识”，
为各分类引擎提供持续更新的识别能力。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1188720"/>
            <a:ext cx="64008" cy="25603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0" y="1170432"/>
            <a:ext cx="532180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A0A0A"/>
                </a:solidFill>
                <a:latin typeface="微软雅黑"/>
              </a:rPr>
              <a:t>2. AI 质检 Agent：监控分类波动并输出诊断报告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72200" y="1563624"/>
            <a:ext cx="5504688" cy="713232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72200" y="1563624"/>
            <a:ext cx="128016" cy="71323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1627632"/>
            <a:ext cx="5138927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4E79"/>
                </a:solidFill>
                <a:latin typeface="微软雅黑"/>
              </a:rPr>
              <a:t>① 监控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1865376"/>
            <a:ext cx="5138927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A0A0A"/>
                </a:solidFill>
                <a:latin typeface="微软雅黑"/>
              </a:rPr>
              <a:t>发现分类漂移 / 引擎冲突 / 新商户 / 新平台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2066544"/>
            <a:ext cx="5138927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3D3C3A"/>
                </a:solidFill>
                <a:latin typeface="微软雅黑"/>
              </a:rPr>
              <a:t>分类批量漂移、归类不一致、覆盖率下降、新描述未识别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33104" y="2295144"/>
            <a:ext cx="1828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D6A000"/>
                </a:solidFill>
                <a:latin typeface="微软雅黑"/>
              </a:rPr>
              <a:t>↓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72200" y="2368296"/>
            <a:ext cx="5504688" cy="713232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172200" y="2368296"/>
            <a:ext cx="128016" cy="71323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0" y="2432304"/>
            <a:ext cx="5138927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4E79"/>
                </a:solidFill>
                <a:latin typeface="微软雅黑"/>
              </a:rPr>
              <a:t>② 定位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2670048"/>
            <a:ext cx="5138927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A0A0A"/>
                </a:solidFill>
                <a:latin typeface="微软雅黑"/>
              </a:rPr>
              <a:t>检查：交易描述 / 金额 / 方向 / 对手方 / 命中规则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2871216"/>
            <a:ext cx="5138927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3D3C3A"/>
                </a:solidFill>
                <a:latin typeface="微软雅黑"/>
              </a:rPr>
              <a:t>对异常逐笔细挖，归类五类原因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33104" y="3099816"/>
            <a:ext cx="1828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D6A000"/>
                </a:solidFill>
                <a:latin typeface="微软雅黑"/>
              </a:rPr>
              <a:t>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72200" y="3172968"/>
            <a:ext cx="5504688" cy="713232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172200" y="3172968"/>
            <a:ext cx="128016" cy="71323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0" y="3236976"/>
            <a:ext cx="5138927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4E79"/>
                </a:solidFill>
                <a:latin typeface="微软雅黑"/>
              </a:rPr>
              <a:t>③ 诊断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0" y="3474720"/>
            <a:ext cx="5138927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A0A0A"/>
                </a:solidFill>
                <a:latin typeface="微软雅黑"/>
              </a:rPr>
              <a:t>归因：规则问题 / 知识库不足 / 数据异常 / 引擎冲突 / 正常波动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0" y="3675888"/>
            <a:ext cx="5138927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3D3C3A"/>
                </a:solidFill>
                <a:latin typeface="微软雅黑"/>
              </a:rPr>
              <a:t>生成按优先级排序的诊断报告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833104" y="3904488"/>
            <a:ext cx="1828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D6A000"/>
                </a:solidFill>
                <a:latin typeface="微软雅黑"/>
              </a:rPr>
              <a:t>↓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72200" y="3977640"/>
            <a:ext cx="5504688" cy="713232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977640"/>
            <a:ext cx="128016" cy="71323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00800" y="4041648"/>
            <a:ext cx="5138927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4E79"/>
                </a:solidFill>
                <a:latin typeface="微软雅黑"/>
              </a:rPr>
              <a:t>④ 优化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0" y="4279392"/>
            <a:ext cx="5138927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A0A0A"/>
                </a:solidFill>
                <a:latin typeface="微软雅黑"/>
              </a:rPr>
              <a:t>更新规则 / 补充知识库 / 修复引擎 / 持续观察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0" y="4480560"/>
            <a:ext cx="5138927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3D3C3A"/>
                </a:solidFill>
                <a:latin typeface="微软雅黑"/>
              </a:rPr>
              <a:t>业务确认后写回知识库与规则表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72200" y="4800600"/>
            <a:ext cx="5504688" cy="2743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72200" y="4800600"/>
            <a:ext cx="550468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</a:rPr>
              <a:t>分类 → 监控 → 定位 → 诊断 → 更新 → 再分类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72200" y="5623560"/>
            <a:ext cx="550468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A0A0A"/>
                </a:solidFill>
                <a:latin typeface="微软雅黑"/>
              </a:rPr>
              <a:t>诊断报告输出示例</a:t>
            </a:r>
          </a:p>
        </p:txBody>
      </p:sp>
    </p:spTree>
    <p:extLst>
      <p:ext uri="{BB962C8B-B14F-4D97-AF65-F5344CB8AC3E}">
        <p14:creationId xmlns:p14="http://schemas.microsoft.com/office/powerpoint/2010/main" val="2946827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40EE25B-7E76-419D-9567-BF44A7BCAF27}"/>
              </a:ext>
            </a:extLst>
          </p:cNvPr>
          <p:cNvSpPr txBox="1"/>
          <p:nvPr/>
        </p:nvSpPr>
        <p:spPr>
          <a:xfrm>
            <a:off x="600015" y="214702"/>
            <a:ext cx="8890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altLang="zh-CN" sz="20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Liability 贷款识别：覆盖、一致性与精度全面优于 illion</a:t>
            </a:r>
            <a:endParaRPr lang="en-US" altLang="zh-CN" sz="2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681727" y="1591056"/>
          <a:ext cx="6958584" cy="4206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78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945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日期</a:t>
                      </a:r>
                    </a:p>
                  </a:txBody>
                  <a:tcPr marL="45720" marR="45720" marT="18288" marB="18288" anchor="ctr" w="777240"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金额</a:t>
                      </a:r>
                    </a:p>
                  </a:txBody>
                  <a:tcPr marL="45720" marR="45720" marT="18288" marB="18288" anchor="ctr" w="777240"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方向</a:t>
                      </a:r>
                    </a:p>
                  </a:txBody>
                  <a:tcPr marL="45720" marR="45720" marT="18288" marB="18288" anchor="ctr" w="594360"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交易描述</a:t>
                      </a:r>
                    </a:p>
                  </a:txBody>
                  <a:tcPr marL="45720" marR="45720" marT="18288" marB="18288" anchor="ctr" w="2468880"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illion 分类</a:t>
                      </a:r>
                    </a:p>
                  </a:txBody>
                  <a:tcPr marL="45720" marR="45720" marT="18288" marB="18288" anchor="ctr" w="1188720"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我方分类</a:t>
                      </a:r>
                    </a:p>
                  </a:txBody>
                  <a:tcPr marL="45720" marR="45720" marT="18288" marB="18288" anchor="ctr" w="1197864">
                    <a:lnB w="19050">
                      <a:solidFill>
                        <a:srgbClr val="0A0A0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2026/07/05</a:t>
                      </a:r>
                    </a:p>
                  </a:txBody>
                  <a:tcPr marL="45720" marR="45720" marT="18288" marB="18288" anchor="ctr" w="777240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A$1,248.00</a:t>
                      </a:r>
                    </a:p>
                  </a:txBody>
                  <a:tcPr marL="45720" marR="45720" marT="18288" marB="18288" anchor="ctr" w="777240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Debit</a:t>
                      </a:r>
                    </a:p>
                  </a:txBody>
                  <a:tcPr marL="45720" marR="45720" marT="18288" marB="18288" anchor="ctr" w="594360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Home loan - Receipt ... To Orange Everyday</a:t>
                      </a:r>
                    </a:p>
                  </a:txBody>
                  <a:tcPr marL="45720" marR="45720" marT="18288" marB="18288" anchor="ctr" w="2468880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Internal Transfer（内部转账）&lt;br&gt;住房贷款完全遗漏</a:t>
                      </a:r>
                    </a:p>
                  </a:txBody>
                  <a:tcPr marL="45720" marR="45720" marT="18288" marB="18288" anchor="ctr" w="1188720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Non-SACC Loans（Home Loan）&lt;br&gt;按产品关键词判定为贷款</a:t>
                      </a:r>
                    </a:p>
                  </a:txBody>
                  <a:tcPr marL="45720" marR="45720" marT="18288" marB="18288" anchor="ctr" w="1197864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681727" y="3108960"/>
          <a:ext cx="6958584" cy="12252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78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945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日期</a:t>
                      </a:r>
                    </a:p>
                  </a:txBody>
                  <a:tcPr marL="45720" marR="45720" marT="18288" marB="18288" anchor="ctr" w="777240"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金额</a:t>
                      </a:r>
                    </a:p>
                  </a:txBody>
                  <a:tcPr marL="45720" marR="45720" marT="18288" marB="18288" anchor="ctr" w="777240"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方向</a:t>
                      </a:r>
                    </a:p>
                  </a:txBody>
                  <a:tcPr marL="45720" marR="45720" marT="18288" marB="18288" anchor="ctr" w="594360"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交易描述</a:t>
                      </a:r>
                    </a:p>
                  </a:txBody>
                  <a:tcPr marL="45720" marR="45720" marT="18288" marB="18288" anchor="ctr" w="2468880"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illion 分类</a:t>
                      </a:r>
                    </a:p>
                  </a:txBody>
                  <a:tcPr marL="45720" marR="45720" marT="18288" marB="18288" anchor="ctr" w="1188720"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我方分类</a:t>
                      </a:r>
                    </a:p>
                  </a:txBody>
                  <a:tcPr marL="45720" marR="45720" marT="18288" marB="18288" anchor="ctr" w="1197864">
                    <a:lnB w="19050">
                      <a:solidFill>
                        <a:srgbClr val="0A0A0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2026/03/02</a:t>
                      </a:r>
                    </a:p>
                  </a:txBody>
                  <a:tcPr marL="45720" marR="45720" marT="18288" marB="18288" anchor="ctr" w="777240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A$750.00</a:t>
                      </a:r>
                    </a:p>
                  </a:txBody>
                  <a:tcPr marL="45720" marR="45720" marT="18288" marB="18288" anchor="ctr" w="777240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Credit</a:t>
                      </a:r>
                    </a:p>
                  </a:txBody>
                  <a:tcPr marL="45720" marR="45720" marT="18288" marB="18288" anchor="ctr" w="594360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MoneySpot Loan Disbursement</a:t>
                      </a:r>
                    </a:p>
                  </a:txBody>
                  <a:tcPr marL="45720" marR="45720" marT="18288" marB="18288" anchor="ctr" w="2468880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SACC Loans</a:t>
                      </a:r>
                    </a:p>
                  </a:txBody>
                  <a:tcPr marL="45720" marR="45720" marT="18288" marB="18288" anchor="ctr" w="1188720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SACC Loans</a:t>
                      </a:r>
                    </a:p>
                  </a:txBody>
                  <a:tcPr marL="45720" marR="45720" marT="18288" marB="18288" anchor="ctr" w="1197864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2026/03/16</a:t>
                      </a:r>
                    </a:p>
                  </a:txBody>
                  <a:tcPr marL="45720" marR="45720" marT="18288" marB="18288" anchor="ctr" w="77724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A$49.09</a:t>
                      </a:r>
                    </a:p>
                  </a:txBody>
                  <a:tcPr marL="45720" marR="45720" marT="18288" marB="18288" anchor="ctr" w="77724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Debit</a:t>
                      </a:r>
                    </a:p>
                  </a:txBody>
                  <a:tcPr marL="45720" marR="45720" marT="18288" marB="18288" anchor="ctr" w="59436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MoneySpot Repayment</a:t>
                      </a:r>
                    </a:p>
                  </a:txBody>
                  <a:tcPr marL="45720" marR="45720" marT="18288" marB="18288" anchor="ctr" w="246888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SACC Loans</a:t>
                      </a:r>
                    </a:p>
                  </a:txBody>
                  <a:tcPr marL="45720" marR="45720" marT="18288" marB="18288" anchor="ctr" w="118872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SACC Loans</a:t>
                      </a:r>
                    </a:p>
                  </a:txBody>
                  <a:tcPr marL="45720" marR="45720" marT="18288" marB="18288" anchor="ctr" w="1197864"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2026/05/11</a:t>
                      </a:r>
                    </a:p>
                  </a:txBody>
                  <a:tcPr marL="45720" marR="45720" marT="18288" marB="18288" anchor="ctr" w="77724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A$49.09</a:t>
                      </a:r>
                    </a:p>
                  </a:txBody>
                  <a:tcPr marL="45720" marR="45720" marT="18288" marB="18288" anchor="ctr" w="77724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Debit</a:t>
                      </a:r>
                    </a:p>
                  </a:txBody>
                  <a:tcPr marL="45720" marR="45720" marT="18288" marB="18288" anchor="ctr" w="59436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MoneySpot Repayment</a:t>
                      </a:r>
                    </a:p>
                  </a:txBody>
                  <a:tcPr marL="45720" marR="45720" marT="18288" marB="18288" anchor="ctr" w="246888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SACC Loans</a:t>
                      </a:r>
                    </a:p>
                  </a:txBody>
                  <a:tcPr marL="45720" marR="45720" marT="18288" marB="18288" anchor="ctr" w="118872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SACC Loans</a:t>
                      </a:r>
                    </a:p>
                  </a:txBody>
                  <a:tcPr marL="45720" marR="45720" marT="18288" marB="18288" anchor="ctr" w="1197864"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2026/05/25</a:t>
                      </a:r>
                    </a:p>
                  </a:txBody>
                  <a:tcPr marL="45720" marR="45720" marT="18288" marB="18288" anchor="ctr" w="77724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A$49.09</a:t>
                      </a:r>
                    </a:p>
                  </a:txBody>
                  <a:tcPr marL="45720" marR="45720" marT="18288" marB="18288" anchor="ctr" w="77724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Debit</a:t>
                      </a:r>
                    </a:p>
                  </a:txBody>
                  <a:tcPr marL="45720" marR="45720" marT="18288" marB="18288" anchor="ctr" w="59436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MoneySpot Repayment</a:t>
                      </a:r>
                    </a:p>
                  </a:txBody>
                  <a:tcPr marL="45720" marR="45720" marT="18288" marB="18288" anchor="ctr" w="246888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Non-SACC Loans</a:t>
                      </a:r>
                    </a:p>
                  </a:txBody>
                  <a:tcPr marL="45720" marR="45720" marT="18288" marB="18288" anchor="ctr" w="118872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SACC Loans</a:t>
                      </a:r>
                    </a:p>
                  </a:txBody>
                  <a:tcPr marL="45720" marR="45720" marT="18288" marB="18288" anchor="ctr" w="1197864"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2026/07/20</a:t>
                      </a:r>
                    </a:p>
                  </a:txBody>
                  <a:tcPr marL="45720" marR="45720" marT="18288" marB="18288" anchor="ctr" w="77724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A$49.09</a:t>
                      </a:r>
                    </a:p>
                  </a:txBody>
                  <a:tcPr marL="45720" marR="45720" marT="18288" marB="18288" anchor="ctr" w="77724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Debit</a:t>
                      </a:r>
                    </a:p>
                  </a:txBody>
                  <a:tcPr marL="45720" marR="45720" marT="18288" marB="18288" anchor="ctr" w="59436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MoneySpot Repayment</a:t>
                      </a:r>
                    </a:p>
                  </a:txBody>
                  <a:tcPr marL="45720" marR="45720" marT="18288" marB="18288" anchor="ctr" w="246888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Non-SACC Loans</a:t>
                      </a:r>
                    </a:p>
                  </a:txBody>
                  <a:tcPr marL="45720" marR="45720" marT="18288" marB="18288" anchor="ctr" w="118872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SACC Loans</a:t>
                      </a:r>
                    </a:p>
                  </a:txBody>
                  <a:tcPr marL="45720" marR="45720" marT="18288" marB="18288" anchor="ctr" w="1197864"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681727" y="5413247"/>
          <a:ext cx="6958584" cy="7223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78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116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日期</a:t>
                      </a:r>
                    </a:p>
                  </a:txBody>
                  <a:tcPr marL="45720" marR="45720" marT="18288" marB="18288" anchor="ctr" w="777240"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金额</a:t>
                      </a:r>
                    </a:p>
                  </a:txBody>
                  <a:tcPr marL="45720" marR="45720" marT="18288" marB="18288" anchor="ctr" w="777240"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方向</a:t>
                      </a:r>
                    </a:p>
                  </a:txBody>
                  <a:tcPr marL="45720" marR="45720" marT="18288" marB="18288" anchor="ctr" w="594360"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交易描述</a:t>
                      </a:r>
                    </a:p>
                  </a:txBody>
                  <a:tcPr marL="45720" marR="45720" marT="18288" marB="18288" anchor="ctr" w="2468880"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illion 分类</a:t>
                      </a:r>
                    </a:p>
                  </a:txBody>
                  <a:tcPr marL="45720" marR="45720" marT="18288" marB="18288" anchor="ctr" w="1188720"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我方分类</a:t>
                      </a:r>
                    </a:p>
                  </a:txBody>
                  <a:tcPr marL="45720" marR="45720" marT="18288" marB="18288" anchor="ctr" w="1197864">
                    <a:lnB w="19050">
                      <a:solidFill>
                        <a:srgbClr val="0A0A0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7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2026/02/10</a:t>
                      </a:r>
                    </a:p>
                  </a:txBody>
                  <a:tcPr marL="45720" marR="45720" marT="18288" marB="18288" anchor="ctr" w="777240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A$300.00</a:t>
                      </a:r>
                    </a:p>
                  </a:txBody>
                  <a:tcPr marL="45720" marR="45720" marT="18288" marB="18288" anchor="ctr" w="777240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Credit</a:t>
                      </a:r>
                    </a:p>
                  </a:txBody>
                  <a:tcPr marL="45720" marR="45720" marT="18288" marB="18288" anchor="ctr" w="594360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dirty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Credit24 Loan Advance</a:t>
                      </a:r>
                    </a:p>
                  </a:txBody>
                  <a:tcPr marL="45720" marR="45720" marT="18288" marB="18288" anchor="ctr" w="2468880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SACC Loans</a:t>
                      </a:r>
                    </a:p>
                  </a:txBody>
                  <a:tcPr marL="45720" marR="45720" marT="18288" marB="18288" anchor="ctr" w="1188720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Non-SACC Loans（LOC 循环授信）</a:t>
                      </a:r>
                    </a:p>
                  </a:txBody>
                  <a:tcPr marL="45720" marR="45720" marT="18288" marB="18288" anchor="ctr" w="1197864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7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2026/04/14</a:t>
                      </a:r>
                    </a:p>
                  </a:txBody>
                  <a:tcPr marL="45720" marR="45720" marT="18288" marB="18288" anchor="ctr" w="77724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A$48.30</a:t>
                      </a:r>
                    </a:p>
                  </a:txBody>
                  <a:tcPr marL="45720" marR="45720" marT="18288" marB="18288" anchor="ctr" w="77724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Debit</a:t>
                      </a:r>
                    </a:p>
                  </a:txBody>
                  <a:tcPr marL="45720" marR="45720" marT="18288" marB="18288" anchor="ctr" w="59436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dirty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Credit24 Repayment</a:t>
                      </a:r>
                    </a:p>
                  </a:txBody>
                  <a:tcPr marL="45720" marR="45720" marT="18288" marB="18288" anchor="ctr" w="246888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SACC Loans</a:t>
                      </a:r>
                    </a:p>
                  </a:txBody>
                  <a:tcPr marL="45720" marR="45720" marT="18288" marB="18288" anchor="ctr" w="118872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Non-SACC Loans（LOC 循环授信）</a:t>
                      </a:r>
                    </a:p>
                  </a:txBody>
                  <a:tcPr marL="45720" marR="45720" marT="18288" marB="18288" anchor="ctr" w="1197864"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7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2026/06/22</a:t>
                      </a:r>
                    </a:p>
                  </a:txBody>
                  <a:tcPr marL="45720" marR="45720" marT="18288" marB="18288" anchor="ctr" w="77724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A$48.30</a:t>
                      </a:r>
                    </a:p>
                  </a:txBody>
                  <a:tcPr marL="45720" marR="45720" marT="18288" marB="18288" anchor="ctr" w="77724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Debit</a:t>
                      </a:r>
                    </a:p>
                  </a:txBody>
                  <a:tcPr marL="45720" marR="45720" marT="18288" marB="18288" anchor="ctr" w="59436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dirty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Credit24 Repayment</a:t>
                      </a:r>
                    </a:p>
                  </a:txBody>
                  <a:tcPr marL="45720" marR="45720" marT="18288" marB="18288" anchor="ctr" w="246888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SACC Loans</a:t>
                      </a:r>
                    </a:p>
                  </a:txBody>
                  <a:tcPr marL="45720" marR="45720" marT="18288" marB="18288" anchor="ctr" w="1188720"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dirty="0">
                          <a:latin typeface="微软雅黑"/>
                          <a:ea typeface="微软雅黑"/>
                          <a:solidFill>
                            <a:srgbClr val="0A0A0A"/>
                          </a:solidFill>
                        </a:rPr>
                        <a:t>Non-SACC Loans（LOC 循环授信）</a:t>
                      </a:r>
                    </a:p>
                  </a:txBody>
                  <a:tcPr marL="45720" marR="45720" marT="18288" marB="18288" anchor="ctr" w="1197864"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12064" y="566928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微软雅黑"/>
              </a:rPr>
              <a:t>OOT 样本对比：1,519 个申请 case ｜ 1,958,480 条交易 ｜ 2026/07/27–2026/07/31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051560"/>
            <a:ext cx="64008" cy="25603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79" y="1033271"/>
            <a:ext cx="402335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A0A0A"/>
                </a:solidFill>
                <a:latin typeface="微软雅黑"/>
              </a:rPr>
              <a:t>1. 贷款识别覆盖交集：我方漏识别更少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" y="3749039"/>
            <a:ext cx="1298448" cy="914400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2064" y="3749039"/>
            <a:ext cx="1298448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" y="3877055"/>
            <a:ext cx="129844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A0A0A"/>
                </a:solidFill>
                <a:latin typeface="微软雅黑"/>
              </a:rPr>
              <a:t>Finv 识别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" y="4114800"/>
            <a:ext cx="12984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F4E79"/>
                </a:solidFill>
                <a:latin typeface="微软雅黑"/>
              </a:rPr>
              <a:t>5,680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" y="4425696"/>
            <a:ext cx="12984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3D3C3A"/>
                </a:solidFill>
                <a:latin typeface="微软雅黑"/>
              </a:rPr>
              <a:t>覆盖率 12.8%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20240" y="3749039"/>
            <a:ext cx="1298448" cy="914400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920240" y="3749039"/>
            <a:ext cx="1298448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20240" y="3877055"/>
            <a:ext cx="129844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A0A0A"/>
                </a:solidFill>
                <a:latin typeface="微软雅黑"/>
              </a:rPr>
              <a:t>双方共识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4114800"/>
            <a:ext cx="12984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F4E79"/>
                </a:solidFill>
                <a:latin typeface="微软雅黑"/>
              </a:rPr>
              <a:t>5,284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4425696"/>
            <a:ext cx="12984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3D3C3A"/>
                </a:solidFill>
                <a:latin typeface="微软雅黑"/>
              </a:rPr>
              <a:t>一致率 92.0%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28416" y="3749039"/>
            <a:ext cx="1298448" cy="914400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328416" y="3749039"/>
            <a:ext cx="1298448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28416" y="3877055"/>
            <a:ext cx="129844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A0A0A"/>
                </a:solidFill>
                <a:latin typeface="微软雅黑"/>
              </a:rPr>
              <a:t>illion 识别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28416" y="4114800"/>
            <a:ext cx="12984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F4E79"/>
                </a:solidFill>
                <a:latin typeface="微软雅黑"/>
              </a:rPr>
              <a:t>5,363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28416" y="4425696"/>
            <a:ext cx="12984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3D3C3A"/>
                </a:solidFill>
                <a:latin typeface="微软雅黑"/>
              </a:rPr>
              <a:t>覆盖率 12.1%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2064" y="4828031"/>
            <a:ext cx="4480559" cy="457200"/>
          </a:xfrm>
          <a:prstGeom prst="rect">
            <a:avLst/>
          </a:prstGeom>
          <a:solidFill>
            <a:srgbClr val="FA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12064" y="4828031"/>
            <a:ext cx="64008" cy="457200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4901183"/>
            <a:ext cx="4206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0A0A0A"/>
                </a:solidFill>
                <a:latin typeface="微软雅黑"/>
              </a:rPr>
              <a:t>双方识别高度重合，但 Finv 覆盖更多、漏识更少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63440" y="1078992"/>
            <a:ext cx="566928" cy="23774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63440" y="1078992"/>
            <a:ext cx="566928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Case 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03520" y="1060704"/>
            <a:ext cx="631850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A0A0A"/>
                </a:solidFill>
                <a:latin typeface="微软雅黑"/>
              </a:rPr>
              <a:t>覆盖提升：Home Loan 被 illion 漏识别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81727" y="1353312"/>
            <a:ext cx="695858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3D3C3A"/>
                </a:solidFill>
                <a:latin typeface="微软雅黑"/>
              </a:rPr>
              <a:t>同一笔 Home Loan 还款，illion 归为 Internal Transfer，住房贷款完全遗漏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81727" y="2121408"/>
            <a:ext cx="6958584" cy="274320"/>
          </a:xfrm>
          <a:prstGeom prst="rect">
            <a:avLst/>
          </a:prstGeom>
          <a:solidFill>
            <a:srgbClr val="FA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681727" y="2121408"/>
            <a:ext cx="45720" cy="274320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09743" y="2157984"/>
            <a:ext cx="67757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0A0A0A"/>
                </a:solidFill>
                <a:latin typeface="微软雅黑"/>
              </a:rPr>
              <a:t>✓ Finv 通过产品词库识别 Home Loan，扩大贷款识别覆盖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63440" y="2596896"/>
            <a:ext cx="566928" cy="23774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63440" y="2596896"/>
            <a:ext cx="566928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Case 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03520" y="2578608"/>
            <a:ext cx="631850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A0A0A"/>
                </a:solidFill>
                <a:latin typeface="微软雅黑"/>
              </a:rPr>
              <a:t>一致性：同一贷款流内 illion 标签自相矛盾（MoneySpot）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81727" y="2871216"/>
            <a:ext cx="695858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3D3C3A"/>
                </a:solidFill>
                <a:latin typeface="微软雅黑"/>
              </a:rPr>
              <a:t>同一贷款流共 11 笔：放款 1 笔（A$750）+ 等额还款 10 笔（A$49.09/期），illion 前 6 笔标 SACC、后 5 笔标 Non-SACC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81727" y="4425696"/>
            <a:ext cx="6958584" cy="274320"/>
          </a:xfrm>
          <a:prstGeom prst="rect">
            <a:avLst/>
          </a:prstGeom>
          <a:solidFill>
            <a:srgbClr val="FA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681727" y="4425696"/>
            <a:ext cx="45720" cy="274320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809743" y="4462272"/>
            <a:ext cx="67757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0A0A0A"/>
                </a:solidFill>
                <a:latin typeface="微软雅黑"/>
              </a:rPr>
              <a:t>✓ Finv 基于完整贷款流统一判断，避免交易级标签前后冲突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663440" y="4901183"/>
            <a:ext cx="566928" cy="23774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663440" y="4901183"/>
            <a:ext cx="566928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Case 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03520" y="4882896"/>
            <a:ext cx="631850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A0A0A"/>
                </a:solidFill>
                <a:latin typeface="微软雅黑"/>
              </a:rPr>
              <a:t>分类精度：Credit24 被 illion 泛化为 SACC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81727" y="5175503"/>
            <a:ext cx="695858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3D3C3A"/>
                </a:solidFill>
                <a:latin typeface="微软雅黑"/>
              </a:rPr>
              <a:t>同一用户共 19 笔 Credit24 交易全部被标为 SACC Loans，忽略产品类型差异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681727" y="6327647"/>
            <a:ext cx="6958584" cy="274320"/>
          </a:xfrm>
          <a:prstGeom prst="rect">
            <a:avLst/>
          </a:prstGeom>
          <a:solidFill>
            <a:srgbClr val="FA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681727" y="6327647"/>
            <a:ext cx="45720" cy="274320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809743" y="6364223"/>
            <a:ext cx="67757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0A0A0A"/>
                </a:solidFill>
                <a:latin typeface="微软雅黑"/>
              </a:rPr>
              <a:t>✓ Finv 结合交易模式与机构产品知识识别 LOC，提升贷款类型精度</a:t>
            </a:r>
          </a:p>
        </p:txBody>
      </p:sp>
      <p:sp>
        <p:nvSpPr>
          <p:cNvPr id="64" name="Oval 63"/>
          <p:cNvSpPr/>
          <p:nvPr/>
        </p:nvSpPr>
        <p:spPr>
          <a:xfrm>
            <a:off x="502920" y="1417320"/>
            <a:ext cx="2148840" cy="2148840"/>
          </a:xfrm>
          <a:prstGeom prst="ellipse">
            <a:avLst/>
          </a:prstGeom>
          <a:solidFill>
            <a:srgbClr val="1F4E79">
              <a:alpha val="28000"/>
            </a:srgbClr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691640" y="1417320"/>
            <a:ext cx="2148840" cy="2148840"/>
          </a:xfrm>
          <a:prstGeom prst="ellipse">
            <a:avLst/>
          </a:prstGeom>
          <a:solidFill>
            <a:srgbClr val="D6A000">
              <a:alpha val="28000"/>
            </a:srgbClr>
          </a:solidFill>
          <a:ln w="15240">
            <a:solidFill>
              <a:srgbClr val="D6A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" y="2354580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F4E79"/>
                </a:solidFill>
                <a:latin typeface="微软雅黑"/>
              </a:rPr>
              <a:t>396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063240" y="2354580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D6A000"/>
                </a:solidFill>
                <a:latin typeface="微软雅黑"/>
              </a:rPr>
              <a:t>79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371600" y="2290572"/>
            <a:ext cx="685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A0A0A"/>
                </a:solidFill>
                <a:latin typeface="微软雅黑"/>
              </a:rPr>
              <a:t>5,284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16152" y="2583180"/>
            <a:ext cx="9601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3D3C3A"/>
                </a:solidFill>
                <a:latin typeface="微软雅黑"/>
              </a:rPr>
              <a:t>一致率 92.0%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74320" y="914400"/>
            <a:ext cx="2606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1F4E79"/>
                </a:solidFill>
                <a:latin typeface="微软雅黑"/>
              </a:rPr>
              <a:t>Finv 识别 5,680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74320" y="1161288"/>
            <a:ext cx="26060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3D3C3A"/>
                </a:solidFill>
                <a:latin typeface="微软雅黑"/>
              </a:rPr>
              <a:t>覆盖率 12.8%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463040" y="914400"/>
            <a:ext cx="2606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D6A000"/>
                </a:solidFill>
                <a:latin typeface="微软雅黑"/>
              </a:rPr>
              <a:t>illion 识别 5,363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463040" y="1161288"/>
            <a:ext cx="26060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3D3C3A"/>
                </a:solidFill>
                <a:latin typeface="微软雅黑"/>
              </a:rPr>
              <a:t>覆盖率 12.1%</a:t>
            </a:r>
          </a:p>
        </p:txBody>
      </p:sp>
    </p:spTree>
    <p:extLst>
      <p:ext uri="{BB962C8B-B14F-4D97-AF65-F5344CB8AC3E}">
        <p14:creationId xmlns:p14="http://schemas.microsoft.com/office/powerpoint/2010/main" val="500741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457</TotalTime>
  <Words>1160</Words>
  <Application>Microsoft Office PowerPoint</Application>
  <PresentationFormat>宽屏</PresentationFormat>
  <Paragraphs>351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微软雅黑</vt:lpstr>
      <vt:lpstr>等线</vt:lpstr>
      <vt:lpstr>微软雅黑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银行流水识别与信审决策</dc:title>
  <dc:subject>银行流水识别与信审决策</dc:subject>
  <dc:creator>Kimi</dc:creator>
  <cp:lastModifiedBy>张昱良-Eliam</cp:lastModifiedBy>
  <cp:revision>83</cp:revision>
  <dcterms:modified xsi:type="dcterms:W3CDTF">2026-08-09T08:45:09Z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银行流水识别与信审决策","ContentProducer":"001191110108MACG2KBH8F10000","ProduceID":"19fd57ab-32b2-8dc3-8000-000021f6677f","ReservedCode1":"","ContentPropagator":"001191110108MACG2KBH8F20000","PropagateID":"19fd5750-12b2-8d03-8000-09de61760ce3","ReservedCode2":""}</vt:lpwstr>
  </property>
</Properties>
</file>