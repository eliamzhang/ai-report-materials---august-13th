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80" r:id="rId15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736600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原始银行流水经大模型识别与分类，形成交易明细与用户汇总两级视图，直接回答新增还款能力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52728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662175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34999" y="416927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/>
        </p:nvGraphicFramePr>
        <p:xfrm>
          <a:off x="650815" y="1550812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/>
        </p:nvGraphicFramePr>
        <p:xfrm>
          <a:off x="634999" y="2940397"/>
          <a:ext cx="10901631" cy="1113993"/>
        </p:xfrm>
        <a:graphic>
          <a:graphicData uri="http://schemas.openxmlformats.org/drawingml/2006/table">
            <a:tbl>
              <a:tblPr/>
              <a:tblGrid>
                <a:gridCol w="767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514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1012354">
                  <a:extLst>
                    <a:ext uri="{9D8B030D-6E8A-4147-A177-3AD203B41FA5}">
                      <a16:colId xmlns:a16="http://schemas.microsoft.com/office/drawing/2014/main" val="1228048883"/>
                    </a:ext>
                  </a:extLst>
                </a:gridCol>
                <a:gridCol w="829993">
                  <a:extLst>
                    <a:ext uri="{9D8B030D-6E8A-4147-A177-3AD203B41FA5}">
                      <a16:colId xmlns:a16="http://schemas.microsoft.com/office/drawing/2014/main" val="2445864241"/>
                    </a:ext>
                  </a:extLst>
                </a:gridCol>
                <a:gridCol w="913151">
                  <a:extLst>
                    <a:ext uri="{9D8B030D-6E8A-4147-A177-3AD203B41FA5}">
                      <a16:colId xmlns:a16="http://schemas.microsoft.com/office/drawing/2014/main" val="516131836"/>
                    </a:ext>
                  </a:extLst>
                </a:gridCol>
                <a:gridCol w="2262314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二级分类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交易性质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SACC Loans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Dining Out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Health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Subscription TV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订阅支出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salary_payg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557807"/>
              </p:ext>
            </p:extLst>
          </p:nvPr>
        </p:nvGraphicFramePr>
        <p:xfrm>
          <a:off x="202403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752341"/>
              </p:ext>
            </p:extLst>
          </p:nvPr>
        </p:nvGraphicFramePr>
        <p:xfrm>
          <a:off x="774919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453896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7178040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99032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23176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6446520"/>
            <a:ext cx="9198864" cy="36576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90500" tIns="0" rIns="101600" bIns="0" rtlCol="0" anchor="ctr"/>
          <a:lstStyle/>
          <a:p>
            <a:pPr algn="ctr"/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平均月还款金额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A$428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直接进入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Serviceability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计算，作为新增还款能力评估的核心输入</a:t>
            </a:r>
            <a:endParaRPr sz="900" b="1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9808" y="6446520"/>
            <a:ext cx="64008" cy="36576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0" rIns="109728" bIns="0" rtlCol="0" anchor="t"/>
          <a:lstStyle/>
          <a:p>
            <a:pPr algn="l"/>
            <a:endParaRPr sz="900" b="1">
              <a:solidFill>
                <a:srgbClr val="0A0A0A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75104"/>
            <a:ext cx="5540237" cy="17922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① 监控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捕捉分类批量漂移、同一交易对手归类不一致、覆盖率或命中率明显下降、新描述未被任何引擎识别等异常信号。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② 定位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对异常逐笔细挖交易描述、金额、方向、交易对手、命中引擎和分类依据，归类为五类原因。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③ 输出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p/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bIns="36576"/>
          <a:lstStyle/>
          <a:p>
            <a:pPr latinLnBrk="1"/>
            <a:r>
              <a:rPr sz="1100" b="1" lang="zh-CN">
                <a:solidFill>
                  <a:srgbClr val="1F4E79"/>
                </a:solidFill>
                <a:ea typeface="微软雅黑"/>
              </a:rPr>
              <a:t>① 监控</a:t>
            </a:r>
          </a:p>
          <a:p>
            <a:pPr latinLnBrk="1"/>
            <a:r>
              <a:rPr sz="850" b="0" lang="zh-CN">
                <a:solidFill>
                  <a:srgbClr val="3D3C3A"/>
                </a:solidFill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bIns="36576"/>
          <a:lstStyle/>
          <a:p>
            <a:pPr latinLnBrk="1"/>
            <a:r>
              <a:rPr sz="1100" b="1" lang="zh-CN">
                <a:solidFill>
                  <a:srgbClr val="1F4E79"/>
                </a:solidFill>
                <a:ea typeface="微软雅黑"/>
              </a:rPr>
              <a:t>② 定位</a:t>
            </a:r>
          </a:p>
          <a:p>
            <a:pPr latinLnBrk="1"/>
            <a:r>
              <a:rPr sz="850" b="0" lang="zh-CN">
                <a:solidFill>
                  <a:srgbClr val="3D3C3A"/>
                </a:solidFill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bIns="36576"/>
          <a:lstStyle/>
          <a:p>
            <a:pPr latinLnBrk="1"/>
            <a:r>
              <a:rPr sz="1100" b="1" lang="zh-CN">
                <a:solidFill>
                  <a:srgbClr val="1F4E79"/>
                </a:solidFill>
                <a:ea typeface="微软雅黑"/>
              </a:rPr>
              <a:t>③ 输出</a:t>
            </a:r>
          </a:p>
          <a:p>
            <a:pPr latinLnBrk="1"/>
            <a:r>
              <a:rPr sz="850" b="0" lang="zh-CN">
                <a:solidFill>
                  <a:srgbClr val="3D3C3A"/>
                </a:solidFill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65961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65961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839213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131821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</TotalTime>
  <Words>1153</Words>
  <Application>Microsoft Office PowerPoint</Application>
  <PresentationFormat>宽屏</PresentationFormat>
  <Paragraphs>372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107</cp:revision>
  <dcterms:modified xsi:type="dcterms:W3CDTF">2026-08-10T03:47:07Z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