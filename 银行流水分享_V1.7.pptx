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67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67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>
        <p:scale>
          <a:sx n="125" d="100"/>
          <a:sy n="125" d="100"/>
        </p:scale>
        <p:origin x="1146" y="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607168" y="195922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607168" y="62036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2026/8/9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从一笔交易到完整的客户财务画像，输出直接回答新增还款能力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原始流水 → 交易明细维度 → 用户汇总维度 → Serviceability 计算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6D65428F-6A5F-41C4-ACB7-27279799D716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eyJ2aWV3Qm94IjpbODU2LDFdLCJwb2ludHMiOiIwLDAgODU2LDAifQ</pptd:line>
              </p:ext>
            </p:extLst>
          </p:nvPr>
        </p:nvSpPr>
        <p:spPr>
          <a:xfrm>
            <a:off x="431800" y="1092200"/>
            <a:ext cx="10871200" cy="12700"/>
          </a:xfrm>
          <a:custGeom>
            <a:avLst/>
            <a:gdLst/>
            <a:ahLst/>
            <a:cxnLst/>
            <a:rect l="l" t="t" r="r" b="b"/>
            <a:pathLst>
              <a:path w="856" h="1">
                <a:moveTo>
                  <a:pt x="0" y="0"/>
                </a:moveTo>
                <a:lnTo>
                  <a:pt x="85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84200" y="1206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1.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原始银行流水（输入示例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）</a:t>
            </a:r>
            <a:endParaRPr lang="en-US" sz="12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35000" y="2662175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交易明细维度：理解每一笔交易（输出示例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）</a:t>
            </a:r>
            <a:endParaRPr lang="en-US" sz="1200" b="1" noProof="1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34999" y="4169271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3. </a:t>
            </a:r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用户汇总维度：形成完整负债画像（输出示例</a:t>
            </a:r>
            <a:r>
              <a:rPr sz="1200" b="1" dirty="0">
                <a:solidFill>
                  <a:srgbClr val="0A0A0A"/>
                </a:solidFill>
                <a:latin typeface="微软雅黑"/>
                <a:ea typeface="微软雅黑"/>
              </a:rPr>
              <a:t>）</a:t>
            </a:r>
            <a:endParaRPr lang="en-US" sz="1200" b="1" noProof="1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462542"/>
              </p:ext>
            </p:extLst>
          </p:nvPr>
        </p:nvGraphicFramePr>
        <p:xfrm>
          <a:off x="650815" y="1550812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282757"/>
              </p:ext>
            </p:extLst>
          </p:nvPr>
        </p:nvGraphicFramePr>
        <p:xfrm>
          <a:off x="634999" y="2940397"/>
          <a:ext cx="10901631" cy="1113993"/>
        </p:xfrm>
        <a:graphic>
          <a:graphicData uri="http://schemas.openxmlformats.org/drawingml/2006/table">
            <a:tbl>
              <a:tblPr/>
              <a:tblGrid>
                <a:gridCol w="767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6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514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1012354">
                  <a:extLst>
                    <a:ext uri="{9D8B030D-6E8A-4147-A177-3AD203B41FA5}">
                      <a16:colId xmlns:a16="http://schemas.microsoft.com/office/drawing/2014/main" val="1228048883"/>
                    </a:ext>
                  </a:extLst>
                </a:gridCol>
                <a:gridCol w="829993">
                  <a:extLst>
                    <a:ext uri="{9D8B030D-6E8A-4147-A177-3AD203B41FA5}">
                      <a16:colId xmlns:a16="http://schemas.microsoft.com/office/drawing/2014/main" val="2445864241"/>
                    </a:ext>
                  </a:extLst>
                </a:gridCol>
                <a:gridCol w="913151">
                  <a:extLst>
                    <a:ext uri="{9D8B030D-6E8A-4147-A177-3AD203B41FA5}">
                      <a16:colId xmlns:a16="http://schemas.microsoft.com/office/drawing/2014/main" val="516131836"/>
                    </a:ext>
                  </a:extLst>
                </a:gridCol>
                <a:gridCol w="2262314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二级分类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交易性质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SACC Loans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Dining Out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Health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消费支出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Subscription TV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订阅支出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salary_payg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995091"/>
              </p:ext>
            </p:extLst>
          </p:nvPr>
        </p:nvGraphicFramePr>
        <p:xfrm>
          <a:off x="2024032" y="4512752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8486903"/>
              </p:ext>
            </p:extLst>
          </p:nvPr>
        </p:nvGraphicFramePr>
        <p:xfrm>
          <a:off x="7749192" y="4512752"/>
          <a:ext cx="3127663" cy="2293486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822960" y="4777740"/>
            <a:ext cx="777240" cy="1341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用户维度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6461187" y="4792980"/>
            <a:ext cx="777240" cy="1341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单笔借款维度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贷款识别知识库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676400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2A69DA-792E-4EF6-BBB2-2066D247A0B4}"/>
              </a:ext>
            </a:extLst>
          </p:cNvPr>
          <p:cNvSpPr txBox="1"/>
          <p:nvPr/>
        </p:nvSpPr>
        <p:spPr>
          <a:xfrm>
            <a:off x="6311257" y="1990719"/>
            <a:ext cx="5540237" cy="163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300"/>
              </a:spcAft>
            </a:pP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①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监控：捕捉分类批量漂移、同一交易对手归类不一致、覆盖率或命中率明显下降、新描述未被任何引擎识别等异常信号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②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定位：对异常逐笔细挖交易描述、金额、方向、交易对手、命中引擎和分类依据，归类为五类原因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③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输出：生成按优先级排序的诊断报告，直接标明问题引擎、需检查的规则、缺失的商户／关键词及应补充的知识库，供业务确认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  <a:p>
            <a:pPr>
              <a:lnSpc>
                <a:spcPct val="150000"/>
              </a:lnSpc>
              <a:spcAft>
                <a:spcPts val="300"/>
              </a:spcAft>
            </a:pP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效果：知识库随注册商户的新增、变更、失效持续更新，并从真实交易中补齐注册数据未覆盖的支付描述和商户别名。由此形成"分类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监控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输出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更新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 → </a:t>
            </a:r>
            <a:r>
              <a:rPr sz="900" b="0" dirty="0" err="1">
                <a:solidFill>
                  <a:srgbClr val="3D3C3A"/>
                </a:solidFill>
                <a:latin typeface="微软雅黑"/>
                <a:ea typeface="微软雅黑"/>
              </a:rPr>
              <a:t>再分类"的持续优化闭环</a:t>
            </a:r>
            <a:r>
              <a:rPr sz="900" b="0" dirty="0">
                <a:solidFill>
                  <a:srgbClr val="3D3C3A"/>
                </a:solidFill>
                <a:latin typeface="微软雅黑"/>
                <a:ea typeface="微软雅黑"/>
              </a:rPr>
              <a:t>。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7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7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7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7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11257" y="5282559"/>
            <a:ext cx="5540237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19817" y="3773799"/>
            <a:ext cx="110799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9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</p:spTree>
    <p:extLst>
      <p:ext uri="{BB962C8B-B14F-4D97-AF65-F5344CB8AC3E}">
        <p14:creationId xmlns:p14="http://schemas.microsoft.com/office/powerpoint/2010/main" val="2946827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545337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527048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Oval 63"/>
          <p:cNvSpPr/>
          <p:nvPr/>
        </p:nvSpPr>
        <p:spPr>
          <a:xfrm>
            <a:off x="420623" y="1911097"/>
            <a:ext cx="2148840" cy="2148840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1609343" y="1911097"/>
            <a:ext cx="2148840" cy="2148840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83463" y="2848357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3" y="2848357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79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89303" y="2784349"/>
            <a:ext cx="685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5" y="3076957"/>
            <a:ext cx="96012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92023" y="1429921"/>
            <a:ext cx="26060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 5,680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9202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0743" y="1408177"/>
            <a:ext cx="26060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D6A00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 5,363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80743" y="1655065"/>
            <a:ext cx="260604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</TotalTime>
  <Words>1087</Words>
  <Application>Microsoft Office PowerPoint</Application>
  <PresentationFormat>宽屏</PresentationFormat>
  <Paragraphs>367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Arial</vt:lpstr>
      <vt:lpstr>微软雅黑 Light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100</cp:revision>
  <dcterms:modified xsi:type="dcterms:W3CDTF">2026-08-09T10:26:06Z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