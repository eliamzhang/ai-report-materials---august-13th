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0" r:id="rId1"/>
  </p:sldMasterIdLst>
  <p:sldIdLst>
    <p:sldId id="260" r:id="rId2"/>
    <p:sldId id="269" r:id="rId3"/>
    <p:sldId id="267" r:id="rId4"/>
    <p:sldId id="279" r:id="rId5"/>
  </p:sldIdLst>
  <p:sldSz cx="12192000" cy="6858000"/>
  <p:notesSz cx="12192000" cy="6858000"/>
  <p:embeddedFontLst>
    <p:embeddedFont>
      <p:font typeface="微软雅黑" panose="020B0503020204020204" pitchFamily="34" charset="-122"/>
      <p:regular r:id="rId6"/>
      <p:bold r:id="rId7"/>
    </p:embeddedFont>
    <p:embeddedFont>
      <p:font typeface="微软雅黑 Light" panose="020B0502040204020203" pitchFamily="34" charset="-122"/>
      <p:regular r:id="rId8"/>
    </p:embeddedFont>
    <p:embeddedFont>
      <p:font typeface="等线" panose="02010600030101010101" pitchFamily="2" charset="-122"/>
      <p:regular r:id="rId9"/>
      <p:bold r:id="rId1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list" id="{B3605CEF-5BC4-40B4-8F96-9FBCAEE09C7D}">
          <p14:sldIdLst/>
        </p14:section>
        <p14:section name="sms" id="{BFC3A2BC-87CF-4514-9F88-2C86509F7121}">
          <p14:sldIdLst/>
        </p14:section>
        <p14:section name="银行流水" id="{C38B6FF6-1B3C-4CE4-AEDB-5CB84D573A5E}">
          <p14:sldIdLst>
            <p14:sldId id="260"/>
            <p14:sldId id="269"/>
            <p14:sldId id="267"/>
            <p14:sldId id="279"/>
          </p14:sldIdLst>
        </p14:section>
        <p14:section name="draft2" id="{2D9F7100-66E6-477C-9DC3-FDDECD214F6C}">
          <p14:sldIdLst/>
        </p14:section>
        <p14:section name="draft" id="{A40B931D-2D60-49C2-9CF0-5684BA0EC20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3B4A"/>
    <a:srgbClr val="576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31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1146" y="9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4" d="100"/>
        <a:sy n="104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24"/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 hasCustomPrompt="1"/>
          </p:nvPr>
        </p:nvSpPr>
        <p:spPr>
          <a:xfrm>
            <a:off x="281657" y="4103406"/>
            <a:ext cx="11008067" cy="644301"/>
          </a:xfrm>
        </p:spPr>
        <p:txBody>
          <a:bodyPr/>
          <a:lstStyle>
            <a:lvl1pPr marL="0" indent="0">
              <a:buFontTx/>
              <a:buNone/>
              <a:defRPr kumimoji="1" lang="zh-CN" altLang="en-US" sz="44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课件标题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06895" y="4877649"/>
            <a:ext cx="9144000" cy="425221"/>
          </a:xfrm>
        </p:spPr>
        <p:txBody>
          <a:bodyPr/>
          <a:lstStyle>
            <a:lvl1pPr marL="0" indent="0" algn="l">
              <a:buFontTx/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indent="0">
              <a:buFontTx/>
              <a:buNone/>
            </a:pPr>
            <a:r>
              <a:rPr lang="zh-CN" altLang="en-US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副标题：副标题副标题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4" hasCustomPrompt="1"/>
          </p:nvPr>
        </p:nvSpPr>
        <p:spPr>
          <a:xfrm>
            <a:off x="334327" y="6162648"/>
            <a:ext cx="7553198" cy="324196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18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来自部门：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XXXXX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分享人：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kumimoji="1"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3" name="直接连接符 23"/>
          <p:cNvCxnSpPr/>
          <p:nvPr userDrawn="1"/>
        </p:nvCxnSpPr>
        <p:spPr>
          <a:xfrm flipH="1">
            <a:off x="338667" y="5912442"/>
            <a:ext cx="11514666" cy="0"/>
          </a:xfrm>
          <a:prstGeom prst="line">
            <a:avLst/>
          </a:prstGeom>
          <a:ln w="9525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图片占位符 33"/>
          <p:cNvSpPr>
            <a:spLocks noGrp="1"/>
          </p:cNvSpPr>
          <p:nvPr>
            <p:ph type="pic" sz="quarter" idx="14"/>
          </p:nvPr>
        </p:nvSpPr>
        <p:spPr>
          <a:xfrm>
            <a:off x="0" y="-1588"/>
            <a:ext cx="12192000" cy="41132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kumimoji="1"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20" name="Прямоугольник 20"/>
          <p:cNvSpPr/>
          <p:nvPr userDrawn="1"/>
        </p:nvSpPr>
        <p:spPr>
          <a:xfrm>
            <a:off x="-369" y="-1756"/>
            <a:ext cx="12191382" cy="4112997"/>
          </a:xfrm>
          <a:prstGeom prst="rect">
            <a:avLst/>
          </a:prstGeom>
          <a:solidFill>
            <a:srgbClr val="555E6B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 dirty="0">
              <a:latin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 flipH="1">
            <a:off x="338667" y="6374454"/>
            <a:ext cx="1151466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8841" y="1762188"/>
            <a:ext cx="10515600" cy="1325563"/>
          </a:xfrm>
        </p:spPr>
        <p:txBody>
          <a:bodyPr>
            <a:normAutofit/>
          </a:bodyPr>
          <a:lstStyle>
            <a:lvl1pPr>
              <a:defRPr sz="33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2" name="内容占位符 31"/>
          <p:cNvSpPr>
            <a:spLocks noGrp="1"/>
          </p:cNvSpPr>
          <p:nvPr>
            <p:ph sz="quarter" idx="13" hasCustomPrompt="1"/>
          </p:nvPr>
        </p:nvSpPr>
        <p:spPr>
          <a:xfrm>
            <a:off x="1078841" y="1456274"/>
            <a:ext cx="9317228" cy="59372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8" name="文本占位符 35"/>
          <p:cNvSpPr>
            <a:spLocks noGrp="1"/>
          </p:cNvSpPr>
          <p:nvPr>
            <p:ph type="body" sz="quarter" idx="16" hasCustomPrompt="1"/>
          </p:nvPr>
        </p:nvSpPr>
        <p:spPr>
          <a:xfrm>
            <a:off x="7062258" y="6437312"/>
            <a:ext cx="4791075" cy="420688"/>
          </a:xfrm>
        </p:spPr>
        <p:txBody>
          <a:bodyPr/>
          <a:lstStyle>
            <a:lvl1pPr marL="0" indent="0" algn="r">
              <a:buNone/>
              <a:defRPr kumimoji="1"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01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296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4"/>
          <p:cNvSpPr/>
          <p:nvPr userDrawn="1"/>
        </p:nvSpPr>
        <p:spPr>
          <a:xfrm>
            <a:off x="0" y="0"/>
            <a:ext cx="239045" cy="367749"/>
          </a:xfrm>
          <a:custGeom>
            <a:avLst/>
            <a:gdLst>
              <a:gd name="connsiteX0" fmla="*/ 0 w 239045"/>
              <a:gd name="connsiteY0" fmla="*/ 0 h 360000"/>
              <a:gd name="connsiteX1" fmla="*/ 239045 w 239045"/>
              <a:gd name="connsiteY1" fmla="*/ 0 h 360000"/>
              <a:gd name="connsiteX2" fmla="*/ 239045 w 239045"/>
              <a:gd name="connsiteY2" fmla="*/ 360000 h 360000"/>
              <a:gd name="connsiteX3" fmla="*/ 0 w 239045"/>
              <a:gd name="connsiteY3" fmla="*/ 360000 h 360000"/>
              <a:gd name="connsiteX4" fmla="*/ 0 w 239045"/>
              <a:gd name="connsiteY4" fmla="*/ 0 h 360000"/>
              <a:gd name="connsiteX0-1" fmla="*/ 0 w 239045"/>
              <a:gd name="connsiteY0-2" fmla="*/ 0 h 367749"/>
              <a:gd name="connsiteX1-3" fmla="*/ 239045 w 239045"/>
              <a:gd name="connsiteY1-4" fmla="*/ 0 h 367749"/>
              <a:gd name="connsiteX2-5" fmla="*/ 122808 w 239045"/>
              <a:gd name="connsiteY2-6" fmla="*/ 367749 h 367749"/>
              <a:gd name="connsiteX3-7" fmla="*/ 0 w 239045"/>
              <a:gd name="connsiteY3-8" fmla="*/ 360000 h 367749"/>
              <a:gd name="connsiteX4-9" fmla="*/ 0 w 239045"/>
              <a:gd name="connsiteY4-10" fmla="*/ 0 h 3677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9045" h="367749">
                <a:moveTo>
                  <a:pt x="0" y="0"/>
                </a:moveTo>
                <a:lnTo>
                  <a:pt x="239045" y="0"/>
                </a:lnTo>
                <a:lnTo>
                  <a:pt x="122808" y="367749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2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607168" y="195922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607168" y="62036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54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  <p:sp>
        <p:nvSpPr>
          <p:cNvPr id="6" name="Прямоугольник 24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412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B68A51D-33DD-5B4A-A86B-549782FCD6DF}" type="datetimeFigureOut">
              <a:rPr kumimoji="1" lang="zh-CN" altLang="en-US" smtClean="0"/>
              <a:pPr/>
              <a:t>2026/8/9</a:t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DA5CA41-69F7-7948-A690-E401A3852CA3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180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B628A69-E5D3-471C-9634-C9CEEE71D7D5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zh-CN" altLang="en-US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银行流水</a:t>
            </a:r>
            <a:r>
              <a:rPr lang="en-US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识别决定收入、支出与负债计算结果，是信审判断的直接输入</a:t>
            </a:r>
            <a:endParaRPr lang="en-US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27900C-2E0B-4FBB-B7B0-DBD3BB995BF6}"/>
              </a:ext>
            </a:extLst>
          </p:cNvPr>
          <p:cNvSpPr txBox="1"/>
          <p:nvPr/>
        </p:nvSpPr>
        <p:spPr>
          <a:xfrm>
            <a:off x="511115" y="56268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客户有多少稳定收入、承担多少必要支出、正在偿还哪些贷款，以及是否具备新增还款能力。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1-bar">
            <a:extLst>
              <a:ext uri="{FF2B5EF4-FFF2-40B4-BE49-F238E27FC236}">
                <a16:creationId xmlns:a16="http://schemas.microsoft.com/office/drawing/2014/main" id="{88A98C43-172E-445E-BAF1-258FD9FC097E}"/>
              </a:ext>
            </a:extLst>
          </p:cNvPr>
          <p:cNvSpPr/>
          <p:nvPr/>
        </p:nvSpPr>
        <p:spPr>
          <a:xfrm>
            <a:off x="539630" y="1238321"/>
            <a:ext cx="76200" cy="2286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8" name="s1-title">
            <a:extLst>
              <a:ext uri="{FF2B5EF4-FFF2-40B4-BE49-F238E27FC236}">
                <a16:creationId xmlns:a16="http://schemas.microsoft.com/office/drawing/2014/main" id="{17E4A091-56F2-4D55-A5FF-E1FA3A10A492}"/>
              </a:ext>
            </a:extLst>
          </p:cNvPr>
          <p:cNvSpPr txBox="1"/>
          <p:nvPr/>
        </p:nvSpPr>
        <p:spPr>
          <a:xfrm>
            <a:off x="717430" y="1212921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1. 银行流水在信贷决策中的位置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4FCBB4B-1910-4A8F-A184-2DB248819995}"/>
              </a:ext>
            </a:extLst>
          </p:cNvPr>
          <p:cNvGrpSpPr/>
          <p:nvPr/>
        </p:nvGrpSpPr>
        <p:grpSpPr>
          <a:xfrm>
            <a:off x="511115" y="2361688"/>
            <a:ext cx="11173968" cy="635000"/>
            <a:chOff x="489948" y="2635555"/>
            <a:chExt cx="5588000" cy="635000"/>
          </a:xfrm>
        </p:grpSpPr>
        <p:sp>
          <p:nvSpPr>
            <p:cNvPr id="10" name="s1-formula-bg">
              <a:extLst>
                <a:ext uri="{FF2B5EF4-FFF2-40B4-BE49-F238E27FC236}">
                  <a16:creationId xmlns:a16="http://schemas.microsoft.com/office/drawing/2014/main" id="{588EFC8B-6D9B-4BC6-A58A-94C590D91AE6}"/>
                </a:ext>
              </a:extLst>
            </p:cNvPr>
            <p:cNvSpPr/>
            <p:nvPr/>
          </p:nvSpPr>
          <p:spPr>
            <a:xfrm>
              <a:off x="489948" y="2635555"/>
              <a:ext cx="5588000" cy="6350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</p:sp>
        <p:sp>
          <p:nvSpPr>
            <p:cNvPr id="11" name="s1-formula-bar">
              <a:extLst>
                <a:ext uri="{FF2B5EF4-FFF2-40B4-BE49-F238E27FC236}">
                  <a16:creationId xmlns:a16="http://schemas.microsoft.com/office/drawing/2014/main" id="{54C6A925-1E42-4045-8D2E-2CC8F4C7EE07}"/>
                </a:ext>
              </a:extLst>
            </p:cNvPr>
            <p:cNvSpPr/>
            <p:nvPr/>
          </p:nvSpPr>
          <p:spPr>
            <a:xfrm>
              <a:off x="489948" y="2635555"/>
              <a:ext cx="50800" cy="635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2" name="s1-formula">
              <a:extLst>
                <a:ext uri="{FF2B5EF4-FFF2-40B4-BE49-F238E27FC236}">
                  <a16:creationId xmlns:a16="http://schemas.microsoft.com/office/drawing/2014/main" id="{A03A2A13-DC76-4440-BC65-6AA049FAFCE2}"/>
                </a:ext>
              </a:extLst>
            </p:cNvPr>
            <p:cNvSpPr txBox="1"/>
            <p:nvPr/>
          </p:nvSpPr>
          <p:spPr>
            <a:xfrm>
              <a:off x="667748" y="2635555"/>
              <a:ext cx="2034020" cy="63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just">
                <a:lnSpc>
                  <a:spcPct val="150000"/>
                </a:lnSpc>
              </a:pPr>
              <a:r>
                <a:rPr lang="en-US" sz="1050" b="1" noProof="1">
                  <a:solidFill>
                    <a:srgbClr val="3D3C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核心计算逻辑（Serviceability）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s2-title">
            <a:extLst>
              <a:ext uri="{FF2B5EF4-FFF2-40B4-BE49-F238E27FC236}">
                <a16:creationId xmlns:a16="http://schemas.microsoft.com/office/drawing/2014/main" id="{E321B73C-994B-4905-99F9-38D3C5B8ACA1}"/>
              </a:ext>
            </a:extLst>
          </p:cNvPr>
          <p:cNvSpPr txBox="1"/>
          <p:nvPr/>
        </p:nvSpPr>
        <p:spPr>
          <a:xfrm>
            <a:off x="717430" y="3243783"/>
            <a:ext cx="39582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400" b="1" dirty="0">
                <a:solidFill>
                  <a:srgbClr val="0A0A0A"/>
                </a:solidFill>
                <a:latin typeface="微软雅黑"/>
                <a:ea typeface="微软雅黑"/>
              </a:rPr>
              <a:t>2. </a:t>
            </a:r>
            <a:r>
              <a:rPr lang="zh-CN" altLang="en-US" sz="1400" b="1" dirty="0">
                <a:solidFill>
                  <a:srgbClr val="0A0A0A"/>
                </a:solidFill>
                <a:latin typeface="微软雅黑"/>
                <a:ea typeface="微软雅黑"/>
              </a:rPr>
              <a:t>合规背景：</a:t>
            </a:r>
            <a:r>
              <a:rPr sz="1400" b="1" dirty="0">
                <a:solidFill>
                  <a:srgbClr val="0A0A0A"/>
                </a:solidFill>
                <a:latin typeface="微软雅黑"/>
                <a:ea typeface="微软雅黑"/>
              </a:rPr>
              <a:t>Responsible Lending </a:t>
            </a:r>
            <a:r>
              <a:rPr sz="1400" b="1" dirty="0" err="1">
                <a:solidFill>
                  <a:srgbClr val="0A0A0A"/>
                </a:solidFill>
                <a:latin typeface="微软雅黑"/>
                <a:ea typeface="微软雅黑"/>
              </a:rPr>
              <a:t>的四项要求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col-divider">
            <a:extLst>
              <a:ext uri="{FF2B5EF4-FFF2-40B4-BE49-F238E27FC236}">
                <a16:creationId xmlns:a16="http://schemas.microsoft.com/office/drawing/2014/main" id="{7976569D-3495-4B8E-88A6-7289825D95F9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eyJ2aWV3Qm94IjpbMSwzNDBdLCJwb2ludHMiOiIwLDAgMCwzNDAifQ</pptd:line>
              </p:ext>
            </p:extLst>
          </p:nvPr>
        </p:nvSpPr>
        <p:spPr>
          <a:xfrm>
            <a:off x="5129594" y="3292912"/>
            <a:ext cx="14116" cy="3212231"/>
          </a:xfrm>
          <a:custGeom>
            <a:avLst/>
            <a:gdLst/>
            <a:ahLst/>
            <a:cxnLst/>
            <a:rect l="l" t="t" r="r" b="b"/>
            <a:pathLst>
              <a:path w="1" h="340">
                <a:moveTo>
                  <a:pt x="0" y="0"/>
                </a:moveTo>
                <a:lnTo>
                  <a:pt x="0" y="34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18" name="s3-title">
            <a:extLst>
              <a:ext uri="{FF2B5EF4-FFF2-40B4-BE49-F238E27FC236}">
                <a16:creationId xmlns:a16="http://schemas.microsoft.com/office/drawing/2014/main" id="{1FFE6DD4-7A46-4B3E-BC75-CF290B1DDE30}"/>
              </a:ext>
            </a:extLst>
          </p:cNvPr>
          <p:cNvSpPr txBox="1"/>
          <p:nvPr/>
        </p:nvSpPr>
        <p:spPr>
          <a:xfrm>
            <a:off x="5762312" y="3265172"/>
            <a:ext cx="5138312" cy="1700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/>
                <a:ea typeface="微软雅黑"/>
              </a:rPr>
              <a:t>三、传统第三方分类服务的主要局限（当前高度依赖 illion）</a:t>
            </a:r>
          </a:p>
        </p:txBody>
      </p:sp>
      <p:sp>
        <p:nvSpPr>
          <p:cNvPr id="19" name="lim1">
            <a:extLst>
              <a:ext uri="{FF2B5EF4-FFF2-40B4-BE49-F238E27FC236}">
                <a16:creationId xmlns:a16="http://schemas.microsoft.com/office/drawing/2014/main" id="{29CFB0D9-DDBE-46F7-A89B-345F1DB3EE89}"/>
              </a:ext>
            </a:extLst>
          </p:cNvPr>
          <p:cNvSpPr txBox="1"/>
          <p:nvPr/>
        </p:nvSpPr>
        <p:spPr>
          <a:xfrm>
            <a:off x="5746239" y="3581143"/>
            <a:ext cx="5307707" cy="5290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9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分类逻辑不透明，问题难以定位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黑盒模型：出现漏识别或误分类时，无法判断是交易描述、商户映射、分类规则还是计算逻辑的问题。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lim1-line">
            <a:extLst>
              <a:ext uri="{FF2B5EF4-FFF2-40B4-BE49-F238E27FC236}">
                <a16:creationId xmlns:a16="http://schemas.microsoft.com/office/drawing/2014/main" id="{C26D36D6-CB8D-47F6-A278-A0A3C1177384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eyJ2aWV3Qm94IjpbMzc2LDFdLCJwb2ludHMiOiIwLDAgMzc2LDAifQ</pptd:line>
              </p:ext>
            </p:extLst>
          </p:nvPr>
        </p:nvSpPr>
        <p:spPr>
          <a:xfrm>
            <a:off x="5746239" y="4160348"/>
            <a:ext cx="5307707" cy="9448"/>
          </a:xfrm>
          <a:custGeom>
            <a:avLst/>
            <a:gdLst/>
            <a:ahLst/>
            <a:cxnLst/>
            <a:rect l="l" t="t" r="r" b="b"/>
            <a:pathLst>
              <a:path w="376" h="1">
                <a:moveTo>
                  <a:pt x="0" y="0"/>
                </a:moveTo>
                <a:lnTo>
                  <a:pt x="37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21" name="lim2">
            <a:extLst>
              <a:ext uri="{FF2B5EF4-FFF2-40B4-BE49-F238E27FC236}">
                <a16:creationId xmlns:a16="http://schemas.microsoft.com/office/drawing/2014/main" id="{3DD835B9-3D5D-4CF4-8B3A-387F16BA1963}"/>
              </a:ext>
            </a:extLst>
          </p:cNvPr>
          <p:cNvSpPr txBox="1"/>
          <p:nvPr/>
        </p:nvSpPr>
        <p:spPr>
          <a:xfrm>
            <a:off x="5746239" y="4321693"/>
            <a:ext cx="5307707" cy="6046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9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分类粒度与覆盖不足，难以满足下游需求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无法拆分 SACC、Non-SACC、BNPL、Line of Credit、Wage Advance 等贷款类型；小型商户、新兴平台、交易别名易被归入 Other 或错误分类，影响贷款归属、还款匹配及收入、支出、负债计算。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lim2-line">
            <a:extLst>
              <a:ext uri="{FF2B5EF4-FFF2-40B4-BE49-F238E27FC236}">
                <a16:creationId xmlns:a16="http://schemas.microsoft.com/office/drawing/2014/main" id="{69CFA63F-F5C1-43D0-A14B-E681108AAB27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eyJ2aWV3Qm94IjpbMzc2LDFdLCJwb2ludHMiOiIwLDAgMzc2LDAifQ</pptd:line>
              </p:ext>
            </p:extLst>
          </p:nvPr>
        </p:nvSpPr>
        <p:spPr>
          <a:xfrm>
            <a:off x="5746239" y="5109939"/>
            <a:ext cx="5307707" cy="9448"/>
          </a:xfrm>
          <a:custGeom>
            <a:avLst/>
            <a:gdLst/>
            <a:ahLst/>
            <a:cxnLst/>
            <a:rect l="l" t="t" r="r" b="b"/>
            <a:pathLst>
              <a:path w="376" h="1">
                <a:moveTo>
                  <a:pt x="0" y="0"/>
                </a:moveTo>
                <a:lnTo>
                  <a:pt x="37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23" name="lim3">
            <a:extLst>
              <a:ext uri="{FF2B5EF4-FFF2-40B4-BE49-F238E27FC236}">
                <a16:creationId xmlns:a16="http://schemas.microsoft.com/office/drawing/2014/main" id="{DF394D01-5901-4F99-B01E-ADB1FCD8BFCC}"/>
              </a:ext>
            </a:extLst>
          </p:cNvPr>
          <p:cNvSpPr txBox="1"/>
          <p:nvPr/>
        </p:nvSpPr>
        <p:spPr>
          <a:xfrm>
            <a:off x="5746239" y="5175199"/>
            <a:ext cx="5307707" cy="6046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9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输出字段与计算口径缺乏控制权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下游 IDP 所需字段可能缺失，公式、数据窗口、异常处理无法按内部标准配置；</a:t>
            </a: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 Banking 等新数据源无分类字段，多供应商需维护多套适配逻辑，增加系统复杂度。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lim3-line">
            <a:extLst>
              <a:ext uri="{FF2B5EF4-FFF2-40B4-BE49-F238E27FC236}">
                <a16:creationId xmlns:a16="http://schemas.microsoft.com/office/drawing/2014/main" id="{336ACEC6-E59C-48C3-943D-F0CA55FF2277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eyJ2aWV3Qm94IjpbMzc2LDFdLCJwb2ludHMiOiIwLDAgMzc2LDAifQ</pptd:line>
              </p:ext>
            </p:extLst>
          </p:nvPr>
        </p:nvSpPr>
        <p:spPr>
          <a:xfrm>
            <a:off x="5746239" y="5910108"/>
            <a:ext cx="5307707" cy="9448"/>
          </a:xfrm>
          <a:custGeom>
            <a:avLst/>
            <a:gdLst/>
            <a:ahLst/>
            <a:cxnLst/>
            <a:rect l="l" t="t" r="r" b="b"/>
            <a:pathLst>
              <a:path w="376" h="1">
                <a:moveTo>
                  <a:pt x="0" y="0"/>
                </a:moveTo>
                <a:lnTo>
                  <a:pt x="37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25" name="lim4">
            <a:extLst>
              <a:ext uri="{FF2B5EF4-FFF2-40B4-BE49-F238E27FC236}">
                <a16:creationId xmlns:a16="http://schemas.microsoft.com/office/drawing/2014/main" id="{8C3E2394-8FDD-4456-9360-CEBCC189CB32}"/>
              </a:ext>
            </a:extLst>
          </p:cNvPr>
          <p:cNvSpPr txBox="1"/>
          <p:nvPr/>
        </p:nvSpPr>
        <p:spPr>
          <a:xfrm>
            <a:off x="5746239" y="6030781"/>
            <a:ext cx="6235773" cy="5290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9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9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合规应对</a:t>
            </a:r>
            <a:r>
              <a:rPr lang="en-US" sz="9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能力受制于外部供应商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调整依赖供应商排期、响应周期长；交易分类作为基础能力，长期依赖会限制模型优化、策略调整与产品创新的自主性。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28677383-B1C4-48C4-91A6-25AC7845E58D}"/>
              </a:ext>
            </a:extLst>
          </p:cNvPr>
          <p:cNvGrpSpPr/>
          <p:nvPr/>
        </p:nvGrpSpPr>
        <p:grpSpPr>
          <a:xfrm>
            <a:off x="511115" y="1595715"/>
            <a:ext cx="11174917" cy="566928"/>
            <a:chOff x="452053" y="1496128"/>
            <a:chExt cx="11174917" cy="566928"/>
          </a:xfrm>
        </p:grpSpPr>
        <p:sp>
          <p:nvSpPr>
            <p:cNvPr id="27" name="divider">
              <a:extLst>
                <a:ext uri="{FF2B5EF4-FFF2-40B4-BE49-F238E27FC236}">
                  <a16:creationId xmlns:a16="http://schemas.microsoft.com/office/drawing/2014/main" id="{BEE32B51-BB5D-4E33-B31F-EC2D7C3D3A69}"/>
                </a:ext>
              </a:extLst>
            </p:cNvPr>
            <p:cNvSpPr/>
            <p:nvPr>
              <p:extLst>
                <p:ext uri="{F5677B7D-0D2A-4D9B-9A5C-6D8D7D0E5A5D}">
  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eyJ2aWV3Qm94IjpbODU2LDFdLCJwb2ludHMiOiIwLDAgODU2LDAifQ</pptd:line>
                </p:ext>
              </p:extLst>
            </p:nvPr>
          </p:nvSpPr>
          <p:spPr>
            <a:xfrm>
              <a:off x="452053" y="1608779"/>
              <a:ext cx="10871200" cy="12700"/>
            </a:xfrm>
            <a:custGeom>
              <a:avLst/>
              <a:gdLst/>
              <a:ahLst/>
              <a:cxnLst/>
              <a:rect l="l" t="t" r="r" b="b"/>
              <a:pathLst>
                <a:path w="856" h="1">
                  <a:moveTo>
                    <a:pt x="0" y="0"/>
                  </a:moveTo>
                  <a:lnTo>
                    <a:pt x="856" y="0"/>
                  </a:lnTo>
                </a:path>
              </a:pathLst>
            </a:custGeom>
            <a:noFill/>
            <a:ln w="9525" cap="rnd">
              <a:solidFill>
                <a:srgbClr val="D6D6D6"/>
              </a:solidFill>
              <a:round/>
            </a:ln>
          </p:spPr>
        </p:sp>
        <p:sp>
          <p:nvSpPr>
            <p:cNvPr id="28" name="Rectangle 6">
              <a:extLst>
                <a:ext uri="{FF2B5EF4-FFF2-40B4-BE49-F238E27FC236}">
                  <a16:creationId xmlns:a16="http://schemas.microsoft.com/office/drawing/2014/main" id="{EAB4CD9B-EDE7-41BB-A1AF-99FE71C9208A}"/>
                </a:ext>
              </a:extLst>
            </p:cNvPr>
            <p:cNvSpPr/>
            <p:nvPr/>
          </p:nvSpPr>
          <p:spPr>
            <a:xfrm>
              <a:off x="453002" y="1496128"/>
              <a:ext cx="11173968" cy="566928"/>
            </a:xfrm>
            <a:prstGeom prst="rect">
              <a:avLst/>
            </a:prstGeom>
            <a:solidFill>
              <a:srgbClr val="EFF3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29" name="Rectangle 7">
              <a:extLst>
                <a:ext uri="{FF2B5EF4-FFF2-40B4-BE49-F238E27FC236}">
                  <a16:creationId xmlns:a16="http://schemas.microsoft.com/office/drawing/2014/main" id="{538BC8E8-0C5A-459D-9D36-4DF7BBE37EEB}"/>
                </a:ext>
              </a:extLst>
            </p:cNvPr>
            <p:cNvSpPr/>
            <p:nvPr/>
          </p:nvSpPr>
          <p:spPr>
            <a:xfrm>
              <a:off x="453002" y="1550992"/>
              <a:ext cx="1595628" cy="457200"/>
            </a:xfrm>
            <a:prstGeom prst="rect">
              <a:avLst/>
            </a:prstGeom>
            <a:solidFill>
              <a:srgbClr val="E3EB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D77EA475-068C-4CAF-8013-0567E6F71289}"/>
                </a:ext>
              </a:extLst>
            </p:cNvPr>
            <p:cNvSpPr txBox="1"/>
            <p:nvPr/>
          </p:nvSpPr>
          <p:spPr>
            <a:xfrm>
              <a:off x="453002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0A0A0A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用户申请</a:t>
              </a:r>
            </a:p>
          </p:txBody>
        </p:sp>
        <p:sp>
          <p:nvSpPr>
            <p:cNvPr id="31" name="TextBox 9">
              <a:extLst>
                <a:ext uri="{FF2B5EF4-FFF2-40B4-BE49-F238E27FC236}">
                  <a16:creationId xmlns:a16="http://schemas.microsoft.com/office/drawing/2014/main" id="{4B04AD0F-D11B-477C-A748-4CDF5F1767B1}"/>
                </a:ext>
              </a:extLst>
            </p:cNvPr>
            <p:cNvSpPr txBox="1"/>
            <p:nvPr/>
          </p:nvSpPr>
          <p:spPr>
            <a:xfrm>
              <a:off x="2048630" y="1624144"/>
              <a:ext cx="320040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D6A000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2" name="Rectangle 10">
              <a:extLst>
                <a:ext uri="{FF2B5EF4-FFF2-40B4-BE49-F238E27FC236}">
                  <a16:creationId xmlns:a16="http://schemas.microsoft.com/office/drawing/2014/main" id="{C02AA16F-41EE-482C-AE2A-D1543CA101C1}"/>
                </a:ext>
              </a:extLst>
            </p:cNvPr>
            <p:cNvSpPr/>
            <p:nvPr/>
          </p:nvSpPr>
          <p:spPr>
            <a:xfrm>
              <a:off x="2368670" y="1550992"/>
              <a:ext cx="1595628" cy="457200"/>
            </a:xfrm>
            <a:prstGeom prst="rect">
              <a:avLst/>
            </a:prstGeom>
            <a:solidFill>
              <a:srgbClr val="E3EB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3" name="TextBox 11">
              <a:extLst>
                <a:ext uri="{FF2B5EF4-FFF2-40B4-BE49-F238E27FC236}">
                  <a16:creationId xmlns:a16="http://schemas.microsoft.com/office/drawing/2014/main" id="{930C9C75-9CB4-4BD5-B884-62518D3CCE17}"/>
                </a:ext>
              </a:extLst>
            </p:cNvPr>
            <p:cNvSpPr txBox="1"/>
            <p:nvPr/>
          </p:nvSpPr>
          <p:spPr>
            <a:xfrm>
              <a:off x="2368670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0A0A0A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银行卡绑定</a:t>
              </a:r>
            </a:p>
          </p:txBody>
        </p:sp>
        <p:sp>
          <p:nvSpPr>
            <p:cNvPr id="34" name="TextBox 12">
              <a:extLst>
                <a:ext uri="{FF2B5EF4-FFF2-40B4-BE49-F238E27FC236}">
                  <a16:creationId xmlns:a16="http://schemas.microsoft.com/office/drawing/2014/main" id="{91BC7BE8-D199-4CBB-BA6C-7109D747F49C}"/>
                </a:ext>
              </a:extLst>
            </p:cNvPr>
            <p:cNvSpPr txBox="1"/>
            <p:nvPr/>
          </p:nvSpPr>
          <p:spPr>
            <a:xfrm>
              <a:off x="3964298" y="1624144"/>
              <a:ext cx="320040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D6A000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5" name="Rectangle 13">
              <a:extLst>
                <a:ext uri="{FF2B5EF4-FFF2-40B4-BE49-F238E27FC236}">
                  <a16:creationId xmlns:a16="http://schemas.microsoft.com/office/drawing/2014/main" id="{5E7A4B48-7F1A-4666-9E21-5E8C8EC7B2CC}"/>
                </a:ext>
              </a:extLst>
            </p:cNvPr>
            <p:cNvSpPr/>
            <p:nvPr/>
          </p:nvSpPr>
          <p:spPr>
            <a:xfrm>
              <a:off x="4284338" y="1550992"/>
              <a:ext cx="1595628" cy="457200"/>
            </a:xfrm>
            <a:prstGeom prst="rect">
              <a:avLst/>
            </a:prstGeom>
            <a:solidFill>
              <a:srgbClr val="E3EB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6" name="TextBox 14">
              <a:extLst>
                <a:ext uri="{FF2B5EF4-FFF2-40B4-BE49-F238E27FC236}">
                  <a16:creationId xmlns:a16="http://schemas.microsoft.com/office/drawing/2014/main" id="{7F1330EF-EB40-488C-823E-B52850D6ADD7}"/>
                </a:ext>
              </a:extLst>
            </p:cNvPr>
            <p:cNvSpPr txBox="1"/>
            <p:nvPr/>
          </p:nvSpPr>
          <p:spPr>
            <a:xfrm>
              <a:off x="4284338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A0A0A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数据解析</a:t>
              </a:r>
              <a:endPara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endParaRPr>
            </a:p>
          </p:txBody>
        </p:sp>
        <p:sp>
          <p:nvSpPr>
            <p:cNvPr id="37" name="TextBox 15">
              <a:extLst>
                <a:ext uri="{FF2B5EF4-FFF2-40B4-BE49-F238E27FC236}">
                  <a16:creationId xmlns:a16="http://schemas.microsoft.com/office/drawing/2014/main" id="{E7EB72EF-5357-4C89-9D96-05AB1E10C47F}"/>
                </a:ext>
              </a:extLst>
            </p:cNvPr>
            <p:cNvSpPr txBox="1"/>
            <p:nvPr/>
          </p:nvSpPr>
          <p:spPr>
            <a:xfrm>
              <a:off x="5879966" y="1624144"/>
              <a:ext cx="320040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D6A000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8" name="Rectangle 16">
              <a:extLst>
                <a:ext uri="{FF2B5EF4-FFF2-40B4-BE49-F238E27FC236}">
                  <a16:creationId xmlns:a16="http://schemas.microsoft.com/office/drawing/2014/main" id="{A0AB3994-E868-4E38-B322-7F0D5E75B741}"/>
                </a:ext>
              </a:extLst>
            </p:cNvPr>
            <p:cNvSpPr/>
            <p:nvPr/>
          </p:nvSpPr>
          <p:spPr>
            <a:xfrm>
              <a:off x="6200006" y="1550992"/>
              <a:ext cx="1595628" cy="457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9" name="TextBox 17">
              <a:extLst>
                <a:ext uri="{FF2B5EF4-FFF2-40B4-BE49-F238E27FC236}">
                  <a16:creationId xmlns:a16="http://schemas.microsoft.com/office/drawing/2014/main" id="{9C14CCCE-6E5D-49B5-AECF-609ED1D2F343}"/>
                </a:ext>
              </a:extLst>
            </p:cNvPr>
            <p:cNvSpPr txBox="1"/>
            <p:nvPr/>
          </p:nvSpPr>
          <p:spPr>
            <a:xfrm>
              <a:off x="6200006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银行流水识别</a:t>
              </a:r>
              <a:endPara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endParaRPr>
            </a:p>
          </p:txBody>
        </p:sp>
        <p:sp>
          <p:nvSpPr>
            <p:cNvPr id="40" name="TextBox 18">
              <a:extLst>
                <a:ext uri="{FF2B5EF4-FFF2-40B4-BE49-F238E27FC236}">
                  <a16:creationId xmlns:a16="http://schemas.microsoft.com/office/drawing/2014/main" id="{2A545774-8F38-4F54-BBF9-86E026FD8886}"/>
                </a:ext>
              </a:extLst>
            </p:cNvPr>
            <p:cNvSpPr txBox="1"/>
            <p:nvPr/>
          </p:nvSpPr>
          <p:spPr>
            <a:xfrm>
              <a:off x="7795634" y="1624144"/>
              <a:ext cx="320040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D6A000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1" name="Rectangle 19">
              <a:extLst>
                <a:ext uri="{FF2B5EF4-FFF2-40B4-BE49-F238E27FC236}">
                  <a16:creationId xmlns:a16="http://schemas.microsoft.com/office/drawing/2014/main" id="{9BC878EF-C63E-449E-8D1E-F4F80FF61DA8}"/>
                </a:ext>
              </a:extLst>
            </p:cNvPr>
            <p:cNvSpPr/>
            <p:nvPr/>
          </p:nvSpPr>
          <p:spPr>
            <a:xfrm>
              <a:off x="8115674" y="1550992"/>
              <a:ext cx="1595628" cy="457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2" name="TextBox 20">
              <a:extLst>
                <a:ext uri="{FF2B5EF4-FFF2-40B4-BE49-F238E27FC236}">
                  <a16:creationId xmlns:a16="http://schemas.microsoft.com/office/drawing/2014/main" id="{C7C5C193-A007-4D1A-AC47-110AE06D49DA}"/>
                </a:ext>
              </a:extLst>
            </p:cNvPr>
            <p:cNvSpPr txBox="1"/>
            <p:nvPr/>
          </p:nvSpPr>
          <p:spPr>
            <a:xfrm>
              <a:off x="8115674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Serviceability</a:t>
              </a:r>
            </a:p>
          </p:txBody>
        </p:sp>
        <p:sp>
          <p:nvSpPr>
            <p:cNvPr id="43" name="TextBox 21">
              <a:extLst>
                <a:ext uri="{FF2B5EF4-FFF2-40B4-BE49-F238E27FC236}">
                  <a16:creationId xmlns:a16="http://schemas.microsoft.com/office/drawing/2014/main" id="{210F5A51-87C0-42C1-BB96-6E16A0206047}"/>
                </a:ext>
              </a:extLst>
            </p:cNvPr>
            <p:cNvSpPr txBox="1"/>
            <p:nvPr/>
          </p:nvSpPr>
          <p:spPr>
            <a:xfrm>
              <a:off x="9711302" y="1624144"/>
              <a:ext cx="320040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D6A000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4" name="Rectangle 22">
              <a:extLst>
                <a:ext uri="{FF2B5EF4-FFF2-40B4-BE49-F238E27FC236}">
                  <a16:creationId xmlns:a16="http://schemas.microsoft.com/office/drawing/2014/main" id="{9B4A2284-CDE0-47A0-9DB3-1E359B1CD771}"/>
                </a:ext>
              </a:extLst>
            </p:cNvPr>
            <p:cNvSpPr/>
            <p:nvPr/>
          </p:nvSpPr>
          <p:spPr>
            <a:xfrm>
              <a:off x="10031342" y="1550992"/>
              <a:ext cx="1595628" cy="457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5" name="TextBox 23">
              <a:extLst>
                <a:ext uri="{FF2B5EF4-FFF2-40B4-BE49-F238E27FC236}">
                  <a16:creationId xmlns:a16="http://schemas.microsoft.com/office/drawing/2014/main" id="{558A63B5-5727-4E26-85E9-6D5769D74E7E}"/>
                </a:ext>
              </a:extLst>
            </p:cNvPr>
            <p:cNvSpPr txBox="1"/>
            <p:nvPr/>
          </p:nvSpPr>
          <p:spPr>
            <a:xfrm>
              <a:off x="10031342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信审决策</a:t>
              </a:r>
            </a:p>
          </p:txBody>
        </p:sp>
      </p:grpSp>
      <p:sp>
        <p:nvSpPr>
          <p:cNvPr id="48" name="TextBox 30">
            <a:extLst>
              <a:ext uri="{FF2B5EF4-FFF2-40B4-BE49-F238E27FC236}">
                <a16:creationId xmlns:a16="http://schemas.microsoft.com/office/drawing/2014/main" id="{A74F03BE-04AA-4633-B517-2C54F22254B0}"/>
              </a:ext>
            </a:extLst>
          </p:cNvPr>
          <p:cNvSpPr txBox="1"/>
          <p:nvPr/>
        </p:nvSpPr>
        <p:spPr>
          <a:xfrm>
            <a:off x="665747" y="3571159"/>
            <a:ext cx="48371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依据《National</a:t>
            </a: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 Consumer Credit Protection Act 2009》及 ASIC </a:t>
            </a: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监管要求</a:t>
            </a:r>
            <a:endParaRPr kumimoji="0" sz="850" b="0" i="0" u="none" strike="noStrike" kern="1200" cap="none" spc="0" normalizeH="0" baseline="0" noProof="0" dirty="0">
              <a:ln>
                <a:noFill/>
              </a:ln>
              <a:solidFill>
                <a:srgbClr val="606060"/>
              </a:solidFill>
              <a:effectLst/>
              <a:uLnTx/>
              <a:uFillTx/>
              <a:latin typeface="微软雅黑"/>
              <a:ea typeface="+mn-ea"/>
              <a:cs typeface="+mn-cs"/>
            </a:endParaRPr>
          </a:p>
        </p:txBody>
      </p:sp>
      <p:sp>
        <p:nvSpPr>
          <p:cNvPr id="49" name="Rectangle 31">
            <a:extLst>
              <a:ext uri="{FF2B5EF4-FFF2-40B4-BE49-F238E27FC236}">
                <a16:creationId xmlns:a16="http://schemas.microsoft.com/office/drawing/2014/main" id="{A2FA0AE9-4D92-4732-A5A0-A296D8BA97E1}"/>
              </a:ext>
            </a:extLst>
          </p:cNvPr>
          <p:cNvSpPr/>
          <p:nvPr/>
        </p:nvSpPr>
        <p:spPr>
          <a:xfrm>
            <a:off x="717430" y="3999978"/>
            <a:ext cx="310896" cy="3108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0" name="Oval 32">
            <a:extLst>
              <a:ext uri="{FF2B5EF4-FFF2-40B4-BE49-F238E27FC236}">
                <a16:creationId xmlns:a16="http://schemas.microsoft.com/office/drawing/2014/main" id="{A5579E95-F88C-4AF8-8750-9BC4E7E9D8F0}"/>
              </a:ext>
            </a:extLst>
          </p:cNvPr>
          <p:cNvSpPr/>
          <p:nvPr/>
        </p:nvSpPr>
        <p:spPr>
          <a:xfrm>
            <a:off x="717430" y="3999978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1" name="TextBox 33">
            <a:extLst>
              <a:ext uri="{FF2B5EF4-FFF2-40B4-BE49-F238E27FC236}">
                <a16:creationId xmlns:a16="http://schemas.microsoft.com/office/drawing/2014/main" id="{32F5559E-8B73-4A7F-A408-D7C4BDC80C90}"/>
              </a:ext>
            </a:extLst>
          </p:cNvPr>
          <p:cNvSpPr txBox="1"/>
          <p:nvPr/>
        </p:nvSpPr>
        <p:spPr>
          <a:xfrm>
            <a:off x="717430" y="4032315"/>
            <a:ext cx="31089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1</a:t>
            </a:r>
          </a:p>
        </p:txBody>
      </p:sp>
      <p:sp>
        <p:nvSpPr>
          <p:cNvPr id="52" name="TextBox 34">
            <a:extLst>
              <a:ext uri="{FF2B5EF4-FFF2-40B4-BE49-F238E27FC236}">
                <a16:creationId xmlns:a16="http://schemas.microsoft.com/office/drawing/2014/main" id="{57ADD348-D0FF-4D39-A8DC-D0C347575C7F}"/>
              </a:ext>
            </a:extLst>
          </p:cNvPr>
          <p:cNvSpPr txBox="1"/>
          <p:nvPr/>
        </p:nvSpPr>
        <p:spPr>
          <a:xfrm>
            <a:off x="1138054" y="3972545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合理了解客户</a:t>
            </a:r>
          </a:p>
        </p:txBody>
      </p:sp>
      <p:sp>
        <p:nvSpPr>
          <p:cNvPr id="53" name="TextBox 35">
            <a:extLst>
              <a:ext uri="{FF2B5EF4-FFF2-40B4-BE49-F238E27FC236}">
                <a16:creationId xmlns:a16="http://schemas.microsoft.com/office/drawing/2014/main" id="{EC0038C9-BCC9-4430-A791-E141B6A1B314}"/>
              </a:ext>
            </a:extLst>
          </p:cNvPr>
          <p:cNvSpPr txBox="1"/>
          <p:nvPr/>
        </p:nvSpPr>
        <p:spPr>
          <a:xfrm>
            <a:off x="1138054" y="4237722"/>
            <a:ext cx="4389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财务状况及借款目的</a:t>
            </a:r>
          </a:p>
        </p:txBody>
      </p:sp>
      <p:sp>
        <p:nvSpPr>
          <p:cNvPr id="54" name="Rectangle 36">
            <a:extLst>
              <a:ext uri="{FF2B5EF4-FFF2-40B4-BE49-F238E27FC236}">
                <a16:creationId xmlns:a16="http://schemas.microsoft.com/office/drawing/2014/main" id="{8A0D6B43-3C67-4A4F-9E6D-B70A87154077}"/>
              </a:ext>
            </a:extLst>
          </p:cNvPr>
          <p:cNvSpPr/>
          <p:nvPr/>
        </p:nvSpPr>
        <p:spPr>
          <a:xfrm>
            <a:off x="717430" y="4640057"/>
            <a:ext cx="310896" cy="3108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5" name="Oval 37">
            <a:extLst>
              <a:ext uri="{FF2B5EF4-FFF2-40B4-BE49-F238E27FC236}">
                <a16:creationId xmlns:a16="http://schemas.microsoft.com/office/drawing/2014/main" id="{B7242A86-D3D5-4C58-931C-765CBAD54C35}"/>
              </a:ext>
            </a:extLst>
          </p:cNvPr>
          <p:cNvSpPr/>
          <p:nvPr/>
        </p:nvSpPr>
        <p:spPr>
          <a:xfrm>
            <a:off x="717430" y="4640057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6" name="TextBox 38">
            <a:extLst>
              <a:ext uri="{FF2B5EF4-FFF2-40B4-BE49-F238E27FC236}">
                <a16:creationId xmlns:a16="http://schemas.microsoft.com/office/drawing/2014/main" id="{E5F2741E-0434-4E48-882C-10356025D796}"/>
              </a:ext>
            </a:extLst>
          </p:cNvPr>
          <p:cNvSpPr txBox="1"/>
          <p:nvPr/>
        </p:nvSpPr>
        <p:spPr>
          <a:xfrm>
            <a:off x="717430" y="4672394"/>
            <a:ext cx="31089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2</a:t>
            </a:r>
          </a:p>
        </p:txBody>
      </p:sp>
      <p:sp>
        <p:nvSpPr>
          <p:cNvPr id="57" name="TextBox 39">
            <a:extLst>
              <a:ext uri="{FF2B5EF4-FFF2-40B4-BE49-F238E27FC236}">
                <a16:creationId xmlns:a16="http://schemas.microsoft.com/office/drawing/2014/main" id="{A1481323-2DF4-4D58-9C75-F6B0C709734B}"/>
              </a:ext>
            </a:extLst>
          </p:cNvPr>
          <p:cNvSpPr txBox="1"/>
          <p:nvPr/>
        </p:nvSpPr>
        <p:spPr>
          <a:xfrm>
            <a:off x="1138054" y="4612626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核实收入与支出</a:t>
            </a:r>
          </a:p>
        </p:txBody>
      </p:sp>
      <p:sp>
        <p:nvSpPr>
          <p:cNvPr id="58" name="TextBox 40">
            <a:extLst>
              <a:ext uri="{FF2B5EF4-FFF2-40B4-BE49-F238E27FC236}">
                <a16:creationId xmlns:a16="http://schemas.microsoft.com/office/drawing/2014/main" id="{BE9E9A98-8D50-48BD-94A1-E982F0172F9C}"/>
              </a:ext>
            </a:extLst>
          </p:cNvPr>
          <p:cNvSpPr txBox="1"/>
          <p:nvPr/>
        </p:nvSpPr>
        <p:spPr>
          <a:xfrm>
            <a:off x="1138054" y="4887492"/>
            <a:ext cx="4389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必要支出、现有负债及可预见变化</a:t>
            </a:r>
          </a:p>
        </p:txBody>
      </p:sp>
      <p:sp>
        <p:nvSpPr>
          <p:cNvPr id="59" name="Rectangle 41">
            <a:extLst>
              <a:ext uri="{FF2B5EF4-FFF2-40B4-BE49-F238E27FC236}">
                <a16:creationId xmlns:a16="http://schemas.microsoft.com/office/drawing/2014/main" id="{E20FFFFF-8306-4D81-9797-B6875D55FBCF}"/>
              </a:ext>
            </a:extLst>
          </p:cNvPr>
          <p:cNvSpPr/>
          <p:nvPr/>
        </p:nvSpPr>
        <p:spPr>
          <a:xfrm>
            <a:off x="717430" y="5280138"/>
            <a:ext cx="310896" cy="3108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0" name="Oval 42">
            <a:extLst>
              <a:ext uri="{FF2B5EF4-FFF2-40B4-BE49-F238E27FC236}">
                <a16:creationId xmlns:a16="http://schemas.microsoft.com/office/drawing/2014/main" id="{6C67CC53-D2BE-4820-9D43-0D1AE75F9247}"/>
              </a:ext>
            </a:extLst>
          </p:cNvPr>
          <p:cNvSpPr/>
          <p:nvPr/>
        </p:nvSpPr>
        <p:spPr>
          <a:xfrm>
            <a:off x="717430" y="5280138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1" name="TextBox 43">
            <a:extLst>
              <a:ext uri="{FF2B5EF4-FFF2-40B4-BE49-F238E27FC236}">
                <a16:creationId xmlns:a16="http://schemas.microsoft.com/office/drawing/2014/main" id="{961ABED2-5B10-452C-9231-FA993119AA81}"/>
              </a:ext>
            </a:extLst>
          </p:cNvPr>
          <p:cNvSpPr txBox="1"/>
          <p:nvPr/>
        </p:nvSpPr>
        <p:spPr>
          <a:xfrm>
            <a:off x="717430" y="5312475"/>
            <a:ext cx="31089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3</a:t>
            </a:r>
          </a:p>
        </p:txBody>
      </p:sp>
      <p:sp>
        <p:nvSpPr>
          <p:cNvPr id="62" name="TextBox 44">
            <a:extLst>
              <a:ext uri="{FF2B5EF4-FFF2-40B4-BE49-F238E27FC236}">
                <a16:creationId xmlns:a16="http://schemas.microsoft.com/office/drawing/2014/main" id="{F6B71D29-3684-4835-BD9B-1B8B542261F0}"/>
              </a:ext>
            </a:extLst>
          </p:cNvPr>
          <p:cNvSpPr txBox="1"/>
          <p:nvPr/>
        </p:nvSpPr>
        <p:spPr>
          <a:xfrm>
            <a:off x="1138054" y="5252706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评估还款能力</a:t>
            </a:r>
          </a:p>
        </p:txBody>
      </p:sp>
      <p:sp>
        <p:nvSpPr>
          <p:cNvPr id="63" name="TextBox 45">
            <a:extLst>
              <a:ext uri="{FF2B5EF4-FFF2-40B4-BE49-F238E27FC236}">
                <a16:creationId xmlns:a16="http://schemas.microsoft.com/office/drawing/2014/main" id="{C1DECE94-B828-49A6-B8C6-DECC0F60783F}"/>
              </a:ext>
            </a:extLst>
          </p:cNvPr>
          <p:cNvSpPr txBox="1"/>
          <p:nvPr/>
        </p:nvSpPr>
        <p:spPr>
          <a:xfrm>
            <a:off x="1138054" y="5517882"/>
            <a:ext cx="4389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能否在不造成重大经济困难的情况下履行还款</a:t>
            </a:r>
          </a:p>
        </p:txBody>
      </p:sp>
      <p:sp>
        <p:nvSpPr>
          <p:cNvPr id="64" name="Rectangle 46">
            <a:extLst>
              <a:ext uri="{FF2B5EF4-FFF2-40B4-BE49-F238E27FC236}">
                <a16:creationId xmlns:a16="http://schemas.microsoft.com/office/drawing/2014/main" id="{00AB5131-4387-462A-924F-86E4F8D7A710}"/>
              </a:ext>
            </a:extLst>
          </p:cNvPr>
          <p:cNvSpPr/>
          <p:nvPr/>
        </p:nvSpPr>
        <p:spPr>
          <a:xfrm>
            <a:off x="717430" y="5920218"/>
            <a:ext cx="310896" cy="3108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5" name="Oval 47">
            <a:extLst>
              <a:ext uri="{FF2B5EF4-FFF2-40B4-BE49-F238E27FC236}">
                <a16:creationId xmlns:a16="http://schemas.microsoft.com/office/drawing/2014/main" id="{8B351B70-6E28-4451-921A-23C9AAE60D19}"/>
              </a:ext>
            </a:extLst>
          </p:cNvPr>
          <p:cNvSpPr/>
          <p:nvPr/>
        </p:nvSpPr>
        <p:spPr>
          <a:xfrm>
            <a:off x="717430" y="5920218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6" name="TextBox 48">
            <a:extLst>
              <a:ext uri="{FF2B5EF4-FFF2-40B4-BE49-F238E27FC236}">
                <a16:creationId xmlns:a16="http://schemas.microsoft.com/office/drawing/2014/main" id="{129AAB2F-B8BE-4A65-B2F8-858AA4712095}"/>
              </a:ext>
            </a:extLst>
          </p:cNvPr>
          <p:cNvSpPr txBox="1"/>
          <p:nvPr/>
        </p:nvSpPr>
        <p:spPr>
          <a:xfrm>
            <a:off x="717430" y="5952555"/>
            <a:ext cx="31089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4</a:t>
            </a:r>
          </a:p>
        </p:txBody>
      </p:sp>
      <p:sp>
        <p:nvSpPr>
          <p:cNvPr id="67" name="TextBox 49">
            <a:extLst>
              <a:ext uri="{FF2B5EF4-FFF2-40B4-BE49-F238E27FC236}">
                <a16:creationId xmlns:a16="http://schemas.microsoft.com/office/drawing/2014/main" id="{D7B37FCA-B11E-4709-A69A-DE5AD64C07A4}"/>
              </a:ext>
            </a:extLst>
          </p:cNvPr>
          <p:cNvSpPr txBox="1"/>
          <p:nvPr/>
        </p:nvSpPr>
        <p:spPr>
          <a:xfrm>
            <a:off x="1138054" y="5892786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提供合适产品</a:t>
            </a:r>
          </a:p>
        </p:txBody>
      </p:sp>
      <p:sp>
        <p:nvSpPr>
          <p:cNvPr id="68" name="TextBox 50">
            <a:extLst>
              <a:ext uri="{FF2B5EF4-FFF2-40B4-BE49-F238E27FC236}">
                <a16:creationId xmlns:a16="http://schemas.microsoft.com/office/drawing/2014/main" id="{33E3165C-2497-4F10-9F7A-D5F082C30F6F}"/>
              </a:ext>
            </a:extLst>
          </p:cNvPr>
          <p:cNvSpPr txBox="1"/>
          <p:nvPr/>
        </p:nvSpPr>
        <p:spPr>
          <a:xfrm>
            <a:off x="1138054" y="6157962"/>
            <a:ext cx="4389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不得提供“不适合”的信贷产品</a:t>
            </a:r>
          </a:p>
        </p:txBody>
      </p:sp>
      <p:sp>
        <p:nvSpPr>
          <p:cNvPr id="69" name="s1-bar">
            <a:extLst>
              <a:ext uri="{FF2B5EF4-FFF2-40B4-BE49-F238E27FC236}">
                <a16:creationId xmlns:a16="http://schemas.microsoft.com/office/drawing/2014/main" id="{3917B42F-FA74-4554-8F0C-544990D93B30}"/>
              </a:ext>
            </a:extLst>
          </p:cNvPr>
          <p:cNvSpPr/>
          <p:nvPr/>
        </p:nvSpPr>
        <p:spPr>
          <a:xfrm>
            <a:off x="536497" y="3250133"/>
            <a:ext cx="76200" cy="2286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70" name="s1-bar">
            <a:extLst>
              <a:ext uri="{FF2B5EF4-FFF2-40B4-BE49-F238E27FC236}">
                <a16:creationId xmlns:a16="http://schemas.microsoft.com/office/drawing/2014/main" id="{487BA4DB-34AC-4C3D-8298-2747717BF951}"/>
              </a:ext>
            </a:extLst>
          </p:cNvPr>
          <p:cNvSpPr/>
          <p:nvPr/>
        </p:nvSpPr>
        <p:spPr>
          <a:xfrm>
            <a:off x="5561124" y="3254349"/>
            <a:ext cx="76200" cy="2286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71" name="TextBox 27">
            <a:extLst>
              <a:ext uri="{FF2B5EF4-FFF2-40B4-BE49-F238E27FC236}">
                <a16:creationId xmlns:a16="http://schemas.microsoft.com/office/drawing/2014/main" id="{96C622F6-B610-4482-8FA4-F6373D622738}"/>
              </a:ext>
            </a:extLst>
          </p:cNvPr>
          <p:cNvSpPr txBox="1"/>
          <p:nvPr/>
        </p:nvSpPr>
        <p:spPr>
          <a:xfrm>
            <a:off x="3807968" y="2528026"/>
            <a:ext cx="490220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/>
                <a:ea typeface="+mn-ea"/>
                <a:cs typeface="+mn-cs"/>
              </a:rPr>
              <a:t>收入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+mn-ea"/>
                <a:cs typeface="+mn-cs"/>
              </a:rPr>
              <a:t> −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/>
                <a:ea typeface="+mn-ea"/>
                <a:cs typeface="+mn-cs"/>
              </a:rPr>
              <a:t>必要支出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+mn-ea"/>
                <a:cs typeface="+mn-cs"/>
              </a:rPr>
              <a:t> −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/>
                <a:ea typeface="+mn-ea"/>
                <a:cs typeface="+mn-cs"/>
              </a:rPr>
              <a:t>负债还款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+mn-ea"/>
                <a:cs typeface="+mn-cs"/>
              </a:rPr>
              <a:t> ＝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/>
                <a:ea typeface="+mn-ea"/>
                <a:cs typeface="+mn-cs"/>
              </a:rPr>
              <a:t>客户可支配盈余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9887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355AB41-3856-43D4-91F4-2CF8E6943019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altLang="zh-CN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从一笔交易到完整的客户财务画像，输出直接回答新增还款能力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E6C3C0-EF83-43D9-A24C-47B1A5AB43C9}"/>
              </a:ext>
            </a:extLst>
          </p:cNvPr>
          <p:cNvSpPr txBox="1"/>
          <p:nvPr/>
        </p:nvSpPr>
        <p:spPr>
          <a:xfrm>
            <a:off x="511115" y="57030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原始流水 → 交易明细维度 → 用户汇总维度 → Serviceability 计算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6D65428F-6A5F-41C4-ACB7-27279799D716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eyJ2aWV3Qm94IjpbODU2LDFdLCJwb2ludHMiOiIwLDAgODU2LDAifQ</pptd:line>
              </p:ext>
            </p:extLst>
          </p:nvPr>
        </p:nvSpPr>
        <p:spPr>
          <a:xfrm>
            <a:off x="431800" y="1092200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856" h="1">
                <a:moveTo>
                  <a:pt x="0" y="0"/>
                </a:moveTo>
                <a:lnTo>
                  <a:pt x="85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048C4CBE-160F-411B-AF93-58FE8230110E}"/>
              </a:ext>
            </a:extLst>
          </p:cNvPr>
          <p:cNvSpPr txBox="1"/>
          <p:nvPr/>
        </p:nvSpPr>
        <p:spPr>
          <a:xfrm>
            <a:off x="584200" y="12065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300" b="1" dirty="0">
                <a:solidFill>
                  <a:srgbClr val="0A0A0A"/>
                </a:solidFill>
                <a:latin typeface="微软雅黑"/>
                <a:ea typeface="微软雅黑"/>
              </a:rPr>
              <a:t>1. </a:t>
            </a:r>
            <a:r>
              <a:rPr sz="1300" b="1" dirty="0" err="1">
                <a:solidFill>
                  <a:srgbClr val="0A0A0A"/>
                </a:solidFill>
                <a:latin typeface="微软雅黑"/>
                <a:ea typeface="微软雅黑"/>
              </a:rPr>
              <a:t>原始银行流水（输入示例</a:t>
            </a:r>
            <a:r>
              <a:rPr sz="1300" b="1" dirty="0">
                <a:solidFill>
                  <a:srgbClr val="0A0A0A"/>
                </a:solidFill>
                <a:latin typeface="微软雅黑"/>
                <a:ea typeface="微软雅黑"/>
              </a:rPr>
              <a:t>）</a:t>
            </a:r>
            <a:endParaRPr lang="en-US" sz="12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2-title">
            <a:extLst>
              <a:ext uri="{FF2B5EF4-FFF2-40B4-BE49-F238E27FC236}">
                <a16:creationId xmlns:a16="http://schemas.microsoft.com/office/drawing/2014/main" id="{C74CD74D-A21D-4088-B06A-64E758567EE9}"/>
              </a:ext>
            </a:extLst>
          </p:cNvPr>
          <p:cNvSpPr txBox="1"/>
          <p:nvPr/>
        </p:nvSpPr>
        <p:spPr>
          <a:xfrm>
            <a:off x="635000" y="2662175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25000"/>
              </a:lnSpc>
            </a:pPr>
            <a:r>
              <a:rPr sz="1300" b="1" dirty="0">
                <a:solidFill>
                  <a:srgbClr val="0A0A0A"/>
                </a:solidFill>
                <a:latin typeface="微软雅黑"/>
                <a:ea typeface="微软雅黑"/>
              </a:rPr>
              <a:t>2. </a:t>
            </a:r>
            <a:r>
              <a:rPr sz="1300" b="1" dirty="0" err="1">
                <a:solidFill>
                  <a:srgbClr val="0A0A0A"/>
                </a:solidFill>
                <a:latin typeface="微软雅黑"/>
                <a:ea typeface="微软雅黑"/>
              </a:rPr>
              <a:t>交易明细维度：理解每一笔交易（输出示例</a:t>
            </a:r>
            <a:r>
              <a:rPr sz="1300" b="1" dirty="0">
                <a:solidFill>
                  <a:srgbClr val="0A0A0A"/>
                </a:solidFill>
                <a:latin typeface="微软雅黑"/>
                <a:ea typeface="微软雅黑"/>
              </a:rPr>
              <a:t>）</a:t>
            </a:r>
            <a:endParaRPr lang="en-US" sz="1200" b="1" noProof="1">
              <a:solidFill>
                <a:srgbClr val="0A0A0A"/>
              </a:solidFill>
              <a:latin typeface="微软雅黑"/>
              <a:ea typeface="微软雅黑"/>
            </a:endParaRPr>
          </a:p>
        </p:txBody>
      </p:sp>
      <p:sp>
        <p:nvSpPr>
          <p:cNvPr id="13" name="s3-title">
            <a:extLst>
              <a:ext uri="{FF2B5EF4-FFF2-40B4-BE49-F238E27FC236}">
                <a16:creationId xmlns:a16="http://schemas.microsoft.com/office/drawing/2014/main" id="{B2B5F18D-2962-46FD-9E6E-562ACD32D72F}"/>
              </a:ext>
            </a:extLst>
          </p:cNvPr>
          <p:cNvSpPr txBox="1"/>
          <p:nvPr/>
        </p:nvSpPr>
        <p:spPr>
          <a:xfrm>
            <a:off x="634999" y="4169271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25000"/>
              </a:lnSpc>
            </a:pPr>
            <a:r>
              <a:rPr sz="1300" b="1" dirty="0">
                <a:solidFill>
                  <a:srgbClr val="0A0A0A"/>
                </a:solidFill>
                <a:latin typeface="微软雅黑"/>
                <a:ea typeface="微软雅黑"/>
              </a:rPr>
              <a:t>3. </a:t>
            </a:r>
            <a:r>
              <a:rPr sz="1300" b="1" dirty="0" err="1">
                <a:solidFill>
                  <a:srgbClr val="0A0A0A"/>
                </a:solidFill>
                <a:latin typeface="微软雅黑"/>
                <a:ea typeface="微软雅黑"/>
              </a:rPr>
              <a:t>用户汇总维度：形成完整负债画像（输出示例</a:t>
            </a:r>
            <a:r>
              <a:rPr sz="1300" b="1" dirty="0">
                <a:solidFill>
                  <a:srgbClr val="0A0A0A"/>
                </a:solidFill>
                <a:latin typeface="微软雅黑"/>
                <a:ea typeface="微软雅黑"/>
              </a:rPr>
              <a:t>）</a:t>
            </a:r>
            <a:endParaRPr lang="en-US" sz="1200" b="1" noProof="1">
              <a:solidFill>
                <a:srgbClr val="0A0A0A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15" name="init-table">
            <a:extLst>
              <a:ext uri="{FF2B5EF4-FFF2-40B4-BE49-F238E27FC236}">
                <a16:creationId xmlns:a16="http://schemas.microsoft.com/office/drawing/2014/main" id="{B20AEE83-7381-40E9-867F-987DE9C5B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462542"/>
              </p:ext>
            </p:extLst>
          </p:nvPr>
        </p:nvGraphicFramePr>
        <p:xfrm>
          <a:off x="650815" y="1550812"/>
          <a:ext cx="10901630" cy="1022238"/>
        </p:xfrm>
        <a:graphic>
          <a:graphicData uri="http://schemas.openxmlformats.org/drawingml/2006/table">
            <a:tbl>
              <a:tblPr/>
              <a:tblGrid>
                <a:gridCol w="1326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9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82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56901">
                  <a:extLst>
                    <a:ext uri="{9D8B030D-6E8A-4147-A177-3AD203B41FA5}">
                      <a16:colId xmlns:a16="http://schemas.microsoft.com/office/drawing/2014/main" val="4140160165"/>
                    </a:ext>
                  </a:extLst>
                </a:gridCol>
              </a:tblGrid>
              <a:tr h="1703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1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日期</a:t>
                      </a:r>
                      <a:endParaRPr sz="800" b="1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1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金额</a:t>
                      </a:r>
                      <a:endParaRPr sz="800" b="1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1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方向</a:t>
                      </a:r>
                      <a:endParaRPr sz="800" b="1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1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交易描述</a:t>
                      </a:r>
                      <a:endParaRPr sz="800" b="1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2026/03/26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A$156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Debit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BILL PAY Fair Go Finance A1002345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2026/03/28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A$12.40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Debit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EFTPOS MCDONALDS BRISBANE QLD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2026/04/02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A$35.90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Debit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CHEMIST WAREHOUSE 123 BRISBANE QLD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2026/04/08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A$8.99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Debit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AMZNPRIMEAU*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2026/04/10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A$3,420.50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Credit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PAYROLL DEPOSIT ACME PTY LTD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" name="init-table">
            <a:extLst>
              <a:ext uri="{FF2B5EF4-FFF2-40B4-BE49-F238E27FC236}">
                <a16:creationId xmlns:a16="http://schemas.microsoft.com/office/drawing/2014/main" id="{3C86CAD7-1100-4D7C-B8CF-F22C4AFE4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282757"/>
              </p:ext>
            </p:extLst>
          </p:nvPr>
        </p:nvGraphicFramePr>
        <p:xfrm>
          <a:off x="634999" y="2940397"/>
          <a:ext cx="10901631" cy="1113993"/>
        </p:xfrm>
        <a:graphic>
          <a:graphicData uri="http://schemas.openxmlformats.org/drawingml/2006/table">
            <a:tbl>
              <a:tblPr/>
              <a:tblGrid>
                <a:gridCol w="768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1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4140160165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1228048883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2445864241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516131836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994888910"/>
                    </a:ext>
                  </a:extLst>
                </a:gridCol>
              </a:tblGrid>
              <a:tr h="170373"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27432" marR="27432" marT="9144" marB="9144" w="7680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交易金额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 w="914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交易描述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 w="27614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标准交易对手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 w="12252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主体类型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 w="8869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分类</a:t>
                      </a:r>
                    </a:p>
                  </a:txBody>
                  <a:tcPr marL="27432" marR="27432" marT="9144" marB="9144" w="101498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交易性质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 w="83210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分类依据</a:t>
                      </a:r>
                    </a:p>
                  </a:txBody>
                  <a:tcPr marL="27432" marR="27432" marT="9144" marB="9144" w="249631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373"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2026/03/26</a:t>
                      </a:r>
                    </a:p>
                  </a:txBody>
                  <a:tcPr marL="27432" marR="27432" marT="9144" marB="9144" w="768096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A$156</a:t>
                      </a:r>
                    </a:p>
                  </a:txBody>
                  <a:tcPr marL="27432" marR="27432" marT="9144" marB="9144" w="91440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BILL PAY Fair Go Finance A1002345</a:t>
                      </a:r>
                    </a:p>
                  </a:txBody>
                  <a:tcPr marL="27432" marR="27432" marT="9144" marB="9144" w="2761488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Fair Go Finance</a:t>
                      </a:r>
                    </a:p>
                  </a:txBody>
                  <a:tcPr marL="27432" marR="27432" marT="9144" marB="9144" w="1225296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小额信贷机构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 w="886968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SACC Loans</a:t>
                      </a:r>
                    </a:p>
                  </a:txBody>
                  <a:tcPr marL="27432" marR="27432" marT="9144" marB="9144" w="101498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贷款还款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 w="83210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交易方向、机构名称及历史交易模式</a:t>
                      </a:r>
                    </a:p>
                  </a:txBody>
                  <a:tcPr marL="27432" marR="27432" marT="9144" marB="9144" w="2496312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373"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2026/03/28</a:t>
                      </a:r>
                    </a:p>
                  </a:txBody>
                  <a:tcPr marL="27432" marR="27432" marT="9144" marB="9144" w="76809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A$12.40</a:t>
                      </a:r>
                    </a:p>
                  </a:txBody>
                  <a:tcPr marL="27432" marR="27432" marT="9144" marB="9144" w="9144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EFTPOS MCDONALDS BRISBANE QLD</a:t>
                      </a:r>
                    </a:p>
                  </a:txBody>
                  <a:tcPr marL="27432" marR="27432" marT="9144" marB="9144" w="27614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McDonald's</a:t>
                      </a:r>
                    </a:p>
                  </a:txBody>
                  <a:tcPr marL="27432" marR="27432" marT="9144" marB="9144" w="122529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商户企业</a:t>
                      </a:r>
                    </a:p>
                  </a:txBody>
                  <a:tcPr marL="27432" marR="27432" marT="9144" marB="9144" w="88696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Dining Out</a:t>
                      </a:r>
                    </a:p>
                  </a:txBody>
                  <a:tcPr marL="27432" marR="27432" marT="9144" marB="9144" w="101498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消费支出</a:t>
                      </a:r>
                    </a:p>
                  </a:txBody>
                  <a:tcPr marL="27432" marR="27432" marT="9144" marB="9144" w="83210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商户知识库标准名匹配</a:t>
                      </a:r>
                    </a:p>
                  </a:txBody>
                  <a:tcPr marL="27432" marR="27432" marT="9144" marB="9144" w="249631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373"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2026/04/02</a:t>
                      </a:r>
                    </a:p>
                  </a:txBody>
                  <a:tcPr marL="27432" marR="27432" marT="9144" marB="9144" w="76809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A$35.90</a:t>
                      </a:r>
                    </a:p>
                  </a:txBody>
                  <a:tcPr marL="27432" marR="27432" marT="9144" marB="9144" w="9144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CHEMIST WAREHOUSE 123 BRISBANE QLD</a:t>
                      </a:r>
                    </a:p>
                  </a:txBody>
                  <a:tcPr marL="27432" marR="27432" marT="9144" marB="9144" w="27614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Chemist Warehouse</a:t>
                      </a:r>
                    </a:p>
                  </a:txBody>
                  <a:tcPr marL="27432" marR="27432" marT="9144" marB="9144" w="122529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商户企业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 w="88696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Health</a:t>
                      </a:r>
                    </a:p>
                  </a:txBody>
                  <a:tcPr marL="27432" marR="27432" marT="9144" marB="9144" w="101498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消费支出</a:t>
                      </a:r>
                    </a:p>
                  </a:txBody>
                  <a:tcPr marL="27432" marR="27432" marT="9144" marB="9144" w="83210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商户知识库标准名匹配</a:t>
                      </a:r>
                    </a:p>
                  </a:txBody>
                  <a:tcPr marL="27432" marR="27432" marT="9144" marB="9144" w="249631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373"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2026/04/08</a:t>
                      </a:r>
                    </a:p>
                  </a:txBody>
                  <a:tcPr marL="27432" marR="27432" marT="9144" marB="9144" w="76809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A$8.99</a:t>
                      </a:r>
                    </a:p>
                  </a:txBody>
                  <a:tcPr marL="27432" marR="27432" marT="9144" marB="9144" w="9144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AMZNPRIMEAU*</a:t>
                      </a:r>
                    </a:p>
                  </a:txBody>
                  <a:tcPr marL="27432" marR="27432" marT="9144" marB="9144" w="27614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Amazon Prime</a:t>
                      </a:r>
                    </a:p>
                  </a:txBody>
                  <a:tcPr marL="27432" marR="27432" marT="9144" marB="9144" w="122529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商户企业</a:t>
                      </a:r>
                    </a:p>
                  </a:txBody>
                  <a:tcPr marL="27432" marR="27432" marT="9144" marB="9144" w="88696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Subscription TV</a:t>
                      </a:r>
                    </a:p>
                  </a:txBody>
                  <a:tcPr marL="27432" marR="27432" marT="9144" marB="9144" w="101498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订阅支出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 w="83210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商户知识库标准名匹配</a:t>
                      </a:r>
                    </a:p>
                  </a:txBody>
                  <a:tcPr marL="27432" marR="27432" marT="9144" marB="9144" w="249631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373"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2026/04/10</a:t>
                      </a:r>
                    </a:p>
                  </a:txBody>
                  <a:tcPr marL="27432" marR="27432" marT="9144" marB="9144" w="76809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A$3,420.50</a:t>
                      </a:r>
                    </a:p>
                  </a:txBody>
                  <a:tcPr marL="27432" marR="27432" marT="9144" marB="9144" w="9144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PAYROLL DEPOSIT ACME PTY LTD</a:t>
                      </a:r>
                    </a:p>
                  </a:txBody>
                  <a:tcPr marL="27432" marR="27432" marT="9144" marB="9144" w="27614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ACME PTY LTD</a:t>
                      </a:r>
                    </a:p>
                  </a:txBody>
                  <a:tcPr marL="27432" marR="27432" marT="9144" marB="9144" w="122529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雇主 / 收入付款方</a:t>
                      </a:r>
                    </a:p>
                  </a:txBody>
                  <a:tcPr marL="27432" marR="27432" marT="9144" marB="9144" w="88696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salary_payg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 w="101498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工资收入</a:t>
                      </a:r>
                    </a:p>
                  </a:txBody>
                  <a:tcPr marL="27432" marR="27432" marT="9144" marB="9144" w="83210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工资文本模式</a:t>
                      </a:r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+ </a:t>
                      </a:r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双周周期</a:t>
                      </a:r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+ </a:t>
                      </a:r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稳定金额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 w="249631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income-table">
            <a:extLst>
              <a:ext uri="{FF2B5EF4-FFF2-40B4-BE49-F238E27FC236}">
                <a16:creationId xmlns:a16="http://schemas.microsoft.com/office/drawing/2014/main" id="{FC75553F-AD69-4A96-9AF1-99CAAD383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995091"/>
              </p:ext>
            </p:extLst>
          </p:nvPr>
        </p:nvGraphicFramePr>
        <p:xfrm>
          <a:off x="2020824" y="4517136"/>
          <a:ext cx="3127248" cy="2293486"/>
        </p:xfrm>
        <a:graphic>
          <a:graphicData uri="http://schemas.openxmlformats.org/drawingml/2006/table">
            <a:tbl>
              <a:tblPr/>
              <a:tblGrid>
                <a:gridCol w="1252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136"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 w="12527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结果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 w="18754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贷款机构数量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 w="1252728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 家</a:t>
                      </a:r>
                    </a:p>
                  </a:txBody>
                  <a:tcPr marL="27432" marR="27432" marT="9144" marB="9144" w="187543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90 </a:t>
                      </a:r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天借款金额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 w="12527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A$2,300</a:t>
                      </a:r>
                    </a:p>
                  </a:txBody>
                  <a:tcPr marL="27432" marR="27432" marT="9144" marB="9144" w="187543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90 天还款金额</a:t>
                      </a:r>
                    </a:p>
                  </a:txBody>
                  <a:tcPr marL="27432" marR="27432" marT="9144" marB="9144" w="12527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A$1,284</a:t>
                      </a:r>
                    </a:p>
                  </a:txBody>
                  <a:tcPr marL="27432" marR="27432" marT="9144" marB="9144" w="187543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平均月还款金额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 w="12527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A$428</a:t>
                      </a:r>
                    </a:p>
                  </a:txBody>
                  <a:tcPr marL="27432" marR="27432" marT="9144" marB="9144" w="187543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预计待还金额</a:t>
                      </a:r>
                    </a:p>
                  </a:txBody>
                  <a:tcPr marL="27432" marR="27432" marT="9144" marB="9144" w="12527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A$1,016</a:t>
                      </a:r>
                    </a:p>
                  </a:txBody>
                  <a:tcPr marL="27432" marR="27432" marT="9144" marB="9144" w="187543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5723682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还款次数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 w="12527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 次</a:t>
                      </a:r>
                    </a:p>
                  </a:txBody>
                  <a:tcPr marL="27432" marR="27432" marT="9144" marB="9144" w="187543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927453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是否存在 SACC 贷款</a:t>
                      </a:r>
                    </a:p>
                  </a:txBody>
                  <a:tcPr marL="27432" marR="27432" marT="9144" marB="9144" w="12527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27432" marR="27432" marT="9144" marB="9144" w="187543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330826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是否存在多头借贷</a:t>
                      </a:r>
                    </a:p>
                  </a:txBody>
                  <a:tcPr marL="27432" marR="27432" marT="9144" marB="9144" w="12527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27432" marR="27432" marT="9144" marB="9144" w="187543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397341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是否持续还款</a:t>
                      </a:r>
                    </a:p>
                  </a:txBody>
                  <a:tcPr marL="27432" marR="27432" marT="9144" marB="9144" w="12527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27432" marR="27432" marT="9144" marB="9144" w="187543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985901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是否出现还款中断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 w="12527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否</a:t>
                      </a:r>
                    </a:p>
                  </a:txBody>
                  <a:tcPr marL="27432" marR="27432" marT="9144" marB="9144" w="187543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863822"/>
                  </a:ext>
                </a:extLst>
              </a:tr>
            </a:tbl>
          </a:graphicData>
        </a:graphic>
      </p:graphicFrame>
      <p:graphicFrame>
        <p:nvGraphicFramePr>
          <p:cNvPr id="18" name="income-table">
            <a:extLst>
              <a:ext uri="{FF2B5EF4-FFF2-40B4-BE49-F238E27FC236}">
                <a16:creationId xmlns:a16="http://schemas.microsoft.com/office/drawing/2014/main" id="{0131C662-720B-4BDB-BAEC-1EB37B537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486903"/>
              </p:ext>
            </p:extLst>
          </p:nvPr>
        </p:nvGraphicFramePr>
        <p:xfrm>
          <a:off x="7744968" y="4517136"/>
          <a:ext cx="3127248" cy="2293486"/>
        </p:xfrm>
        <a:graphic>
          <a:graphicData uri="http://schemas.openxmlformats.org/drawingml/2006/table">
            <a:tbl>
              <a:tblPr/>
              <a:tblGrid>
                <a:gridCol w="1252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136"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 w="12527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Fair Go Finance</a:t>
                      </a:r>
                    </a:p>
                  </a:txBody>
                  <a:tcPr marL="27432" marR="27432" marT="9144" marB="9144" w="18754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贷款类型</a:t>
                      </a:r>
                    </a:p>
                  </a:txBody>
                  <a:tcPr marL="27432" marR="27432" marT="9144" marB="9144" w="1252728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</a:t>
                      </a:r>
                    </a:p>
                  </a:txBody>
                  <a:tcPr marL="27432" marR="27432" marT="9144" marB="9144" w="187543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借款金额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 w="12527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A$1,500</a:t>
                      </a:r>
                    </a:p>
                  </a:txBody>
                  <a:tcPr marL="27432" marR="27432" marT="9144" marB="9144" w="187543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90 </a:t>
                      </a:r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天已还金额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 w="12527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A$936</a:t>
                      </a:r>
                    </a:p>
                  </a:txBody>
                  <a:tcPr marL="27432" marR="27432" marT="9144" marB="9144" w="187543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预计待还金额</a:t>
                      </a:r>
                    </a:p>
                  </a:txBody>
                  <a:tcPr marL="27432" marR="27432" marT="9144" marB="9144" w="12527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A$564</a:t>
                      </a:r>
                    </a:p>
                  </a:txBody>
                  <a:tcPr marL="27432" marR="27432" marT="9144" marB="9144" w="187543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还款频率</a:t>
                      </a:r>
                    </a:p>
                  </a:txBody>
                  <a:tcPr marL="27432" marR="27432" marT="9144" marB="9144" w="12527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每两周 A$156</a:t>
                      </a:r>
                    </a:p>
                  </a:txBody>
                  <a:tcPr marL="27432" marR="27432" marT="9144" marB="9144" w="187543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5723682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月还款金额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 w="12527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约 A$338（A$156 × 26/12）</a:t>
                      </a:r>
                    </a:p>
                  </a:txBody>
                  <a:tcPr marL="27432" marR="27432" marT="9144" marB="9144" w="187543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927453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90 </a:t>
                      </a:r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天还款次数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 w="12527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 次</a:t>
                      </a:r>
                    </a:p>
                  </a:txBody>
                  <a:tcPr marL="27432" marR="27432" marT="9144" marB="9144" w="187543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397341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当前状态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 w="12527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在贷</a:t>
                      </a:r>
                    </a:p>
                  </a:txBody>
                  <a:tcPr marL="27432" marR="27432" marT="9144" marB="9144" w="187543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985901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扣款失败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 w="12527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否</a:t>
                      </a:r>
                    </a:p>
                  </a:txBody>
                  <a:tcPr marL="27432" marR="27432" marT="9144" marB="9144" w="187543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863822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年化利率（APR）</a:t>
                      </a:r>
                    </a:p>
                  </a:txBody>
                  <a:tcPr marL="27432" marR="27432" marT="9144" marB="9144" w="125272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【</a:t>
                      </a:r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待补充</a:t>
                      </a:r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】</a:t>
                      </a:r>
                    </a:p>
                  </a:txBody>
                  <a:tcPr marL="27432" marR="27432" marT="9144" marB="9144" w="187543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096946"/>
                  </a:ext>
                </a:extLst>
              </a:tr>
            </a:tbl>
          </a:graphicData>
        </a:graphic>
      </p:graphicFrame>
      <p:sp>
        <p:nvSpPr>
          <p:cNvPr id="21" name="p2-label-bg"/>
          <p:cNvSpPr/>
          <p:nvPr/>
        </p:nvSpPr>
        <p:spPr>
          <a:xfrm>
            <a:off x="822960" y="4773168"/>
            <a:ext cx="777240" cy="1344168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2-label-bar"/>
          <p:cNvSpPr/>
          <p:nvPr/>
        </p:nvSpPr>
        <p:spPr>
          <a:xfrm>
            <a:off x="822960" y="4773168"/>
            <a:ext cx="54864" cy="13441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2-label-text"/>
          <p:cNvSpPr txBox="1"/>
          <p:nvPr/>
        </p:nvSpPr>
        <p:spPr>
          <a:xfrm>
            <a:off x="877824" y="4773168"/>
            <a:ext cx="722376" cy="1344168"/>
          </a:xfrm>
          <a:prstGeom prst="rect">
            <a:avLst/>
          </a:prstGeom>
          <a:noFill/>
        </p:spPr>
        <p:txBody>
          <a:bodyPr wrap="square" anchor="ctr" vert="eaVert">
            <a:noAutofit/>
          </a:bodyPr>
          <a:lstStyle/>
          <a:p>
            <a:pPr algn="ctr"/>
            <a:r>
              <a:rPr sz="1050" b="1">
                <a:solidFill>
                  <a:srgbClr val="0A0A0A"/>
                </a:solidFill>
                <a:latin typeface="微软雅黑"/>
              </a:rPr>
              <a:t>用户维度</a:t>
            </a:r>
          </a:p>
        </p:txBody>
      </p:sp>
      <p:sp>
        <p:nvSpPr>
          <p:cNvPr id="24" name="p2-label-bg"/>
          <p:cNvSpPr/>
          <p:nvPr/>
        </p:nvSpPr>
        <p:spPr>
          <a:xfrm>
            <a:off x="6464808" y="4791456"/>
            <a:ext cx="777240" cy="1344168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2-label-bar"/>
          <p:cNvSpPr/>
          <p:nvPr/>
        </p:nvSpPr>
        <p:spPr>
          <a:xfrm>
            <a:off x="6464808" y="4791456"/>
            <a:ext cx="54864" cy="13441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2-label-text"/>
          <p:cNvSpPr txBox="1"/>
          <p:nvPr/>
        </p:nvSpPr>
        <p:spPr>
          <a:xfrm>
            <a:off x="6519672" y="4791456"/>
            <a:ext cx="722376" cy="1344168"/>
          </a:xfrm>
          <a:prstGeom prst="rect">
            <a:avLst/>
          </a:prstGeom>
          <a:noFill/>
        </p:spPr>
        <p:txBody>
          <a:bodyPr wrap="square" anchor="ctr" vert="eaVert">
            <a:noAutofit/>
          </a:bodyPr>
          <a:lstStyle/>
          <a:p>
            <a:pPr algn="ctr"/>
            <a:r>
              <a:rPr sz="1050" b="1">
                <a:solidFill>
                  <a:srgbClr val="0A0A0A"/>
                </a:solidFill>
                <a:latin typeface="微软雅黑"/>
              </a:rPr>
              <a:t>单笔借款维度</a:t>
            </a:r>
          </a:p>
        </p:txBody>
      </p:sp>
      <p:sp>
        <p:nvSpPr>
          <p:cNvPr id="27" name="s-badge-1"/>
          <p:cNvSpPr/>
          <p:nvPr/>
        </p:nvSpPr>
        <p:spPr>
          <a:xfrm>
            <a:off x="265176" y="1184148"/>
            <a:ext cx="274320" cy="27432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-badge-text-1"/>
          <p:cNvSpPr txBox="1"/>
          <p:nvPr/>
        </p:nvSpPr>
        <p:spPr>
          <a:xfrm>
            <a:off x="265176" y="1184148"/>
            <a:ext cx="274320" cy="27432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29" name="s-badge-2"/>
          <p:cNvSpPr/>
          <p:nvPr/>
        </p:nvSpPr>
        <p:spPr>
          <a:xfrm>
            <a:off x="310896" y="2638044"/>
            <a:ext cx="274320" cy="27432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-badge-text-2"/>
          <p:cNvSpPr txBox="1"/>
          <p:nvPr/>
        </p:nvSpPr>
        <p:spPr>
          <a:xfrm>
            <a:off x="310896" y="2638044"/>
            <a:ext cx="274320" cy="27432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31" name="s-badge-3"/>
          <p:cNvSpPr/>
          <p:nvPr/>
        </p:nvSpPr>
        <p:spPr>
          <a:xfrm>
            <a:off x="310896" y="4146803"/>
            <a:ext cx="274320" cy="27432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-badge-text-3"/>
          <p:cNvSpPr txBox="1"/>
          <p:nvPr/>
        </p:nvSpPr>
        <p:spPr>
          <a:xfrm>
            <a:off x="310896" y="4146803"/>
            <a:ext cx="274320" cy="27432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32786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and-bg">
            <a:extLst>
              <a:ext uri="{FF2B5EF4-FFF2-40B4-BE49-F238E27FC236}">
                <a16:creationId xmlns:a16="http://schemas.microsoft.com/office/drawing/2014/main" id="{D6429189-C8AA-4544-BEC8-9DF6FD837EF5}"/>
              </a:ext>
            </a:extLst>
          </p:cNvPr>
          <p:cNvSpPr/>
          <p:nvPr/>
        </p:nvSpPr>
        <p:spPr>
          <a:xfrm>
            <a:off x="584453" y="1105291"/>
            <a:ext cx="10871200" cy="50512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p/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D6C6528-4DFB-4D29-B578-BC3E760E6C21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altLang="zh-CN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多引擎分工分类，AI 建设与维护知识库并驱动持续优化闭环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96AA42-FD16-4226-8E79-584F342FB5EE}"/>
              </a:ext>
            </a:extLst>
          </p:cNvPr>
          <p:cNvSpPr txBox="1"/>
          <p:nvPr/>
        </p:nvSpPr>
        <p:spPr>
          <a:xfrm>
            <a:off x="511115" y="57030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流水依次经过多个分类引擎，各引擎输出交易类别、交易对手，后续引擎发现更明确证据可修正前序分类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1-bar">
            <a:extLst>
              <a:ext uri="{FF2B5EF4-FFF2-40B4-BE49-F238E27FC236}">
                <a16:creationId xmlns:a16="http://schemas.microsoft.com/office/drawing/2014/main" id="{91A77EEA-A124-4DAB-9FE8-7A3DD468C350}"/>
              </a:ext>
            </a:extLst>
          </p:cNvPr>
          <p:cNvSpPr/>
          <p:nvPr/>
        </p:nvSpPr>
        <p:spPr>
          <a:xfrm>
            <a:off x="568717" y="1732980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  <p:txBody>
          <a:bodyPr/>
          <a:p/>
        </p:txBody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2E0EF8C0-7EE5-4A89-9BFB-5F574061D5AA}"/>
              </a:ext>
            </a:extLst>
          </p:cNvPr>
          <p:cNvSpPr txBox="1"/>
          <p:nvPr/>
        </p:nvSpPr>
        <p:spPr>
          <a:xfrm>
            <a:off x="721117" y="169488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1. AI 建设与维护知识库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init-table">
            <a:extLst>
              <a:ext uri="{FF2B5EF4-FFF2-40B4-BE49-F238E27FC236}">
                <a16:creationId xmlns:a16="http://schemas.microsoft.com/office/drawing/2014/main" id="{296C6557-7410-4A1E-A4E0-C1913FA16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821530"/>
              </p:ext>
            </p:extLst>
          </p:nvPr>
        </p:nvGraphicFramePr>
        <p:xfrm>
          <a:off x="568716" y="2274555"/>
          <a:ext cx="5222483" cy="1280160"/>
        </p:xfrm>
        <a:graphic>
          <a:graphicData uri="http://schemas.openxmlformats.org/drawingml/2006/table">
            <a:tbl>
              <a:tblPr/>
              <a:tblGrid>
                <a:gridCol w="1314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1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6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标准商户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关键词／别名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TEMU.COM、TEMU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Online Shopping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Eats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EATS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Dining 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Netflix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NETFLIX.COM、NETFLIX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Subscription TV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Spotify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SPOTIFY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Entertainment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OPENAI *CHATGPT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income-capsule">
            <a:extLst>
              <a:ext uri="{FF2B5EF4-FFF2-40B4-BE49-F238E27FC236}">
                <a16:creationId xmlns:a16="http://schemas.microsoft.com/office/drawing/2014/main" id="{B4CB0565-A9AE-4A45-8F6A-44E49726E461}"/>
              </a:ext>
            </a:extLst>
          </p:cNvPr>
          <p:cNvSpPr/>
          <p:nvPr/>
        </p:nvSpPr>
        <p:spPr>
          <a:xfrm>
            <a:off x="557541" y="3610392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  <p:txBody>
          <a:bodyPr/>
          <a:p/>
        </p:txBody>
      </p:sp>
      <p:sp>
        <p:nvSpPr>
          <p:cNvPr id="10" name="income-capsule-text">
            <a:extLst>
              <a:ext uri="{FF2B5EF4-FFF2-40B4-BE49-F238E27FC236}">
                <a16:creationId xmlns:a16="http://schemas.microsoft.com/office/drawing/2014/main" id="{3B41C0CB-B265-49B8-8346-7A67CD243C57}"/>
              </a:ext>
            </a:extLst>
          </p:cNvPr>
          <p:cNvSpPr txBox="1"/>
          <p:nvPr/>
        </p:nvSpPr>
        <p:spPr>
          <a:xfrm>
            <a:off x="557541" y="3610392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收入识别知识库</a:t>
            </a:r>
            <a:endParaRPr lang="en-US" altLang="zh-CN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income-table">
            <a:extLst>
              <a:ext uri="{FF2B5EF4-FFF2-40B4-BE49-F238E27FC236}">
                <a16:creationId xmlns:a16="http://schemas.microsoft.com/office/drawing/2014/main" id="{437DE33D-539A-4A03-AC67-AB16184E7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780107"/>
              </p:ext>
            </p:extLst>
          </p:nvPr>
        </p:nvGraphicFramePr>
        <p:xfrm>
          <a:off x="541547" y="3918704"/>
          <a:ext cx="5222483" cy="1066800"/>
        </p:xfrm>
        <a:graphic>
          <a:graphicData uri="http://schemas.openxmlformats.org/drawingml/2006/table">
            <a:tbl>
              <a:tblPr/>
              <a:tblGrid>
                <a:gridCol w="1252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4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4136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交易描述与线索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命中的知识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普通工资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PAYROLL ACME 双周入账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Payroll 模式＋周期＋稳定阈值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薪酬包装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SALARY PACKAGING 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薪酬包装模式优先于普通工资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政府补助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CENTRELINK 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Centrelink 专项模式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零工收入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入账，无退款信号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零工模式＋入账方向＋排除规则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liab-capsule">
            <a:extLst>
              <a:ext uri="{FF2B5EF4-FFF2-40B4-BE49-F238E27FC236}">
                <a16:creationId xmlns:a16="http://schemas.microsoft.com/office/drawing/2014/main" id="{A571CED0-8DA4-453B-8B62-551D2F39A966}"/>
              </a:ext>
            </a:extLst>
          </p:cNvPr>
          <p:cNvSpPr/>
          <p:nvPr/>
        </p:nvSpPr>
        <p:spPr>
          <a:xfrm>
            <a:off x="511115" y="5015663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  <p:txBody>
          <a:bodyPr/>
          <a:p/>
        </p:txBody>
      </p:sp>
      <p:sp>
        <p:nvSpPr>
          <p:cNvPr id="14" name="liab-capsule-text">
            <a:extLst>
              <a:ext uri="{FF2B5EF4-FFF2-40B4-BE49-F238E27FC236}">
                <a16:creationId xmlns:a16="http://schemas.microsoft.com/office/drawing/2014/main" id="{671DCB91-F81B-448D-8287-02975156DBAA}"/>
              </a:ext>
            </a:extLst>
          </p:cNvPr>
          <p:cNvSpPr txBox="1"/>
          <p:nvPr/>
        </p:nvSpPr>
        <p:spPr>
          <a:xfrm>
            <a:off x="511115" y="5015663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贷款识别知识库</a:t>
            </a:r>
            <a:endParaRPr lang="en-US" altLang="zh-CN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" name="liab-table">
            <a:extLst>
              <a:ext uri="{FF2B5EF4-FFF2-40B4-BE49-F238E27FC236}">
                <a16:creationId xmlns:a16="http://schemas.microsoft.com/office/drawing/2014/main" id="{D9D16F0A-2CA9-444A-9C30-0D63C131C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406915"/>
              </p:ext>
            </p:extLst>
          </p:nvPr>
        </p:nvGraphicFramePr>
        <p:xfrm>
          <a:off x="511115" y="5244263"/>
          <a:ext cx="5540237" cy="1676400"/>
        </p:xfrm>
        <a:graphic>
          <a:graphicData uri="http://schemas.openxmlformats.org/drawingml/2006/table">
            <a:tbl>
              <a:tblPr/>
              <a:tblGrid>
                <a:gridCol w="1627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08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知识库／场景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交易描述示例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命中的知识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BNPL 对手库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DIRECT DEBIT AFTERPAY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BNPL 交易对手关键词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信用卡规则库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BPAY ... ANZ CARDS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银行、账户类型、方向与文本共同匹配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房贷规则库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MORTGAGE REPAYMENT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Mortgage、Home Loan 关键词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车贷机构或专用描述扣款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车贷标记＋交易对手规则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催收／债务整合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已知催收机构或整合描述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催收、整合关键词与专项标记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income-capsule">
            <a:extLst>
              <a:ext uri="{FF2B5EF4-FFF2-40B4-BE49-F238E27FC236}">
                <a16:creationId xmlns:a16="http://schemas.microsoft.com/office/drawing/2014/main" id="{CFEC0F35-840B-44A5-BDAF-0D56EDB6D11F}"/>
              </a:ext>
            </a:extLst>
          </p:cNvPr>
          <p:cNvSpPr/>
          <p:nvPr/>
        </p:nvSpPr>
        <p:spPr>
          <a:xfrm>
            <a:off x="541547" y="2003724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  <p:txBody>
          <a:bodyPr/>
          <a:p/>
        </p:txBody>
      </p:sp>
      <p:sp>
        <p:nvSpPr>
          <p:cNvPr id="24" name="income-capsule-text">
            <a:extLst>
              <a:ext uri="{FF2B5EF4-FFF2-40B4-BE49-F238E27FC236}">
                <a16:creationId xmlns:a16="http://schemas.microsoft.com/office/drawing/2014/main" id="{455365E2-0360-47A7-B894-12DC05DCC697}"/>
              </a:ext>
            </a:extLst>
          </p:cNvPr>
          <p:cNvSpPr txBox="1"/>
          <p:nvPr/>
        </p:nvSpPr>
        <p:spPr>
          <a:xfrm>
            <a:off x="541547" y="2003724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澳洲企业库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BAB8C997-F392-44D6-BD9C-9CC639AE4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541" y="1241953"/>
            <a:ext cx="1089811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引擎流程：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Init → Income → Liability → Other Engines (</a:t>
            </a:r>
            <a:r>
              <a:rPr lang="en-US" altLang="zh-CN" sz="1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Transfers,Gambling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and Rent) → Quality Review &amp; Optimization</a:t>
            </a: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 质量评估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与优化闭环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2A69DA-792E-4EF6-BBB2-2066D247A0B4}"/>
              </a:ext>
            </a:extLst>
          </p:cNvPr>
          <p:cNvSpPr txBox="1"/>
          <p:nvPr/>
        </p:nvSpPr>
        <p:spPr>
          <a:xfrm>
            <a:off x="6311257" y="1975104"/>
            <a:ext cx="5540237" cy="17922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F4E79"/>
                </a:solidFill>
                <a:latin typeface="微软雅黑"/>
              </a:rPr>
              <a:t>① 监控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3D3C3A"/>
                </a:solidFill>
                <a:latin typeface="微软雅黑"/>
              </a:rPr>
              <a:t>捕捉分类批量漂移、同一交易对手归类不一致、覆盖率或命中率明显下降、新描述未被任何引擎识别等异常信号。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F4E79"/>
                </a:solidFill>
                <a:latin typeface="微软雅黑"/>
              </a:rPr>
              <a:t>② 定位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3D3C3A"/>
                </a:solidFill>
                <a:latin typeface="微软雅黑"/>
              </a:rPr>
              <a:t>对异常逐笔细挖交易描述、金额、方向、交易对手、命中引擎和分类依据，归类为五类原因。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F4E79"/>
                </a:solidFill>
                <a:latin typeface="微软雅黑"/>
              </a:rPr>
              <a:t>③ 输出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3D3C3A"/>
                </a:solidFill>
                <a:latin typeface="微软雅黑"/>
              </a:rPr>
              <a:t>生成按优先级排序的诊断报告，直接标明问题引擎、需检查的规则、缺失的商户／关键词及应补充的知识库，供业务确认。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F4E79"/>
                </a:solidFill>
                <a:latin typeface="微软雅黑"/>
              </a:rPr>
              <a:t>效果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3D3C3A"/>
                </a:solidFill>
                <a:latin typeface="微软雅黑"/>
              </a:rPr>
              <a:t>知识库随注册商户的新增、变更、失效持续更新，并从真实交易中补齐注册数据未覆盖的支付描述和商户别名。由此形成“分类 → 监控 → 定位 → 输出 → 更新 → 再分类”的持续优化闭环。</a:t>
            </a:r>
          </a:p>
        </p:txBody>
      </p:sp>
      <p:sp>
        <p:nvSpPr>
          <p:cNvPr id="25" name="s1-bar">
            <a:extLst>
              <a:ext uri="{FF2B5EF4-FFF2-40B4-BE49-F238E27FC236}">
                <a16:creationId xmlns:a16="http://schemas.microsoft.com/office/drawing/2014/main" id="{A8EBEEE2-E859-4ED2-B0ED-270FD3E8E714}"/>
              </a:ext>
            </a:extLst>
          </p:cNvPr>
          <p:cNvSpPr/>
          <p:nvPr/>
        </p:nvSpPr>
        <p:spPr>
          <a:xfrm>
            <a:off x="6285857" y="1737516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26" name="s1-title">
            <a:extLst>
              <a:ext uri="{FF2B5EF4-FFF2-40B4-BE49-F238E27FC236}">
                <a16:creationId xmlns:a16="http://schemas.microsoft.com/office/drawing/2014/main" id="{04C828B8-086B-404C-8643-9D85D8368225}"/>
              </a:ext>
            </a:extLst>
          </p:cNvPr>
          <p:cNvSpPr txBox="1"/>
          <p:nvPr/>
        </p:nvSpPr>
        <p:spPr>
          <a:xfrm>
            <a:off x="6438257" y="1699416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2. AI 质检 Agent：监控分类波动并输出诊断报告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025288"/>
              </p:ext>
            </p:extLst>
          </p:nvPr>
        </p:nvGraphicFramePr>
        <p:xfrm>
          <a:off x="6311255" y="4049611"/>
          <a:ext cx="5540236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3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6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定位原因</a:t>
                      </a:r>
                    </a:p>
                  </a:txBody>
                  <a:tcPr marL="27432" marR="27432" marT="9144" marB="9144">
                    <a:lnB w="19050" cap="flat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示例场景</a:t>
                      </a:r>
                    </a:p>
                  </a:txBody>
                  <a:tcPr marL="27432" marR="27432" marT="9144" marB="9144">
                    <a:lnB w="19050" cap="flat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引擎规则问题</a:t>
                      </a:r>
                    </a:p>
                  </a:txBody>
                  <a:tcPr marL="27432" marR="27432" marT="9144" marB="9144"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排除规则过宽，房租、保险、水电被误归为内部转账，导致租金支出在支出计算中漏算</a:t>
                      </a:r>
                    </a:p>
                  </a:txBody>
                  <a:tcPr marL="27432" marR="27432" marT="9144" marB="9144"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知识库不足</a:t>
                      </a:r>
                    </a:p>
                  </a:txBody>
                  <a:tcPr marL="27432" marR="27432" marT="9144" marB="9144"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新开业商户或新兴</a:t>
                      </a:r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 BNPL </a:t>
                      </a:r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平台的交易描述未收录，落入</a:t>
                      </a:r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 Other </a:t>
                      </a:r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或无法归集为负债流</a:t>
                      </a:r>
                      <a:endParaRPr sz="7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数据本身异常</a:t>
                      </a:r>
                    </a:p>
                  </a:txBody>
                  <a:tcPr marL="27432" marR="27432" marT="9144" marB="9144"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银行返回描述被截断（仅剩 EFTPOS *）、金额与方向矛盾、同一笔交易重复入账</a:t>
                      </a:r>
                    </a:p>
                  </a:txBody>
                  <a:tcPr marL="27432" marR="27432" marT="9144" marB="9144"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多引擎冲突</a:t>
                      </a:r>
                    </a:p>
                  </a:txBody>
                  <a:tcPr marL="27432" marR="27432" marT="9144" marB="9144"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同一笔 BPAY ... 被 Transfer 归为转账、被 Liability 识别为还款，需按业务语义裁决</a:t>
                      </a:r>
                    </a:p>
                  </a:txBody>
                  <a:tcPr marL="27432" marR="27432" marT="9144" marB="9144"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正常波动</a:t>
                      </a:r>
                    </a:p>
                  </a:txBody>
                  <a:tcPr marL="27432" marR="27432" marT="9144" marB="9144"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月初集中缴费、节假日消费高峰导致某类别占比短期上升，属正常范围，无需干预</a:t>
                      </a:r>
                      <a:endParaRPr sz="7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311257" y="5282559"/>
            <a:ext cx="5540237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dirty="0" err="1">
                <a:solidFill>
                  <a:srgbClr val="0A0A0A"/>
                </a:solidFill>
                <a:latin typeface="微软雅黑"/>
                <a:ea typeface="微软雅黑"/>
              </a:rPr>
              <a:t>诊断报告输出示例</a:t>
            </a:r>
            <a:endParaRPr sz="900" b="1" dirty="0">
              <a:solidFill>
                <a:srgbClr val="0A0A0A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311257" y="5556879"/>
          <a:ext cx="5540234" cy="694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6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6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优先级</a:t>
                      </a:r>
                    </a:p>
                  </a:txBody>
                  <a:tcPr marL="27432" marR="27432" marT="9144" marB="9144">
                    <a:lnB w="19050" cap="flat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问题描述</a:t>
                      </a:r>
                    </a:p>
                  </a:txBody>
                  <a:tcPr marL="27432" marR="27432" marT="9144" marB="9144">
                    <a:lnB w="19050" cap="flat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定位原因</a:t>
                      </a:r>
                    </a:p>
                  </a:txBody>
                  <a:tcPr marL="27432" marR="27432" marT="9144" marB="9144">
                    <a:lnB w="19050" cap="flat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建议动作</a:t>
                      </a:r>
                    </a:p>
                  </a:txBody>
                  <a:tcPr marL="27432" marR="27432" marT="9144" marB="9144">
                    <a:lnB w="19050" cap="flat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 marL="27432" marR="27432" marT="9144" marB="9144"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房租交易批量被归为内部转账</a:t>
                      </a:r>
                    </a:p>
                  </a:txBody>
                  <a:tcPr marL="27432" marR="27432" marT="9144" marB="9144"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引擎规则问题</a:t>
                      </a:r>
                    </a:p>
                  </a:txBody>
                  <a:tcPr marL="27432" marR="27432" marT="9144" marB="9144"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优化 Transfer 排除规则并补充回归用例</a:t>
                      </a:r>
                    </a:p>
                  </a:txBody>
                  <a:tcPr marL="27432" marR="27432" marT="9144" marB="9144"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P1</a:t>
                      </a:r>
                    </a:p>
                  </a:txBody>
                  <a:tcPr marL="27432" marR="27432" marT="9144" marB="9144"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新 BNPL 平台还款未被识别</a:t>
                      </a:r>
                    </a:p>
                  </a:txBody>
                  <a:tcPr marL="27432" marR="27432" marT="9144" marB="9144"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知识库不足</a:t>
                      </a:r>
                    </a:p>
                  </a:txBody>
                  <a:tcPr marL="27432" marR="27432" marT="9144" marB="9144"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补充平台名称及扣款描述关键词</a:t>
                      </a:r>
                    </a:p>
                  </a:txBody>
                  <a:tcPr marL="27432" marR="27432" marT="9144" marB="9144"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P2</a:t>
                      </a:r>
                    </a:p>
                  </a:txBody>
                  <a:tcPr marL="27432" marR="27432" marT="9144" marB="9144"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某商户 7 月分类占比短期上升</a:t>
                      </a:r>
                    </a:p>
                  </a:txBody>
                  <a:tcPr marL="27432" marR="27432" marT="9144" marB="9144"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正常波动</a:t>
                      </a:r>
                    </a:p>
                  </a:txBody>
                  <a:tcPr marL="27432" marR="27432" marT="9144" marB="9144"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无需处理，持续观察</a:t>
                      </a:r>
                      <a:endParaRPr sz="7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TextBox 29">
            <a:extLst>
              <a:ext uri="{FF2B5EF4-FFF2-40B4-BE49-F238E27FC236}">
                <a16:creationId xmlns:a16="http://schemas.microsoft.com/office/drawing/2014/main" id="{59843E63-6597-4DF7-94AC-310E51A426D8}"/>
              </a:ext>
            </a:extLst>
          </p:cNvPr>
          <p:cNvSpPr txBox="1"/>
          <p:nvPr/>
        </p:nvSpPr>
        <p:spPr>
          <a:xfrm>
            <a:off x="6219817" y="3773799"/>
            <a:ext cx="110799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</a:pPr>
            <a:r>
              <a:rPr lang="zh-CN" altLang="en-US" sz="900" b="1" dirty="0">
                <a:solidFill>
                  <a:srgbClr val="0A0A0A"/>
                </a:solidFill>
                <a:latin typeface="微软雅黑"/>
                <a:ea typeface="微软雅黑"/>
              </a:rPr>
              <a:t>五类定位原因示例</a:t>
            </a:r>
          </a:p>
        </p:txBody>
      </p:sp>
    </p:spTree>
    <p:extLst>
      <p:ext uri="{BB962C8B-B14F-4D97-AF65-F5344CB8AC3E}">
        <p14:creationId xmlns:p14="http://schemas.microsoft.com/office/powerpoint/2010/main" val="2946827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40EE25B-7E76-419D-9567-BF44A7BCAF27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Liability 贷款识别：覆盖、一致性与精度全面优于 illion</a:t>
            </a: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681727" y="1591056"/>
          <a:ext cx="7004304" cy="6217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金额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方向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交易描述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illion 分类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我方分类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2026/07/05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A$1,248.00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Home loan - Receipt ... To Orange Everyday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Internal Transfer（内部转账）&lt;br&gt;住房贷款完全遗漏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Non-SACC Loans（Home Loan）&lt;br&gt;按产品关键词判定为贷款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681727" y="3108960"/>
          <a:ext cx="7004304" cy="12252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金额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方向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交易描述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illion 分类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我方分类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2026/03/02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A$750.00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Credit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MoneySpot Loan Disbursement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2026/03/16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A$49.09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MoneySpot Repayment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2026/05/11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A$49.09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MoneySpot Repayment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2026/05/25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A$49.09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MoneySpot Repayment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Non-SACC Loans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2026/07/20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A$49.09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MoneySpot Repayment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Non-SACC Loans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681727" y="5413247"/>
          <a:ext cx="7004304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金额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方向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交易描述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illion 分类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我方分类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2026/02/10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A$300.00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Credit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Credit24 Loan Advance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Non-SACC Loans（LOC 循环授信）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2026/04/14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A$48.30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Credit24 Repayment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Non-SACC Loans（LOC 循环授信）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2026/06/22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A$48.30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Credit24 Repayment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Non-SACC Loans（LOC 循环授信）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12064" y="566928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OOT 样本对比：1,519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个申请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 case ｜ 1,958,480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条交易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 ｜ 2026/07/27–2026/07/31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3" y="1069849"/>
            <a:ext cx="64008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9182" y="1051560"/>
            <a:ext cx="402335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1. 贷款识别覆盖交集：我方漏识别更少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7" y="4242816"/>
            <a:ext cx="1298448" cy="9144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29767" y="4242816"/>
            <a:ext cx="1298448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9767" y="4370832"/>
            <a:ext cx="12984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Finv 识别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" y="4608577"/>
            <a:ext cx="12984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5,680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" y="4919473"/>
            <a:ext cx="12984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覆盖率 12.8%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37943" y="4242816"/>
            <a:ext cx="1298448" cy="9144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837943" y="4242816"/>
            <a:ext cx="1298448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837943" y="4370832"/>
            <a:ext cx="12984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双方共识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37943" y="4608577"/>
            <a:ext cx="12984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5,284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37943" y="4919473"/>
            <a:ext cx="12984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一致率 92.0%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6119" y="4242816"/>
            <a:ext cx="1298448" cy="9144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246119" y="4242816"/>
            <a:ext cx="1298448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246119" y="4370832"/>
            <a:ext cx="12984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illion 识别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19" y="4608577"/>
            <a:ext cx="12984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5,363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6119" y="4919473"/>
            <a:ext cx="12984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覆盖率 12.1%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" y="5321808"/>
            <a:ext cx="4114800" cy="457200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29767" y="5321808"/>
            <a:ext cx="64008" cy="45720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03503" y="5394960"/>
            <a:ext cx="4206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双方识别高度重合，但 Finv 覆盖更多、漏识更少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1078992"/>
            <a:ext cx="566928" cy="23774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663440" y="1078992"/>
            <a:ext cx="56692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Case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1060704"/>
            <a:ext cx="6318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覆盖提升：Home Loan 被 illion 漏识别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1727" y="1353312"/>
            <a:ext cx="69585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同一笔 Home Loan 还款，illion 归为 Internal Transfer，住房贷款完全遗漏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81727" y="2218945"/>
            <a:ext cx="6958584" cy="274320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681727" y="2218945"/>
            <a:ext cx="45720" cy="27432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809743" y="2255521"/>
            <a:ext cx="67757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✓ Finv 通过产品词库识别 Home Loan，扩大贷款识别覆盖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63440" y="2596896"/>
            <a:ext cx="566928" cy="23774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663440" y="2596896"/>
            <a:ext cx="56692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Case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0" y="2578608"/>
            <a:ext cx="6318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一致性：同一贷款流内 illion 标签自相矛盾（MoneySpot）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81727" y="2871216"/>
            <a:ext cx="69585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同一贷款流共 11 笔：放款 1 笔（A$750）+ 等额还款 10 笔（A$49.09/期），illion 前 6 笔标 SACC、后 5 笔标 Non-SACC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81727" y="4425696"/>
            <a:ext cx="6958584" cy="274320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681727" y="4425696"/>
            <a:ext cx="45720" cy="27432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809743" y="4462272"/>
            <a:ext cx="67757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✓ Finv 基于完整贷款流统一判断，避免交易级标签前后冲突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63440" y="4901183"/>
            <a:ext cx="566928" cy="23774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663440" y="4901183"/>
            <a:ext cx="56692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Case 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0" y="4882896"/>
            <a:ext cx="6318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分类精度：Credit24 被 illion 泛化为 SACC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81727" y="5175503"/>
            <a:ext cx="69585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同一用户共 19 笔 Credit24 交易全部被标为 SACC Loans，忽略产品类型差异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81727" y="6327647"/>
            <a:ext cx="6958584" cy="274320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4681727" y="6327647"/>
            <a:ext cx="45720" cy="27432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809743" y="6364223"/>
            <a:ext cx="67757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✓ Finv 结合交易模式与机构产品知识识别 LOC，提升贷款类型精度</a:t>
            </a:r>
          </a:p>
        </p:txBody>
      </p:sp>
      <p:sp>
        <p:nvSpPr>
          <p:cNvPr id="64" name="Oval 63"/>
          <p:cNvSpPr/>
          <p:nvPr/>
        </p:nvSpPr>
        <p:spPr>
          <a:xfrm>
            <a:off x="420623" y="1965961"/>
            <a:ext cx="2148840" cy="2148840"/>
          </a:xfrm>
          <a:prstGeom prst="ellipse">
            <a:avLst/>
          </a:prstGeom>
          <a:solidFill>
            <a:srgbClr val="1F4E79">
              <a:alpha val="28000"/>
            </a:srgbClr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1609343" y="1965961"/>
            <a:ext cx="2148840" cy="2148840"/>
          </a:xfrm>
          <a:prstGeom prst="ellipse">
            <a:avLst/>
          </a:prstGeom>
          <a:solidFill>
            <a:srgbClr val="D6A000">
              <a:alpha val="28000"/>
            </a:srgbClr>
          </a:solidFill>
          <a:ln w="1524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83463" y="2903221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396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80943" y="2903221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D6A00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79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89303" y="2839213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5,284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33855" y="3131821"/>
            <a:ext cx="960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一致率 92.0%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2023" y="1429921"/>
            <a:ext cx="260604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Finv 识别 5,680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2023" y="1655065"/>
            <a:ext cx="26060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覆盖率 12.8%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80743" y="1408177"/>
            <a:ext cx="2606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D6A00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illion 识别 5,363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380743" y="1655065"/>
            <a:ext cx="26060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覆盖率 12.1%</a:t>
            </a:r>
          </a:p>
        </p:txBody>
      </p:sp>
    </p:spTree>
    <p:extLst>
      <p:ext uri="{BB962C8B-B14F-4D97-AF65-F5344CB8AC3E}">
        <p14:creationId xmlns:p14="http://schemas.microsoft.com/office/powerpoint/2010/main" val="1875240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515</TotalTime>
  <Words>1087</Words>
  <Application>Microsoft Office PowerPoint</Application>
  <PresentationFormat>宽屏</PresentationFormat>
  <Paragraphs>367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Arial</vt:lpstr>
      <vt:lpstr>微软雅黑 Light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银行流水识别与信审决策</dc:title>
  <dc:subject>银行流水识别与信审决策</dc:subject>
  <dc:creator>Kimi</dc:creator>
  <cp:lastModifiedBy>张昱良-Eliam</cp:lastModifiedBy>
  <cp:revision>100</cp:revision>
  <dcterms:modified xsi:type="dcterms:W3CDTF">2026-08-09T10:26:06Z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银行流水识别与信审决策","ContentProducer":"001191110108MACG2KBH8F10000","ProduceID":"19fd57ab-32b2-8dc3-8000-000021f6677f","ReservedCode1":"","ContentPropagator":"001191110108MACG2KBH8F20000","PropagateID":"19fd5750-12b2-8d03-8000-09de61760ce3","ReservedCode2":""}</vt:lpwstr>
  </property>
</Properties>
</file>