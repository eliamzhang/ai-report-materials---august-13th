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50" r:id="rId1"/>
  </p:sldMasterIdLst>
  <p:sldIdLst>
    <p:sldId id="260" r:id="rId2"/>
    <p:sldId id="269" r:id="rId3"/>
    <p:sldId id="281" r:id="rId15"/>
    <p:sldId id="280" r:id="rId4"/>
    <p:sldId id="279" r:id="rId5"/>
  </p:sldIdLst>
  <p:sldSz cx="12192000" cy="6858000"/>
  <p:notesSz cx="12192000" cy="6858000"/>
  <p:embeddedFontLst>
    <p:embeddedFont>
      <p:font typeface="微软雅黑" panose="020B0503020204020204" pitchFamily="34" charset="-122"/>
      <p:regular r:id="rId6"/>
      <p:bold r:id="rId7"/>
    </p:embeddedFont>
    <p:embeddedFont>
      <p:font typeface="微软雅黑 Light" panose="020B0502040204020203" pitchFamily="34" charset="-122"/>
      <p:regular r:id="rId8"/>
    </p:embeddedFont>
    <p:embeddedFont>
      <p:font typeface="等线" panose="02010600030101010101" pitchFamily="2" charset="-122"/>
      <p:regular r:id="rId9"/>
      <p:bold r:id="rId10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list" id="{B3605CEF-5BC4-40B4-8F96-9FBCAEE09C7D}">
          <p14:sldIdLst/>
        </p14:section>
        <p14:section name="sms" id="{BFC3A2BC-87CF-4514-9F88-2C86509F7121}">
          <p14:sldIdLst/>
        </p14:section>
        <p14:section name="银行流水" id="{C38B6FF6-1B3C-4CE4-AEDB-5CB84D573A5E}">
          <p14:sldIdLst>
            <p14:sldId id="260"/>
            <p14:sldId id="269"/>
            <p14:sldId id="280"/>
            <p14:sldId id="279"/>
          </p14:sldIdLst>
        </p14:section>
        <p14:section name="draft2" id="{2D9F7100-66E6-477C-9DC3-FDDECD214F6C}">
          <p14:sldIdLst/>
        </p14:section>
        <p14:section name="draft" id="{A40B931D-2D60-49C2-9CF0-5684BA0EC20D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93B4A"/>
    <a:srgbClr val="5764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731" autoAdjust="0"/>
    <p:restoredTop sz="94610"/>
  </p:normalViewPr>
  <p:slideViewPr>
    <p:cSldViewPr snapToGrid="0" snapToObjects="1">
      <p:cViewPr varScale="1">
        <p:scale>
          <a:sx n="151" d="100"/>
          <a:sy n="151" d="100"/>
        </p:scale>
        <p:origin x="18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4" d="100"/>
        <a:sy n="104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font" Target="fonts/font1.fntdata"/><Relationship Id="rId7" Type="http://schemas.openxmlformats.org/officeDocument/2006/relationships/font" Target="fonts/font2.fntdata"/><Relationship Id="rId8" Type="http://schemas.openxmlformats.org/officeDocument/2006/relationships/font" Target="fonts/font3.fntdata"/><Relationship Id="rId9" Type="http://schemas.openxmlformats.org/officeDocument/2006/relationships/font" Target="fonts/font4.fntdata"/><Relationship Id="rId10" Type="http://schemas.openxmlformats.org/officeDocument/2006/relationships/font" Target="fonts/font5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24"/>
          <p:cNvSpPr/>
          <p:nvPr userDrawn="1"/>
        </p:nvSpPr>
        <p:spPr>
          <a:xfrm>
            <a:off x="1" y="0"/>
            <a:ext cx="12191999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sp>
        <p:nvSpPr>
          <p:cNvPr id="15" name="文本占位符 14"/>
          <p:cNvSpPr>
            <a:spLocks noGrp="1"/>
          </p:cNvSpPr>
          <p:nvPr>
            <p:ph type="body" sz="quarter" idx="13" hasCustomPrompt="1"/>
          </p:nvPr>
        </p:nvSpPr>
        <p:spPr>
          <a:xfrm>
            <a:off x="281657" y="4103406"/>
            <a:ext cx="11008067" cy="644301"/>
          </a:xfrm>
        </p:spPr>
        <p:txBody>
          <a:bodyPr/>
          <a:lstStyle>
            <a:lvl1pPr marL="0" indent="0">
              <a:buFontTx/>
              <a:buNone/>
              <a:defRPr kumimoji="1" lang="zh-CN" altLang="en-US" sz="44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kumimoji="1" lang="zh-CN" altLang="en-US" dirty="0"/>
              <a:t>课件标题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306895" y="4877649"/>
            <a:ext cx="9144000" cy="425221"/>
          </a:xfrm>
        </p:spPr>
        <p:txBody>
          <a:bodyPr/>
          <a:lstStyle>
            <a:lvl1pPr marL="0" indent="0" algn="l">
              <a:buFontTx/>
              <a:buNone/>
              <a:defRPr lang="zh-CN" altLang="en-US" sz="2800" kern="12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indent="0">
              <a:buFontTx/>
              <a:buNone/>
            </a:pPr>
            <a:r>
              <a:rPr lang="zh-CN" altLang="en-US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sym typeface="Arial" panose="020B0604020202020204" pitchFamily="34" charset="0"/>
              </a:rPr>
              <a:t>副标题：副标题副标题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sz="quarter" idx="14" hasCustomPrompt="1"/>
          </p:nvPr>
        </p:nvSpPr>
        <p:spPr>
          <a:xfrm>
            <a:off x="334327" y="6162648"/>
            <a:ext cx="7553198" cy="324196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 kumimoji="1" lang="zh-CN" altLang="en-US" sz="18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来自部门：</a:t>
            </a:r>
            <a:r>
              <a:rPr kumimoji="1"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XXXXX</a:t>
            </a: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     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分享人：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  <a:p>
            <a:endParaRPr kumimoji="1" lang="en-US" altLang="zh-CN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</p:txBody>
      </p:sp>
      <p:cxnSp>
        <p:nvCxnSpPr>
          <p:cNvPr id="13" name="直接连接符 23"/>
          <p:cNvCxnSpPr/>
          <p:nvPr userDrawn="1"/>
        </p:nvCxnSpPr>
        <p:spPr>
          <a:xfrm flipH="1">
            <a:off x="338667" y="5912442"/>
            <a:ext cx="11514666" cy="0"/>
          </a:xfrm>
          <a:prstGeom prst="line">
            <a:avLst/>
          </a:prstGeom>
          <a:ln w="9525">
            <a:solidFill>
              <a:schemeClr val="bg1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19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图片占位符 33"/>
          <p:cNvSpPr>
            <a:spLocks noGrp="1"/>
          </p:cNvSpPr>
          <p:nvPr>
            <p:ph type="pic" sz="quarter" idx="14"/>
          </p:nvPr>
        </p:nvSpPr>
        <p:spPr>
          <a:xfrm>
            <a:off x="0" y="-1588"/>
            <a:ext cx="12192000" cy="41132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kumimoji="1"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20" name="Прямоугольник 20"/>
          <p:cNvSpPr/>
          <p:nvPr userDrawn="1"/>
        </p:nvSpPr>
        <p:spPr>
          <a:xfrm>
            <a:off x="-369" y="-1756"/>
            <a:ext cx="12191382" cy="4112997"/>
          </a:xfrm>
          <a:prstGeom prst="rect">
            <a:avLst/>
          </a:prstGeom>
          <a:solidFill>
            <a:srgbClr val="555E6B">
              <a:alpha val="8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900" dirty="0">
              <a:latin typeface="微软雅黑" panose="020B0503020204020204" pitchFamily="34" charset="-122"/>
            </a:endParaRPr>
          </a:p>
        </p:txBody>
      </p:sp>
      <p:cxnSp>
        <p:nvCxnSpPr>
          <p:cNvPr id="24" name="直接连接符 23"/>
          <p:cNvCxnSpPr/>
          <p:nvPr userDrawn="1"/>
        </p:nvCxnSpPr>
        <p:spPr>
          <a:xfrm flipH="1">
            <a:off x="338667" y="6374454"/>
            <a:ext cx="11514666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078841" y="1762188"/>
            <a:ext cx="10515600" cy="1325563"/>
          </a:xfrm>
        </p:spPr>
        <p:txBody>
          <a:bodyPr>
            <a:normAutofit/>
          </a:bodyPr>
          <a:lstStyle>
            <a:lvl1pPr>
              <a:defRPr sz="33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2" name="内容占位符 31"/>
          <p:cNvSpPr>
            <a:spLocks noGrp="1"/>
          </p:cNvSpPr>
          <p:nvPr>
            <p:ph sz="quarter" idx="13" hasCustomPrompt="1"/>
          </p:nvPr>
        </p:nvSpPr>
        <p:spPr>
          <a:xfrm>
            <a:off x="1078841" y="1456274"/>
            <a:ext cx="9317228" cy="593725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kumimoji="1" lang="en-US" altLang="zh-CN" dirty="0"/>
              <a:t>01</a:t>
            </a:r>
            <a:endParaRPr kumimoji="1" lang="zh-CN" altLang="en-US" dirty="0"/>
          </a:p>
        </p:txBody>
      </p:sp>
      <p:sp>
        <p:nvSpPr>
          <p:cNvPr id="38" name="文本占位符 35"/>
          <p:cNvSpPr>
            <a:spLocks noGrp="1"/>
          </p:cNvSpPr>
          <p:nvPr>
            <p:ph type="body" sz="quarter" idx="16" hasCustomPrompt="1"/>
          </p:nvPr>
        </p:nvSpPr>
        <p:spPr>
          <a:xfrm>
            <a:off x="7062258" y="6437312"/>
            <a:ext cx="4791075" cy="420688"/>
          </a:xfrm>
        </p:spPr>
        <p:txBody>
          <a:bodyPr/>
          <a:lstStyle>
            <a:lvl1pPr marL="0" indent="0" algn="r">
              <a:buNone/>
              <a:defRPr kumimoji="1" lang="zh-CN" altLang="en-US" sz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0" indent="0">
              <a:buNone/>
            </a:pPr>
            <a:r>
              <a:rPr kumimoji="1" lang="en-US" altLang="zh-CN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01</a:t>
            </a:r>
            <a:endParaRPr lang="zh-CN" altLang="en-US" sz="12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pitchFamily="34" charset="-122"/>
              <a:ea typeface="微软雅黑 Light" panose="020B0502040204020203" pitchFamily="34" charset="-122"/>
              <a:sym typeface="Arial" panose="020B0604020202020204" pitchFamily="34" charset="0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4296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4"/>
          <p:cNvSpPr/>
          <p:nvPr userDrawn="1"/>
        </p:nvSpPr>
        <p:spPr>
          <a:xfrm>
            <a:off x="0" y="0"/>
            <a:ext cx="239045" cy="367749"/>
          </a:xfrm>
          <a:custGeom>
            <a:avLst/>
            <a:gdLst>
              <a:gd name="connsiteX0" fmla="*/ 0 w 239045"/>
              <a:gd name="connsiteY0" fmla="*/ 0 h 360000"/>
              <a:gd name="connsiteX1" fmla="*/ 239045 w 239045"/>
              <a:gd name="connsiteY1" fmla="*/ 0 h 360000"/>
              <a:gd name="connsiteX2" fmla="*/ 239045 w 239045"/>
              <a:gd name="connsiteY2" fmla="*/ 360000 h 360000"/>
              <a:gd name="connsiteX3" fmla="*/ 0 w 239045"/>
              <a:gd name="connsiteY3" fmla="*/ 360000 h 360000"/>
              <a:gd name="connsiteX4" fmla="*/ 0 w 239045"/>
              <a:gd name="connsiteY4" fmla="*/ 0 h 360000"/>
              <a:gd name="connsiteX0-1" fmla="*/ 0 w 239045"/>
              <a:gd name="connsiteY0-2" fmla="*/ 0 h 367749"/>
              <a:gd name="connsiteX1-3" fmla="*/ 239045 w 239045"/>
              <a:gd name="connsiteY1-4" fmla="*/ 0 h 367749"/>
              <a:gd name="connsiteX2-5" fmla="*/ 122808 w 239045"/>
              <a:gd name="connsiteY2-6" fmla="*/ 367749 h 367749"/>
              <a:gd name="connsiteX3-7" fmla="*/ 0 w 239045"/>
              <a:gd name="connsiteY3-8" fmla="*/ 360000 h 367749"/>
              <a:gd name="connsiteX4-9" fmla="*/ 0 w 239045"/>
              <a:gd name="connsiteY4-10" fmla="*/ 0 h 36774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39045" h="367749">
                <a:moveTo>
                  <a:pt x="0" y="0"/>
                </a:moveTo>
                <a:lnTo>
                  <a:pt x="239045" y="0"/>
                </a:lnTo>
                <a:lnTo>
                  <a:pt x="122808" y="367749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928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554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  <p:sp>
        <p:nvSpPr>
          <p:cNvPr id="6" name="Прямоугольник 24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14122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 dirty="0"/>
              <a:t>单击此处编辑母版文本样式</a:t>
            </a:r>
          </a:p>
          <a:p>
            <a:pPr lvl="1"/>
            <a:r>
              <a:rPr kumimoji="1" lang="zh-CN" altLang="en-US" dirty="0"/>
              <a:t>二级</a:t>
            </a:r>
          </a:p>
          <a:p>
            <a:pPr lvl="2"/>
            <a:r>
              <a:rPr kumimoji="1" lang="zh-CN" altLang="en-US" dirty="0"/>
              <a:t>三级</a:t>
            </a:r>
          </a:p>
          <a:p>
            <a:pPr lvl="3"/>
            <a:r>
              <a:rPr kumimoji="1" lang="zh-CN" altLang="en-US" dirty="0"/>
              <a:t>四级</a:t>
            </a:r>
          </a:p>
          <a:p>
            <a:pPr lvl="4"/>
            <a:r>
              <a:rPr kumimoji="1" lang="zh-CN" altLang="en-US" dirty="0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B68A51D-33DD-5B4A-A86B-549782FCD6DF}" type="datetimeFigureOut">
              <a:rPr kumimoji="1" lang="zh-CN" altLang="en-US" smtClean="0"/>
              <a:pPr/>
              <a:t>2026/8/10</a:t>
            </a:fld>
            <a:endParaRPr kumimoji="1"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kumimoji="1"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3DA5CA41-69F7-7948-A690-E401A3852CA3}" type="slidenum">
              <a:rPr kumimoji="1" lang="zh-CN" altLang="en-US" smtClean="0"/>
              <a:pPr/>
              <a:t>‹#›</a:t>
            </a:fld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21804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B628A69-E5D3-471C-9634-C9CEEE71D7D5}"/>
              </a:ext>
            </a:extLst>
          </p:cNvPr>
          <p:cNvSpPr txBox="1"/>
          <p:nvPr/>
        </p:nvSpPr>
        <p:spPr>
          <a:xfrm>
            <a:off x="600015" y="214702"/>
            <a:ext cx="8890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zh-CN" altLang="en-US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银行流水</a:t>
            </a:r>
            <a:r>
              <a:rPr lang="en-US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识别决定收入、支出与负债计算结果，是信审判断的直接输入</a:t>
            </a:r>
            <a:endParaRPr lang="en-US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F27900C-2E0B-4FBB-B7B0-DBD3BB995BF6}"/>
              </a:ext>
            </a:extLst>
          </p:cNvPr>
          <p:cNvSpPr txBox="1"/>
          <p:nvPr/>
        </p:nvSpPr>
        <p:spPr>
          <a:xfrm>
            <a:off x="511115" y="562682"/>
            <a:ext cx="10901632" cy="438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en-US" altLang="zh-CN" sz="180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客户有多少稳定收入、承担多少必要支出、正在偿还哪些贷款，以及是否具备新增还款能力。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s1-bar">
            <a:extLst>
              <a:ext uri="{FF2B5EF4-FFF2-40B4-BE49-F238E27FC236}">
                <a16:creationId xmlns:a16="http://schemas.microsoft.com/office/drawing/2014/main" id="{88A98C43-172E-445E-BAF1-258FD9FC097E}"/>
              </a:ext>
            </a:extLst>
          </p:cNvPr>
          <p:cNvSpPr/>
          <p:nvPr/>
        </p:nvSpPr>
        <p:spPr>
          <a:xfrm>
            <a:off x="539630" y="1238321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8" name="s1-title">
            <a:extLst>
              <a:ext uri="{FF2B5EF4-FFF2-40B4-BE49-F238E27FC236}">
                <a16:creationId xmlns:a16="http://schemas.microsoft.com/office/drawing/2014/main" id="{17E4A091-56F2-4D55-A5FF-E1FA3A10A492}"/>
              </a:ext>
            </a:extLst>
          </p:cNvPr>
          <p:cNvSpPr txBox="1"/>
          <p:nvPr/>
        </p:nvSpPr>
        <p:spPr>
          <a:xfrm>
            <a:off x="717430" y="1212921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银行流水在信贷决策中的位置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C4FCBB4B-1910-4A8F-A184-2DB248819995}"/>
              </a:ext>
            </a:extLst>
          </p:cNvPr>
          <p:cNvGrpSpPr/>
          <p:nvPr/>
        </p:nvGrpSpPr>
        <p:grpSpPr>
          <a:xfrm>
            <a:off x="511115" y="2361688"/>
            <a:ext cx="11173968" cy="635000"/>
            <a:chOff x="489948" y="2635555"/>
            <a:chExt cx="5588000" cy="635000"/>
          </a:xfrm>
        </p:grpSpPr>
        <p:sp>
          <p:nvSpPr>
            <p:cNvPr id="10" name="s1-formula-bg">
              <a:extLst>
                <a:ext uri="{FF2B5EF4-FFF2-40B4-BE49-F238E27FC236}">
                  <a16:creationId xmlns:a16="http://schemas.microsoft.com/office/drawing/2014/main" id="{588EFC8B-6D9B-4BC6-A58A-94C590D91AE6}"/>
                </a:ext>
              </a:extLst>
            </p:cNvPr>
            <p:cNvSpPr/>
            <p:nvPr/>
          </p:nvSpPr>
          <p:spPr>
            <a:xfrm>
              <a:off x="489948" y="2635555"/>
              <a:ext cx="5588000" cy="635000"/>
            </a:xfrm>
            <a:prstGeom prst="rect">
              <a:avLst/>
            </a:prstGeom>
            <a:solidFill>
              <a:srgbClr val="F0F0F0"/>
            </a:solidFill>
            <a:ln>
              <a:noFill/>
            </a:ln>
          </p:spPr>
        </p:sp>
        <p:sp>
          <p:nvSpPr>
            <p:cNvPr id="11" name="s1-formula-bar">
              <a:extLst>
                <a:ext uri="{FF2B5EF4-FFF2-40B4-BE49-F238E27FC236}">
                  <a16:creationId xmlns:a16="http://schemas.microsoft.com/office/drawing/2014/main" id="{54C6A925-1E42-4045-8D2E-2CC8F4C7EE07}"/>
                </a:ext>
              </a:extLst>
            </p:cNvPr>
            <p:cNvSpPr/>
            <p:nvPr/>
          </p:nvSpPr>
          <p:spPr>
            <a:xfrm>
              <a:off x="489948" y="2635555"/>
              <a:ext cx="50800" cy="635000"/>
            </a:xfrm>
            <a:prstGeom prst="rect">
              <a:avLst/>
            </a:prstGeom>
            <a:solidFill>
              <a:srgbClr val="0A0A0A"/>
            </a:solidFill>
            <a:ln>
              <a:noFill/>
            </a:ln>
          </p:spPr>
        </p:sp>
        <p:sp>
          <p:nvSpPr>
            <p:cNvPr id="12" name="s1-formula">
              <a:extLst>
                <a:ext uri="{FF2B5EF4-FFF2-40B4-BE49-F238E27FC236}">
                  <a16:creationId xmlns:a16="http://schemas.microsoft.com/office/drawing/2014/main" id="{A03A2A13-DC76-4440-BC65-6AA049FAFCE2}"/>
                </a:ext>
              </a:extLst>
            </p:cNvPr>
            <p:cNvSpPr txBox="1"/>
            <p:nvPr/>
          </p:nvSpPr>
          <p:spPr>
            <a:xfrm>
              <a:off x="667748" y="2635555"/>
              <a:ext cx="2034020" cy="635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just">
                <a:lnSpc>
                  <a:spcPct val="150000"/>
                </a:lnSpc>
              </a:pPr>
              <a:r>
                <a:rPr lang="en-US" sz="1050" b="1" noProof="1">
                  <a:solidFill>
                    <a:srgbClr val="3D3C3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核心计算逻辑（Serviceability）</a:t>
              </a:r>
              <a:endParaRPr lang="en-US" sz="1050" noProof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4" name="s2-title">
            <a:extLst>
              <a:ext uri="{FF2B5EF4-FFF2-40B4-BE49-F238E27FC236}">
                <a16:creationId xmlns:a16="http://schemas.microsoft.com/office/drawing/2014/main" id="{E321B73C-994B-4905-99F9-38D3C5B8ACA1}"/>
              </a:ext>
            </a:extLst>
          </p:cNvPr>
          <p:cNvSpPr txBox="1"/>
          <p:nvPr/>
        </p:nvSpPr>
        <p:spPr>
          <a:xfrm>
            <a:off x="717430" y="3243783"/>
            <a:ext cx="395827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2. </a:t>
            </a:r>
            <a:r>
              <a:rPr lang="zh-CN" altLang="en-US" sz="1400" b="1" dirty="0">
                <a:solidFill>
                  <a:srgbClr val="0A0A0A"/>
                </a:solidFill>
                <a:latin typeface="微软雅黑"/>
                <a:ea typeface="微软雅黑"/>
              </a:rPr>
              <a:t>合规背景：</a:t>
            </a: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Responsible Lending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的四项要求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col-divider">
            <a:extLst>
              <a:ext uri="{FF2B5EF4-FFF2-40B4-BE49-F238E27FC236}">
                <a16:creationId xmlns:a16="http://schemas.microsoft.com/office/drawing/2014/main" id="{7976569D-3495-4B8E-88A6-7289825D95F9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eyJ2aWV3Qm94IjpbMSwzNDBdLCJwb2ludHMiOiIwLDAgMCwzNDAifQ</pptd:line>
              </p:ext>
            </p:extLst>
          </p:nvPr>
        </p:nvSpPr>
        <p:spPr>
          <a:xfrm>
            <a:off x="5129594" y="3292912"/>
            <a:ext cx="14116" cy="3212231"/>
          </a:xfrm>
          <a:custGeom>
            <a:avLst/>
            <a:gdLst/>
            <a:ahLst/>
            <a:cxnLst/>
            <a:rect l="l" t="t" r="r" b="b"/>
            <a:pathLst>
              <a:path w="1" h="340">
                <a:moveTo>
                  <a:pt x="0" y="0"/>
                </a:moveTo>
                <a:lnTo>
                  <a:pt x="0" y="34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18" name="s3-title">
            <a:extLst>
              <a:ext uri="{FF2B5EF4-FFF2-40B4-BE49-F238E27FC236}">
                <a16:creationId xmlns:a16="http://schemas.microsoft.com/office/drawing/2014/main" id="{1FFE6DD4-7A46-4B3E-BC75-CF290B1DDE30}"/>
              </a:ext>
            </a:extLst>
          </p:cNvPr>
          <p:cNvSpPr txBox="1"/>
          <p:nvPr/>
        </p:nvSpPr>
        <p:spPr>
          <a:xfrm>
            <a:off x="5762312" y="3265172"/>
            <a:ext cx="5138312" cy="1700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400" b="1" noProof="1">
                <a:solidFill>
                  <a:srgbClr val="0A0A0A"/>
                </a:solidFill>
                <a:latin typeface="微软雅黑"/>
                <a:ea typeface="微软雅黑"/>
              </a:rPr>
              <a:t>三、传统第三方分类服务的主要局限（当前高度依赖 illion）</a:t>
            </a:r>
          </a:p>
        </p:txBody>
      </p:sp>
      <p:sp>
        <p:nvSpPr>
          <p:cNvPr id="19" name="lim1">
            <a:extLst>
              <a:ext uri="{FF2B5EF4-FFF2-40B4-BE49-F238E27FC236}">
                <a16:creationId xmlns:a16="http://schemas.microsoft.com/office/drawing/2014/main" id="{29CFB0D9-DDBE-46F7-A89B-345F1DB3EE89}"/>
              </a:ext>
            </a:extLst>
          </p:cNvPr>
          <p:cNvSpPr txBox="1"/>
          <p:nvPr/>
        </p:nvSpPr>
        <p:spPr>
          <a:xfrm>
            <a:off x="5746239" y="3581143"/>
            <a:ext cx="5307707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 分类逻辑不透明，问题难以定位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黑盒模型：出现漏识别或误分类时，无法判断是交易描述、商户映射、分类规则还是计算逻辑的问题。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lim1-line">
            <a:extLst>
              <a:ext uri="{FF2B5EF4-FFF2-40B4-BE49-F238E27FC236}">
                <a16:creationId xmlns:a16="http://schemas.microsoft.com/office/drawing/2014/main" id="{C26D36D6-CB8D-47F6-A278-A0A3C1177384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eyJ2aWV3Qm94IjpbMzc2LDFdLCJwb2ludHMiOiIwLDAgMzc2LDAifQ</pptd:line>
              </p:ext>
            </p:extLst>
          </p:nvPr>
        </p:nvSpPr>
        <p:spPr>
          <a:xfrm>
            <a:off x="5746239" y="416034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1" name="lim2">
            <a:extLst>
              <a:ext uri="{FF2B5EF4-FFF2-40B4-BE49-F238E27FC236}">
                <a16:creationId xmlns:a16="http://schemas.microsoft.com/office/drawing/2014/main" id="{3DD835B9-3D5D-4CF4-8B3A-387F16BA1963}"/>
              </a:ext>
            </a:extLst>
          </p:cNvPr>
          <p:cNvSpPr txBox="1"/>
          <p:nvPr/>
        </p:nvSpPr>
        <p:spPr>
          <a:xfrm>
            <a:off x="5746239" y="4321693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 分类粒度与覆盖不足，难以满足下游需求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无法拆分 SACC、Non-SACC、BNPL、Line of Credit、Wage Advance 等贷款类型；小型商户、新兴平台、交易别名易被归入 Other 或错误分类，影响贷款归属、还款匹配及收入、支出、负债计算。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lim2-line">
            <a:extLst>
              <a:ext uri="{FF2B5EF4-FFF2-40B4-BE49-F238E27FC236}">
                <a16:creationId xmlns:a16="http://schemas.microsoft.com/office/drawing/2014/main" id="{69CFA63F-F5C1-43D0-A14B-E681108AAB27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eyJ2aWV3Qm94IjpbMzc2LDFdLCJwb2ludHMiOiIwLDAgMzc2LDAifQ</pptd:line>
              </p:ext>
            </p:extLst>
          </p:nvPr>
        </p:nvSpPr>
        <p:spPr>
          <a:xfrm>
            <a:off x="5746239" y="5109939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3" name="lim3">
            <a:extLst>
              <a:ext uri="{FF2B5EF4-FFF2-40B4-BE49-F238E27FC236}">
                <a16:creationId xmlns:a16="http://schemas.microsoft.com/office/drawing/2014/main" id="{DF394D01-5901-4F99-B01E-ADB1FCD8BFCC}"/>
              </a:ext>
            </a:extLst>
          </p:cNvPr>
          <p:cNvSpPr txBox="1"/>
          <p:nvPr/>
        </p:nvSpPr>
        <p:spPr>
          <a:xfrm>
            <a:off x="5746239" y="5175199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 输出字段与计算口径缺乏控制权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下游 IDP 所需字段可能缺失，公式、数据窗口、异常处理无法按内部标准配置；</a:t>
            </a: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Open Banking 等新数据源无分类字段，多供应商需维护多套适配逻辑，增加系统复杂度。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lim3-line">
            <a:extLst>
              <a:ext uri="{FF2B5EF4-FFF2-40B4-BE49-F238E27FC236}">
                <a16:creationId xmlns:a16="http://schemas.microsoft.com/office/drawing/2014/main" id="{336ACEC6-E59C-48C3-943D-F0CA55FF2277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eyJ2aWV3Qm94IjpbMzc2LDFdLCJwb2ludHMiOiIwLDAgMzc2LDAifQ</pptd:line>
              </p:ext>
            </p:extLst>
          </p:nvPr>
        </p:nvSpPr>
        <p:spPr>
          <a:xfrm>
            <a:off x="5746239" y="591010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5" name="lim4">
            <a:extLst>
              <a:ext uri="{FF2B5EF4-FFF2-40B4-BE49-F238E27FC236}">
                <a16:creationId xmlns:a16="http://schemas.microsoft.com/office/drawing/2014/main" id="{8C3E2394-8FDD-4456-9360-CEBCC189CB32}"/>
              </a:ext>
            </a:extLst>
          </p:cNvPr>
          <p:cNvSpPr txBox="1"/>
          <p:nvPr/>
        </p:nvSpPr>
        <p:spPr>
          <a:xfrm>
            <a:off x="5746239" y="6030781"/>
            <a:ext cx="6235773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4. </a:t>
            </a:r>
            <a:r>
              <a:rPr lang="zh-CN" alt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合规应对</a:t>
            </a: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能力受制于外部供应商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调整依赖供应商排期、响应周期长；交易分类作为基础能力，长期依赖会限制模型优化、策略调整与产品创新的自主性。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28677383-B1C4-48C4-91A6-25AC7845E58D}"/>
              </a:ext>
            </a:extLst>
          </p:cNvPr>
          <p:cNvGrpSpPr/>
          <p:nvPr/>
        </p:nvGrpSpPr>
        <p:grpSpPr>
          <a:xfrm>
            <a:off x="511115" y="1595715"/>
            <a:ext cx="11174917" cy="566928"/>
            <a:chOff x="452053" y="1496128"/>
            <a:chExt cx="11174917" cy="566928"/>
          </a:xfrm>
        </p:grpSpPr>
        <p:sp>
          <p:nvSpPr>
            <p:cNvPr id="27" name="divider">
              <a:extLst>
                <a:ext uri="{FF2B5EF4-FFF2-40B4-BE49-F238E27FC236}">
                  <a16:creationId xmlns:a16="http://schemas.microsoft.com/office/drawing/2014/main" id="{BEE32B51-BB5D-4E33-B31F-EC2D7C3D3A69}"/>
                </a:ext>
              </a:extLst>
            </p:cNvPr>
            <p:cNvSpPr/>
            <p:nvPr>
              <p:extLst>
                <p:ext uri="{F5677B7D-0D2A-4D9B-9A5C-6D8D7D0E5A5D}">
  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eyJ2aWV3Qm94IjpbODU2LDFdLCJwb2ludHMiOiIwLDAgODU2LDAifQ</pptd:line>
                </p:ext>
              </p:extLst>
            </p:nvPr>
          </p:nvSpPr>
          <p:spPr>
            <a:xfrm>
              <a:off x="452053" y="1608779"/>
              <a:ext cx="10871200" cy="12700"/>
            </a:xfrm>
            <a:custGeom>
              <a:avLst/>
              <a:gdLst/>
              <a:ahLst/>
              <a:cxnLst/>
              <a:rect l="l" t="t" r="r" b="b"/>
              <a:pathLst>
                <a:path w="856" h="1">
                  <a:moveTo>
                    <a:pt x="0" y="0"/>
                  </a:moveTo>
                  <a:lnTo>
                    <a:pt x="856" y="0"/>
                  </a:lnTo>
                </a:path>
              </a:pathLst>
            </a:custGeom>
            <a:noFill/>
            <a:ln w="9525" cap="rnd">
              <a:solidFill>
                <a:srgbClr val="D6D6D6"/>
              </a:solidFill>
              <a:round/>
            </a:ln>
          </p:spPr>
        </p:sp>
        <p:sp>
          <p:nvSpPr>
            <p:cNvPr id="28" name="Rectangle 6">
              <a:extLst>
                <a:ext uri="{FF2B5EF4-FFF2-40B4-BE49-F238E27FC236}">
                  <a16:creationId xmlns:a16="http://schemas.microsoft.com/office/drawing/2014/main" id="{EAB4CD9B-EDE7-41BB-A1AF-99FE71C9208A}"/>
                </a:ext>
              </a:extLst>
            </p:cNvPr>
            <p:cNvSpPr/>
            <p:nvPr/>
          </p:nvSpPr>
          <p:spPr>
            <a:xfrm>
              <a:off x="453002" y="1496128"/>
              <a:ext cx="11173968" cy="566928"/>
            </a:xfrm>
            <a:prstGeom prst="rect">
              <a:avLst/>
            </a:prstGeom>
            <a:solidFill>
              <a:srgbClr val="EFF3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29" name="Rectangle 7">
              <a:extLst>
                <a:ext uri="{FF2B5EF4-FFF2-40B4-BE49-F238E27FC236}">
                  <a16:creationId xmlns:a16="http://schemas.microsoft.com/office/drawing/2014/main" id="{538BC8E8-0C5A-459D-9D36-4DF7BBE37EEB}"/>
                </a:ext>
              </a:extLst>
            </p:cNvPr>
            <p:cNvSpPr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0" name="TextBox 8">
              <a:extLst>
                <a:ext uri="{FF2B5EF4-FFF2-40B4-BE49-F238E27FC236}">
                  <a16:creationId xmlns:a16="http://schemas.microsoft.com/office/drawing/2014/main" id="{D77EA475-068C-4CAF-8013-0567E6F71289}"/>
                </a:ext>
              </a:extLst>
            </p:cNvPr>
            <p:cNvSpPr txBox="1"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用户申请</a:t>
              </a:r>
            </a:p>
          </p:txBody>
        </p:sp>
        <p:sp>
          <p:nvSpPr>
            <p:cNvPr id="31" name="TextBox 9">
              <a:extLst>
                <a:ext uri="{FF2B5EF4-FFF2-40B4-BE49-F238E27FC236}">
                  <a16:creationId xmlns:a16="http://schemas.microsoft.com/office/drawing/2014/main" id="{4B04AD0F-D11B-477C-A748-4CDF5F1767B1}"/>
                </a:ext>
              </a:extLst>
            </p:cNvPr>
            <p:cNvSpPr txBox="1"/>
            <p:nvPr/>
          </p:nvSpPr>
          <p:spPr>
            <a:xfrm>
              <a:off x="2048630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→</a:t>
              </a:r>
            </a:p>
          </p:txBody>
        </p:sp>
        <p:sp>
          <p:nvSpPr>
            <p:cNvPr id="32" name="Rectangle 10">
              <a:extLst>
                <a:ext uri="{FF2B5EF4-FFF2-40B4-BE49-F238E27FC236}">
                  <a16:creationId xmlns:a16="http://schemas.microsoft.com/office/drawing/2014/main" id="{C02AA16F-41EE-482C-AE2A-D1543CA101C1}"/>
                </a:ext>
              </a:extLst>
            </p:cNvPr>
            <p:cNvSpPr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3" name="TextBox 11">
              <a:extLst>
                <a:ext uri="{FF2B5EF4-FFF2-40B4-BE49-F238E27FC236}">
                  <a16:creationId xmlns:a16="http://schemas.microsoft.com/office/drawing/2014/main" id="{930C9C75-9CB4-4BD5-B884-62518D3CCE17}"/>
                </a:ext>
              </a:extLst>
            </p:cNvPr>
            <p:cNvSpPr txBox="1"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银行卡绑定</a:t>
              </a:r>
            </a:p>
          </p:txBody>
        </p:sp>
        <p:sp>
          <p:nvSpPr>
            <p:cNvPr id="34" name="TextBox 12">
              <a:extLst>
                <a:ext uri="{FF2B5EF4-FFF2-40B4-BE49-F238E27FC236}">
                  <a16:creationId xmlns:a16="http://schemas.microsoft.com/office/drawing/2014/main" id="{91BC7BE8-D199-4CBB-BA6C-7109D747F49C}"/>
                </a:ext>
              </a:extLst>
            </p:cNvPr>
            <p:cNvSpPr txBox="1"/>
            <p:nvPr/>
          </p:nvSpPr>
          <p:spPr>
            <a:xfrm>
              <a:off x="3964298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→</a:t>
              </a:r>
            </a:p>
          </p:txBody>
        </p:sp>
        <p:sp>
          <p:nvSpPr>
            <p:cNvPr id="35" name="Rectangle 13">
              <a:extLst>
                <a:ext uri="{FF2B5EF4-FFF2-40B4-BE49-F238E27FC236}">
                  <a16:creationId xmlns:a16="http://schemas.microsoft.com/office/drawing/2014/main" id="{5E7A4B48-7F1A-4666-9E21-5E8C8EC7B2CC}"/>
                </a:ext>
              </a:extLst>
            </p:cNvPr>
            <p:cNvSpPr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6" name="TextBox 14">
              <a:extLst>
                <a:ext uri="{FF2B5EF4-FFF2-40B4-BE49-F238E27FC236}">
                  <a16:creationId xmlns:a16="http://schemas.microsoft.com/office/drawing/2014/main" id="{7F1330EF-EB40-488C-823E-B52850D6ADD7}"/>
                </a:ext>
              </a:extLst>
            </p:cNvPr>
            <p:cNvSpPr txBox="1"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数据解析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37" name="TextBox 15">
              <a:extLst>
                <a:ext uri="{FF2B5EF4-FFF2-40B4-BE49-F238E27FC236}">
                  <a16:creationId xmlns:a16="http://schemas.microsoft.com/office/drawing/2014/main" id="{E7EB72EF-5357-4C89-9D96-05AB1E10C47F}"/>
                </a:ext>
              </a:extLst>
            </p:cNvPr>
            <p:cNvSpPr txBox="1"/>
            <p:nvPr/>
          </p:nvSpPr>
          <p:spPr>
            <a:xfrm>
              <a:off x="5879966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→</a:t>
              </a:r>
            </a:p>
          </p:txBody>
        </p:sp>
        <p:sp>
          <p:nvSpPr>
            <p:cNvPr id="38" name="Rectangle 16">
              <a:extLst>
                <a:ext uri="{FF2B5EF4-FFF2-40B4-BE49-F238E27FC236}">
                  <a16:creationId xmlns:a16="http://schemas.microsoft.com/office/drawing/2014/main" id="{A0AB3994-E868-4E38-B322-7F0D5E75B741}"/>
                </a:ext>
              </a:extLst>
            </p:cNvPr>
            <p:cNvSpPr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9" name="TextBox 17">
              <a:extLst>
                <a:ext uri="{FF2B5EF4-FFF2-40B4-BE49-F238E27FC236}">
                  <a16:creationId xmlns:a16="http://schemas.microsoft.com/office/drawing/2014/main" id="{9C14CCCE-6E5D-49B5-AECF-609ED1D2F343}"/>
                </a:ext>
              </a:extLst>
            </p:cNvPr>
            <p:cNvSpPr txBox="1"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银行流水识别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40" name="TextBox 18">
              <a:extLst>
                <a:ext uri="{FF2B5EF4-FFF2-40B4-BE49-F238E27FC236}">
                  <a16:creationId xmlns:a16="http://schemas.microsoft.com/office/drawing/2014/main" id="{2A545774-8F38-4F54-BBF9-86E026FD8886}"/>
                </a:ext>
              </a:extLst>
            </p:cNvPr>
            <p:cNvSpPr txBox="1"/>
            <p:nvPr/>
          </p:nvSpPr>
          <p:spPr>
            <a:xfrm>
              <a:off x="7795634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→</a:t>
              </a:r>
            </a:p>
          </p:txBody>
        </p:sp>
        <p:sp>
          <p:nvSpPr>
            <p:cNvPr id="41" name="Rectangle 19">
              <a:extLst>
                <a:ext uri="{FF2B5EF4-FFF2-40B4-BE49-F238E27FC236}">
                  <a16:creationId xmlns:a16="http://schemas.microsoft.com/office/drawing/2014/main" id="{9BC878EF-C63E-449E-8D1E-F4F80FF61DA8}"/>
                </a:ext>
              </a:extLst>
            </p:cNvPr>
            <p:cNvSpPr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2" name="TextBox 20">
              <a:extLst>
                <a:ext uri="{FF2B5EF4-FFF2-40B4-BE49-F238E27FC236}">
                  <a16:creationId xmlns:a16="http://schemas.microsoft.com/office/drawing/2014/main" id="{C7C5C193-A007-4D1A-AC47-110AE06D49DA}"/>
                </a:ext>
              </a:extLst>
            </p:cNvPr>
            <p:cNvSpPr txBox="1"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Serviceability</a:t>
              </a:r>
            </a:p>
          </p:txBody>
        </p:sp>
        <p:sp>
          <p:nvSpPr>
            <p:cNvPr id="43" name="TextBox 21">
              <a:extLst>
                <a:ext uri="{FF2B5EF4-FFF2-40B4-BE49-F238E27FC236}">
                  <a16:creationId xmlns:a16="http://schemas.microsoft.com/office/drawing/2014/main" id="{210F5A51-87C0-42C1-BB96-6E16A0206047}"/>
                </a:ext>
              </a:extLst>
            </p:cNvPr>
            <p:cNvSpPr txBox="1"/>
            <p:nvPr/>
          </p:nvSpPr>
          <p:spPr>
            <a:xfrm>
              <a:off x="9711302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→</a:t>
              </a:r>
            </a:p>
          </p:txBody>
        </p:sp>
        <p:sp>
          <p:nvSpPr>
            <p:cNvPr id="44" name="Rectangle 22">
              <a:extLst>
                <a:ext uri="{FF2B5EF4-FFF2-40B4-BE49-F238E27FC236}">
                  <a16:creationId xmlns:a16="http://schemas.microsoft.com/office/drawing/2014/main" id="{9B4A2284-CDE0-47A0-9DB3-1E359B1CD771}"/>
                </a:ext>
              </a:extLst>
            </p:cNvPr>
            <p:cNvSpPr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5" name="TextBox 23">
              <a:extLst>
                <a:ext uri="{FF2B5EF4-FFF2-40B4-BE49-F238E27FC236}">
                  <a16:creationId xmlns:a16="http://schemas.microsoft.com/office/drawing/2014/main" id="{558A63B5-5727-4E26-85E9-6D5769D74E7E}"/>
                </a:ext>
              </a:extLst>
            </p:cNvPr>
            <p:cNvSpPr txBox="1"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+mn-ea"/>
                  <a:cs typeface="+mn-cs"/>
                </a:rPr>
                <a:t>信审决策</a:t>
              </a:r>
            </a:p>
          </p:txBody>
        </p:sp>
      </p:grpSp>
      <p:sp>
        <p:nvSpPr>
          <p:cNvPr id="48" name="TextBox 30">
            <a:extLst>
              <a:ext uri="{FF2B5EF4-FFF2-40B4-BE49-F238E27FC236}">
                <a16:creationId xmlns:a16="http://schemas.microsoft.com/office/drawing/2014/main" id="{A74F03BE-04AA-4633-B517-2C54F22254B0}"/>
              </a:ext>
            </a:extLst>
          </p:cNvPr>
          <p:cNvSpPr txBox="1"/>
          <p:nvPr/>
        </p:nvSpPr>
        <p:spPr>
          <a:xfrm>
            <a:off x="665747" y="3571159"/>
            <a:ext cx="483717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依据《National</a:t>
            </a:r>
            <a:r>
              <a:rPr kumimoji="0" sz="85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 Consumer Credit Protection Act 2009》及 ASIC </a:t>
            </a: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监管要求</a:t>
            </a:r>
            <a:endParaRPr kumimoji="0" sz="850" b="0" i="0" u="none" strike="noStrike" kern="1200" cap="none" spc="0" normalizeH="0" baseline="0" noProof="0" dirty="0">
              <a:ln>
                <a:noFill/>
              </a:ln>
              <a:solidFill>
                <a:srgbClr val="606060"/>
              </a:solidFill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  <p:sp>
        <p:nvSpPr>
          <p:cNvPr id="49" name="Rectangle 31">
            <a:extLst>
              <a:ext uri="{FF2B5EF4-FFF2-40B4-BE49-F238E27FC236}">
                <a16:creationId xmlns:a16="http://schemas.microsoft.com/office/drawing/2014/main" id="{A2FA0AE9-4D92-4732-A5A0-A296D8BA97E1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0" name="Oval 32">
            <a:extLst>
              <a:ext uri="{FF2B5EF4-FFF2-40B4-BE49-F238E27FC236}">
                <a16:creationId xmlns:a16="http://schemas.microsoft.com/office/drawing/2014/main" id="{A5579E95-F88C-4AF8-8750-9BC4E7E9D8F0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33">
            <a:extLst>
              <a:ext uri="{FF2B5EF4-FFF2-40B4-BE49-F238E27FC236}">
                <a16:creationId xmlns:a16="http://schemas.microsoft.com/office/drawing/2014/main" id="{32F5559E-8B73-4A7F-A408-D7C4BDC80C90}"/>
              </a:ext>
            </a:extLst>
          </p:cNvPr>
          <p:cNvSpPr txBox="1"/>
          <p:nvPr/>
        </p:nvSpPr>
        <p:spPr>
          <a:xfrm>
            <a:off x="717430" y="403231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1</a:t>
            </a:r>
          </a:p>
        </p:txBody>
      </p:sp>
      <p:sp>
        <p:nvSpPr>
          <p:cNvPr id="52" name="TextBox 34">
            <a:extLst>
              <a:ext uri="{FF2B5EF4-FFF2-40B4-BE49-F238E27FC236}">
                <a16:creationId xmlns:a16="http://schemas.microsoft.com/office/drawing/2014/main" id="{57ADD348-D0FF-4D39-A8DC-D0C347575C7F}"/>
              </a:ext>
            </a:extLst>
          </p:cNvPr>
          <p:cNvSpPr txBox="1"/>
          <p:nvPr/>
        </p:nvSpPr>
        <p:spPr>
          <a:xfrm>
            <a:off x="1138054" y="3972545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合理了解客户</a:t>
            </a:r>
          </a:p>
        </p:txBody>
      </p:sp>
      <p:sp>
        <p:nvSpPr>
          <p:cNvPr id="53" name="TextBox 35">
            <a:extLst>
              <a:ext uri="{FF2B5EF4-FFF2-40B4-BE49-F238E27FC236}">
                <a16:creationId xmlns:a16="http://schemas.microsoft.com/office/drawing/2014/main" id="{EC0038C9-BCC9-4430-A791-E141B6A1B314}"/>
              </a:ext>
            </a:extLst>
          </p:cNvPr>
          <p:cNvSpPr txBox="1"/>
          <p:nvPr/>
        </p:nvSpPr>
        <p:spPr>
          <a:xfrm>
            <a:off x="1138054" y="423772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财务状况及借款目的</a:t>
            </a:r>
          </a:p>
        </p:txBody>
      </p:sp>
      <p:sp>
        <p:nvSpPr>
          <p:cNvPr id="54" name="Rectangle 36">
            <a:extLst>
              <a:ext uri="{FF2B5EF4-FFF2-40B4-BE49-F238E27FC236}">
                <a16:creationId xmlns:a16="http://schemas.microsoft.com/office/drawing/2014/main" id="{8A0D6B43-3C67-4A4F-9E6D-B70A87154077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Oval 37">
            <a:extLst>
              <a:ext uri="{FF2B5EF4-FFF2-40B4-BE49-F238E27FC236}">
                <a16:creationId xmlns:a16="http://schemas.microsoft.com/office/drawing/2014/main" id="{B7242A86-D3D5-4C58-931C-765CBAD54C35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38">
            <a:extLst>
              <a:ext uri="{FF2B5EF4-FFF2-40B4-BE49-F238E27FC236}">
                <a16:creationId xmlns:a16="http://schemas.microsoft.com/office/drawing/2014/main" id="{E5F2741E-0434-4E48-882C-10356025D796}"/>
              </a:ext>
            </a:extLst>
          </p:cNvPr>
          <p:cNvSpPr txBox="1"/>
          <p:nvPr/>
        </p:nvSpPr>
        <p:spPr>
          <a:xfrm>
            <a:off x="717430" y="4672394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2</a:t>
            </a:r>
          </a:p>
        </p:txBody>
      </p:sp>
      <p:sp>
        <p:nvSpPr>
          <p:cNvPr id="57" name="TextBox 39">
            <a:extLst>
              <a:ext uri="{FF2B5EF4-FFF2-40B4-BE49-F238E27FC236}">
                <a16:creationId xmlns:a16="http://schemas.microsoft.com/office/drawing/2014/main" id="{A1481323-2DF4-4D58-9C75-F6B0C709734B}"/>
              </a:ext>
            </a:extLst>
          </p:cNvPr>
          <p:cNvSpPr txBox="1"/>
          <p:nvPr/>
        </p:nvSpPr>
        <p:spPr>
          <a:xfrm>
            <a:off x="1138054" y="461262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核实收入与支出</a:t>
            </a:r>
          </a:p>
        </p:txBody>
      </p:sp>
      <p:sp>
        <p:nvSpPr>
          <p:cNvPr id="58" name="TextBox 40">
            <a:extLst>
              <a:ext uri="{FF2B5EF4-FFF2-40B4-BE49-F238E27FC236}">
                <a16:creationId xmlns:a16="http://schemas.microsoft.com/office/drawing/2014/main" id="{BE9E9A98-8D50-48BD-94A1-E982F0172F9C}"/>
              </a:ext>
            </a:extLst>
          </p:cNvPr>
          <p:cNvSpPr txBox="1"/>
          <p:nvPr/>
        </p:nvSpPr>
        <p:spPr>
          <a:xfrm>
            <a:off x="1138054" y="488749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必要支出、现有负债及可预见变化</a:t>
            </a:r>
          </a:p>
        </p:txBody>
      </p:sp>
      <p:sp>
        <p:nvSpPr>
          <p:cNvPr id="59" name="Rectangle 41">
            <a:extLst>
              <a:ext uri="{FF2B5EF4-FFF2-40B4-BE49-F238E27FC236}">
                <a16:creationId xmlns:a16="http://schemas.microsoft.com/office/drawing/2014/main" id="{E20FFFFF-8306-4D81-9797-B6875D55FBCF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0" name="Oval 42">
            <a:extLst>
              <a:ext uri="{FF2B5EF4-FFF2-40B4-BE49-F238E27FC236}">
                <a16:creationId xmlns:a16="http://schemas.microsoft.com/office/drawing/2014/main" id="{6C67CC53-D2BE-4820-9D43-0D1AE75F9247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1" name="TextBox 43">
            <a:extLst>
              <a:ext uri="{FF2B5EF4-FFF2-40B4-BE49-F238E27FC236}">
                <a16:creationId xmlns:a16="http://schemas.microsoft.com/office/drawing/2014/main" id="{961ABED2-5B10-452C-9231-FA993119AA81}"/>
              </a:ext>
            </a:extLst>
          </p:cNvPr>
          <p:cNvSpPr txBox="1"/>
          <p:nvPr/>
        </p:nvSpPr>
        <p:spPr>
          <a:xfrm>
            <a:off x="717430" y="531247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3</a:t>
            </a:r>
          </a:p>
        </p:txBody>
      </p:sp>
      <p:sp>
        <p:nvSpPr>
          <p:cNvPr id="62" name="TextBox 44">
            <a:extLst>
              <a:ext uri="{FF2B5EF4-FFF2-40B4-BE49-F238E27FC236}">
                <a16:creationId xmlns:a16="http://schemas.microsoft.com/office/drawing/2014/main" id="{F6B71D29-3684-4835-BD9B-1B8B542261F0}"/>
              </a:ext>
            </a:extLst>
          </p:cNvPr>
          <p:cNvSpPr txBox="1"/>
          <p:nvPr/>
        </p:nvSpPr>
        <p:spPr>
          <a:xfrm>
            <a:off x="1138054" y="525270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评估还款能力</a:t>
            </a:r>
          </a:p>
        </p:txBody>
      </p:sp>
      <p:sp>
        <p:nvSpPr>
          <p:cNvPr id="63" name="TextBox 45">
            <a:extLst>
              <a:ext uri="{FF2B5EF4-FFF2-40B4-BE49-F238E27FC236}">
                <a16:creationId xmlns:a16="http://schemas.microsoft.com/office/drawing/2014/main" id="{C1DECE94-B828-49A6-B8C6-DECC0F60783F}"/>
              </a:ext>
            </a:extLst>
          </p:cNvPr>
          <p:cNvSpPr txBox="1"/>
          <p:nvPr/>
        </p:nvSpPr>
        <p:spPr>
          <a:xfrm>
            <a:off x="1138054" y="551788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能否在不造成重大经济困难的情况下履行还款</a:t>
            </a:r>
          </a:p>
        </p:txBody>
      </p:sp>
      <p:sp>
        <p:nvSpPr>
          <p:cNvPr id="64" name="Rectangle 46">
            <a:extLst>
              <a:ext uri="{FF2B5EF4-FFF2-40B4-BE49-F238E27FC236}">
                <a16:creationId xmlns:a16="http://schemas.microsoft.com/office/drawing/2014/main" id="{00AB5131-4387-462A-924F-86E4F8D7A710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5" name="Oval 47">
            <a:extLst>
              <a:ext uri="{FF2B5EF4-FFF2-40B4-BE49-F238E27FC236}">
                <a16:creationId xmlns:a16="http://schemas.microsoft.com/office/drawing/2014/main" id="{8B351B70-6E28-4451-921A-23C9AAE60D19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6" name="TextBox 48">
            <a:extLst>
              <a:ext uri="{FF2B5EF4-FFF2-40B4-BE49-F238E27FC236}">
                <a16:creationId xmlns:a16="http://schemas.microsoft.com/office/drawing/2014/main" id="{129AAB2F-B8BE-4A65-B2F8-858AA4712095}"/>
              </a:ext>
            </a:extLst>
          </p:cNvPr>
          <p:cNvSpPr txBox="1"/>
          <p:nvPr/>
        </p:nvSpPr>
        <p:spPr>
          <a:xfrm>
            <a:off x="717430" y="595255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4</a:t>
            </a:r>
          </a:p>
        </p:txBody>
      </p:sp>
      <p:sp>
        <p:nvSpPr>
          <p:cNvPr id="67" name="TextBox 49">
            <a:extLst>
              <a:ext uri="{FF2B5EF4-FFF2-40B4-BE49-F238E27FC236}">
                <a16:creationId xmlns:a16="http://schemas.microsoft.com/office/drawing/2014/main" id="{D7B37FCA-B11E-4709-A69A-DE5AD64C07A4}"/>
              </a:ext>
            </a:extLst>
          </p:cNvPr>
          <p:cNvSpPr txBox="1"/>
          <p:nvPr/>
        </p:nvSpPr>
        <p:spPr>
          <a:xfrm>
            <a:off x="1138054" y="589278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提供合适产品</a:t>
            </a:r>
          </a:p>
        </p:txBody>
      </p:sp>
      <p:sp>
        <p:nvSpPr>
          <p:cNvPr id="68" name="TextBox 50">
            <a:extLst>
              <a:ext uri="{FF2B5EF4-FFF2-40B4-BE49-F238E27FC236}">
                <a16:creationId xmlns:a16="http://schemas.microsoft.com/office/drawing/2014/main" id="{33E3165C-2497-4F10-9F7A-D5F082C30F6F}"/>
              </a:ext>
            </a:extLst>
          </p:cNvPr>
          <p:cNvSpPr txBox="1"/>
          <p:nvPr/>
        </p:nvSpPr>
        <p:spPr>
          <a:xfrm>
            <a:off x="1138054" y="615796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不得提供“不适合”的信贷产品</a:t>
            </a:r>
          </a:p>
        </p:txBody>
      </p:sp>
      <p:sp>
        <p:nvSpPr>
          <p:cNvPr id="69" name="s1-bar">
            <a:extLst>
              <a:ext uri="{FF2B5EF4-FFF2-40B4-BE49-F238E27FC236}">
                <a16:creationId xmlns:a16="http://schemas.microsoft.com/office/drawing/2014/main" id="{3917B42F-FA74-4554-8F0C-544990D93B30}"/>
              </a:ext>
            </a:extLst>
          </p:cNvPr>
          <p:cNvSpPr/>
          <p:nvPr/>
        </p:nvSpPr>
        <p:spPr>
          <a:xfrm>
            <a:off x="536497" y="3250133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0" name="s1-bar">
            <a:extLst>
              <a:ext uri="{FF2B5EF4-FFF2-40B4-BE49-F238E27FC236}">
                <a16:creationId xmlns:a16="http://schemas.microsoft.com/office/drawing/2014/main" id="{487BA4DB-34AC-4C3D-8298-2747717BF951}"/>
              </a:ext>
            </a:extLst>
          </p:cNvPr>
          <p:cNvSpPr/>
          <p:nvPr/>
        </p:nvSpPr>
        <p:spPr>
          <a:xfrm>
            <a:off x="5561124" y="3254349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1" name="TextBox 27">
            <a:extLst>
              <a:ext uri="{FF2B5EF4-FFF2-40B4-BE49-F238E27FC236}">
                <a16:creationId xmlns:a16="http://schemas.microsoft.com/office/drawing/2014/main" id="{96C622F6-B610-4482-8FA4-F6373D622738}"/>
              </a:ext>
            </a:extLst>
          </p:cNvPr>
          <p:cNvSpPr txBox="1"/>
          <p:nvPr/>
        </p:nvSpPr>
        <p:spPr>
          <a:xfrm>
            <a:off x="3807968" y="2528026"/>
            <a:ext cx="4902200" cy="3231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收入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必要支出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负债还款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 ＝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+mn-ea"/>
                <a:cs typeface="+mn-cs"/>
              </a:rPr>
              <a:t>客户可支配盈余</a:t>
            </a:r>
            <a:endParaRPr kumimoji="0" sz="15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198874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355AB41-3856-43D4-91F4-2CF8E6943019}"/>
              </a:ext>
            </a:extLst>
          </p:cNvPr>
          <p:cNvSpPr txBox="1"/>
          <p:nvPr/>
        </p:nvSpPr>
        <p:spPr>
          <a:xfrm>
            <a:off x="603504" y="65149"/>
            <a:ext cx="1097280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2000" b="1" noProof="1">
                <a:solidFill>
                  <a:srgbClr val="0A0A0A"/>
                </a:solidFill>
                <a:ea typeface="微软雅黑" panose="020B0503020204020204" pitchFamily="34" charset="-122"/>
              </a:rPr>
              <a:t>从一笔交易到完整客户财务画像直接回答新增还款能力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3E6C3C0-EF83-43D9-A24C-47B1A5AB43C9}"/>
              </a:ext>
            </a:extLst>
          </p:cNvPr>
          <p:cNvSpPr txBox="1"/>
          <p:nvPr/>
        </p:nvSpPr>
        <p:spPr>
          <a:xfrm>
            <a:off x="511115" y="566724"/>
            <a:ext cx="10901632" cy="4433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/>
              <a:t>原始流水 → 单笔交易识别 → 用户</a:t>
            </a:r>
            <a:r>
              <a:rPr lang="en-US" altLang="zh-CN" dirty="0"/>
              <a:t>/</a:t>
            </a:r>
            <a:r>
              <a:rPr lang="zh-CN" altLang="en-US" dirty="0"/>
              <a:t>贷款汇总</a:t>
            </a:r>
            <a:endParaRPr kumimoji="0" lang="en-US" altLang="zh-CN" sz="18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048C4CBE-160F-411B-AF93-58FE8230110E}"/>
              </a:ext>
            </a:extLst>
          </p:cNvPr>
          <p:cNvSpPr txBox="1"/>
          <p:nvPr/>
        </p:nvSpPr>
        <p:spPr>
          <a:xfrm>
            <a:off x="568385" y="1113405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原始银行流水（输入示例）</a:t>
            </a:r>
            <a:endParaRPr kumimoji="0" lang="en-US" sz="12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s2-title">
            <a:extLst>
              <a:ext uri="{FF2B5EF4-FFF2-40B4-BE49-F238E27FC236}">
                <a16:creationId xmlns:a16="http://schemas.microsoft.com/office/drawing/2014/main" id="{C74CD74D-A21D-4088-B06A-64E758567EE9}"/>
              </a:ext>
            </a:extLst>
          </p:cNvPr>
          <p:cNvSpPr txBox="1"/>
          <p:nvPr/>
        </p:nvSpPr>
        <p:spPr>
          <a:xfrm>
            <a:off x="568386" y="2523256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2. </a:t>
            </a:r>
            <a:r>
              <a:rPr kumimoji="0" lang="zh-CN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交易明细维度：理解每一笔交易（输出示例）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3" name="s3-title">
            <a:extLst>
              <a:ext uri="{FF2B5EF4-FFF2-40B4-BE49-F238E27FC236}">
                <a16:creationId xmlns:a16="http://schemas.microsoft.com/office/drawing/2014/main" id="{B2B5F18D-2962-46FD-9E6E-562ACD32D72F}"/>
              </a:ext>
            </a:extLst>
          </p:cNvPr>
          <p:cNvSpPr txBox="1"/>
          <p:nvPr/>
        </p:nvSpPr>
        <p:spPr>
          <a:xfrm>
            <a:off x="568385" y="3989324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3.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用户汇总维度：形成完整负债画像（输出示例）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graphicFrame>
        <p:nvGraphicFramePr>
          <p:cNvPr id="15" name="init-table">
            <a:extLst>
              <a:ext uri="{FF2B5EF4-FFF2-40B4-BE49-F238E27FC236}">
                <a16:creationId xmlns:a16="http://schemas.microsoft.com/office/drawing/2014/main" id="{B20AEE83-7381-40E9-867F-987DE9C5BE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6992607"/>
              </p:ext>
            </p:extLst>
          </p:nvPr>
        </p:nvGraphicFramePr>
        <p:xfrm>
          <a:off x="568385" y="1435904"/>
          <a:ext cx="10901630" cy="1022238"/>
        </p:xfrm>
        <a:graphic>
          <a:graphicData uri="http://schemas.openxmlformats.org/drawingml/2006/table">
            <a:tbl>
              <a:tblPr/>
              <a:tblGrid>
                <a:gridCol w="13266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9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82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56901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日期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金额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方向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交易描述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BILL PAY Fair Go Finance DT.58oa72 SACC 239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Credit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PAYROLL 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6" name="init-table">
            <a:extLst>
              <a:ext uri="{FF2B5EF4-FFF2-40B4-BE49-F238E27FC236}">
                <a16:creationId xmlns:a16="http://schemas.microsoft.com/office/drawing/2014/main" id="{3C86CAD7-1100-4D7C-B8CF-F22C4AFE49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3041013"/>
              </p:ext>
            </p:extLst>
          </p:nvPr>
        </p:nvGraphicFramePr>
        <p:xfrm>
          <a:off x="568385" y="2839315"/>
          <a:ext cx="10901631" cy="1022238"/>
        </p:xfrm>
        <a:graphic>
          <a:graphicData uri="http://schemas.openxmlformats.org/drawingml/2006/table">
            <a:tbl>
              <a:tblPr/>
              <a:tblGrid>
                <a:gridCol w="7969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170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9622">
                  <a:extLst>
                    <a:ext uri="{9D8B030D-6E8A-4147-A177-3AD203B41FA5}">
                      <a16:colId xmlns:a16="http://schemas.microsoft.com/office/drawing/2014/main" val="2631831465"/>
                    </a:ext>
                  </a:extLst>
                </a:gridCol>
                <a:gridCol w="12772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3613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  <a:gridCol w="676780">
                  <a:extLst>
                    <a:ext uri="{9D8B030D-6E8A-4147-A177-3AD203B41FA5}">
                      <a16:colId xmlns:a16="http://schemas.microsoft.com/office/drawing/2014/main" val="2534051383"/>
                    </a:ext>
                  </a:extLst>
                </a:gridCol>
                <a:gridCol w="2350395">
                  <a:extLst>
                    <a:ext uri="{9D8B030D-6E8A-4147-A177-3AD203B41FA5}">
                      <a16:colId xmlns:a16="http://schemas.microsoft.com/office/drawing/2014/main" val="994888910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交易描述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交易金额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标准交易对手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主体类型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一级分类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分类依据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BILL PAY Fair Go Finance DT.58oa72 SACC 239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Fair Go Finance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小额信贷机构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贷款及还款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交易方向、机构名称、产品关键词及历史交易模式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McDonald's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Amazon Prime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订阅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PAYROLL 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雇主 / 收入付款方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收入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工资文本模式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双周周期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稳定金额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7" name="用户-bg"/>
          <p:cNvSpPr/>
          <p:nvPr/>
        </p:nvSpPr>
        <p:spPr>
          <a:xfrm>
            <a:off x="566928" y="4297680"/>
            <a:ext cx="5376672" cy="1956816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用户-bar"/>
          <p:cNvSpPr/>
          <p:nvPr/>
        </p:nvSpPr>
        <p:spPr>
          <a:xfrm>
            <a:off x="566928" y="4297680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用户-title"/>
          <p:cNvSpPr txBox="1"/>
          <p:nvPr/>
        </p:nvSpPr>
        <p:spPr>
          <a:xfrm>
            <a:off x="749808" y="4398264"/>
            <a:ext cx="501091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lang="zh-CN">
                <a:solidFill>
                  <a:srgbClr val="0A0A0A"/>
                </a:solidFill>
                <a:latin typeface="微软雅黑"/>
                <a:ea typeface="微软雅黑"/>
              </a:rPr>
              <a:t>用户整体负债画像</a:t>
            </a:r>
          </a:p>
        </p:txBody>
      </p:sp>
      <p:sp>
        <p:nvSpPr>
          <p:cNvPr id="20" name="用户-k1"/>
          <p:cNvSpPr txBox="1"/>
          <p:nvPr/>
        </p:nvSpPr>
        <p:spPr>
          <a:xfrm>
            <a:off x="749808" y="4645152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平均月还款金额</a:t>
            </a:r>
          </a:p>
          <a:p>
            <a:pPr algn="l"/>
            <a:r>
              <a:rPr sz="1500" b="1" lang="zh-CN">
                <a:solidFill>
                  <a:srgbClr val="1F4E79"/>
                </a:solidFill>
                <a:latin typeface="微软雅黑"/>
                <a:ea typeface="微软雅黑"/>
              </a:rPr>
              <a:t>A$428</a:t>
            </a:r>
          </a:p>
        </p:txBody>
      </p:sp>
      <p:sp>
        <p:nvSpPr>
          <p:cNvPr id="21" name="用户-k2"/>
          <p:cNvSpPr txBox="1"/>
          <p:nvPr/>
        </p:nvSpPr>
        <p:spPr>
          <a:xfrm>
            <a:off x="2505456" y="4645152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预计待还金额</a:t>
            </a:r>
          </a:p>
          <a:p>
            <a:pPr algn="l"/>
            <a:r>
              <a:rPr sz="1500" b="1" lang="zh-CN">
                <a:solidFill>
                  <a:srgbClr val="1F4E79"/>
                </a:solidFill>
                <a:latin typeface="微软雅黑"/>
                <a:ea typeface="微软雅黑"/>
              </a:rPr>
              <a:t>A$1,016</a:t>
            </a:r>
          </a:p>
        </p:txBody>
      </p:sp>
      <p:sp>
        <p:nvSpPr>
          <p:cNvPr id="22" name="用户-k3"/>
          <p:cNvSpPr txBox="1"/>
          <p:nvPr/>
        </p:nvSpPr>
        <p:spPr>
          <a:xfrm>
            <a:off x="4261104" y="4645152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贷款机构数量</a:t>
            </a:r>
          </a:p>
          <a:p>
            <a:pPr algn="l"/>
            <a:r>
              <a:rPr sz="1500" b="1" lang="zh-CN">
                <a:solidFill>
                  <a:srgbClr val="1F4E79"/>
                </a:solidFill>
                <a:latin typeface="微软雅黑"/>
                <a:ea typeface="微软雅黑"/>
              </a:rPr>
              <a:t>2 家</a:t>
            </a:r>
          </a:p>
        </p:txBody>
      </p:sp>
      <p:graphicFrame>
        <p:nvGraphicFramePr>
          <p:cNvPr id="23" name="用户-kv"/>
          <p:cNvGraphicFramePr>
            <a:graphicFrameLocks noGrp="1"/>
          </p:cNvGraphicFramePr>
          <p:nvPr/>
        </p:nvGraphicFramePr>
        <p:xfrm>
          <a:off x="749808" y="5193792"/>
          <a:ext cx="5010912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639312"/>
              </a:tblGrid>
              <a:tr h="137160"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天借款金额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A$2,300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天还款金额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A$1,284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还款次数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 次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是否存在 SACC 贷款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是否存在多头借贷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是否持续还款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是否出现还款中断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否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</a:tr>
            </a:tbl>
          </a:graphicData>
        </a:graphic>
      </p:graphicFrame>
      <p:sp>
        <p:nvSpPr>
          <p:cNvPr id="24" name="Fa-bg"/>
          <p:cNvSpPr/>
          <p:nvPr/>
        </p:nvSpPr>
        <p:spPr>
          <a:xfrm>
            <a:off x="6217920" y="4297680"/>
            <a:ext cx="5376672" cy="1956816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a-bar"/>
          <p:cNvSpPr/>
          <p:nvPr/>
        </p:nvSpPr>
        <p:spPr>
          <a:xfrm>
            <a:off x="6217920" y="4297680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a-title"/>
          <p:cNvSpPr txBox="1"/>
          <p:nvPr/>
        </p:nvSpPr>
        <p:spPr>
          <a:xfrm>
            <a:off x="6400800" y="4398264"/>
            <a:ext cx="501091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lang="zh-CN">
                <a:solidFill>
                  <a:srgbClr val="0A0A0A"/>
                </a:solidFill>
                <a:latin typeface="微软雅黑"/>
                <a:ea typeface="微软雅黑"/>
              </a:rPr>
              <a:t>Fair Go Finance 单笔贷款画像</a:t>
            </a:r>
          </a:p>
        </p:txBody>
      </p:sp>
      <p:sp>
        <p:nvSpPr>
          <p:cNvPr id="27" name="Fa-k1"/>
          <p:cNvSpPr txBox="1"/>
          <p:nvPr/>
        </p:nvSpPr>
        <p:spPr>
          <a:xfrm>
            <a:off x="6400800" y="4645152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借款金额</a:t>
            </a:r>
          </a:p>
          <a:p>
            <a:pPr algn="l"/>
            <a:r>
              <a:rPr sz="1500" b="1" lang="zh-CN">
                <a:solidFill>
                  <a:srgbClr val="1F4E79"/>
                </a:solidFill>
                <a:latin typeface="微软雅黑"/>
                <a:ea typeface="微软雅黑"/>
              </a:rPr>
              <a:t>A$1,500</a:t>
            </a:r>
          </a:p>
        </p:txBody>
      </p:sp>
      <p:sp>
        <p:nvSpPr>
          <p:cNvPr id="28" name="Fa-k2"/>
          <p:cNvSpPr txBox="1"/>
          <p:nvPr/>
        </p:nvSpPr>
        <p:spPr>
          <a:xfrm>
            <a:off x="8156448" y="4645152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月还款金额</a:t>
            </a:r>
          </a:p>
          <a:p>
            <a:pPr algn="l"/>
            <a:r>
              <a:rPr sz="1500" b="1" lang="zh-CN">
                <a:solidFill>
                  <a:srgbClr val="1F4E79"/>
                </a:solidFill>
                <a:latin typeface="微软雅黑"/>
                <a:ea typeface="微软雅黑"/>
              </a:rPr>
              <a:t>约 A$338</a:t>
            </a:r>
          </a:p>
          <a:p>
            <a:pPr algn="l"/>
            <a:r>
              <a:rPr sz="750" b="0" lang="zh-CN">
                <a:solidFill>
                  <a:srgbClr val="606060"/>
                </a:solidFill>
                <a:latin typeface="微软雅黑"/>
                <a:ea typeface="微软雅黑"/>
              </a:rPr>
              <a:t>A$156 × 26/12</a:t>
            </a:r>
          </a:p>
        </p:txBody>
      </p:sp>
      <p:sp>
        <p:nvSpPr>
          <p:cNvPr id="29" name="Fa-k3"/>
          <p:cNvSpPr txBox="1"/>
          <p:nvPr/>
        </p:nvSpPr>
        <p:spPr>
          <a:xfrm>
            <a:off x="9912096" y="4645152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预计待还金额</a:t>
            </a:r>
          </a:p>
          <a:p>
            <a:pPr algn="l"/>
            <a:r>
              <a:rPr sz="1500" b="1" lang="zh-CN">
                <a:solidFill>
                  <a:srgbClr val="1F4E79"/>
                </a:solidFill>
                <a:latin typeface="微软雅黑"/>
                <a:ea typeface="微软雅黑"/>
              </a:rPr>
              <a:t>A$564</a:t>
            </a:r>
          </a:p>
        </p:txBody>
      </p:sp>
      <p:graphicFrame>
        <p:nvGraphicFramePr>
          <p:cNvPr id="30" name="Fa-kv"/>
          <p:cNvGraphicFramePr>
            <a:graphicFrameLocks noGrp="1"/>
          </p:cNvGraphicFramePr>
          <p:nvPr/>
        </p:nvGraphicFramePr>
        <p:xfrm>
          <a:off x="6400800" y="5193792"/>
          <a:ext cx="5010912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639312"/>
              </a:tblGrid>
              <a:tr h="137160"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贷款类型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SACC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天已还金额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A$936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还款频率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每两周 A$156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天还款次数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 次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当前状态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在贷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扣款失败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否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年化利率（APR）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lang="zh-CN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【待补充】</a:t>
                      </a:r>
                    </a:p>
                  </a:txBody>
                  <a:tcPr marL="18288" marR="18288" marT="4572" marB="4572" anchor="ctr">
                    <a:lnL>
                      <a:noFill/>
                    </a:lnL>
                    <a:lnR>
                      <a:noFill/>
                    </a:lnR>
                    <a:lnB w="12700">
                      <a:solidFill>
                        <a:srgbClr val="D6D6D6"/>
                      </a:solidFill>
                    </a:lnB>
                    <a:lnT>
                      <a:noFill/>
                    </a:lnT>
                  </a:tcPr>
                </a:tc>
              </a:tr>
            </a:tbl>
          </a:graphicData>
        </a:graphic>
      </p:graphicFrame>
      <p:sp>
        <p:nvSpPr>
          <p:cNvPr id="31" name="concl-bar"/>
          <p:cNvSpPr/>
          <p:nvPr/>
        </p:nvSpPr>
        <p:spPr>
          <a:xfrm>
            <a:off x="566928" y="6327648"/>
            <a:ext cx="11045952" cy="402336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concl-bar-line"/>
          <p:cNvSpPr/>
          <p:nvPr/>
        </p:nvSpPr>
        <p:spPr>
          <a:xfrm>
            <a:off x="566928" y="6327648"/>
            <a:ext cx="64008" cy="402336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concl-text"/>
          <p:cNvSpPr txBox="1"/>
          <p:nvPr/>
        </p:nvSpPr>
        <p:spPr>
          <a:xfrm>
            <a:off x="749808" y="6382512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lang="zh-CN">
                <a:solidFill>
                  <a:srgbClr val="0A0A0A"/>
                </a:solidFill>
                <a:latin typeface="微软雅黑"/>
                <a:ea typeface="微软雅黑"/>
              </a:rPr>
              <a:t>识别贷款 → 计算剩余负债与月还款额（平均月还款金额 A$428）→ 支撑新增还款能力判断</a:t>
            </a:r>
          </a:p>
        </p:txBody>
      </p:sp>
    </p:spTree>
    <p:extLst>
      <p:ext uri="{BB962C8B-B14F-4D97-AF65-F5344CB8AC3E}">
        <p14:creationId xmlns:p14="http://schemas.microsoft.com/office/powerpoint/2010/main" val="9327862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355AB41-3856-43D4-91F4-2CF8E6943019}"/>
              </a:ext>
            </a:extLst>
          </p:cNvPr>
          <p:cNvSpPr txBox="1"/>
          <p:nvPr/>
        </p:nvSpPr>
        <p:spPr>
          <a:xfrm>
            <a:off x="603504" y="65149"/>
            <a:ext cx="1097280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2000" b="1" noProof="1">
                <a:solidFill>
                  <a:srgbClr val="0A0A0A"/>
                </a:solidFill>
                <a:ea typeface="微软雅黑" panose="020B0503020204020204" pitchFamily="34" charset="-122"/>
              </a:rPr>
              <a:t>从一笔交易到完整客户财务画像直接回答新增还款能力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3E6C3C0-EF83-43D9-A24C-47B1A5AB43C9}"/>
              </a:ext>
            </a:extLst>
          </p:cNvPr>
          <p:cNvSpPr txBox="1"/>
          <p:nvPr/>
        </p:nvSpPr>
        <p:spPr>
          <a:xfrm>
            <a:off x="511115" y="566724"/>
            <a:ext cx="10901632" cy="4433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/>
              <a:t>原始流水 → 单笔交易识别 → 用户</a:t>
            </a:r>
            <a:r>
              <a:rPr lang="en-US" altLang="zh-CN" dirty="0"/>
              <a:t>/</a:t>
            </a:r>
            <a:r>
              <a:rPr lang="zh-CN" altLang="en-US" dirty="0"/>
              <a:t>贷款汇总</a:t>
            </a:r>
            <a:endParaRPr kumimoji="0" lang="en-US" altLang="zh-CN" sz="18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048C4CBE-160F-411B-AF93-58FE8230110E}"/>
              </a:ext>
            </a:extLst>
          </p:cNvPr>
          <p:cNvSpPr txBox="1"/>
          <p:nvPr/>
        </p:nvSpPr>
        <p:spPr>
          <a:xfrm>
            <a:off x="568385" y="1113405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原始银行流水（输入示例）</a:t>
            </a:r>
            <a:endParaRPr kumimoji="0" lang="en-US" sz="12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s2-title">
            <a:extLst>
              <a:ext uri="{FF2B5EF4-FFF2-40B4-BE49-F238E27FC236}">
                <a16:creationId xmlns:a16="http://schemas.microsoft.com/office/drawing/2014/main" id="{C74CD74D-A21D-4088-B06A-64E758567EE9}"/>
              </a:ext>
            </a:extLst>
          </p:cNvPr>
          <p:cNvSpPr txBox="1"/>
          <p:nvPr/>
        </p:nvSpPr>
        <p:spPr>
          <a:xfrm>
            <a:off x="568386" y="2523256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2. </a:t>
            </a:r>
            <a:r>
              <a:rPr kumimoji="0" lang="zh-CN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交易明细维度：理解每一笔交易（输出示例）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3" name="s3-title">
            <a:extLst>
              <a:ext uri="{FF2B5EF4-FFF2-40B4-BE49-F238E27FC236}">
                <a16:creationId xmlns:a16="http://schemas.microsoft.com/office/drawing/2014/main" id="{B2B5F18D-2962-46FD-9E6E-562ACD32D72F}"/>
              </a:ext>
            </a:extLst>
          </p:cNvPr>
          <p:cNvSpPr txBox="1"/>
          <p:nvPr/>
        </p:nvSpPr>
        <p:spPr>
          <a:xfrm>
            <a:off x="568385" y="3989324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3.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用户汇总维度：形成完整负债画像（输出示例）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graphicFrame>
        <p:nvGraphicFramePr>
          <p:cNvPr id="15" name="init-table">
            <a:extLst>
              <a:ext uri="{FF2B5EF4-FFF2-40B4-BE49-F238E27FC236}">
                <a16:creationId xmlns:a16="http://schemas.microsoft.com/office/drawing/2014/main" id="{B20AEE83-7381-40E9-867F-987DE9C5BE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6992607"/>
              </p:ext>
            </p:extLst>
          </p:nvPr>
        </p:nvGraphicFramePr>
        <p:xfrm>
          <a:off x="568385" y="1435904"/>
          <a:ext cx="10901630" cy="1022238"/>
        </p:xfrm>
        <a:graphic>
          <a:graphicData uri="http://schemas.openxmlformats.org/drawingml/2006/table">
            <a:tbl>
              <a:tblPr/>
              <a:tblGrid>
                <a:gridCol w="13266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9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82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56901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日期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金额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方向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交易描述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BILL PAY Fair Go Finance DT.58oa72 SACC 239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Credit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PAYROLL 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6" name="init-table">
            <a:extLst>
              <a:ext uri="{FF2B5EF4-FFF2-40B4-BE49-F238E27FC236}">
                <a16:creationId xmlns:a16="http://schemas.microsoft.com/office/drawing/2014/main" id="{3C86CAD7-1100-4D7C-B8CF-F22C4AFE49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3041013"/>
              </p:ext>
            </p:extLst>
          </p:nvPr>
        </p:nvGraphicFramePr>
        <p:xfrm>
          <a:off x="568385" y="2839315"/>
          <a:ext cx="10901631" cy="1022238"/>
        </p:xfrm>
        <a:graphic>
          <a:graphicData uri="http://schemas.openxmlformats.org/drawingml/2006/table">
            <a:tbl>
              <a:tblPr/>
              <a:tblGrid>
                <a:gridCol w="7969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170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9622">
                  <a:extLst>
                    <a:ext uri="{9D8B030D-6E8A-4147-A177-3AD203B41FA5}">
                      <a16:colId xmlns:a16="http://schemas.microsoft.com/office/drawing/2014/main" val="2631831465"/>
                    </a:ext>
                  </a:extLst>
                </a:gridCol>
                <a:gridCol w="12772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3613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  <a:gridCol w="676780">
                  <a:extLst>
                    <a:ext uri="{9D8B030D-6E8A-4147-A177-3AD203B41FA5}">
                      <a16:colId xmlns:a16="http://schemas.microsoft.com/office/drawing/2014/main" val="2534051383"/>
                    </a:ext>
                  </a:extLst>
                </a:gridCol>
                <a:gridCol w="2350395">
                  <a:extLst>
                    <a:ext uri="{9D8B030D-6E8A-4147-A177-3AD203B41FA5}">
                      <a16:colId xmlns:a16="http://schemas.microsoft.com/office/drawing/2014/main" val="994888910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交易描述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交易金额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标准交易对手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主体类型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一级分类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分类依据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BILL PAY Fair Go Finance DT.58oa72 SACC 239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Fair Go Finance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小额信贷机构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贷款及还款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交易方向、机构名称、产品关键词及历史交易模式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McDonald's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Amazon Prime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订阅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PAYROLL 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雇主 / 收入付款方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收入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工资文本模式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双周周期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稳定金额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7" name="income-table">
            <a:extLst>
              <a:ext uri="{FF2B5EF4-FFF2-40B4-BE49-F238E27FC236}">
                <a16:creationId xmlns:a16="http://schemas.microsoft.com/office/drawing/2014/main" id="{FC75553F-AD69-4A96-9AF1-99CAAD3835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9014883"/>
              </p:ext>
            </p:extLst>
          </p:nvPr>
        </p:nvGraphicFramePr>
        <p:xfrm>
          <a:off x="1573182" y="4380696"/>
          <a:ext cx="3127663" cy="2082800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指标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结果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贷款机构数量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 家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天借款金额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A$2,300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天还款金额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A$1,284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平均月还款金额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A$428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预计待还金额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A$1,016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572368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还款次数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 次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992745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是否存在 SACC 贷款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63308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是否存在多头借贷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3973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是否持续还款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49859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是否出现还款中断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2863822"/>
                  </a:ext>
                </a:extLst>
              </a:tr>
            </a:tbl>
          </a:graphicData>
        </a:graphic>
      </p:graphicFrame>
      <p:graphicFrame>
        <p:nvGraphicFramePr>
          <p:cNvPr id="18" name="income-table">
            <a:extLst>
              <a:ext uri="{FF2B5EF4-FFF2-40B4-BE49-F238E27FC236}">
                <a16:creationId xmlns:a16="http://schemas.microsoft.com/office/drawing/2014/main" id="{0131C662-720B-4BDB-BAEC-1EB37B5373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5090616"/>
              </p:ext>
            </p:extLst>
          </p:nvPr>
        </p:nvGraphicFramePr>
        <p:xfrm>
          <a:off x="7374542" y="4380696"/>
          <a:ext cx="3127663" cy="2082800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指标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Fair Go Finance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贷款类型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SACC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借款金额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A$1,500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天已还金额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A$936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预计待还金额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A$564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还款频率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每两周 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572368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月还款金额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约 A$338（A$156 × 26/12）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992745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90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天还款次数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 次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3973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当前状态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在贷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49859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扣款失败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286382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年化利率（APR）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【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待补充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】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6096946"/>
                  </a:ext>
                </a:extLst>
              </a:tr>
            </a:tbl>
          </a:graphicData>
        </a:graphic>
      </p:graphicFrame>
      <p:sp>
        <p:nvSpPr>
          <p:cNvPr id="7" name="矩形 6">
            <a:extLst>
              <a:ext uri="{FF2B5EF4-FFF2-40B4-BE49-F238E27FC236}">
                <a16:creationId xmlns:a16="http://schemas.microsoft.com/office/drawing/2014/main" id="{1B718013-4527-4C93-A16A-71AD3CA129A4}"/>
              </a:ext>
            </a:extLst>
          </p:cNvPr>
          <p:cNvSpPr/>
          <p:nvPr/>
        </p:nvSpPr>
        <p:spPr>
          <a:xfrm>
            <a:off x="1003046" y="4888696"/>
            <a:ext cx="384048" cy="1097280"/>
          </a:xfrm>
          <a:prstGeom prst="rect">
            <a:avLst/>
          </a:prstGeom>
          <a:solidFill>
            <a:srgbClr val="E3EB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3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等线" panose="02010600030101010101" pitchFamily="2" charset="-122"/>
                <a:cs typeface="+mn-cs"/>
              </a:rPr>
              <a:t>用户维度</a:t>
            </a:r>
            <a:endParaRPr kumimoji="0" lang="zh-CN" altLang="en-US" sz="1300" b="1" i="0" u="none" strike="noStrike" kern="1200" cap="none" spc="0" normalizeH="0" baseline="0" noProof="0" dirty="0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FCD25F0-EBC1-4E3E-A4AA-77C198517982}"/>
              </a:ext>
            </a:extLst>
          </p:cNvPr>
          <p:cNvSpPr/>
          <p:nvPr/>
        </p:nvSpPr>
        <p:spPr>
          <a:xfrm>
            <a:off x="6803390" y="4888696"/>
            <a:ext cx="384048" cy="1097280"/>
          </a:xfrm>
          <a:prstGeom prst="rect">
            <a:avLst/>
          </a:prstGeom>
          <a:solidFill>
            <a:srgbClr val="E3EB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3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等线" panose="02010600030101010101" pitchFamily="2" charset="-122"/>
                <a:cs typeface="+mn-cs"/>
              </a:rPr>
              <a:t>单笔借款维度</a:t>
            </a:r>
            <a:endParaRPr kumimoji="0" lang="zh-CN" altLang="en-US" sz="1300" b="1" i="0" u="none" strike="noStrike" kern="1200" cap="none" spc="0" normalizeH="0" baseline="0" noProof="0" dirty="0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948182" y="4888696"/>
            <a:ext cx="54864" cy="10972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748526" y="4888696"/>
            <a:ext cx="54864" cy="10972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9327862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band-bg">
            <a:extLst>
              <a:ext uri="{FF2B5EF4-FFF2-40B4-BE49-F238E27FC236}">
                <a16:creationId xmlns:a16="http://schemas.microsoft.com/office/drawing/2014/main" id="{D6429189-C8AA-4544-BEC8-9DF6FD837EF5}"/>
              </a:ext>
            </a:extLst>
          </p:cNvPr>
          <p:cNvSpPr/>
          <p:nvPr/>
        </p:nvSpPr>
        <p:spPr>
          <a:xfrm>
            <a:off x="584453" y="1105291"/>
            <a:ext cx="10871200" cy="505124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D6C6528-4DFB-4D29-B578-BC3E760E6C21}"/>
              </a:ext>
            </a:extLst>
          </p:cNvPr>
          <p:cNvSpPr txBox="1"/>
          <p:nvPr/>
        </p:nvSpPr>
        <p:spPr>
          <a:xfrm>
            <a:off x="600015" y="214702"/>
            <a:ext cx="8890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altLang="zh-CN" sz="20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多引擎分工分类，AI 建设与维护知识库并驱动持续优化闭环</a:t>
            </a:r>
            <a:endParaRPr lang="en-US" altLang="zh-CN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D96AA42-FD16-4226-8E79-584F342FB5EE}"/>
              </a:ext>
            </a:extLst>
          </p:cNvPr>
          <p:cNvSpPr txBox="1"/>
          <p:nvPr/>
        </p:nvSpPr>
        <p:spPr>
          <a:xfrm>
            <a:off x="511115" y="570302"/>
            <a:ext cx="10901632" cy="438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en-US" altLang="zh-CN" sz="1800" noProof="1">
                <a:solidFill>
                  <a:srgbClr val="606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流水依次经过多个分类引擎，各引擎输出交易类别、交易对手，后续引擎发现更明确证据可修正前序分类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s1-bar">
            <a:extLst>
              <a:ext uri="{FF2B5EF4-FFF2-40B4-BE49-F238E27FC236}">
                <a16:creationId xmlns:a16="http://schemas.microsoft.com/office/drawing/2014/main" id="{91A77EEA-A124-4DAB-9FE8-7A3DD468C350}"/>
              </a:ext>
            </a:extLst>
          </p:cNvPr>
          <p:cNvSpPr/>
          <p:nvPr/>
        </p:nvSpPr>
        <p:spPr>
          <a:xfrm>
            <a:off x="568717" y="1732980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2E0EF8C0-7EE5-4A89-9BFB-5F574061D5AA}"/>
              </a:ext>
            </a:extLst>
          </p:cNvPr>
          <p:cNvSpPr txBox="1"/>
          <p:nvPr/>
        </p:nvSpPr>
        <p:spPr>
          <a:xfrm>
            <a:off x="721117" y="1694880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AI 建设与维护知识库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7" name="init-table">
            <a:extLst>
              <a:ext uri="{FF2B5EF4-FFF2-40B4-BE49-F238E27FC236}">
                <a16:creationId xmlns:a16="http://schemas.microsoft.com/office/drawing/2014/main" id="{296C6557-7410-4A1E-A4E0-C1913FA164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5821530"/>
              </p:ext>
            </p:extLst>
          </p:nvPr>
        </p:nvGraphicFramePr>
        <p:xfrm>
          <a:off x="568716" y="2274555"/>
          <a:ext cx="5222483" cy="1280160"/>
        </p:xfrm>
        <a:graphic>
          <a:graphicData uri="http://schemas.openxmlformats.org/drawingml/2006/table">
            <a:tbl>
              <a:tblPr/>
              <a:tblGrid>
                <a:gridCol w="1314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15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67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标准商户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关键词／别名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类别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TEMU.COM、TEMU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Online Shopping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Dining Out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NETFLIX.COM、NETFLIX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Subscription TV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Entertainment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 *CHATGPT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Information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income-capsule">
            <a:extLst>
              <a:ext uri="{FF2B5EF4-FFF2-40B4-BE49-F238E27FC236}">
                <a16:creationId xmlns:a16="http://schemas.microsoft.com/office/drawing/2014/main" id="{B4CB0565-A9AE-4A45-8F6A-44E49726E461}"/>
              </a:ext>
            </a:extLst>
          </p:cNvPr>
          <p:cNvSpPr/>
          <p:nvPr/>
        </p:nvSpPr>
        <p:spPr>
          <a:xfrm>
            <a:off x="557541" y="3610392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" name="income-capsule-text">
            <a:extLst>
              <a:ext uri="{FF2B5EF4-FFF2-40B4-BE49-F238E27FC236}">
                <a16:creationId xmlns:a16="http://schemas.microsoft.com/office/drawing/2014/main" id="{3B41C0CB-B265-49B8-8346-7A67CD243C57}"/>
              </a:ext>
            </a:extLst>
          </p:cNvPr>
          <p:cNvSpPr txBox="1"/>
          <p:nvPr/>
        </p:nvSpPr>
        <p:spPr>
          <a:xfrm>
            <a:off x="557541" y="3610392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收入识别库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1" name="income-table">
            <a:extLst>
              <a:ext uri="{FF2B5EF4-FFF2-40B4-BE49-F238E27FC236}">
                <a16:creationId xmlns:a16="http://schemas.microsoft.com/office/drawing/2014/main" id="{437DE33D-539A-4A03-AC67-AB16184E7F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0780107"/>
              </p:ext>
            </p:extLst>
          </p:nvPr>
        </p:nvGraphicFramePr>
        <p:xfrm>
          <a:off x="541547" y="3918704"/>
          <a:ext cx="5222483" cy="1066800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48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4136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交易描述与线索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ACME 双周入账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模式＋周期＋稳定阈值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SALARY PACKAGING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薪酬包装模式优先于普通工资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政府补助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专项模式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零工收入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入账，无退款信号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零工模式＋入账方向＋排除规则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liab-capsule">
            <a:extLst>
              <a:ext uri="{FF2B5EF4-FFF2-40B4-BE49-F238E27FC236}">
                <a16:creationId xmlns:a16="http://schemas.microsoft.com/office/drawing/2014/main" id="{A571CED0-8DA4-453B-8B62-551D2F39A966}"/>
              </a:ext>
            </a:extLst>
          </p:cNvPr>
          <p:cNvSpPr/>
          <p:nvPr/>
        </p:nvSpPr>
        <p:spPr>
          <a:xfrm>
            <a:off x="511115" y="5015663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" name="liab-capsule-text">
            <a:extLst>
              <a:ext uri="{FF2B5EF4-FFF2-40B4-BE49-F238E27FC236}">
                <a16:creationId xmlns:a16="http://schemas.microsoft.com/office/drawing/2014/main" id="{671DCB91-F81B-448D-8287-02975156DBAA}"/>
              </a:ext>
            </a:extLst>
          </p:cNvPr>
          <p:cNvSpPr txBox="1"/>
          <p:nvPr/>
        </p:nvSpPr>
        <p:spPr>
          <a:xfrm>
            <a:off x="511115" y="5015663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贷款识别库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5" name="liab-table">
            <a:extLst>
              <a:ext uri="{FF2B5EF4-FFF2-40B4-BE49-F238E27FC236}">
                <a16:creationId xmlns:a16="http://schemas.microsoft.com/office/drawing/2014/main" id="{D9D16F0A-2CA9-444A-9C30-0D63C131C9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1406915"/>
              </p:ext>
            </p:extLst>
          </p:nvPr>
        </p:nvGraphicFramePr>
        <p:xfrm>
          <a:off x="511115" y="5244263"/>
          <a:ext cx="5540237" cy="1426464"/>
        </p:xfrm>
        <a:graphic>
          <a:graphicData uri="http://schemas.openxmlformats.org/drawingml/2006/table">
            <a:tbl>
              <a:tblPr/>
              <a:tblGrid>
                <a:gridCol w="16277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1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08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知识库／场景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交易描述示例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对手库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DIRECT DEBIT AFTERPAY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交易对手关键词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信用卡规则库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BPAY ... ANZ CARDS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银行、账户类型、方向与文本共同匹配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房贷规则库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 REPAYMENT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Mortgage、Home Loan 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车贷机构或专用描述扣款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车贷标记＋交易对手规则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催收／债务整合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已知催收机构或整合描述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催收、整合关键词与专项标记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income-capsule">
            <a:extLst>
              <a:ext uri="{FF2B5EF4-FFF2-40B4-BE49-F238E27FC236}">
                <a16:creationId xmlns:a16="http://schemas.microsoft.com/office/drawing/2014/main" id="{CFEC0F35-840B-44A5-BDAF-0D56EDB6D11F}"/>
              </a:ext>
            </a:extLst>
          </p:cNvPr>
          <p:cNvSpPr/>
          <p:nvPr/>
        </p:nvSpPr>
        <p:spPr>
          <a:xfrm>
            <a:off x="541547" y="2003724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4" name="income-capsule-text">
            <a:extLst>
              <a:ext uri="{FF2B5EF4-FFF2-40B4-BE49-F238E27FC236}">
                <a16:creationId xmlns:a16="http://schemas.microsoft.com/office/drawing/2014/main" id="{455365E2-0360-47A7-B894-12DC05DCC697}"/>
              </a:ext>
            </a:extLst>
          </p:cNvPr>
          <p:cNvSpPr txBox="1"/>
          <p:nvPr/>
        </p:nvSpPr>
        <p:spPr>
          <a:xfrm>
            <a:off x="541547" y="2003724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澳洲企业库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Rectangle 3">
            <a:extLst>
              <a:ext uri="{FF2B5EF4-FFF2-40B4-BE49-F238E27FC236}">
                <a16:creationId xmlns:a16="http://schemas.microsoft.com/office/drawing/2014/main" id="{BAB8C997-F392-44D6-BD9C-9CC639AE42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541" y="1241953"/>
            <a:ext cx="10898112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引擎流程：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Init → Income → Liability → Other Engines (</a:t>
            </a:r>
            <a:r>
              <a:rPr lang="en-US" altLang="zh-CN" sz="12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Transfers,Gambling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, and Rent) → Quality Review &amp; Optimization</a:t>
            </a: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 质量评估</a:t>
            </a:r>
            <a:r>
              <a:rPr kumimoji="0" lang="zh-CN" altLang="zh-CN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与优化闭环</a:t>
            </a:r>
          </a:p>
        </p:txBody>
      </p:sp>
      <p:sp>
        <p:nvSpPr>
          <p:cNvPr id="25" name="s1-bar">
            <a:extLst>
              <a:ext uri="{FF2B5EF4-FFF2-40B4-BE49-F238E27FC236}">
                <a16:creationId xmlns:a16="http://schemas.microsoft.com/office/drawing/2014/main" id="{A8EBEEE2-E859-4ED2-B0ED-270FD3E8E714}"/>
              </a:ext>
            </a:extLst>
          </p:cNvPr>
          <p:cNvSpPr/>
          <p:nvPr/>
        </p:nvSpPr>
        <p:spPr>
          <a:xfrm>
            <a:off x="6285857" y="1737516"/>
            <a:ext cx="50800" cy="1651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6" name="s1-title">
            <a:extLst>
              <a:ext uri="{FF2B5EF4-FFF2-40B4-BE49-F238E27FC236}">
                <a16:creationId xmlns:a16="http://schemas.microsoft.com/office/drawing/2014/main" id="{04C828B8-086B-404C-8643-9D85D8368225}"/>
              </a:ext>
            </a:extLst>
          </p:cNvPr>
          <p:cNvSpPr txBox="1"/>
          <p:nvPr/>
        </p:nvSpPr>
        <p:spPr>
          <a:xfrm>
            <a:off x="6438257" y="1699416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2. AI 质检 Agent：监控分类波动并输出诊断报告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29" name="Table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5025288"/>
              </p:ext>
            </p:extLst>
          </p:nvPr>
        </p:nvGraphicFramePr>
        <p:xfrm>
          <a:off x="6311255" y="4049611"/>
          <a:ext cx="5540236" cy="1042416"/>
        </p:xfrm>
        <a:graphic>
          <a:graphicData uri="http://schemas.openxmlformats.org/drawingml/2006/table">
            <a:tbl>
              <a:tblPr/>
              <a:tblGrid>
                <a:gridCol w="9233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68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示例场景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排除规则过宽，房租、保险、水电被误归为内部转账，导致租金支出在支出计算中漏算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新开业商户或新兴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BNPL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平台的交易描述未收录，落入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Other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或无法归集为负债流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数据本身异常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银行返回描述被截断（仅剩 EFTPOS *）、金额与方向矛盾、同一笔交易重复入账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多引擎冲突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同一笔 BPAY ... 被 Transfer 归为转账、被 Liability 识别为还款，需按业务语义裁决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月初集中缴费、节假日消费高峰导致某类别占比短期上升，属正常范围，无需干预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6281928" y="528523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dirty="0" err="1">
                <a:solidFill>
                  <a:srgbClr val="0A0A0A"/>
                </a:solidFill>
                <a:latin typeface="微软雅黑"/>
                <a:ea typeface="微软雅黑"/>
              </a:rPr>
              <a:t>诊断报告输出示例</a:t>
            </a:r>
            <a:endParaRPr sz="9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6311257" y="5556879"/>
          <a:ext cx="5540234" cy="694944"/>
        </p:xfrm>
        <a:graphic>
          <a:graphicData uri="http://schemas.openxmlformats.org/drawingml/2006/table">
            <a:tbl>
              <a:tblPr/>
              <a:tblGrid>
                <a:gridCol w="5540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67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33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60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优先级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问题描述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建议动作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房租交易批量被归为内部转账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优化 Transfer 排除规则并补充回归用例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P1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 BNPL 平台还款未被识别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补充平台名称及扣款描述关键词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某商户 7 月分类占比短期上升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无需处理，持续观察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2" name="TextBox 29">
            <a:extLst>
              <a:ext uri="{FF2B5EF4-FFF2-40B4-BE49-F238E27FC236}">
                <a16:creationId xmlns:a16="http://schemas.microsoft.com/office/drawing/2014/main" id="{59843E63-6597-4DF7-94AC-310E51A426D8}"/>
              </a:ext>
            </a:extLst>
          </p:cNvPr>
          <p:cNvSpPr txBox="1"/>
          <p:nvPr/>
        </p:nvSpPr>
        <p:spPr>
          <a:xfrm>
            <a:off x="6281928" y="377647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lang="zh-CN" altLang="en-US" sz="1200" b="1" dirty="0">
                <a:solidFill>
                  <a:srgbClr val="0A0A0A"/>
                </a:solidFill>
                <a:latin typeface="微软雅黑"/>
                <a:ea typeface="微软雅黑"/>
              </a:rPr>
              <a:t>五类定位原因示例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3776472"/>
            <a:ext cx="54864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217920" y="5285232"/>
            <a:ext cx="54864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281928" y="6327648"/>
            <a:ext cx="5541264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217920" y="6327648"/>
            <a:ext cx="54864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373368" y="6327648"/>
            <a:ext cx="53492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0A0A0A"/>
                </a:solidFill>
              </a:rPr>
              <a:t>知识库随注册商户的新增、变更、失效持续更新，并从真实交易中补齐注册数据未覆盖的支付描述和商户别名。由此形成“分类 → 监控 → 定位 → 输出 → 更新 → 再分类”的持续优化闭环。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9360" y="1975104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ea typeface="微软雅黑"/>
              </a:rPr>
              <a:t>① 监控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ea typeface="微软雅黑"/>
              </a:rPr>
              <a:t>捕捉分类批量漂移、同一交易对手归类不一致、覆盖率或命中率明显下降、新描述未被任何引擎识别等异常信号。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09360" y="1975104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309360" y="2587752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ea typeface="微软雅黑"/>
              </a:rPr>
              <a:t>② 定位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ea typeface="微软雅黑"/>
              </a:rPr>
              <a:t>对异常逐笔细挖交易描述、金额、方向、交易对手、命中引擎和分类依据，归类为五类原因。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2587752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309360" y="3200400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ea typeface="微软雅黑"/>
              </a:rPr>
              <a:t>③ 输出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ea typeface="微软雅黑"/>
              </a:rPr>
              <a:t>生成按优先级排序的诊断报告，直接标明问题引擎、需检查的规则、缺失的商户／关键词及应补充的知识库，供业务确认。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3200400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40EE25B-7E76-419D-9567-BF44A7BCAF27}"/>
              </a:ext>
            </a:extLst>
          </p:cNvPr>
          <p:cNvSpPr txBox="1"/>
          <p:nvPr/>
        </p:nvSpPr>
        <p:spPr>
          <a:xfrm>
            <a:off x="600015" y="214702"/>
            <a:ext cx="8890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1" i="0" u="none" strike="noStrike" kern="1200" cap="none" spc="0" normalizeH="0" baseline="0" noProof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Liability 贷款识别：覆盖、一致性与精度全面优于 illion</a:t>
            </a:r>
            <a:endParaRPr kumimoji="0" lang="en-US" altLang="zh-CN" sz="20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681727" y="1591056"/>
          <a:ext cx="7004304" cy="621792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2026/07/05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A$1,248.00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Home loan - Receipt ... To Orange Everyday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Internal Transfer（内部转账）&lt;br&gt;住房贷款完全遗漏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Loans（Home Loan）&lt;br&gt;按产品关键词判定为贷款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681727" y="3108960"/>
          <a:ext cx="7004304" cy="122529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2026/03/02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A$750.00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Loan Disbursement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2026/03/16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2026/05/11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2026/05/25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2026/07/20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681727" y="5413247"/>
          <a:ext cx="7004304" cy="104241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2026/02/10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A$300.00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Loan Advance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2026/04/14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2026/06/22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Repayment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512064" y="566928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OOT 样本对比：1,519 </a:t>
            </a:r>
            <a:r>
              <a:rPr kumimoji="0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个申请</a:t>
            </a:r>
            <a:r>
              <a:rPr kumimoji="0" sz="110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 case ｜ 1,958,480 </a:t>
            </a:r>
            <a:r>
              <a:rPr kumimoji="0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条交易</a:t>
            </a:r>
            <a:r>
              <a:rPr kumimoji="0" sz="110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 ｜ 2026/07/27–2026/07/31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92023" y="1069849"/>
            <a:ext cx="64008" cy="2560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29182" y="1051560"/>
            <a:ext cx="402335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1. 贷款识别覆盖交集：我方漏识别更少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7" y="4242816"/>
            <a:ext cx="1298448" cy="914400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429767" y="4242816"/>
            <a:ext cx="129844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429767" y="4370832"/>
            <a:ext cx="129844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Finv 识别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" y="4608577"/>
            <a:ext cx="12984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5,680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7" y="4919473"/>
            <a:ext cx="12984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覆盖率 12.8%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37943" y="4242816"/>
            <a:ext cx="1298448" cy="914400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1837943" y="4242816"/>
            <a:ext cx="129844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837943" y="4370832"/>
            <a:ext cx="129844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双方共识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37943" y="4608577"/>
            <a:ext cx="12984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5,284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37943" y="4919473"/>
            <a:ext cx="12984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一致率 92.0%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46119" y="4242816"/>
            <a:ext cx="1298448" cy="914400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3246119" y="4242816"/>
            <a:ext cx="129844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3246119" y="4370832"/>
            <a:ext cx="129844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illion 识别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46119" y="4608577"/>
            <a:ext cx="12984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F4E79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5,363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46119" y="4919473"/>
            <a:ext cx="12984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覆盖率 12.1%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9768" y="5321808"/>
            <a:ext cx="4114800" cy="45720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429767" y="5321808"/>
            <a:ext cx="64008" cy="4572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603503" y="5394960"/>
            <a:ext cx="42062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双方识别高度重合，但 Finv 覆盖更多、漏识更少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Case 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03520" y="1060704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覆盖提升：Home Loan 被 illion 漏识别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81727" y="1353312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同一笔 Home Loan 还款，illion 归为 Internal Transfer，住房贷款完全遗漏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81727" y="2218945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4681727" y="2218945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809743" y="2255521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✓ Finv 通过产品词库识别 Home Loan，扩大贷款识别覆盖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Case 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03520" y="2578608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一致性：同一贷款流内 illion 标签自相矛盾（MoneySpot）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81727" y="2871216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同一贷款流共 11 笔：放款 1 笔（A$750）+ 等额还款 10 笔（A$49.09/期），illion 前 6 笔标 SACC、后 5 笔标 Non-SACC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81727" y="4425696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4681727" y="4425696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809743" y="4462272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✓ Finv 基于完整贷款流统一判断，避免交易级标签前后冲突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663440" y="4901183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4663440" y="4901183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Case 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0" y="4882896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分类精度：Credit24 被 illion 泛化为 SACC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81727" y="5175503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同一用户共 19 笔 Credit24 交易全部被标为 SACC Loans，忽略产品类型差异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681727" y="6327647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4681727" y="6327647"/>
            <a:ext cx="45720" cy="27432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809743" y="6364223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rPr>
              <a:t>✓ Finv 结合交易模式与机构产品知识识别 LOC，提升贷款类型精度</a:t>
            </a:r>
          </a:p>
        </p:txBody>
      </p:sp>
      <p:sp>
        <p:nvSpPr>
          <p:cNvPr id="64" name="venn-blue"/>
          <p:cNvSpPr/>
          <p:nvPr/>
        </p:nvSpPr>
        <p:spPr>
          <a:xfrm>
            <a:off x="841248" y="1609344"/>
            <a:ext cx="2578608" cy="2578608"/>
          </a:xfrm>
          <a:prstGeom prst="ellipse">
            <a:avLst/>
          </a:prstGeom>
          <a:solidFill>
            <a:srgbClr val="1F4E79">
              <a:alpha val="28000"/>
            </a:srgbClr>
          </a:solidFill>
          <a:ln w="1524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venn-gold"/>
          <p:cNvSpPr/>
          <p:nvPr/>
        </p:nvSpPr>
        <p:spPr>
          <a:xfrm>
            <a:off x="1947671" y="1609344"/>
            <a:ext cx="2487168" cy="2487168"/>
          </a:xfrm>
          <a:prstGeom prst="ellipse">
            <a:avLst/>
          </a:prstGeom>
          <a:solidFill>
            <a:srgbClr val="D6A000">
              <a:alpha val="28000"/>
            </a:srgbClr>
          </a:solidFill>
          <a:ln w="1524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venn-label-blue"/>
          <p:cNvSpPr txBox="1"/>
          <p:nvPr/>
        </p:nvSpPr>
        <p:spPr>
          <a:xfrm>
            <a:off x="841248" y="1298448"/>
            <a:ext cx="1463040" cy="40233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/>
            <a:r>
              <a:rPr sz="900" b="1" lang="zh-CN">
                <a:solidFill>
                  <a:srgbClr val="1F4E79"/>
                </a:solidFill>
                <a:latin typeface="微软雅黑"/>
                <a:ea typeface="微软雅黑"/>
              </a:rPr>
              <a:t>Finv 识别 5,680</a:t>
            </a:r>
          </a:p>
          <a:p>
            <a:pPr algn="l"/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覆盖率 12.8%</a:t>
            </a:r>
          </a:p>
        </p:txBody>
      </p:sp>
      <p:sp>
        <p:nvSpPr>
          <p:cNvPr id="67" name="venn-label-gold"/>
          <p:cNvSpPr txBox="1"/>
          <p:nvPr/>
        </p:nvSpPr>
        <p:spPr>
          <a:xfrm>
            <a:off x="2971799" y="1298448"/>
            <a:ext cx="1463040" cy="40233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r>
              <a:rPr sz="900" b="1" lang="zh-CN">
                <a:solidFill>
                  <a:srgbClr val="D6A000"/>
                </a:solidFill>
                <a:latin typeface="微软雅黑"/>
                <a:ea typeface="微软雅黑"/>
              </a:rPr>
              <a:t>illion 识别 5,363</a:t>
            </a:r>
          </a:p>
          <a:p>
            <a:pPr algn="r"/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覆盖率 12.1%</a:t>
            </a:r>
          </a:p>
        </p:txBody>
      </p:sp>
      <p:sp>
        <p:nvSpPr>
          <p:cNvPr id="68" name="venn-blue-only"/>
          <p:cNvSpPr txBox="1"/>
          <p:nvPr/>
        </p:nvSpPr>
        <p:spPr>
          <a:xfrm>
            <a:off x="987552" y="2743200"/>
            <a:ext cx="8229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lang="zh-CN">
                <a:solidFill>
                  <a:srgbClr val="0A0A0A"/>
                </a:solidFill>
                <a:latin typeface="微软雅黑"/>
                <a:ea typeface="微软雅黑"/>
              </a:rPr>
              <a:t>396</a:t>
            </a:r>
          </a:p>
        </p:txBody>
      </p:sp>
      <p:sp>
        <p:nvSpPr>
          <p:cNvPr id="69" name="venn-gold-only"/>
          <p:cNvSpPr txBox="1"/>
          <p:nvPr/>
        </p:nvSpPr>
        <p:spPr>
          <a:xfrm>
            <a:off x="3520440" y="2743200"/>
            <a:ext cx="8229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lang="zh-CN">
                <a:solidFill>
                  <a:srgbClr val="0A0A0A"/>
                </a:solidFill>
                <a:latin typeface="微软雅黑"/>
                <a:ea typeface="微软雅黑"/>
              </a:rPr>
              <a:t>79</a:t>
            </a:r>
          </a:p>
        </p:txBody>
      </p:sp>
      <p:sp>
        <p:nvSpPr>
          <p:cNvPr id="70" name="venn-intersect"/>
          <p:cNvSpPr txBox="1"/>
          <p:nvPr/>
        </p:nvSpPr>
        <p:spPr>
          <a:xfrm>
            <a:off x="2276856" y="2670048"/>
            <a:ext cx="8229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00" b="1" lang="zh-CN">
                <a:solidFill>
                  <a:srgbClr val="1F4E79"/>
                </a:solidFill>
                <a:latin typeface="微软雅黑"/>
                <a:ea typeface="微软雅黑"/>
              </a:rPr>
              <a:t>5,284</a:t>
            </a:r>
          </a:p>
        </p:txBody>
      </p:sp>
      <p:sp>
        <p:nvSpPr>
          <p:cNvPr id="71" name="venn-rate"/>
          <p:cNvSpPr txBox="1"/>
          <p:nvPr/>
        </p:nvSpPr>
        <p:spPr>
          <a:xfrm>
            <a:off x="2276856" y="2962656"/>
            <a:ext cx="8229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0" lang="zh-CN">
                <a:solidFill>
                  <a:srgbClr val="606060"/>
                </a:solidFill>
                <a:latin typeface="微软雅黑"/>
                <a:ea typeface="微软雅黑"/>
              </a:rPr>
              <a:t>一致率 92.0%</a:t>
            </a:r>
          </a:p>
        </p:txBody>
      </p:sp>
    </p:spTree>
    <p:extLst>
      <p:ext uri="{BB962C8B-B14F-4D97-AF65-F5344CB8AC3E}">
        <p14:creationId xmlns:p14="http://schemas.microsoft.com/office/powerpoint/2010/main" val="1875240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520</TotalTime>
  <Words>1158</Words>
  <Application>Microsoft Office PowerPoint</Application>
  <PresentationFormat>宽屏</PresentationFormat>
  <Paragraphs>358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9" baseType="lpstr">
      <vt:lpstr>微软雅黑 Light</vt:lpstr>
      <vt:lpstr>Arial</vt:lpstr>
      <vt:lpstr>微软雅黑</vt:lpstr>
      <vt:lpstr>等线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银行流水识别与信审决策</dc:title>
  <dc:subject>银行流水识别与信审决策</dc:subject>
  <dc:creator>Kimi</dc:creator>
  <cp:lastModifiedBy>张昱良-Eliam</cp:lastModifiedBy>
  <cp:revision>109</cp:revision>
  <dcterms:modified xsi:type="dcterms:W3CDTF">2026-08-10T05:52:06Z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银行流水识别与信审决策","ContentProducer":"001191110108MACG2KBH8F10000","ProduceID":"19fd57ab-32b2-8dc3-8000-000021f6677f","ReservedCode1":"","ContentPropagator":"001191110108MACG2KBH8F20000","PropagateID":"19fd5750-12b2-8d03-8000-09de61760ce3","ReservedCode2":""}</vt:lpwstr>
  </property>
</Properties>
</file>