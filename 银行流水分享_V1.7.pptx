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1146" y="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607168" y="195922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607168" y="62036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2026/8/9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从一笔交易到完整的客户财务画像，输出直接回答新增还款能力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原始流水 → 交易明细维度 → 用户汇总维度 → Serviceability 计算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06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1.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原始银行流水（输入示例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交易明细维度：理解每一笔交易（输出示例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）</a:t>
            </a:r>
            <a:endParaRPr lang="en-US" sz="1200" b="1" noProof="1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3.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用户汇总维度：形成完整负债画像（输出示例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）</a:t>
            </a:r>
            <a:endParaRPr lang="en-US" sz="1200" b="1" noProof="1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462542"/>
              </p:ext>
            </p:extLst>
          </p:nvPr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BILL PAY Fair Go Finance A1002345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EFTPOS MCDONALDS BRISBANE QLD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CHEMIST WAREHOUSE 123 BRISBANE QLD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AMZNPRIMEAU*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PAYROLL DEPOSIT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282757"/>
              </p:ext>
            </p:extLst>
          </p:nvPr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80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1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529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1014984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832104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 w="76809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914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2761488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2529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886968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 marL="27432" marR="27432" marT="9144" marB="9144" w="101498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83210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 w="2496312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70373"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 w="768096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 w="914400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BILL PAY Fair Go Finance A1002345</a:t>
                      </a:r>
                    </a:p>
                  </a:txBody>
                  <a:tcPr marL="27432" marR="27432" marT="9144" marB="9144" w="2761488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 w="1225296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w="886968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 w="101498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w="83210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交易方向、机构名称及历史交易模式</a:t>
                      </a:r>
                    </a:p>
                  </a:txBody>
                  <a:tcPr marL="27432" marR="27432" marT="9144" marB="9144" w="2496312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70373"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 w="7680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 w="9144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EFTPOS MCDONALDS BRISBANE QLD</a:t>
                      </a:r>
                    </a:p>
                  </a:txBody>
                  <a:tcPr marL="27432" marR="27432" marT="9144" marB="9144" w="276148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 w="12252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 w="88696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 w="101498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 w="83210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 w="2496312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70373"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 w="7680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 w="9144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CHEMIST WAREHOUSE 123 BRISBANE QLD</a:t>
                      </a:r>
                    </a:p>
                  </a:txBody>
                  <a:tcPr marL="27432" marR="27432" marT="9144" marB="9144" w="276148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 w="12252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w="88696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 w="101498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 w="83210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 w="2496312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70373"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 w="7680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 w="9144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AMZNPRIMEAU*</a:t>
                      </a:r>
                    </a:p>
                  </a:txBody>
                  <a:tcPr marL="27432" marR="27432" marT="9144" marB="9144" w="276148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 w="12252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 w="88696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 w="101498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w="83210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 w="2496312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70373"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 w="7680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 w="9144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PAYROLL DEPOSIT ACME PTY LTD</a:t>
                      </a:r>
                    </a:p>
                  </a:txBody>
                  <a:tcPr marL="27432" marR="27432" marT="9144" marB="9144" w="276148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 w="1225296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 w="88696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w="101498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 w="83210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 w="2496312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995091"/>
              </p:ext>
            </p:extLst>
          </p:nvPr>
        </p:nvGraphicFramePr>
        <p:xfrm>
          <a:off x="2020824" y="4517136"/>
          <a:ext cx="3127248" cy="2293486"/>
        </p:xfrm>
        <a:graphic>
          <a:graphicData uri="http://schemas.openxmlformats.org/drawingml/2006/table">
            <a:tbl>
              <a:tblPr/>
              <a:tblGrid>
                <a:gridCol w="1252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8486903"/>
              </p:ext>
            </p:extLst>
          </p:nvPr>
        </p:nvGraphicFramePr>
        <p:xfrm>
          <a:off x="7744968" y="4517136"/>
          <a:ext cx="3127248" cy="2293486"/>
        </p:xfrm>
        <a:graphic>
          <a:graphicData uri="http://schemas.openxmlformats.org/drawingml/2006/table">
            <a:tbl>
              <a:tblPr/>
              <a:tblGrid>
                <a:gridCol w="1252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 w="1252728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 w="187543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21" name="p2-label-bg"/>
          <p:cNvSpPr/>
          <p:nvPr/>
        </p:nvSpPr>
        <p:spPr>
          <a:xfrm>
            <a:off x="822960" y="4773168"/>
            <a:ext cx="777240" cy="1344168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2-label-bar"/>
          <p:cNvSpPr/>
          <p:nvPr/>
        </p:nvSpPr>
        <p:spPr>
          <a:xfrm>
            <a:off x="822960" y="4773168"/>
            <a:ext cx="54864" cy="13441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2-label-text"/>
          <p:cNvSpPr txBox="1"/>
          <p:nvPr/>
        </p:nvSpPr>
        <p:spPr>
          <a:xfrm>
            <a:off x="877824" y="4773168"/>
            <a:ext cx="722376" cy="1344168"/>
          </a:xfrm>
          <a:prstGeom prst="rect">
            <a:avLst/>
          </a:prstGeom>
          <a:noFill/>
        </p:spPr>
        <p:txBody>
          <a:bodyPr wrap="square" anchor="ctr" vert="eaVert">
            <a:noAutofit/>
          </a:bodyPr>
          <a:lstStyle/>
          <a:p>
            <a:pPr algn="ctr"/>
            <a:r>
              <a:rPr sz="1050" b="1">
                <a:solidFill>
                  <a:srgbClr val="0A0A0A"/>
                </a:solidFill>
                <a:latin typeface="微软雅黑"/>
              </a:rPr>
              <a:t>用户维度</a:t>
            </a:r>
          </a:p>
        </p:txBody>
      </p:sp>
      <p:sp>
        <p:nvSpPr>
          <p:cNvPr id="24" name="p2-label-bg"/>
          <p:cNvSpPr/>
          <p:nvPr/>
        </p:nvSpPr>
        <p:spPr>
          <a:xfrm>
            <a:off x="6464808" y="4791456"/>
            <a:ext cx="777240" cy="1344168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2-label-bar"/>
          <p:cNvSpPr/>
          <p:nvPr/>
        </p:nvSpPr>
        <p:spPr>
          <a:xfrm>
            <a:off x="6464808" y="4791456"/>
            <a:ext cx="54864" cy="13441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2-label-text"/>
          <p:cNvSpPr txBox="1"/>
          <p:nvPr/>
        </p:nvSpPr>
        <p:spPr>
          <a:xfrm>
            <a:off x="6519672" y="4791456"/>
            <a:ext cx="722376" cy="1344168"/>
          </a:xfrm>
          <a:prstGeom prst="rect">
            <a:avLst/>
          </a:prstGeom>
          <a:noFill/>
        </p:spPr>
        <p:txBody>
          <a:bodyPr wrap="square" anchor="ctr" vert="eaVert">
            <a:noAutofit/>
          </a:bodyPr>
          <a:lstStyle/>
          <a:p>
            <a:pPr algn="ctr"/>
            <a:r>
              <a:rPr sz="1050" b="1">
                <a:solidFill>
                  <a:srgbClr val="0A0A0A"/>
                </a:solidFill>
                <a:latin typeface="微软雅黑"/>
              </a:rPr>
              <a:t>单笔借款维度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p/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p/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p/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p/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676400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p/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75104"/>
            <a:ext cx="5540237" cy="17922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① 监控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捕捉分类批量漂移、同一交易对手归类不一致、覆盖率或命中率明显下降、新描述未被任何引擎识别等异常信号。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② 定位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对异常逐笔细挖交易描述、金额、方向、交易对手、命中引擎和分类依据，归类为五类原因。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③ 输出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1F4E79"/>
                </a:solidFill>
                <a:latin typeface="微软雅黑"/>
              </a:rPr>
              <a:t>效果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>
                <a:solidFill>
                  <a:srgbClr val="3D3C3A"/>
                </a:solidFill>
                <a:latin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11257" y="5282559"/>
            <a:ext cx="5540237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19817" y="3773799"/>
            <a:ext cx="110799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9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65961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65961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903221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839213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131821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1087</Words>
  <Application>Microsoft Office PowerPoint</Application>
  <PresentationFormat>宽屏</PresentationFormat>
  <Paragraphs>367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Arial</vt:lpstr>
      <vt:lpstr>微软雅黑 Light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100</cp:revision>
  <dcterms:modified xsi:type="dcterms:W3CDTF">2026-08-09T10:26:06Z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