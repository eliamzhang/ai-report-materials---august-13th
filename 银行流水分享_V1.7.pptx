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67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67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10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1115" y="56268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109728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000" b="1" noProof="1">
                <a:solidFill>
                  <a:srgbClr val="0A0A0A"/>
                </a:solidFill>
                <a:ea typeface="微软雅黑" panose="020B0503020204020204" pitchFamily="34" charset="-122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736600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原始银行流水经大模型识别与分类，形成交易明细与用户汇总两级视图，直接回答新增还款能力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6D65428F-6A5F-41C4-ACB7-27279799D716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</p:ext>
            </p:extLst>
          </p:nvPr>
        </p:nvSpPr>
        <p:spPr>
          <a:xfrm>
            <a:off x="431800" y="1092200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84200" y="1252728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35000" y="2662175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634999" y="4169271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/>
        </p:nvGraphicFramePr>
        <p:xfrm>
          <a:off x="650815" y="1550812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/>
        </p:nvGraphicFramePr>
        <p:xfrm>
          <a:off x="634999" y="2940397"/>
          <a:ext cx="10901631" cy="1113993"/>
        </p:xfrm>
        <a:graphic>
          <a:graphicData uri="http://schemas.openxmlformats.org/drawingml/2006/table">
            <a:tbl>
              <a:tblPr/>
              <a:tblGrid>
                <a:gridCol w="767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6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51418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1012354">
                  <a:extLst>
                    <a:ext uri="{9D8B030D-6E8A-4147-A177-3AD203B41FA5}">
                      <a16:colId xmlns:a16="http://schemas.microsoft.com/office/drawing/2014/main" val="1228048883"/>
                    </a:ext>
                  </a:extLst>
                </a:gridCol>
                <a:gridCol w="829993">
                  <a:extLst>
                    <a:ext uri="{9D8B030D-6E8A-4147-A177-3AD203B41FA5}">
                      <a16:colId xmlns:a16="http://schemas.microsoft.com/office/drawing/2014/main" val="2445864241"/>
                    </a:ext>
                  </a:extLst>
                </a:gridCol>
                <a:gridCol w="913151">
                  <a:extLst>
                    <a:ext uri="{9D8B030D-6E8A-4147-A177-3AD203B41FA5}">
                      <a16:colId xmlns:a16="http://schemas.microsoft.com/office/drawing/2014/main" val="516131836"/>
                    </a:ext>
                  </a:extLst>
                </a:gridCol>
                <a:gridCol w="2262314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二级分类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交易性质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SACC Loans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贷款还款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Dining Out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消费支出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Health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消费支出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Subscription TV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订阅支出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salary_payg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7" name="income-table">
            <a:extLst>
              <a:ext uri="{FF2B5EF4-FFF2-40B4-BE49-F238E27FC236}">
                <a16:creationId xmlns:a16="http://schemas.microsoft.com/office/drawing/2014/main" id="{FC75553F-AD69-4A96-9AF1-99CAAD383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3557807"/>
              </p:ext>
            </p:extLst>
          </p:nvPr>
        </p:nvGraphicFramePr>
        <p:xfrm>
          <a:off x="2024032" y="4292600"/>
          <a:ext cx="3127663" cy="2293486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贷款机构数量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 家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A$2,300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A$1,284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平均月还款金额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A$428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A$1,016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 SACC 贷款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3308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是否存在多头借贷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是否持续还款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是否出现还款中断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</a:tbl>
          </a:graphicData>
        </a:graphic>
      </p:graphicFrame>
      <p:graphicFrame>
        <p:nvGraphicFramePr>
          <p:cNvPr id="18" name="income-table">
            <a:extLst>
              <a:ext uri="{FF2B5EF4-FFF2-40B4-BE49-F238E27FC236}">
                <a16:creationId xmlns:a16="http://schemas.microsoft.com/office/drawing/2014/main" id="{0131C662-720B-4BDB-BAEC-1EB37B537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752341"/>
              </p:ext>
            </p:extLst>
          </p:nvPr>
        </p:nvGraphicFramePr>
        <p:xfrm>
          <a:off x="7749192" y="4292600"/>
          <a:ext cx="3127663" cy="2293486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贷款类型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A$1,500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天已还金额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A$936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A$564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还款频率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每两周 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约 A$338（A$156 × 26/12）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当前状态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在贷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扣款失败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年化利率（APR）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【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待补充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】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096946"/>
                  </a:ext>
                </a:extLst>
              </a:tr>
            </a:tbl>
          </a:graphicData>
        </a:graphic>
      </p:graphicFrame>
      <p:sp>
        <p:nvSpPr>
          <p:cNvPr id="7" name="矩形 6">
            <a:extLst>
              <a:ext uri="{FF2B5EF4-FFF2-40B4-BE49-F238E27FC236}">
                <a16:creationId xmlns:a16="http://schemas.microsoft.com/office/drawing/2014/main" id="{1B718013-4527-4C93-A16A-71AD3CA129A4}"/>
              </a:ext>
            </a:extLst>
          </p:cNvPr>
          <p:cNvSpPr/>
          <p:nvPr/>
        </p:nvSpPr>
        <p:spPr>
          <a:xfrm>
            <a:off x="1453896" y="4800600"/>
            <a:ext cx="384048" cy="1097280"/>
          </a:xfrm>
          <a:prstGeom prst="rect">
            <a:avLst/>
          </a:prstGeom>
          <a:solidFill>
            <a:srgbClr val="E3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用户维度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FCD25F0-EBC1-4E3E-A4AA-77C198517982}"/>
              </a:ext>
            </a:extLst>
          </p:cNvPr>
          <p:cNvSpPr/>
          <p:nvPr/>
        </p:nvSpPr>
        <p:spPr>
          <a:xfrm>
            <a:off x="7178040" y="4800600"/>
            <a:ext cx="384048" cy="1097280"/>
          </a:xfrm>
          <a:prstGeom prst="rect">
            <a:avLst/>
          </a:prstGeom>
          <a:solidFill>
            <a:srgbClr val="E3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单笔借款维度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399032" y="4800600"/>
            <a:ext cx="54864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123176" y="4800600"/>
            <a:ext cx="54864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49808" y="6446520"/>
            <a:ext cx="9198864" cy="36576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90500" tIns="0" rIns="101600" bIns="0" rtlCol="0" anchor="ctr"/>
          <a:lstStyle/>
          <a:p>
            <a:pPr algn="ctr"/>
            <a:r>
              <a:rPr lang="zh-CN" alt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平均月还款金额 </a:t>
            </a:r>
            <a:r>
              <a:rPr 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A$428 </a:t>
            </a:r>
            <a:r>
              <a:rPr lang="zh-CN" alt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直接进入 </a:t>
            </a:r>
            <a:r>
              <a:rPr 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Serviceability </a:t>
            </a:r>
            <a:r>
              <a:rPr lang="zh-CN" alt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计算，作为新增还款能力评估的核心输入</a:t>
            </a:r>
            <a:endParaRPr sz="900" b="1">
              <a:solidFill>
                <a:srgbClr val="00000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49808" y="6446520"/>
            <a:ext cx="64008" cy="36576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0" rIns="109728" bIns="0" rtlCol="0" anchor="t"/>
          <a:lstStyle/>
          <a:p>
            <a:pPr algn="l"/>
            <a:endParaRPr sz="900" b="1">
              <a:solidFill>
                <a:srgbClr val="0A0A0A"/>
              </a:solidFill>
              <a:latin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收入识别知识库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贷款识别知识库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676400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2A69DA-792E-4EF6-BBB2-2066D247A0B4}"/>
              </a:ext>
            </a:extLst>
          </p:cNvPr>
          <p:cNvSpPr txBox="1"/>
          <p:nvPr/>
        </p:nvSpPr>
        <p:spPr>
          <a:xfrm>
            <a:off x="6311257" y="1975104"/>
            <a:ext cx="5540237" cy="17922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① 监控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捕捉分类批量漂移、同一交易对手归类不一致、覆盖率或命中率明显下降、新描述未被任何引擎识别等异常信号。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② 定位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对异常逐笔细挖交易描述、金额、方向、交易对手、命中引擎和分类依据，归类为五类原因。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③ 输出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效果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11257" y="5282559"/>
            <a:ext cx="5540237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19817" y="3773799"/>
            <a:ext cx="110799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</a:pPr>
            <a:r>
              <a:rPr lang="zh-CN" altLang="en-US" sz="9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</p:spTree>
    <p:extLst>
      <p:ext uri="{BB962C8B-B14F-4D97-AF65-F5344CB8AC3E}">
        <p14:creationId xmlns:p14="http://schemas.microsoft.com/office/powerpoint/2010/main" val="2946827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5669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OOT 样本对比：1,519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个申请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case ｜ 1,958,480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条交易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｜ 2026/07/27–2026/07/31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321808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321808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394960"/>
            <a:ext cx="4206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Oval 63"/>
          <p:cNvSpPr/>
          <p:nvPr/>
        </p:nvSpPr>
        <p:spPr>
          <a:xfrm>
            <a:off x="420623" y="1965961"/>
            <a:ext cx="2148840" cy="2148840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1609343" y="1965961"/>
            <a:ext cx="2148840" cy="2148840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283463" y="2903221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80943" y="2903221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D6A00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79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89303" y="2839213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5" y="3131821"/>
            <a:ext cx="9601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2023" y="1429921"/>
            <a:ext cx="2606040" cy="2308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 5,680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2023" y="1655065"/>
            <a:ext cx="26060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0743" y="1408177"/>
            <a:ext cx="2606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D6A00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 5,363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80743" y="1655065"/>
            <a:ext cx="26060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515</TotalTime>
  <Words>1153</Words>
  <Application>Microsoft Office PowerPoint</Application>
  <PresentationFormat>宽屏</PresentationFormat>
  <Paragraphs>372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107</cp:revision>
  <dcterms:modified xsi:type="dcterms:W3CDTF">2026-08-10T03:47:07Z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