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19506" y="112240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20963" y="2843682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743732"/>
              </p:ext>
            </p:extLst>
          </p:nvPr>
        </p:nvGraphicFramePr>
        <p:xfrm>
          <a:off x="617523" y="1533881"/>
          <a:ext cx="10901631" cy="1113993"/>
        </p:xfrm>
        <a:graphic>
          <a:graphicData uri="http://schemas.openxmlformats.org/drawingml/2006/table">
            <a:tbl>
              <a:tblPr/>
              <a:tblGrid>
                <a:gridCol w="72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30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3194826296"/>
                    </a:ext>
                  </a:extLst>
                </a:gridCol>
                <a:gridCol w="869950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7416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11711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124418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  <a:endParaRPr sz="800" b="1" dirty="0">
                        <a:solidFill>
                          <a:srgbClr val="D6A000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619506" y="3152038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619506" y="3152038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802386" y="3252622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4" name="Fa-bg"/>
          <p:cNvSpPr/>
          <p:nvPr/>
        </p:nvSpPr>
        <p:spPr>
          <a:xfrm>
            <a:off x="6270498" y="3152038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70498" y="3152038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53378" y="3252622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31" name="concl-bar"/>
          <p:cNvSpPr/>
          <p:nvPr/>
        </p:nvSpPr>
        <p:spPr>
          <a:xfrm>
            <a:off x="619506" y="5815584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619506" y="5815584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802386" y="5927598"/>
            <a:ext cx="1069848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zh-CN" sz="1100" b="1" dirty="0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49" name="s2-bar"/>
          <p:cNvSpPr/>
          <p:nvPr/>
        </p:nvSpPr>
        <p:spPr>
          <a:xfrm>
            <a:off x="444312" y="112288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445770" y="284114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用户-tag1"/>
          <p:cNvSpPr/>
          <p:nvPr/>
        </p:nvSpPr>
        <p:spPr>
          <a:xfrm>
            <a:off x="803844" y="3529584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用户-tag1-t"/>
          <p:cNvSpPr txBox="1"/>
          <p:nvPr/>
        </p:nvSpPr>
        <p:spPr>
          <a:xfrm>
            <a:off x="803844" y="3584448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</p:txBody>
      </p:sp>
      <p:sp>
        <p:nvSpPr>
          <p:cNvPr id="53" name="用户-tag2"/>
          <p:cNvSpPr/>
          <p:nvPr/>
        </p:nvSpPr>
        <p:spPr>
          <a:xfrm>
            <a:off x="2074860" y="3529584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用户-tag2-t"/>
          <p:cNvSpPr txBox="1"/>
          <p:nvPr/>
        </p:nvSpPr>
        <p:spPr>
          <a:xfrm>
            <a:off x="2074860" y="3584448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近期借贷活跃</a:t>
            </a:r>
          </a:p>
        </p:txBody>
      </p:sp>
      <p:sp>
        <p:nvSpPr>
          <p:cNvPr id="55" name="用户-tag3"/>
          <p:cNvSpPr/>
          <p:nvPr/>
        </p:nvSpPr>
        <p:spPr>
          <a:xfrm>
            <a:off x="3345876" y="3529584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用户-tag3-t"/>
          <p:cNvSpPr txBox="1"/>
          <p:nvPr/>
        </p:nvSpPr>
        <p:spPr>
          <a:xfrm>
            <a:off x="3345876" y="3584448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整体持续还款</a:t>
            </a:r>
          </a:p>
        </p:txBody>
      </p:sp>
      <p:sp>
        <p:nvSpPr>
          <p:cNvPr id="57" name="用户-tag4"/>
          <p:cNvSpPr/>
          <p:nvPr/>
        </p:nvSpPr>
        <p:spPr>
          <a:xfrm>
            <a:off x="4616892" y="3529584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用户-tag4-t"/>
          <p:cNvSpPr txBox="1"/>
          <p:nvPr/>
        </p:nvSpPr>
        <p:spPr>
          <a:xfrm>
            <a:off x="4616892" y="3584448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存在轻微还款波动</a:t>
            </a:r>
          </a:p>
        </p:txBody>
      </p:sp>
      <p:sp>
        <p:nvSpPr>
          <p:cNvPr id="59" name="用户-g1-bar"/>
          <p:cNvSpPr/>
          <p:nvPr/>
        </p:nvSpPr>
        <p:spPr>
          <a:xfrm>
            <a:off x="648396" y="3890772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用户-g1-t"/>
          <p:cNvSpPr txBox="1"/>
          <p:nvPr/>
        </p:nvSpPr>
        <p:spPr>
          <a:xfrm>
            <a:off x="739836" y="3877056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负债压力</a:t>
            </a:r>
          </a:p>
        </p:txBody>
      </p:sp>
      <p:sp>
        <p:nvSpPr>
          <p:cNvPr id="61" name="用户-g1-1"/>
          <p:cNvSpPr txBox="1"/>
          <p:nvPr/>
        </p:nvSpPr>
        <p:spPr>
          <a:xfrm>
            <a:off x="803844" y="4059936"/>
            <a:ext cx="1197864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平均月还款金额</a:t>
            </a:r>
          </a:p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62" name="用户-g1-2"/>
          <p:cNvSpPr txBox="1"/>
          <p:nvPr/>
        </p:nvSpPr>
        <p:spPr>
          <a:xfrm>
            <a:off x="2074860" y="4059936"/>
            <a:ext cx="1197864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63" name="用户-g1-3"/>
          <p:cNvSpPr txBox="1"/>
          <p:nvPr/>
        </p:nvSpPr>
        <p:spPr>
          <a:xfrm>
            <a:off x="3345876" y="4059936"/>
            <a:ext cx="1197864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贷款机构数量</a:t>
            </a:r>
          </a:p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64" name="用户-g1-4"/>
          <p:cNvSpPr txBox="1"/>
          <p:nvPr/>
        </p:nvSpPr>
        <p:spPr>
          <a:xfrm>
            <a:off x="4616892" y="4059936"/>
            <a:ext cx="1197864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71" name="用户-g3-bar"/>
          <p:cNvSpPr/>
          <p:nvPr/>
        </p:nvSpPr>
        <p:spPr>
          <a:xfrm>
            <a:off x="648396" y="4544568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用户-g3-t"/>
          <p:cNvSpPr txBox="1"/>
          <p:nvPr/>
        </p:nvSpPr>
        <p:spPr>
          <a:xfrm>
            <a:off x="739836" y="4535424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还款与风险表现</a:t>
            </a:r>
          </a:p>
        </p:txBody>
      </p:sp>
      <p:sp>
        <p:nvSpPr>
          <p:cNvPr id="77" name="Fa-head"/>
          <p:cNvSpPr/>
          <p:nvPr/>
        </p:nvSpPr>
        <p:spPr>
          <a:xfrm>
            <a:off x="6454836" y="3529584"/>
            <a:ext cx="5010912" cy="237744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Fa-h1"/>
          <p:cNvSpPr txBox="1"/>
          <p:nvPr/>
        </p:nvSpPr>
        <p:spPr>
          <a:xfrm>
            <a:off x="6546275" y="3557016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Fair Go Finance</a:t>
            </a:r>
          </a:p>
        </p:txBody>
      </p:sp>
      <p:sp>
        <p:nvSpPr>
          <p:cNvPr id="79" name="Fa-h2"/>
          <p:cNvSpPr txBox="1"/>
          <p:nvPr/>
        </p:nvSpPr>
        <p:spPr>
          <a:xfrm>
            <a:off x="8055035" y="35753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80" name="Fa-h3"/>
          <p:cNvSpPr txBox="1"/>
          <p:nvPr/>
        </p:nvSpPr>
        <p:spPr>
          <a:xfrm>
            <a:off x="8832276" y="3575304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81" name="Fa-h4"/>
          <p:cNvSpPr txBox="1"/>
          <p:nvPr/>
        </p:nvSpPr>
        <p:spPr>
          <a:xfrm>
            <a:off x="9700956" y="3557016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zh-CN" sz="1100" b="1">
                <a:solidFill>
                  <a:srgbClr val="D6A000"/>
                </a:solidFill>
                <a:latin typeface="微软雅黑"/>
                <a:ea typeface="微软雅黑"/>
              </a:rPr>
              <a:t>APR 42%</a:t>
            </a:r>
          </a:p>
        </p:txBody>
      </p:sp>
      <p:sp>
        <p:nvSpPr>
          <p:cNvPr id="82" name="Fa-life1-lab"/>
          <p:cNvSpPr txBox="1"/>
          <p:nvPr/>
        </p:nvSpPr>
        <p:spPr>
          <a:xfrm>
            <a:off x="6454836" y="389534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</a:t>
            </a:r>
          </a:p>
        </p:txBody>
      </p:sp>
      <p:sp>
        <p:nvSpPr>
          <p:cNvPr id="83" name="Fa-life1"/>
          <p:cNvSpPr txBox="1"/>
          <p:nvPr/>
        </p:nvSpPr>
        <p:spPr>
          <a:xfrm>
            <a:off x="6454836" y="4041648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84" name="Fa-life2-lab"/>
          <p:cNvSpPr txBox="1"/>
          <p:nvPr/>
        </p:nvSpPr>
        <p:spPr>
          <a:xfrm>
            <a:off x="8128188" y="389534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已还</a:t>
            </a:r>
          </a:p>
        </p:txBody>
      </p:sp>
      <p:sp>
        <p:nvSpPr>
          <p:cNvPr id="85" name="Fa-life2"/>
          <p:cNvSpPr txBox="1"/>
          <p:nvPr/>
        </p:nvSpPr>
        <p:spPr>
          <a:xfrm>
            <a:off x="8128188" y="4041648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86" name="Fa-life3-lab"/>
          <p:cNvSpPr txBox="1"/>
          <p:nvPr/>
        </p:nvSpPr>
        <p:spPr>
          <a:xfrm>
            <a:off x="9801540" y="389534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待还</a:t>
            </a:r>
          </a:p>
        </p:txBody>
      </p:sp>
      <p:sp>
        <p:nvSpPr>
          <p:cNvPr id="87" name="Fa-life3"/>
          <p:cNvSpPr txBox="1"/>
          <p:nvPr/>
        </p:nvSpPr>
        <p:spPr>
          <a:xfrm>
            <a:off x="9801540" y="4041648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88" name="Fa-arr1"/>
          <p:cNvSpPr txBox="1"/>
          <p:nvPr/>
        </p:nvSpPr>
        <p:spPr>
          <a:xfrm>
            <a:off x="7917876" y="4005072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89" name="Fa-arr2"/>
          <p:cNvSpPr txBox="1"/>
          <p:nvPr/>
        </p:nvSpPr>
        <p:spPr>
          <a:xfrm>
            <a:off x="9591228" y="4005072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90" name="Fa-prog-lab"/>
          <p:cNvSpPr txBox="1"/>
          <p:nvPr/>
        </p:nvSpPr>
        <p:spPr>
          <a:xfrm>
            <a:off x="6454836" y="4352544"/>
            <a:ext cx="91440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还款进度</a:t>
            </a:r>
          </a:p>
        </p:txBody>
      </p:sp>
      <p:sp>
        <p:nvSpPr>
          <p:cNvPr id="91" name="Fa-prog-pct"/>
          <p:cNvSpPr txBox="1"/>
          <p:nvPr/>
        </p:nvSpPr>
        <p:spPr>
          <a:xfrm>
            <a:off x="10889676" y="4334256"/>
            <a:ext cx="576072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62%</a:t>
            </a:r>
          </a:p>
        </p:txBody>
      </p:sp>
      <p:sp>
        <p:nvSpPr>
          <p:cNvPr id="92" name="Fa-prog-bar"/>
          <p:cNvSpPr/>
          <p:nvPr/>
        </p:nvSpPr>
        <p:spPr>
          <a:xfrm>
            <a:off x="6454836" y="4535424"/>
            <a:ext cx="5010912" cy="128016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Fa-prog-fill"/>
          <p:cNvSpPr/>
          <p:nvPr/>
        </p:nvSpPr>
        <p:spPr>
          <a:xfrm>
            <a:off x="6454836" y="4535424"/>
            <a:ext cx="3126809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Fa-g1-t"/>
          <p:cNvSpPr txBox="1"/>
          <p:nvPr/>
        </p:nvSpPr>
        <p:spPr>
          <a:xfrm>
            <a:off x="6454836" y="4773168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还款计划</a:t>
            </a:r>
          </a:p>
        </p:txBody>
      </p:sp>
      <p:sp>
        <p:nvSpPr>
          <p:cNvPr id="95" name="Fa-g1-1"/>
          <p:cNvSpPr txBox="1"/>
          <p:nvPr/>
        </p:nvSpPr>
        <p:spPr>
          <a:xfrm>
            <a:off x="6454836" y="4919472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月还款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约 A$338</a:t>
            </a:r>
          </a:p>
        </p:txBody>
      </p:sp>
      <p:sp>
        <p:nvSpPr>
          <p:cNvPr id="96" name="Fa-g1-2"/>
          <p:cNvSpPr txBox="1"/>
          <p:nvPr/>
        </p:nvSpPr>
        <p:spPr>
          <a:xfrm>
            <a:off x="6454836" y="5065776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每两周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A$156</a:t>
            </a:r>
          </a:p>
        </p:txBody>
      </p:sp>
      <p:sp>
        <p:nvSpPr>
          <p:cNvPr id="97" name="Fa-g1-3"/>
          <p:cNvSpPr txBox="1"/>
          <p:nvPr/>
        </p:nvSpPr>
        <p:spPr>
          <a:xfrm>
            <a:off x="6454836" y="5212080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90 天还款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98" name="Fa-g2-t"/>
          <p:cNvSpPr txBox="1"/>
          <p:nvPr/>
        </p:nvSpPr>
        <p:spPr>
          <a:xfrm>
            <a:off x="8173908" y="4773168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风险表现</a:t>
            </a:r>
          </a:p>
        </p:txBody>
      </p:sp>
      <p:sp>
        <p:nvSpPr>
          <p:cNvPr id="99" name="Fa-g2-1"/>
          <p:cNvSpPr txBox="1"/>
          <p:nvPr/>
        </p:nvSpPr>
        <p:spPr>
          <a:xfrm>
            <a:off x="8173908" y="4919472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轻微逾期 </a:t>
            </a: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0" name="Fa-g2-2"/>
          <p:cNvSpPr txBox="1"/>
          <p:nvPr/>
        </p:nvSpPr>
        <p:spPr>
          <a:xfrm>
            <a:off x="8173908" y="5065776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扣款失败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1" name="Fa-g2-3"/>
          <p:cNvSpPr txBox="1"/>
          <p:nvPr/>
        </p:nvSpPr>
        <p:spPr>
          <a:xfrm>
            <a:off x="8173908" y="5358384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还款中断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无</a:t>
            </a:r>
          </a:p>
        </p:txBody>
      </p:sp>
      <p:sp>
        <p:nvSpPr>
          <p:cNvPr id="102" name="Fa-g2-4"/>
          <p:cNvSpPr txBox="1"/>
          <p:nvPr/>
        </p:nvSpPr>
        <p:spPr>
          <a:xfrm>
            <a:off x="8173908" y="5504688"/>
            <a:ext cx="1609344" cy="1737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连续正常还款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5 期</a:t>
            </a:r>
          </a:p>
        </p:txBody>
      </p:sp>
      <p:sp>
        <p:nvSpPr>
          <p:cNvPr id="103" name="Fa-g3-t"/>
          <p:cNvSpPr txBox="1"/>
          <p:nvPr/>
        </p:nvSpPr>
        <p:spPr>
          <a:xfrm>
            <a:off x="9892980" y="4773168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产品与成本</a:t>
            </a:r>
          </a:p>
        </p:txBody>
      </p:sp>
      <p:sp>
        <p:nvSpPr>
          <p:cNvPr id="107" name="用户-g3-1"/>
          <p:cNvSpPr txBox="1"/>
          <p:nvPr/>
        </p:nvSpPr>
        <p:spPr>
          <a:xfrm>
            <a:off x="803844" y="4901184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>
              <a:lnSpc>
                <a:spcPct val="100000"/>
              </a:lnSpc>
            </a:pPr>
            <a:r>
              <a:rPr lang="zh-CN" sz="1100" b="0">
                <a:solidFill>
                  <a:srgbClr val="3D3C3A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108" name="用户-g3-2"/>
          <p:cNvSpPr txBox="1"/>
          <p:nvPr/>
        </p:nvSpPr>
        <p:spPr>
          <a:xfrm>
            <a:off x="2074860" y="4901184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轻微逾期</a:t>
            </a:r>
          </a:p>
          <a:p>
            <a:pPr>
              <a:lnSpc>
                <a:spcPct val="100000"/>
              </a:lnSpc>
            </a:pPr>
            <a:r>
              <a:rPr lang="zh-CN" sz="1100" b="1">
                <a:solidFill>
                  <a:srgbClr val="3D3C3A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9" name="用户-g3-3"/>
          <p:cNvSpPr txBox="1"/>
          <p:nvPr/>
        </p:nvSpPr>
        <p:spPr>
          <a:xfrm>
            <a:off x="3345876" y="4901184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>
              <a:lnSpc>
                <a:spcPct val="100000"/>
              </a:lnSpc>
            </a:pPr>
            <a:r>
              <a:rPr lang="zh-CN" sz="1100" b="0">
                <a:solidFill>
                  <a:srgbClr val="3D3C3A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10" name="用户-g3-4"/>
          <p:cNvSpPr txBox="1"/>
          <p:nvPr/>
        </p:nvSpPr>
        <p:spPr>
          <a:xfrm>
            <a:off x="803844" y="5303520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 dirty="0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>
              <a:lnSpc>
                <a:spcPct val="100000"/>
              </a:lnSpc>
            </a:pPr>
            <a:r>
              <a:rPr lang="zh-CN" sz="1100" b="0" dirty="0">
                <a:solidFill>
                  <a:srgbClr val="3D3C3A"/>
                </a:solidFill>
                <a:latin typeface="微软雅黑"/>
                <a:ea typeface="微软雅黑"/>
              </a:rPr>
              <a:t>无</a:t>
            </a:r>
          </a:p>
        </p:txBody>
      </p:sp>
      <p:sp>
        <p:nvSpPr>
          <p:cNvPr id="111" name="用户-g3-5"/>
          <p:cNvSpPr txBox="1"/>
          <p:nvPr/>
        </p:nvSpPr>
        <p:spPr>
          <a:xfrm>
            <a:off x="2074860" y="5303520"/>
            <a:ext cx="137160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 dirty="0">
                <a:solidFill>
                  <a:srgbClr val="1F4E79"/>
                </a:solidFill>
                <a:latin typeface="微软雅黑"/>
                <a:ea typeface="微软雅黑"/>
              </a:rPr>
              <a:t>近 90 天新增借款</a:t>
            </a:r>
          </a:p>
          <a:p>
            <a:pPr>
              <a:lnSpc>
                <a:spcPct val="100000"/>
              </a:lnSpc>
            </a:pPr>
            <a:r>
              <a:rPr lang="zh-CN" sz="1100" b="0" dirty="0">
                <a:solidFill>
                  <a:srgbClr val="3D3C3A"/>
                </a:solidFill>
                <a:latin typeface="微软雅黑"/>
                <a:ea typeface="微软雅黑"/>
              </a:rPr>
              <a:t>1 笔</a:t>
            </a:r>
          </a:p>
        </p:txBody>
      </p:sp>
      <p:sp>
        <p:nvSpPr>
          <p:cNvPr id="112" name="Fa-g1-4"/>
          <p:cNvSpPr txBox="1"/>
          <p:nvPr/>
        </p:nvSpPr>
        <p:spPr>
          <a:xfrm>
            <a:off x="6454836" y="5358384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预计剩余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4 期</a:t>
            </a:r>
          </a:p>
        </p:txBody>
      </p:sp>
      <p:sp>
        <p:nvSpPr>
          <p:cNvPr id="113" name="Fa-g2-5"/>
          <p:cNvSpPr txBox="1"/>
          <p:nvPr/>
        </p:nvSpPr>
        <p:spPr>
          <a:xfrm>
            <a:off x="8173908" y="5212080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最长逾期 </a:t>
            </a: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3 天</a:t>
            </a:r>
          </a:p>
        </p:txBody>
      </p:sp>
      <p:sp>
        <p:nvSpPr>
          <p:cNvPr id="114" name="Fa-g3-4"/>
          <p:cNvSpPr txBox="1"/>
          <p:nvPr/>
        </p:nvSpPr>
        <p:spPr>
          <a:xfrm>
            <a:off x="9892980" y="4919472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预计总还款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A$1,872</a:t>
            </a:r>
          </a:p>
        </p:txBody>
      </p:sp>
      <p:sp>
        <p:nvSpPr>
          <p:cNvPr id="115" name="Fa-g3-5"/>
          <p:cNvSpPr txBox="1"/>
          <p:nvPr/>
        </p:nvSpPr>
        <p:spPr>
          <a:xfrm>
            <a:off x="9892980" y="5065776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1F4E79"/>
                </a:solidFill>
                <a:latin typeface="微软雅黑"/>
                <a:ea typeface="微软雅黑"/>
              </a:rPr>
              <a:t>融资成本 </a:t>
            </a: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A$372</a:t>
            </a:r>
          </a:p>
        </p:txBody>
      </p:sp>
      <p:sp>
        <p:nvSpPr>
          <p:cNvPr id="116" name="用户-g3-6"/>
          <p:cNvSpPr txBox="1"/>
          <p:nvPr/>
        </p:nvSpPr>
        <p:spPr>
          <a:xfrm>
            <a:off x="3345876" y="5303520"/>
            <a:ext cx="1371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dirty="0">
                <a:solidFill>
                  <a:srgbClr val="1F4E79"/>
                </a:solidFill>
              </a:rPr>
              <a:t>90 </a:t>
            </a:r>
            <a:r>
              <a:rPr sz="800" dirty="0" err="1">
                <a:solidFill>
                  <a:srgbClr val="1F4E79"/>
                </a:solidFill>
              </a:rPr>
              <a:t>天还款</a:t>
            </a:r>
            <a:endParaRPr sz="800" dirty="0">
              <a:solidFill>
                <a:srgbClr val="1F4E79"/>
              </a:solidFill>
            </a:endParaRPr>
          </a:p>
          <a:p>
            <a:r>
              <a:rPr sz="1100" dirty="0">
                <a:solidFill>
                  <a:srgbClr val="3D3C3A"/>
                </a:solidFill>
              </a:rPr>
              <a:t>9 次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075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1.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知识库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Agent：建设与维护</a:t>
            </a:r>
            <a:endParaRPr sz="14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质检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405439"/>
              </p:ext>
            </p:extLst>
          </p:nvPr>
        </p:nvGraphicFramePr>
        <p:xfrm>
          <a:off x="6311255" y="4100335"/>
          <a:ext cx="5540236" cy="868680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BPAY ... 被 Transfer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归为转账、被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Liability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识别为还款，需按业务语义裁决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5109134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11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604934"/>
              </p:ext>
            </p:extLst>
          </p:nvPr>
        </p:nvGraphicFramePr>
        <p:xfrm>
          <a:off x="6338689" y="5380781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827196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1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8271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45352" y="510913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60" y="6151550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45352" y="6151550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6151550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3001876543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4002233445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07154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0715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43730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18304" y="6453632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718304" y="645363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46320" y="6490208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498349" y="2470405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604772" y="2470405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954785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711449" y="1930909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 dirty="0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644653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177541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1933957" y="3531109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841247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971799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540</TotalTime>
  <Words>1349</Words>
  <Application>Microsoft Office PowerPoint</Application>
  <PresentationFormat>宽屏</PresentationFormat>
  <Paragraphs>340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122</cp:revision>
  <dcterms:modified xsi:type="dcterms:W3CDTF">2026-08-10T12:51:32Z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