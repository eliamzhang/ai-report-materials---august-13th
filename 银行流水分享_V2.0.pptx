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0" r:id="rId4"/>
    <p:sldId id="279" r:id="rId5"/>
  </p:sldIdLst>
  <p:sldSz cx="12192000" cy="6858000"/>
  <p:notesSz cx="12192000" cy="6858000"/>
  <p:embeddedFontLst>
    <p:embeddedFont>
      <p:font typeface="微软雅黑" panose="020B0503020204020204" pitchFamily="34" charset="-122"/>
      <p:regular r:id="rId6"/>
      <p:bold r:id="rId7"/>
    </p:embeddedFont>
    <p:embeddedFont>
      <p:font typeface="微软雅黑 Light" panose="020B0502040204020203" pitchFamily="34" charset="-122"/>
      <p:regular r:id="rId8"/>
    </p:embeddedFont>
    <p:embeddedFont>
      <p:font typeface="等线" panose="02010600030101010101" pitchFamily="2" charset="-122"/>
      <p:regular r:id="rId9"/>
      <p:bold r:id="rId10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94" d="100"/>
          <a:sy n="94" d="100"/>
        </p:scale>
        <p:origin x="7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font" Target="fonts/font5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2026/8/11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11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11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 dirty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619506" y="1122401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687257" y="3124973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545460"/>
              </p:ext>
            </p:extLst>
          </p:nvPr>
        </p:nvGraphicFramePr>
        <p:xfrm>
          <a:off x="617523" y="1630400"/>
          <a:ext cx="10883342" cy="1335402"/>
        </p:xfrm>
        <a:graphic>
          <a:graphicData uri="http://schemas.openxmlformats.org/drawingml/2006/table">
            <a:tbl>
              <a:tblPr/>
              <a:tblGrid>
                <a:gridCol w="7955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167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36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5429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5200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5618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46362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222567"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  <a:endParaRPr sz="800" b="1" dirty="0">
                        <a:solidFill>
                          <a:srgbClr val="D6A000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567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1" name="concl-bar"/>
          <p:cNvSpPr/>
          <p:nvPr/>
        </p:nvSpPr>
        <p:spPr>
          <a:xfrm>
            <a:off x="685800" y="6096875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685800" y="6096875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868680" y="6208889"/>
            <a:ext cx="1069848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lang="zh-CN" sz="1100" b="1" dirty="0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444312" y="112288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512064" y="31224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6199820" y="3460431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6382700" y="3561015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116" name="用户-m1-t"/>
          <p:cNvSpPr txBox="1"/>
          <p:nvPr/>
        </p:nvSpPr>
        <p:spPr>
          <a:xfrm>
            <a:off x="6400989" y="394983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负债情况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17" name="用户-m1-1"/>
          <p:cNvSpPr txBox="1"/>
          <p:nvPr/>
        </p:nvSpPr>
        <p:spPr>
          <a:xfrm>
            <a:off x="6400989" y="415100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预计待还</a:t>
            </a:r>
            <a:r>
              <a:rPr sz="800" b="0">
                <a:solidFill>
                  <a:srgbClr val="606060"/>
                </a:solidFill>
              </a:rPr>
              <a:t>A$1,016</a:t>
            </a:r>
          </a:p>
        </p:txBody>
      </p:sp>
      <p:sp>
        <p:nvSpPr>
          <p:cNvPr id="118" name="用户-m1-2"/>
          <p:cNvSpPr txBox="1"/>
          <p:nvPr/>
        </p:nvSpPr>
        <p:spPr>
          <a:xfrm>
            <a:off x="6400989" y="438874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平均月还款</a:t>
            </a:r>
            <a:r>
              <a:rPr sz="800" b="0">
                <a:solidFill>
                  <a:srgbClr val="606060"/>
                </a:solidFill>
              </a:rPr>
              <a:t>A$428</a:t>
            </a:r>
          </a:p>
        </p:txBody>
      </p:sp>
      <p:sp>
        <p:nvSpPr>
          <p:cNvPr id="119" name="用户-m1-3"/>
          <p:cNvSpPr txBox="1"/>
          <p:nvPr/>
        </p:nvSpPr>
        <p:spPr>
          <a:xfrm>
            <a:off x="6400989" y="462649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贷款机构</a:t>
            </a:r>
            <a:r>
              <a:rPr sz="800" b="0">
                <a:solidFill>
                  <a:srgbClr val="606060"/>
                </a:solidFill>
              </a:rPr>
              <a:t>2 家</a:t>
            </a:r>
          </a:p>
        </p:txBody>
      </p:sp>
      <p:sp>
        <p:nvSpPr>
          <p:cNvPr id="121" name="用户-m2-t"/>
          <p:cNvSpPr txBox="1"/>
          <p:nvPr/>
        </p:nvSpPr>
        <p:spPr>
          <a:xfrm>
            <a:off x="8165780" y="3949836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22" name="用户-m2-1"/>
          <p:cNvSpPr txBox="1"/>
          <p:nvPr/>
        </p:nvSpPr>
        <p:spPr>
          <a:xfrm>
            <a:off x="8165780" y="415100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90 天还款</a:t>
            </a:r>
            <a:r>
              <a:rPr sz="800" b="0" dirty="0">
                <a:solidFill>
                  <a:srgbClr val="606060"/>
                </a:solidFill>
              </a:rPr>
              <a:t>9 次</a:t>
            </a:r>
          </a:p>
        </p:txBody>
      </p:sp>
      <p:sp>
        <p:nvSpPr>
          <p:cNvPr id="123" name="用户-m2-2"/>
          <p:cNvSpPr txBox="1"/>
          <p:nvPr/>
        </p:nvSpPr>
        <p:spPr>
          <a:xfrm>
            <a:off x="8165780" y="438874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24" name="用户-m2-3"/>
          <p:cNvSpPr txBox="1"/>
          <p:nvPr/>
        </p:nvSpPr>
        <p:spPr>
          <a:xfrm>
            <a:off x="8165780" y="4626491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近 90 天新增借款</a:t>
            </a:r>
            <a:r>
              <a:rPr sz="800" b="0" dirty="0">
                <a:solidFill>
                  <a:srgbClr val="606060"/>
                </a:solidFill>
              </a:rPr>
              <a:t>1 笔</a:t>
            </a:r>
          </a:p>
        </p:txBody>
      </p:sp>
      <p:sp>
        <p:nvSpPr>
          <p:cNvPr id="126" name="用户-m3-t"/>
          <p:cNvSpPr txBox="1"/>
          <p:nvPr/>
        </p:nvSpPr>
        <p:spPr>
          <a:xfrm>
            <a:off x="9994392" y="3941978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风险信号</a:t>
            </a:r>
          </a:p>
        </p:txBody>
      </p:sp>
      <p:sp>
        <p:nvSpPr>
          <p:cNvPr id="127" name="用户-m3-1"/>
          <p:cNvSpPr txBox="1"/>
          <p:nvPr/>
        </p:nvSpPr>
        <p:spPr>
          <a:xfrm>
            <a:off x="9994392" y="4143145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轻微逾期</a:t>
            </a:r>
            <a:r>
              <a:rPr sz="800" b="1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28" name="用户-m3-2"/>
          <p:cNvSpPr txBox="1"/>
          <p:nvPr/>
        </p:nvSpPr>
        <p:spPr>
          <a:xfrm>
            <a:off x="9994392" y="4380889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扣款失败率</a:t>
            </a:r>
            <a:r>
              <a:rPr sz="800" b="1">
                <a:solidFill>
                  <a:srgbClr val="D6A000"/>
                </a:solidFill>
              </a:rPr>
              <a:t>11%</a:t>
            </a:r>
          </a:p>
        </p:txBody>
      </p:sp>
      <p:sp>
        <p:nvSpPr>
          <p:cNvPr id="129" name="用户-m3-3"/>
          <p:cNvSpPr txBox="1"/>
          <p:nvPr/>
        </p:nvSpPr>
        <p:spPr>
          <a:xfrm>
            <a:off x="9994392" y="4618633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90 天借款</a:t>
            </a:r>
            <a:r>
              <a:rPr sz="800" b="0" dirty="0">
                <a:solidFill>
                  <a:srgbClr val="606060"/>
                </a:solidFill>
              </a:rPr>
              <a:t>A$2,300</a:t>
            </a:r>
          </a:p>
        </p:txBody>
      </p:sp>
      <p:sp>
        <p:nvSpPr>
          <p:cNvPr id="25" name="Fa-bar"/>
          <p:cNvSpPr/>
          <p:nvPr/>
        </p:nvSpPr>
        <p:spPr>
          <a:xfrm>
            <a:off x="687257" y="3460431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870137" y="3561015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825242" y="49661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/>
              <a:t>借款金额</a:t>
            </a:r>
            <a:endParaRPr sz="900" b="1" dirty="0"/>
          </a:p>
        </p:txBody>
      </p:sp>
      <p:sp>
        <p:nvSpPr>
          <p:cNvPr id="83" name="Fa-life1"/>
          <p:cNvSpPr txBox="1"/>
          <p:nvPr/>
        </p:nvSpPr>
        <p:spPr>
          <a:xfrm>
            <a:off x="1375291" y="4943038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83885" y="516631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 dirty="0" err="1"/>
              <a:t>已还本金</a:t>
            </a:r>
            <a:endParaRPr sz="900" b="1" dirty="0"/>
          </a:p>
        </p:txBody>
      </p:sp>
      <p:sp>
        <p:nvSpPr>
          <p:cNvPr id="85" name="Fa-life2"/>
          <p:cNvSpPr txBox="1"/>
          <p:nvPr/>
        </p:nvSpPr>
        <p:spPr>
          <a:xfrm>
            <a:off x="1421322" y="5159023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871273" y="539450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900" b="1"/>
              <a:t>剩余本金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1421322" y="5390007"/>
            <a:ext cx="1463040" cy="292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r>
              <a:rPr sz="1200" b="1" dirty="0">
                <a:solidFill>
                  <a:srgbClr val="1F4E79"/>
                </a:solidFill>
              </a:rPr>
              <a:t>A$564</a:t>
            </a:r>
          </a:p>
        </p:txBody>
      </p:sp>
      <p:sp>
        <p:nvSpPr>
          <p:cNvPr id="130" name="Fa-sub"/>
          <p:cNvSpPr txBox="1"/>
          <p:nvPr/>
        </p:nvSpPr>
        <p:spPr>
          <a:xfrm>
            <a:off x="4528566" y="3170795"/>
            <a:ext cx="5029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>
                <a:solidFill>
                  <a:srgbClr val="1F4E79"/>
                </a:solidFill>
              </a:rPr>
              <a:t>SACC</a:t>
            </a:r>
            <a:r>
              <a:rPr sz="1100" b="0" dirty="0">
                <a:solidFill>
                  <a:srgbClr val="606060"/>
                </a:solidFill>
              </a:rPr>
              <a:t>   ｜  </a:t>
            </a:r>
            <a:r>
              <a:rPr sz="1100" b="0" dirty="0" err="1">
                <a:solidFill>
                  <a:srgbClr val="606060"/>
                </a:solidFill>
              </a:rPr>
              <a:t>在贷</a:t>
            </a:r>
            <a:endParaRPr sz="1100" b="0" dirty="0">
              <a:solidFill>
                <a:srgbClr val="606060"/>
              </a:solidFill>
            </a:endParaRPr>
          </a:p>
        </p:txBody>
      </p:sp>
      <p:sp>
        <p:nvSpPr>
          <p:cNvPr id="131" name="Fa-c-还款计划-t"/>
          <p:cNvSpPr txBox="1"/>
          <p:nvPr/>
        </p:nvSpPr>
        <p:spPr>
          <a:xfrm>
            <a:off x="810733" y="391425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还款计划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32" name="Fa-c-还款计划-1"/>
          <p:cNvSpPr txBox="1"/>
          <p:nvPr/>
        </p:nvSpPr>
        <p:spPr>
          <a:xfrm>
            <a:off x="810733" y="411542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0A0A0A"/>
                </a:solidFill>
              </a:rPr>
              <a:t>月还款</a:t>
            </a:r>
            <a:r>
              <a:rPr sz="800" b="0" dirty="0" err="1">
                <a:solidFill>
                  <a:srgbClr val="606060"/>
                </a:solidFill>
              </a:rPr>
              <a:t>约</a:t>
            </a:r>
            <a:r>
              <a:rPr sz="800" b="0" dirty="0">
                <a:solidFill>
                  <a:srgbClr val="606060"/>
                </a:solidFill>
              </a:rPr>
              <a:t> A$338</a:t>
            </a:r>
          </a:p>
        </p:txBody>
      </p:sp>
      <p:sp>
        <p:nvSpPr>
          <p:cNvPr id="133" name="Fa-c-还款计划-2"/>
          <p:cNvSpPr txBox="1"/>
          <p:nvPr/>
        </p:nvSpPr>
        <p:spPr>
          <a:xfrm>
            <a:off x="810733" y="433487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每两周</a:t>
            </a:r>
            <a:r>
              <a:rPr sz="800" b="0">
                <a:solidFill>
                  <a:srgbClr val="606060"/>
                </a:solidFill>
              </a:rPr>
              <a:t>A$156</a:t>
            </a:r>
          </a:p>
        </p:txBody>
      </p:sp>
      <p:sp>
        <p:nvSpPr>
          <p:cNvPr id="134" name="Fa-c-还款计划-3"/>
          <p:cNvSpPr txBox="1"/>
          <p:nvPr/>
        </p:nvSpPr>
        <p:spPr>
          <a:xfrm>
            <a:off x="810733" y="4554332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90 天还款</a:t>
            </a:r>
            <a:r>
              <a:rPr sz="800" b="0">
                <a:solidFill>
                  <a:srgbClr val="606060"/>
                </a:solidFill>
              </a:rPr>
              <a:t>6 次</a:t>
            </a:r>
          </a:p>
        </p:txBody>
      </p:sp>
      <p:sp>
        <p:nvSpPr>
          <p:cNvPr id="135" name="Fa-c-还款计划-4"/>
          <p:cNvSpPr txBox="1"/>
          <p:nvPr/>
        </p:nvSpPr>
        <p:spPr>
          <a:xfrm>
            <a:off x="810733" y="4773788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预计剩余</a:t>
            </a:r>
            <a:r>
              <a:rPr sz="800" b="0" dirty="0">
                <a:solidFill>
                  <a:srgbClr val="606060"/>
                </a:solidFill>
              </a:rPr>
              <a:t>4 期</a:t>
            </a:r>
          </a:p>
        </p:txBody>
      </p:sp>
      <p:sp>
        <p:nvSpPr>
          <p:cNvPr id="136" name="Fa-c-履约表现-t"/>
          <p:cNvSpPr txBox="1"/>
          <p:nvPr/>
        </p:nvSpPr>
        <p:spPr>
          <a:xfrm>
            <a:off x="2383501" y="3993338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</a:rPr>
              <a:t>履约表现</a:t>
            </a:r>
          </a:p>
        </p:txBody>
      </p:sp>
      <p:sp>
        <p:nvSpPr>
          <p:cNvPr id="138" name="Fa-c-履约表现-2"/>
          <p:cNvSpPr txBox="1"/>
          <p:nvPr/>
        </p:nvSpPr>
        <p:spPr>
          <a:xfrm>
            <a:off x="2383501" y="4233961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扣款失败</a:t>
            </a:r>
            <a:r>
              <a:rPr sz="800" b="1" dirty="0">
                <a:solidFill>
                  <a:srgbClr val="D6A000"/>
                </a:solidFill>
              </a:rPr>
              <a:t>1 次</a:t>
            </a:r>
          </a:p>
        </p:txBody>
      </p:sp>
      <p:sp>
        <p:nvSpPr>
          <p:cNvPr id="139" name="Fa-c-履约表现-3"/>
          <p:cNvSpPr txBox="1"/>
          <p:nvPr/>
        </p:nvSpPr>
        <p:spPr>
          <a:xfrm>
            <a:off x="2383501" y="4453417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最长逾期</a:t>
            </a:r>
            <a:r>
              <a:rPr sz="800" b="1">
                <a:solidFill>
                  <a:srgbClr val="D6A000"/>
                </a:solidFill>
              </a:rPr>
              <a:t>3 天</a:t>
            </a:r>
          </a:p>
        </p:txBody>
      </p:sp>
      <p:sp>
        <p:nvSpPr>
          <p:cNvPr id="140" name="Fa-c-履约表现-4"/>
          <p:cNvSpPr txBox="1"/>
          <p:nvPr/>
        </p:nvSpPr>
        <p:spPr>
          <a:xfrm>
            <a:off x="2383501" y="4672873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还款中断</a:t>
            </a:r>
            <a:r>
              <a:rPr sz="800" b="0">
                <a:solidFill>
                  <a:srgbClr val="606060"/>
                </a:solidFill>
              </a:rPr>
              <a:t>无</a:t>
            </a:r>
          </a:p>
        </p:txBody>
      </p:sp>
      <p:sp>
        <p:nvSpPr>
          <p:cNvPr id="141" name="Fa-c-产品成本-t"/>
          <p:cNvSpPr txBox="1"/>
          <p:nvPr/>
        </p:nvSpPr>
        <p:spPr>
          <a:xfrm>
            <a:off x="4102517" y="393677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产品</a:t>
            </a:r>
            <a:r>
              <a:rPr lang="zh-CN" altLang="en-US" sz="1000" b="1" dirty="0">
                <a:solidFill>
                  <a:srgbClr val="1F4E79"/>
                </a:solidFill>
              </a:rPr>
              <a:t>要素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42" name="Fa-c-产品成本-1"/>
          <p:cNvSpPr txBox="1"/>
          <p:nvPr/>
        </p:nvSpPr>
        <p:spPr>
          <a:xfrm>
            <a:off x="4102517" y="4137940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APR</a:t>
            </a:r>
            <a:r>
              <a:rPr sz="800" b="1">
                <a:solidFill>
                  <a:srgbClr val="D6A000"/>
                </a:solidFill>
              </a:rPr>
              <a:t>42%</a:t>
            </a:r>
          </a:p>
        </p:txBody>
      </p:sp>
      <p:sp>
        <p:nvSpPr>
          <p:cNvPr id="143" name="Fa-c-产品成本-2"/>
          <p:cNvSpPr txBox="1"/>
          <p:nvPr/>
        </p:nvSpPr>
        <p:spPr>
          <a:xfrm>
            <a:off x="4102517" y="4357396"/>
            <a:ext cx="160934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0A0A0A"/>
                </a:solidFill>
              </a:rPr>
              <a:t>预计总还款</a:t>
            </a:r>
            <a:r>
              <a:rPr sz="800" b="0" dirty="0">
                <a:solidFill>
                  <a:srgbClr val="606060"/>
                </a:solidFill>
              </a:rPr>
              <a:t>A$1,872</a:t>
            </a:r>
          </a:p>
        </p:txBody>
      </p:sp>
      <p:sp>
        <p:nvSpPr>
          <p:cNvPr id="144" name="Fa-c-产品成本-3"/>
          <p:cNvSpPr txBox="1"/>
          <p:nvPr/>
        </p:nvSpPr>
        <p:spPr>
          <a:xfrm>
            <a:off x="4102517" y="4576852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000" b="1" dirty="0">
                <a:solidFill>
                  <a:srgbClr val="0A0A0A"/>
                </a:solidFill>
              </a:rPr>
              <a:t>利息</a:t>
            </a:r>
            <a:r>
              <a:rPr sz="1000" b="1" dirty="0">
                <a:solidFill>
                  <a:srgbClr val="0A0A0A"/>
                </a:solidFill>
              </a:rPr>
              <a:t>成本</a:t>
            </a:r>
            <a:r>
              <a:rPr sz="800" b="0" dirty="0">
                <a:solidFill>
                  <a:srgbClr val="606060"/>
                </a:solidFill>
              </a:rPr>
              <a:t>A$372</a:t>
            </a:r>
          </a:p>
        </p:txBody>
      </p:sp>
      <p:sp>
        <p:nvSpPr>
          <p:cNvPr id="64" name="Fa-c-产品成本-3">
            <a:extLst>
              <a:ext uri="{FF2B5EF4-FFF2-40B4-BE49-F238E27FC236}">
                <a16:creationId xmlns:a16="http://schemas.microsoft.com/office/drawing/2014/main" id="{E1EE7A53-B95F-4A01-A89A-78606CEC2339}"/>
              </a:ext>
            </a:extLst>
          </p:cNvPr>
          <p:cNvSpPr txBox="1"/>
          <p:nvPr/>
        </p:nvSpPr>
        <p:spPr>
          <a:xfrm>
            <a:off x="4102517" y="4814151"/>
            <a:ext cx="160934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000" b="1" dirty="0">
                <a:solidFill>
                  <a:srgbClr val="0A0A0A"/>
                </a:solidFill>
              </a:rPr>
              <a:t>产品类型 </a:t>
            </a:r>
            <a:r>
              <a:rPr sz="800" b="0" dirty="0">
                <a:solidFill>
                  <a:srgbClr val="606060"/>
                </a:solidFill>
              </a:rPr>
              <a:t>SACC</a:t>
            </a:r>
          </a:p>
        </p:txBody>
      </p:sp>
      <p:sp>
        <p:nvSpPr>
          <p:cNvPr id="145" name="用户-m1-4"/>
          <p:cNvSpPr txBox="1"/>
          <p:nvPr/>
        </p:nvSpPr>
        <p:spPr>
          <a:xfrm>
            <a:off x="6400989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在贷笔数</a:t>
            </a:r>
            <a:r>
              <a:rPr sz="800" b="0">
                <a:solidFill>
                  <a:srgbClr val="606060"/>
                </a:solidFill>
              </a:rPr>
              <a:t>3 笔</a:t>
            </a:r>
          </a:p>
        </p:txBody>
      </p:sp>
      <p:sp>
        <p:nvSpPr>
          <p:cNvPr id="146" name="用户-m2-4"/>
          <p:cNvSpPr txBox="1"/>
          <p:nvPr/>
        </p:nvSpPr>
        <p:spPr>
          <a:xfrm>
            <a:off x="8165780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最近借款</a:t>
            </a:r>
            <a:r>
              <a:rPr sz="800" b="0">
                <a:solidFill>
                  <a:srgbClr val="606060"/>
                </a:solidFill>
              </a:rPr>
              <a:t>45 天前</a:t>
            </a:r>
          </a:p>
        </p:txBody>
      </p:sp>
      <p:sp>
        <p:nvSpPr>
          <p:cNvPr id="147" name="用户-m3-4"/>
          <p:cNvSpPr txBox="1"/>
          <p:nvPr/>
        </p:nvSpPr>
        <p:spPr>
          <a:xfrm>
            <a:off x="9994392" y="4856377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历史违约</a:t>
            </a:r>
            <a:r>
              <a:rPr sz="800" b="0">
                <a:solidFill>
                  <a:srgbClr val="606060"/>
                </a:solidFill>
              </a:rPr>
              <a:t>0 次</a:t>
            </a:r>
          </a:p>
        </p:txBody>
      </p:sp>
      <p:sp>
        <p:nvSpPr>
          <p:cNvPr id="148" name="用户-b-t"/>
          <p:cNvSpPr txBox="1"/>
          <p:nvPr/>
        </p:nvSpPr>
        <p:spPr>
          <a:xfrm>
            <a:off x="6400989" y="5148985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 err="1">
                <a:solidFill>
                  <a:srgbClr val="1F4E79"/>
                </a:solidFill>
              </a:rPr>
              <a:t>偿债能力</a:t>
            </a:r>
            <a:endParaRPr sz="1000" b="1" dirty="0">
              <a:solidFill>
                <a:srgbClr val="1F4E79"/>
              </a:solidFill>
            </a:endParaRPr>
          </a:p>
        </p:txBody>
      </p:sp>
      <p:sp>
        <p:nvSpPr>
          <p:cNvPr id="149" name="用户-b1-1"/>
          <p:cNvSpPr txBox="1"/>
          <p:nvPr/>
        </p:nvSpPr>
        <p:spPr>
          <a:xfrm>
            <a:off x="6400989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月还款/月收入</a:t>
            </a:r>
            <a:r>
              <a:rPr sz="800" b="1">
                <a:solidFill>
                  <a:srgbClr val="D6A000"/>
                </a:solidFill>
              </a:rPr>
              <a:t>5.8%</a:t>
            </a:r>
          </a:p>
        </p:txBody>
      </p:sp>
      <p:sp>
        <p:nvSpPr>
          <p:cNvPr id="150" name="用户-b1-2"/>
          <p:cNvSpPr txBox="1"/>
          <p:nvPr/>
        </p:nvSpPr>
        <p:spPr>
          <a:xfrm>
            <a:off x="8165780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总负债/月收入</a:t>
            </a:r>
            <a:r>
              <a:rPr sz="800" b="1">
                <a:solidFill>
                  <a:srgbClr val="D6A000"/>
                </a:solidFill>
              </a:rPr>
              <a:t>13.7%</a:t>
            </a:r>
          </a:p>
        </p:txBody>
      </p:sp>
      <p:sp>
        <p:nvSpPr>
          <p:cNvPr id="151" name="用户-b1-3"/>
          <p:cNvSpPr txBox="1"/>
          <p:nvPr/>
        </p:nvSpPr>
        <p:spPr>
          <a:xfrm>
            <a:off x="9994392" y="5342294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近 90 天负债变化率</a:t>
            </a:r>
            <a:r>
              <a:rPr sz="800" b="1">
                <a:solidFill>
                  <a:srgbClr val="D6A000"/>
                </a:solidFill>
              </a:rPr>
              <a:t>+12%</a:t>
            </a:r>
          </a:p>
        </p:txBody>
      </p:sp>
      <p:sp>
        <p:nvSpPr>
          <p:cNvPr id="152" name="用户-b2-1"/>
          <p:cNvSpPr txBox="1"/>
          <p:nvPr/>
        </p:nvSpPr>
        <p:spPr>
          <a:xfrm>
            <a:off x="6400989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正常还款率</a:t>
            </a:r>
            <a:r>
              <a:rPr sz="800" b="0">
                <a:solidFill>
                  <a:srgbClr val="606060"/>
                </a:solidFill>
              </a:rPr>
              <a:t>89%</a:t>
            </a:r>
          </a:p>
        </p:txBody>
      </p:sp>
      <p:sp>
        <p:nvSpPr>
          <p:cNvPr id="153" name="用户-b2-2"/>
          <p:cNvSpPr txBox="1"/>
          <p:nvPr/>
        </p:nvSpPr>
        <p:spPr>
          <a:xfrm>
            <a:off x="8165780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历史贷款笔数</a:t>
            </a:r>
            <a:r>
              <a:rPr sz="800" b="0">
                <a:solidFill>
                  <a:srgbClr val="606060"/>
                </a:solidFill>
              </a:rPr>
              <a:t>5 笔</a:t>
            </a:r>
          </a:p>
        </p:txBody>
      </p:sp>
      <p:sp>
        <p:nvSpPr>
          <p:cNvPr id="154" name="用户-b2-3"/>
          <p:cNvSpPr txBox="1"/>
          <p:nvPr/>
        </p:nvSpPr>
        <p:spPr>
          <a:xfrm>
            <a:off x="9994392" y="558003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A0A0A"/>
                </a:solidFill>
              </a:rPr>
              <a:t>负债结构</a:t>
            </a:r>
            <a:r>
              <a:rPr sz="800" b="0">
                <a:solidFill>
                  <a:srgbClr val="606060"/>
                </a:solidFill>
              </a:rPr>
              <a:t>SACC 65% / Non-SACC 15%</a:t>
            </a:r>
            <a:br>
              <a:rPr sz="800" b="0">
                <a:solidFill>
                  <a:srgbClr val="606060"/>
                </a:solidFill>
              </a:rPr>
            </a:br>
            <a:r>
              <a:rPr sz="800" b="0">
                <a:solidFill>
                  <a:srgbClr val="606060"/>
                </a:solidFill>
              </a:rPr>
              <a:t>BNPL 20%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075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1.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知识库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Agent：建设与维护</a:t>
            </a:r>
            <a:endParaRPr sz="14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AI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质检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9405439"/>
              </p:ext>
            </p:extLst>
          </p:nvPr>
        </p:nvGraphicFramePr>
        <p:xfrm>
          <a:off x="6311255" y="4100335"/>
          <a:ext cx="5540236" cy="868680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  <a:endParaRPr sz="800" b="1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BPAY ... 被 Transfer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归为转账、被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Liability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识别为还款，需按业务语义裁决</a:t>
                      </a:r>
                      <a:endParaRPr sz="8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5109134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11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604934"/>
              </p:ext>
            </p:extLst>
          </p:nvPr>
        </p:nvGraphicFramePr>
        <p:xfrm>
          <a:off x="6338689" y="5380781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827196"/>
            <a:ext cx="50292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100" b="1" dirty="0">
                <a:solidFill>
                  <a:srgbClr val="0A0A0A"/>
                </a:solidFill>
                <a:latin typeface="微软雅黑"/>
                <a:ea typeface="微软雅黑"/>
              </a:rPr>
              <a:t>四类定位原因示例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271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45352" y="510913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09360" y="6151550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45352" y="6151550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6151550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94120" y="202446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 dirty="0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  <a:r>
              <a:rPr lang="zh-CN" altLang="en-US" sz="1100" b="1" dirty="0">
                <a:solidFill>
                  <a:srgbClr val="1F4E79"/>
                </a:solidFill>
                <a:latin typeface="微软雅黑"/>
                <a:ea typeface="微软雅黑"/>
              </a:rPr>
              <a:t>：</a:t>
            </a:r>
            <a:r>
              <a:rPr lang="zh-CN" sz="850" b="0" dirty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Loans（Home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 Loan）&lt;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br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&gt;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按产品关键词判定为贷款</a:t>
                      </a:r>
                      <a:endParaRPr sz="800" b="0" dirty="0">
                        <a:latin typeface="微软雅黑"/>
                        <a:ea typeface="微软雅黑"/>
                      </a:endParaRP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8229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010910"/>
          <a:ext cx="7004304" cy="1207008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 dirty="0">
                          <a:latin typeface="微软雅黑"/>
                          <a:ea typeface="微软雅黑"/>
                        </a:rPr>
                        <a:t>2026/03/18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A$260.00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9004455667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6405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9102233445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Non-SACC（LOC </a:t>
                      </a:r>
                      <a:r>
                        <a:rPr sz="800" b="0" dirty="0" err="1">
                          <a:latin typeface="微软雅黑"/>
                          <a:ea typeface="微软雅黑"/>
                        </a:rPr>
                        <a:t>循环授信</a:t>
                      </a:r>
                      <a:r>
                        <a:rPr sz="800" b="0" dirty="0">
                          <a:latin typeface="微软雅黑"/>
                          <a:ea typeface="微软雅黑"/>
                        </a:rPr>
                        <a:t>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256046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altLang="en-US" sz="1050" b="1" dirty="0">
                <a:solidFill>
                  <a:srgbClr val="0A0A0A"/>
                </a:solidFill>
                <a:latin typeface="微软雅黑"/>
                <a:ea typeface="微软雅黑"/>
              </a:rPr>
              <a:t>准确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性：同一贷款流内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illion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</a:t>
            </a:r>
            <a:r>
              <a:rPr kumimoji="0" sz="1050" b="1" i="0" u="none" strike="noStrike" kern="1200" cap="none" spc="0" normalizeH="0" baseline="0" noProof="0" dirty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标签自相矛盾（MoneySpot</a:t>
            </a:r>
            <a:r>
              <a:rPr kumimoji="0" sz="105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00481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00481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04139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498847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480559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4773167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18304" y="6215888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718304" y="621588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46320" y="6252464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498349" y="2470405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604772" y="2447545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954785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 dirty="0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711449" y="1930909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 dirty="0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644653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177541" y="3604261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1933957" y="3531109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 dirty="0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841247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971799" y="5200904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 dirty="0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 dirty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 dirty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641</TotalTime>
  <Words>1257</Words>
  <Application>Microsoft Office PowerPoint</Application>
  <PresentationFormat>宽屏</PresentationFormat>
  <Paragraphs>314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Arial</vt:lpstr>
      <vt:lpstr>微软雅黑 Light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139</cp:revision>
  <dcterms:modified xsi:type="dcterms:W3CDTF">2026-08-11T04:19:45Z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