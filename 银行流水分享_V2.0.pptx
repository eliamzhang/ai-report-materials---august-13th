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78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2026/8/11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银行流水识别，不只是交易分类，更是信审的底层决策能力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从收入、必要支出到存量负债，直接决定 Serviceability 与客户新增授信空间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从一笔交易出发，直接还原客户真实偿债能力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用户/贷款汇总，将分散交易转化为可直接用于信审的财务画像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619506" y="1122401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620963" y="2843682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6743732"/>
              </p:ext>
            </p:extLst>
          </p:nvPr>
        </p:nvGraphicFramePr>
        <p:xfrm>
          <a:off x="617523" y="1533881"/>
          <a:ext cx="10901631" cy="1113993"/>
        </p:xfrm>
        <a:graphic>
          <a:graphicData uri="http://schemas.openxmlformats.org/drawingml/2006/table">
            <a:tbl>
              <a:tblPr/>
              <a:tblGrid>
                <a:gridCol w="720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30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3194826296"/>
                    </a:ext>
                  </a:extLst>
                </a:gridCol>
                <a:gridCol w="869950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7416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11711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124418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  <a:endParaRPr sz="800" b="1" dirty="0">
                        <a:solidFill>
                          <a:srgbClr val="D6A000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/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收入付款方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619506" y="3152038"/>
            <a:ext cx="53766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619506" y="3152038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802386" y="3252622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4" name="Fa-bg"/>
          <p:cNvSpPr/>
          <p:nvPr/>
        </p:nvSpPr>
        <p:spPr>
          <a:xfrm>
            <a:off x="6270498" y="3152038"/>
            <a:ext cx="53766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a-bar"/>
          <p:cNvSpPr/>
          <p:nvPr/>
        </p:nvSpPr>
        <p:spPr>
          <a:xfrm>
            <a:off x="6270498" y="3152038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6453378" y="3252622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31" name="concl-bar"/>
          <p:cNvSpPr/>
          <p:nvPr/>
        </p:nvSpPr>
        <p:spPr>
          <a:xfrm>
            <a:off x="619506" y="5815584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619506" y="5815584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802386" y="5927598"/>
            <a:ext cx="10698480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lang="zh-CN" sz="1100" b="1" dirty="0">
                <a:solidFill>
                  <a:srgbClr val="0A0A0A"/>
                </a:solidFill>
                <a:latin typeface="微软雅黑"/>
                <a:ea typeface="微软雅黑"/>
              </a:rPr>
              <a:t>负债金额 + 借贷行为 + 还款表现 + 产品定价，共同还原客户真实偿债压力与信用行为。</a:t>
            </a:r>
          </a:p>
        </p:txBody>
      </p:sp>
      <p:sp>
        <p:nvSpPr>
          <p:cNvPr id="49" name="s2-bar"/>
          <p:cNvSpPr/>
          <p:nvPr/>
        </p:nvSpPr>
        <p:spPr>
          <a:xfrm>
            <a:off x="444312" y="112288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s2-bar"/>
          <p:cNvSpPr/>
          <p:nvPr/>
        </p:nvSpPr>
        <p:spPr>
          <a:xfrm>
            <a:off x="445770" y="2841142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用户-tag1"/>
          <p:cNvSpPr/>
          <p:nvPr/>
        </p:nvSpPr>
        <p:spPr>
          <a:xfrm>
            <a:off x="803844" y="3593592"/>
            <a:ext cx="1197864" cy="182880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用户-tag1-t"/>
          <p:cNvSpPr txBox="1"/>
          <p:nvPr/>
        </p:nvSpPr>
        <p:spPr>
          <a:xfrm>
            <a:off x="803844" y="3611880"/>
            <a:ext cx="119786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1">
                <a:solidFill>
                  <a:srgbClr val="1F4E79"/>
                </a:solidFill>
              </a:rPr>
              <a:t>多头借贷</a:t>
            </a:r>
          </a:p>
        </p:txBody>
      </p:sp>
      <p:sp>
        <p:nvSpPr>
          <p:cNvPr id="53" name="用户-tag2"/>
          <p:cNvSpPr/>
          <p:nvPr/>
        </p:nvSpPr>
        <p:spPr>
          <a:xfrm>
            <a:off x="2074860" y="3593592"/>
            <a:ext cx="1197864" cy="182880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用户-tag2-t"/>
          <p:cNvSpPr txBox="1"/>
          <p:nvPr/>
        </p:nvSpPr>
        <p:spPr>
          <a:xfrm>
            <a:off x="2074860" y="3611880"/>
            <a:ext cx="119786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1">
                <a:solidFill>
                  <a:srgbClr val="1F4E79"/>
                </a:solidFill>
              </a:rPr>
              <a:t>近期新增贷款</a:t>
            </a:r>
          </a:p>
        </p:txBody>
      </p:sp>
      <p:sp>
        <p:nvSpPr>
          <p:cNvPr id="55" name="用户-tag3"/>
          <p:cNvSpPr/>
          <p:nvPr/>
        </p:nvSpPr>
        <p:spPr>
          <a:xfrm>
            <a:off x="3345876" y="3593592"/>
            <a:ext cx="1197864" cy="182880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用户-tag3-t"/>
          <p:cNvSpPr txBox="1"/>
          <p:nvPr/>
        </p:nvSpPr>
        <p:spPr>
          <a:xfrm>
            <a:off x="3345876" y="3611880"/>
            <a:ext cx="119786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1">
                <a:solidFill>
                  <a:srgbClr val="1F4E79"/>
                </a:solidFill>
              </a:rPr>
              <a:t>高成本借贷</a:t>
            </a:r>
          </a:p>
        </p:txBody>
      </p:sp>
      <p:sp>
        <p:nvSpPr>
          <p:cNvPr id="57" name="用户-tag4"/>
          <p:cNvSpPr/>
          <p:nvPr/>
        </p:nvSpPr>
        <p:spPr>
          <a:xfrm>
            <a:off x="4616892" y="3593592"/>
            <a:ext cx="1197864" cy="182880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用户-tag4-t"/>
          <p:cNvSpPr txBox="1"/>
          <p:nvPr/>
        </p:nvSpPr>
        <p:spPr>
          <a:xfrm>
            <a:off x="4616892" y="3611880"/>
            <a:ext cx="119786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1">
                <a:solidFill>
                  <a:srgbClr val="1F4E79"/>
                </a:solidFill>
              </a:rPr>
              <a:t>存在轻微逾期</a:t>
            </a:r>
          </a:p>
        </p:txBody>
      </p:sp>
      <p:sp>
        <p:nvSpPr>
          <p:cNvPr id="82" name="Fa-life1-lab"/>
          <p:cNvSpPr txBox="1"/>
          <p:nvPr/>
        </p:nvSpPr>
        <p:spPr>
          <a:xfrm>
            <a:off x="6454836" y="426110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606060"/>
                </a:solidFill>
              </a:rPr>
              <a:t>借款金额</a:t>
            </a:r>
          </a:p>
        </p:txBody>
      </p:sp>
      <p:sp>
        <p:nvSpPr>
          <p:cNvPr id="83" name="Fa-life1"/>
          <p:cNvSpPr txBox="1"/>
          <p:nvPr/>
        </p:nvSpPr>
        <p:spPr>
          <a:xfrm>
            <a:off x="6454836" y="3913632"/>
            <a:ext cx="1463040" cy="292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800" b="1">
                <a:solidFill>
                  <a:srgbClr val="1F4E79"/>
                </a:solidFill>
              </a:rPr>
              <a:t>A$1,500</a:t>
            </a:r>
          </a:p>
        </p:txBody>
      </p:sp>
      <p:sp>
        <p:nvSpPr>
          <p:cNvPr id="84" name="Fa-life2-lab"/>
          <p:cNvSpPr txBox="1"/>
          <p:nvPr/>
        </p:nvSpPr>
        <p:spPr>
          <a:xfrm>
            <a:off x="8128188" y="426110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606060"/>
                </a:solidFill>
              </a:rPr>
              <a:t>已还本金</a:t>
            </a:r>
          </a:p>
        </p:txBody>
      </p:sp>
      <p:sp>
        <p:nvSpPr>
          <p:cNvPr id="85" name="Fa-life2"/>
          <p:cNvSpPr txBox="1"/>
          <p:nvPr/>
        </p:nvSpPr>
        <p:spPr>
          <a:xfrm>
            <a:off x="8128188" y="3913632"/>
            <a:ext cx="1463040" cy="292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800" b="1">
                <a:solidFill>
                  <a:srgbClr val="1F4E79"/>
                </a:solidFill>
              </a:rPr>
              <a:t>A$936</a:t>
            </a:r>
          </a:p>
        </p:txBody>
      </p:sp>
      <p:sp>
        <p:nvSpPr>
          <p:cNvPr id="86" name="Fa-life3-lab"/>
          <p:cNvSpPr txBox="1"/>
          <p:nvPr/>
        </p:nvSpPr>
        <p:spPr>
          <a:xfrm>
            <a:off x="9801540" y="426110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606060"/>
                </a:solidFill>
              </a:rPr>
              <a:t>剩余本金</a:t>
            </a:r>
          </a:p>
        </p:txBody>
      </p:sp>
      <p:sp>
        <p:nvSpPr>
          <p:cNvPr id="87" name="Fa-life3"/>
          <p:cNvSpPr txBox="1"/>
          <p:nvPr/>
        </p:nvSpPr>
        <p:spPr>
          <a:xfrm>
            <a:off x="9801540" y="3913632"/>
            <a:ext cx="1463040" cy="292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800" b="1">
                <a:solidFill>
                  <a:srgbClr val="1F4E79"/>
                </a:solidFill>
              </a:rPr>
              <a:t>A$564</a:t>
            </a:r>
          </a:p>
        </p:txBody>
      </p:sp>
      <p:sp>
        <p:nvSpPr>
          <p:cNvPr id="88" name="Fa-arr1"/>
          <p:cNvSpPr txBox="1"/>
          <p:nvPr/>
        </p:nvSpPr>
        <p:spPr>
          <a:xfrm>
            <a:off x="7917876" y="4005072"/>
            <a:ext cx="1828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606060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89" name="Fa-arr2"/>
          <p:cNvSpPr txBox="1"/>
          <p:nvPr/>
        </p:nvSpPr>
        <p:spPr>
          <a:xfrm>
            <a:off x="9591228" y="4005072"/>
            <a:ext cx="1828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606060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16" name="用户-m1-t"/>
          <p:cNvSpPr txBox="1"/>
          <p:nvPr/>
        </p:nvSpPr>
        <p:spPr>
          <a:xfrm>
            <a:off x="739749" y="393192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</a:rPr>
              <a:t>负债情况</a:t>
            </a:r>
          </a:p>
        </p:txBody>
      </p:sp>
      <p:sp>
        <p:nvSpPr>
          <p:cNvPr id="117" name="用户-m1-1"/>
          <p:cNvSpPr txBox="1"/>
          <p:nvPr/>
        </p:nvSpPr>
        <p:spPr>
          <a:xfrm>
            <a:off x="739749" y="4133087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预计待还</a:t>
            </a:r>
            <a:r>
              <a:rPr sz="800" b="0">
                <a:solidFill>
                  <a:srgbClr val="606060"/>
                </a:solidFill>
              </a:rPr>
              <a:t>A$1,016</a:t>
            </a:r>
          </a:p>
        </p:txBody>
      </p:sp>
      <p:sp>
        <p:nvSpPr>
          <p:cNvPr id="118" name="用户-m1-2"/>
          <p:cNvSpPr txBox="1"/>
          <p:nvPr/>
        </p:nvSpPr>
        <p:spPr>
          <a:xfrm>
            <a:off x="739749" y="4370831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平均月还款</a:t>
            </a:r>
            <a:r>
              <a:rPr sz="800" b="0">
                <a:solidFill>
                  <a:srgbClr val="606060"/>
                </a:solidFill>
              </a:rPr>
              <a:t>A$428</a:t>
            </a:r>
          </a:p>
        </p:txBody>
      </p:sp>
      <p:sp>
        <p:nvSpPr>
          <p:cNvPr id="119" name="用户-m1-3"/>
          <p:cNvSpPr txBox="1"/>
          <p:nvPr/>
        </p:nvSpPr>
        <p:spPr>
          <a:xfrm>
            <a:off x="739749" y="4608575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贷款机构</a:t>
            </a:r>
            <a:r>
              <a:rPr sz="800" b="0">
                <a:solidFill>
                  <a:srgbClr val="606060"/>
                </a:solidFill>
              </a:rPr>
              <a:t>2 家</a:t>
            </a:r>
          </a:p>
        </p:txBody>
      </p:sp>
      <p:cxnSp>
        <p:nvCxnSpPr>
          <p:cNvPr id="120" name="用户-sep1"/>
          <p:cNvCxnSpPr/>
          <p:nvPr/>
        </p:nvCxnSpPr>
        <p:spPr>
          <a:xfrm>
            <a:off x="2422245" y="4023360"/>
            <a:ext cx="0" cy="1051560"/>
          </a:xfrm>
          <a:prstGeom prst="line">
            <a:avLst/>
          </a:prstGeom>
          <a:ln w="12700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用户-m2-t"/>
          <p:cNvSpPr txBox="1"/>
          <p:nvPr/>
        </p:nvSpPr>
        <p:spPr>
          <a:xfrm>
            <a:off x="2513685" y="393192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</a:rPr>
              <a:t>履约表现</a:t>
            </a:r>
          </a:p>
        </p:txBody>
      </p:sp>
      <p:sp>
        <p:nvSpPr>
          <p:cNvPr id="122" name="用户-m2-1"/>
          <p:cNvSpPr txBox="1"/>
          <p:nvPr/>
        </p:nvSpPr>
        <p:spPr>
          <a:xfrm>
            <a:off x="2513685" y="4133087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90 天还款</a:t>
            </a:r>
            <a:r>
              <a:rPr sz="800" b="0">
                <a:solidFill>
                  <a:srgbClr val="606060"/>
                </a:solidFill>
              </a:rPr>
              <a:t>9 次</a:t>
            </a:r>
          </a:p>
        </p:txBody>
      </p:sp>
      <p:sp>
        <p:nvSpPr>
          <p:cNvPr id="123" name="用户-m2-2"/>
          <p:cNvSpPr txBox="1"/>
          <p:nvPr/>
        </p:nvSpPr>
        <p:spPr>
          <a:xfrm>
            <a:off x="2513685" y="4370831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还款中断</a:t>
            </a:r>
            <a:r>
              <a:rPr sz="800" b="0">
                <a:solidFill>
                  <a:srgbClr val="606060"/>
                </a:solidFill>
              </a:rPr>
              <a:t>无</a:t>
            </a:r>
          </a:p>
        </p:txBody>
      </p:sp>
      <p:sp>
        <p:nvSpPr>
          <p:cNvPr id="124" name="用户-m2-3"/>
          <p:cNvSpPr txBox="1"/>
          <p:nvPr/>
        </p:nvSpPr>
        <p:spPr>
          <a:xfrm>
            <a:off x="2513685" y="4608575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近 90 天新增借款</a:t>
            </a:r>
            <a:r>
              <a:rPr sz="800" b="0">
                <a:solidFill>
                  <a:srgbClr val="606060"/>
                </a:solidFill>
              </a:rPr>
              <a:t>1 笔</a:t>
            </a:r>
          </a:p>
        </p:txBody>
      </p:sp>
      <p:cxnSp>
        <p:nvCxnSpPr>
          <p:cNvPr id="125" name="用户-sep2"/>
          <p:cNvCxnSpPr/>
          <p:nvPr/>
        </p:nvCxnSpPr>
        <p:spPr>
          <a:xfrm>
            <a:off x="4196181" y="4023360"/>
            <a:ext cx="0" cy="1051560"/>
          </a:xfrm>
          <a:prstGeom prst="line">
            <a:avLst/>
          </a:prstGeom>
          <a:ln w="12700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用户-m3-t"/>
          <p:cNvSpPr txBox="1"/>
          <p:nvPr/>
        </p:nvSpPr>
        <p:spPr>
          <a:xfrm>
            <a:off x="4287621" y="393192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</a:rPr>
              <a:t>风险信号</a:t>
            </a:r>
          </a:p>
        </p:txBody>
      </p:sp>
      <p:sp>
        <p:nvSpPr>
          <p:cNvPr id="127" name="用户-m3-1"/>
          <p:cNvSpPr txBox="1"/>
          <p:nvPr/>
        </p:nvSpPr>
        <p:spPr>
          <a:xfrm>
            <a:off x="4287621" y="4133087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轻微逾期</a:t>
            </a:r>
            <a:r>
              <a:rPr sz="800" b="1">
                <a:solidFill>
                  <a:srgbClr val="D6A000"/>
                </a:solidFill>
              </a:rPr>
              <a:t>1 次</a:t>
            </a:r>
          </a:p>
        </p:txBody>
      </p:sp>
      <p:sp>
        <p:nvSpPr>
          <p:cNvPr id="128" name="用户-m3-2"/>
          <p:cNvSpPr txBox="1"/>
          <p:nvPr/>
        </p:nvSpPr>
        <p:spPr>
          <a:xfrm>
            <a:off x="4287621" y="4370831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扣款失败</a:t>
            </a:r>
            <a:r>
              <a:rPr sz="800" b="1">
                <a:solidFill>
                  <a:srgbClr val="D6A000"/>
                </a:solidFill>
              </a:rPr>
              <a:t>1 次</a:t>
            </a:r>
          </a:p>
        </p:txBody>
      </p:sp>
      <p:sp>
        <p:nvSpPr>
          <p:cNvPr id="129" name="用户-m3-3"/>
          <p:cNvSpPr txBox="1"/>
          <p:nvPr/>
        </p:nvSpPr>
        <p:spPr>
          <a:xfrm>
            <a:off x="4287621" y="4608575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90 天借款</a:t>
            </a:r>
            <a:r>
              <a:rPr sz="800" b="0">
                <a:solidFill>
                  <a:srgbClr val="606060"/>
                </a:solidFill>
              </a:rPr>
              <a:t>A$2,300</a:t>
            </a:r>
          </a:p>
        </p:txBody>
      </p:sp>
      <p:sp>
        <p:nvSpPr>
          <p:cNvPr id="130" name="Fa-sub"/>
          <p:cNvSpPr txBox="1"/>
          <p:nvPr/>
        </p:nvSpPr>
        <p:spPr>
          <a:xfrm>
            <a:off x="6454749" y="353872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4E79"/>
                </a:solidFill>
              </a:rPr>
              <a:t>SACC</a:t>
            </a:r>
            <a:r>
              <a:rPr sz="1100" b="0">
                <a:solidFill>
                  <a:srgbClr val="606060"/>
                </a:solidFill>
              </a:rPr>
              <a:t>   ｜  在贷</a:t>
            </a:r>
          </a:p>
        </p:txBody>
      </p:sp>
      <p:sp>
        <p:nvSpPr>
          <p:cNvPr id="131" name="Fa-c-还款计划-t"/>
          <p:cNvSpPr txBox="1"/>
          <p:nvPr/>
        </p:nvSpPr>
        <p:spPr>
          <a:xfrm>
            <a:off x="6454749" y="4590288"/>
            <a:ext cx="160934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</a:rPr>
              <a:t>还款计划</a:t>
            </a:r>
          </a:p>
        </p:txBody>
      </p:sp>
      <p:sp>
        <p:nvSpPr>
          <p:cNvPr id="132" name="Fa-c-还款计划-1"/>
          <p:cNvSpPr txBox="1"/>
          <p:nvPr/>
        </p:nvSpPr>
        <p:spPr>
          <a:xfrm>
            <a:off x="6454749" y="4791456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月还款</a:t>
            </a:r>
            <a:r>
              <a:rPr sz="800" b="0">
                <a:solidFill>
                  <a:srgbClr val="606060"/>
                </a:solidFill>
              </a:rPr>
              <a:t>约 A$338</a:t>
            </a:r>
          </a:p>
        </p:txBody>
      </p:sp>
      <p:sp>
        <p:nvSpPr>
          <p:cNvPr id="133" name="Fa-c-还款计划-2"/>
          <p:cNvSpPr txBox="1"/>
          <p:nvPr/>
        </p:nvSpPr>
        <p:spPr>
          <a:xfrm>
            <a:off x="6454749" y="5010912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每两周</a:t>
            </a:r>
            <a:r>
              <a:rPr sz="800" b="0">
                <a:solidFill>
                  <a:srgbClr val="606060"/>
                </a:solidFill>
              </a:rPr>
              <a:t>A$156</a:t>
            </a:r>
          </a:p>
        </p:txBody>
      </p:sp>
      <p:sp>
        <p:nvSpPr>
          <p:cNvPr id="134" name="Fa-c-还款计划-3"/>
          <p:cNvSpPr txBox="1"/>
          <p:nvPr/>
        </p:nvSpPr>
        <p:spPr>
          <a:xfrm>
            <a:off x="6454749" y="5230368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90 天还款</a:t>
            </a:r>
            <a:r>
              <a:rPr sz="800" b="0">
                <a:solidFill>
                  <a:srgbClr val="606060"/>
                </a:solidFill>
              </a:rPr>
              <a:t>6 次</a:t>
            </a:r>
          </a:p>
        </p:txBody>
      </p:sp>
      <p:sp>
        <p:nvSpPr>
          <p:cNvPr id="135" name="Fa-c-还款计划-4"/>
          <p:cNvSpPr txBox="1"/>
          <p:nvPr/>
        </p:nvSpPr>
        <p:spPr>
          <a:xfrm>
            <a:off x="6454749" y="5449824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预计剩余</a:t>
            </a:r>
            <a:r>
              <a:rPr sz="800" b="0">
                <a:solidFill>
                  <a:srgbClr val="606060"/>
                </a:solidFill>
              </a:rPr>
              <a:t>4 期</a:t>
            </a:r>
          </a:p>
        </p:txBody>
      </p:sp>
      <p:sp>
        <p:nvSpPr>
          <p:cNvPr id="136" name="Fa-c-履约表现-t"/>
          <p:cNvSpPr txBox="1"/>
          <p:nvPr/>
        </p:nvSpPr>
        <p:spPr>
          <a:xfrm>
            <a:off x="8173821" y="4590288"/>
            <a:ext cx="160934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</a:rPr>
              <a:t>履约表现</a:t>
            </a:r>
          </a:p>
        </p:txBody>
      </p:sp>
      <p:sp>
        <p:nvSpPr>
          <p:cNvPr id="137" name="Fa-c-履约表现-1"/>
          <p:cNvSpPr txBox="1"/>
          <p:nvPr/>
        </p:nvSpPr>
        <p:spPr>
          <a:xfrm>
            <a:off x="8173821" y="4791456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轻微逾期</a:t>
            </a:r>
            <a:r>
              <a:rPr sz="800" b="1">
                <a:solidFill>
                  <a:srgbClr val="D6A000"/>
                </a:solidFill>
              </a:rPr>
              <a:t>1 次</a:t>
            </a:r>
          </a:p>
        </p:txBody>
      </p:sp>
      <p:sp>
        <p:nvSpPr>
          <p:cNvPr id="138" name="Fa-c-履约表现-2"/>
          <p:cNvSpPr txBox="1"/>
          <p:nvPr/>
        </p:nvSpPr>
        <p:spPr>
          <a:xfrm>
            <a:off x="8173821" y="5010912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扣款失败</a:t>
            </a:r>
            <a:r>
              <a:rPr sz="800" b="1">
                <a:solidFill>
                  <a:srgbClr val="D6A000"/>
                </a:solidFill>
              </a:rPr>
              <a:t>1 次</a:t>
            </a:r>
          </a:p>
        </p:txBody>
      </p:sp>
      <p:sp>
        <p:nvSpPr>
          <p:cNvPr id="139" name="Fa-c-履约表现-3"/>
          <p:cNvSpPr txBox="1"/>
          <p:nvPr/>
        </p:nvSpPr>
        <p:spPr>
          <a:xfrm>
            <a:off x="8173821" y="5230368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最长逾期</a:t>
            </a:r>
            <a:r>
              <a:rPr sz="800" b="1">
                <a:solidFill>
                  <a:srgbClr val="D6A000"/>
                </a:solidFill>
              </a:rPr>
              <a:t>3 天</a:t>
            </a:r>
          </a:p>
        </p:txBody>
      </p:sp>
      <p:sp>
        <p:nvSpPr>
          <p:cNvPr id="140" name="Fa-c-履约表现-4"/>
          <p:cNvSpPr txBox="1"/>
          <p:nvPr/>
        </p:nvSpPr>
        <p:spPr>
          <a:xfrm>
            <a:off x="8173821" y="5449824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还款中断</a:t>
            </a:r>
            <a:r>
              <a:rPr sz="800" b="0">
                <a:solidFill>
                  <a:srgbClr val="606060"/>
                </a:solidFill>
              </a:rPr>
              <a:t>无</a:t>
            </a:r>
          </a:p>
        </p:txBody>
      </p:sp>
      <p:sp>
        <p:nvSpPr>
          <p:cNvPr id="141" name="Fa-c-产品成本-t"/>
          <p:cNvSpPr txBox="1"/>
          <p:nvPr/>
        </p:nvSpPr>
        <p:spPr>
          <a:xfrm>
            <a:off x="9892893" y="4590288"/>
            <a:ext cx="160934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</a:rPr>
              <a:t>产品成本</a:t>
            </a:r>
          </a:p>
        </p:txBody>
      </p:sp>
      <p:sp>
        <p:nvSpPr>
          <p:cNvPr id="142" name="Fa-c-产品成本-1"/>
          <p:cNvSpPr txBox="1"/>
          <p:nvPr/>
        </p:nvSpPr>
        <p:spPr>
          <a:xfrm>
            <a:off x="9892893" y="4791456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APR</a:t>
            </a:r>
            <a:r>
              <a:rPr sz="800" b="1">
                <a:solidFill>
                  <a:srgbClr val="D6A000"/>
                </a:solidFill>
              </a:rPr>
              <a:t>42%</a:t>
            </a:r>
          </a:p>
        </p:txBody>
      </p:sp>
      <p:sp>
        <p:nvSpPr>
          <p:cNvPr id="143" name="Fa-c-产品成本-2"/>
          <p:cNvSpPr txBox="1"/>
          <p:nvPr/>
        </p:nvSpPr>
        <p:spPr>
          <a:xfrm>
            <a:off x="9892893" y="5010912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预计总还款</a:t>
            </a:r>
            <a:r>
              <a:rPr sz="800" b="0">
                <a:solidFill>
                  <a:srgbClr val="606060"/>
                </a:solidFill>
              </a:rPr>
              <a:t>A$1,872</a:t>
            </a:r>
          </a:p>
        </p:txBody>
      </p:sp>
      <p:sp>
        <p:nvSpPr>
          <p:cNvPr id="144" name="Fa-c-产品成本-3"/>
          <p:cNvSpPr txBox="1"/>
          <p:nvPr/>
        </p:nvSpPr>
        <p:spPr>
          <a:xfrm>
            <a:off x="9892893" y="5230368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融资成本</a:t>
            </a:r>
            <a:r>
              <a:rPr sz="800" b="0">
                <a:solidFill>
                  <a:srgbClr val="606060"/>
                </a:solidFill>
              </a:rPr>
              <a:t>A$372</a:t>
            </a: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真正的壁垒，不只是模型，而是一套持续进化的分类体系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多引擎分工 + AI 知识库 + 质量 Agent，持续发现问题、修正分类并沉淀能力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07580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1. AI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知识库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Agent：建设与维护</a:t>
            </a:r>
            <a:endParaRPr sz="14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AI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质检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9405439"/>
              </p:ext>
            </p:extLst>
          </p:nvPr>
        </p:nvGraphicFramePr>
        <p:xfrm>
          <a:off x="6311255" y="4100335"/>
          <a:ext cx="5540236" cy="868680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  <a:endParaRPr sz="800" b="1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BPAY ... 被 Transfer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归为转账、被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Liability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识别为还款，需按业务语义裁决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309360" y="5109134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11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604934"/>
              </p:ext>
            </p:extLst>
          </p:nvPr>
        </p:nvGraphicFramePr>
        <p:xfrm>
          <a:off x="6338689" y="5380781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827196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1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82719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45352" y="5109134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309360" y="6151550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45352" y="6151550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0" y="6151550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OOT实测：自主 Liability 能力已具备替代 illion 的基础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BPAY HOME LOAN A/C 4312-8901 REF 884231907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82296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 REF 1002345678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2009456712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5009876543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010910"/>
          <a:ext cx="7004304" cy="1207008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08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6001122334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A$260.00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9004455667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7009988776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6405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8005566778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9102233445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4256046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004818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00481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041394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498847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498847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480559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4773167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18304" y="6215888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718304" y="621588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46320" y="6252464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498349" y="2470405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604772" y="2470405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954785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711449" y="1930909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 dirty="0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 dirty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644653" y="3604261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6.9%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177541" y="3604261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D6A000"/>
                </a:solidFill>
                <a:latin typeface="微软雅黑"/>
                <a:ea typeface="微软雅黑"/>
              </a:rPr>
              <a:t>1.4%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1933957" y="3531109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91.8%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5,284</a:t>
            </a:r>
          </a:p>
        </p:txBody>
      </p:sp>
      <p:sp>
        <p:nvSpPr>
          <p:cNvPr id="72" name="subtitle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让客户负债画像更接近真实状态，核心负债识别能力自主可控，为后续规则与模型优化保留更大空间</a:t>
            </a:r>
          </a:p>
        </p:txBody>
      </p:sp>
      <p:sp>
        <p:nvSpPr>
          <p:cNvPr id="73" name="m1"/>
          <p:cNvSpPr txBox="1"/>
          <p:nvPr/>
        </p:nvSpPr>
        <p:spPr>
          <a:xfrm>
            <a:off x="841247" y="5200904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>
                <a:solidFill>
                  <a:srgbClr val="1F4E79"/>
                </a:solidFill>
                <a:latin typeface="微软雅黑"/>
                <a:ea typeface="微软雅黑"/>
              </a:rPr>
              <a:t>98.5%</a:t>
            </a:r>
          </a:p>
          <a:p>
            <a:pPr algn="l">
              <a:lnSpc>
                <a:spcPct val="100000"/>
              </a:lnSpc>
            </a:pPr>
            <a:r>
              <a:rPr lang="zh-CN" sz="900" b="0">
                <a:solidFill>
                  <a:srgbClr val="0A0A0A"/>
                </a:solidFill>
                <a:latin typeface="微软雅黑"/>
                <a:ea typeface="微软雅黑"/>
              </a:rPr>
              <a:t>Finv 对 illion 已识别结果覆盖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5,284 / 5,363</a:t>
            </a:r>
          </a:p>
        </p:txBody>
      </p:sp>
      <p:sp>
        <p:nvSpPr>
          <p:cNvPr id="74" name="m2"/>
          <p:cNvSpPr txBox="1"/>
          <p:nvPr/>
        </p:nvSpPr>
        <p:spPr>
          <a:xfrm>
            <a:off x="2971799" y="5200904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>
                <a:solidFill>
                  <a:srgbClr val="1F4E79"/>
                </a:solidFill>
                <a:latin typeface="微软雅黑"/>
                <a:ea typeface="微软雅黑"/>
              </a:rPr>
              <a:t>+317</a:t>
            </a:r>
          </a:p>
          <a:p>
            <a:pPr algn="l">
              <a:lnSpc>
                <a:spcPct val="100000"/>
              </a:lnSpc>
            </a:pPr>
            <a:r>
              <a:rPr lang="zh-CN" sz="900" b="0">
                <a:solidFill>
                  <a:srgbClr val="0A0A0A"/>
                </a:solidFill>
                <a:latin typeface="微软雅黑"/>
                <a:ea typeface="微软雅黑"/>
              </a:rPr>
              <a:t>Finv 净增识别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396 − 79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541</TotalTime>
  <Words>1261</Words>
  <Application>Microsoft Office PowerPoint</Application>
  <PresentationFormat>宽屏</PresentationFormat>
  <Paragraphs>325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Arial</vt:lpstr>
      <vt:lpstr>微软雅黑 Light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122</cp:revision>
  <dcterms:modified xsi:type="dcterms:W3CDTF">2026-08-11T02:20:42Z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