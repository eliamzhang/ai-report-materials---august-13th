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12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2026/8/11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a-bg"/>
          <p:cNvSpPr/>
          <p:nvPr/>
        </p:nvSpPr>
        <p:spPr>
          <a:xfrm>
            <a:off x="620963" y="324256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20963" y="284368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648027"/>
              </p:ext>
            </p:extLst>
          </p:nvPr>
        </p:nvGraphicFramePr>
        <p:xfrm>
          <a:off x="617523" y="1630401"/>
          <a:ext cx="10901631" cy="1113993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7416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concl-bar"/>
          <p:cNvSpPr/>
          <p:nvPr/>
        </p:nvSpPr>
        <p:spPr>
          <a:xfrm>
            <a:off x="619506" y="5815584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19506" y="5815584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02386" y="5927598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5770" y="284114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0665F73-0893-40CB-94FD-2F9096BDBD02}"/>
              </a:ext>
            </a:extLst>
          </p:cNvPr>
          <p:cNvGrpSpPr/>
          <p:nvPr/>
        </p:nvGrpSpPr>
        <p:grpSpPr>
          <a:xfrm>
            <a:off x="6133526" y="3179140"/>
            <a:ext cx="5405475" cy="2542032"/>
            <a:chOff x="619506" y="3152038"/>
            <a:chExt cx="5405475" cy="2542032"/>
          </a:xfrm>
        </p:grpSpPr>
        <p:sp>
          <p:nvSpPr>
            <p:cNvPr id="17" name="用户-bg"/>
            <p:cNvSpPr/>
            <p:nvPr/>
          </p:nvSpPr>
          <p:spPr>
            <a:xfrm>
              <a:off x="619506" y="3152038"/>
              <a:ext cx="5376672" cy="2542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0B0B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用户-bar"/>
            <p:cNvSpPr/>
            <p:nvPr/>
          </p:nvSpPr>
          <p:spPr>
            <a:xfrm>
              <a:off x="619506" y="3152038"/>
              <a:ext cx="5376672" cy="54864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用户-title"/>
            <p:cNvSpPr txBox="1"/>
            <p:nvPr/>
          </p:nvSpPr>
          <p:spPr>
            <a:xfrm>
              <a:off x="802386" y="3252622"/>
              <a:ext cx="5010912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lang="zh-CN" sz="1050" b="1">
                  <a:solidFill>
                    <a:srgbClr val="0A0A0A"/>
                  </a:solidFill>
                  <a:latin typeface="微软雅黑"/>
                  <a:ea typeface="微软雅黑"/>
                </a:rPr>
                <a:t>用户整体负债画像</a:t>
              </a:r>
            </a:p>
          </p:txBody>
        </p:sp>
        <p:sp>
          <p:nvSpPr>
            <p:cNvPr id="51" name="用户-tag1"/>
            <p:cNvSpPr/>
            <p:nvPr/>
          </p:nvSpPr>
          <p:spPr>
            <a:xfrm>
              <a:off x="803844" y="3593592"/>
              <a:ext cx="1197864" cy="182880"/>
            </a:xfrm>
            <a:prstGeom prst="roundRect">
              <a:avLst>
                <a:gd name="adj" fmla="val 10000"/>
              </a:avLst>
            </a:prstGeom>
            <a:solidFill>
              <a:srgbClr val="FAF3E0"/>
            </a:solidFill>
            <a:ln w="12700">
              <a:solidFill>
                <a:srgbClr val="D6A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用户-tag1-t"/>
            <p:cNvSpPr txBox="1"/>
            <p:nvPr/>
          </p:nvSpPr>
          <p:spPr>
            <a:xfrm>
              <a:off x="803844" y="3611880"/>
              <a:ext cx="1197864" cy="146304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r>
                <a:rPr sz="800" b="1">
                  <a:solidFill>
                    <a:srgbClr val="1F4E79"/>
                  </a:solidFill>
                </a:rPr>
                <a:t>多头借贷</a:t>
              </a:r>
            </a:p>
          </p:txBody>
        </p:sp>
        <p:sp>
          <p:nvSpPr>
            <p:cNvPr id="53" name="用户-tag2"/>
            <p:cNvSpPr/>
            <p:nvPr/>
          </p:nvSpPr>
          <p:spPr>
            <a:xfrm>
              <a:off x="2074860" y="3593592"/>
              <a:ext cx="1197864" cy="182880"/>
            </a:xfrm>
            <a:prstGeom prst="roundRect">
              <a:avLst>
                <a:gd name="adj" fmla="val 10000"/>
              </a:avLst>
            </a:prstGeom>
            <a:solidFill>
              <a:srgbClr val="FAF3E0"/>
            </a:solidFill>
            <a:ln w="12700">
              <a:solidFill>
                <a:srgbClr val="D6A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用户-tag2-t"/>
            <p:cNvSpPr txBox="1"/>
            <p:nvPr/>
          </p:nvSpPr>
          <p:spPr>
            <a:xfrm>
              <a:off x="2074860" y="3611880"/>
              <a:ext cx="1197864" cy="146304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r>
                <a:rPr sz="800" b="1">
                  <a:solidFill>
                    <a:srgbClr val="1F4E79"/>
                  </a:solidFill>
                </a:rPr>
                <a:t>近期新增贷款</a:t>
              </a:r>
            </a:p>
          </p:txBody>
        </p:sp>
        <p:sp>
          <p:nvSpPr>
            <p:cNvPr id="55" name="用户-tag3"/>
            <p:cNvSpPr/>
            <p:nvPr/>
          </p:nvSpPr>
          <p:spPr>
            <a:xfrm>
              <a:off x="3345876" y="3593592"/>
              <a:ext cx="1197864" cy="182880"/>
            </a:xfrm>
            <a:prstGeom prst="roundRect">
              <a:avLst>
                <a:gd name="adj" fmla="val 10000"/>
              </a:avLst>
            </a:prstGeom>
            <a:solidFill>
              <a:srgbClr val="FAF3E0"/>
            </a:solidFill>
            <a:ln w="12700">
              <a:solidFill>
                <a:srgbClr val="D6A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用户-tag3-t"/>
            <p:cNvSpPr txBox="1"/>
            <p:nvPr/>
          </p:nvSpPr>
          <p:spPr>
            <a:xfrm>
              <a:off x="3345876" y="3611880"/>
              <a:ext cx="1197864" cy="146304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r>
                <a:rPr sz="800" b="1">
                  <a:solidFill>
                    <a:srgbClr val="1F4E79"/>
                  </a:solidFill>
                </a:rPr>
                <a:t>高成本借贷</a:t>
              </a:r>
            </a:p>
          </p:txBody>
        </p:sp>
        <p:sp>
          <p:nvSpPr>
            <p:cNvPr id="57" name="用户-tag4"/>
            <p:cNvSpPr/>
            <p:nvPr/>
          </p:nvSpPr>
          <p:spPr>
            <a:xfrm>
              <a:off x="4616892" y="3593592"/>
              <a:ext cx="1197864" cy="182880"/>
            </a:xfrm>
            <a:prstGeom prst="roundRect">
              <a:avLst>
                <a:gd name="adj" fmla="val 10000"/>
              </a:avLst>
            </a:prstGeom>
            <a:solidFill>
              <a:srgbClr val="FAF3E0"/>
            </a:solidFill>
            <a:ln w="12700">
              <a:solidFill>
                <a:srgbClr val="D6A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用户-tag4-t"/>
            <p:cNvSpPr txBox="1"/>
            <p:nvPr/>
          </p:nvSpPr>
          <p:spPr>
            <a:xfrm>
              <a:off x="4616892" y="3611880"/>
              <a:ext cx="1197864" cy="146304"/>
            </a:xfrm>
            <a:prstGeom prst="rect">
              <a:avLst/>
            </a:prstGeom>
            <a:noFill/>
          </p:spPr>
          <p:txBody>
            <a:bodyPr wrap="square" lIns="0" tIns="0" rIns="0" bIns="0">
              <a:noAutofit/>
            </a:bodyPr>
            <a:lstStyle/>
            <a:p>
              <a:r>
                <a:rPr sz="800" b="1">
                  <a:solidFill>
                    <a:srgbClr val="1F4E79"/>
                  </a:solidFill>
                </a:rPr>
                <a:t>存在轻微逾期</a:t>
              </a:r>
            </a:p>
          </p:txBody>
        </p:sp>
        <p:sp>
          <p:nvSpPr>
            <p:cNvPr id="116" name="用户-m1-t"/>
            <p:cNvSpPr txBox="1"/>
            <p:nvPr/>
          </p:nvSpPr>
          <p:spPr>
            <a:xfrm>
              <a:off x="739749" y="3931920"/>
              <a:ext cx="1645920" cy="18288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1F4E79"/>
                  </a:solidFill>
                </a:rPr>
                <a:t>负债情况</a:t>
              </a:r>
            </a:p>
          </p:txBody>
        </p:sp>
        <p:sp>
          <p:nvSpPr>
            <p:cNvPr id="117" name="用户-m1-1"/>
            <p:cNvSpPr txBox="1"/>
            <p:nvPr/>
          </p:nvSpPr>
          <p:spPr>
            <a:xfrm>
              <a:off x="739749" y="4133087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预计待还</a:t>
              </a:r>
              <a:r>
                <a:rPr sz="800" b="0">
                  <a:solidFill>
                    <a:srgbClr val="606060"/>
                  </a:solidFill>
                </a:rPr>
                <a:t>A$1,016</a:t>
              </a:r>
            </a:p>
          </p:txBody>
        </p:sp>
        <p:sp>
          <p:nvSpPr>
            <p:cNvPr id="118" name="用户-m1-2"/>
            <p:cNvSpPr txBox="1"/>
            <p:nvPr/>
          </p:nvSpPr>
          <p:spPr>
            <a:xfrm>
              <a:off x="739749" y="4370831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平均月还款</a:t>
              </a:r>
              <a:r>
                <a:rPr sz="800" b="0">
                  <a:solidFill>
                    <a:srgbClr val="606060"/>
                  </a:solidFill>
                </a:rPr>
                <a:t>A$428</a:t>
              </a:r>
            </a:p>
          </p:txBody>
        </p:sp>
        <p:sp>
          <p:nvSpPr>
            <p:cNvPr id="119" name="用户-m1-3"/>
            <p:cNvSpPr txBox="1"/>
            <p:nvPr/>
          </p:nvSpPr>
          <p:spPr>
            <a:xfrm>
              <a:off x="739749" y="4608575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贷款机构</a:t>
              </a:r>
              <a:r>
                <a:rPr sz="800" b="0">
                  <a:solidFill>
                    <a:srgbClr val="606060"/>
                  </a:solidFill>
                </a:rPr>
                <a:t>2 家</a:t>
              </a:r>
            </a:p>
          </p:txBody>
        </p:sp>
        <p:cxnSp>
          <p:nvCxnSpPr>
            <p:cNvPr id="120" name="用户-sep1"/>
            <p:cNvCxnSpPr/>
            <p:nvPr/>
          </p:nvCxnSpPr>
          <p:spPr>
            <a:xfrm>
              <a:off x="2422245" y="4023360"/>
              <a:ext cx="0" cy="1051560"/>
            </a:xfrm>
            <a:prstGeom prst="line">
              <a:avLst/>
            </a:prstGeom>
            <a:ln w="12700">
              <a:solidFill>
                <a:srgbClr val="D6D6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用户-m2-t"/>
            <p:cNvSpPr txBox="1"/>
            <p:nvPr/>
          </p:nvSpPr>
          <p:spPr>
            <a:xfrm>
              <a:off x="2513685" y="3931920"/>
              <a:ext cx="1645920" cy="18288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1F4E79"/>
                  </a:solidFill>
                </a:rPr>
                <a:t>履约表现</a:t>
              </a:r>
            </a:p>
          </p:txBody>
        </p:sp>
        <p:sp>
          <p:nvSpPr>
            <p:cNvPr id="122" name="用户-m2-1"/>
            <p:cNvSpPr txBox="1"/>
            <p:nvPr/>
          </p:nvSpPr>
          <p:spPr>
            <a:xfrm>
              <a:off x="2513685" y="4133087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90 天还款</a:t>
              </a:r>
              <a:r>
                <a:rPr sz="800" b="0">
                  <a:solidFill>
                    <a:srgbClr val="606060"/>
                  </a:solidFill>
                </a:rPr>
                <a:t>9 次</a:t>
              </a:r>
            </a:p>
          </p:txBody>
        </p:sp>
        <p:sp>
          <p:nvSpPr>
            <p:cNvPr id="123" name="用户-m2-2"/>
            <p:cNvSpPr txBox="1"/>
            <p:nvPr/>
          </p:nvSpPr>
          <p:spPr>
            <a:xfrm>
              <a:off x="2513685" y="4370831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还款中断</a:t>
              </a:r>
              <a:r>
                <a:rPr sz="800" b="0">
                  <a:solidFill>
                    <a:srgbClr val="606060"/>
                  </a:solidFill>
                </a:rPr>
                <a:t>无</a:t>
              </a:r>
            </a:p>
          </p:txBody>
        </p:sp>
        <p:sp>
          <p:nvSpPr>
            <p:cNvPr id="124" name="用户-m2-3"/>
            <p:cNvSpPr txBox="1"/>
            <p:nvPr/>
          </p:nvSpPr>
          <p:spPr>
            <a:xfrm>
              <a:off x="2513685" y="4608575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近 90 天新增借款</a:t>
              </a:r>
              <a:r>
                <a:rPr sz="800" b="0">
                  <a:solidFill>
                    <a:srgbClr val="606060"/>
                  </a:solidFill>
                </a:rPr>
                <a:t>1 笔</a:t>
              </a:r>
            </a:p>
          </p:txBody>
        </p:sp>
        <p:cxnSp>
          <p:nvCxnSpPr>
            <p:cNvPr id="125" name="用户-sep2"/>
            <p:cNvCxnSpPr/>
            <p:nvPr/>
          </p:nvCxnSpPr>
          <p:spPr>
            <a:xfrm>
              <a:off x="4196181" y="4023360"/>
              <a:ext cx="0" cy="1051560"/>
            </a:xfrm>
            <a:prstGeom prst="line">
              <a:avLst/>
            </a:prstGeom>
            <a:ln w="12700">
              <a:solidFill>
                <a:srgbClr val="D6D6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用户-m3-t"/>
            <p:cNvSpPr txBox="1"/>
            <p:nvPr/>
          </p:nvSpPr>
          <p:spPr>
            <a:xfrm>
              <a:off x="4287621" y="3931920"/>
              <a:ext cx="1645920" cy="18288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1F4E79"/>
                  </a:solidFill>
                </a:rPr>
                <a:t>风险信号</a:t>
              </a:r>
            </a:p>
          </p:txBody>
        </p:sp>
        <p:sp>
          <p:nvSpPr>
            <p:cNvPr id="127" name="用户-m3-1"/>
            <p:cNvSpPr txBox="1"/>
            <p:nvPr/>
          </p:nvSpPr>
          <p:spPr>
            <a:xfrm>
              <a:off x="4287621" y="4133087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轻微逾期</a:t>
              </a:r>
              <a:r>
                <a:rPr sz="800" b="1">
                  <a:solidFill>
                    <a:srgbClr val="D6A000"/>
                  </a:solidFill>
                </a:rPr>
                <a:t>1 次</a:t>
              </a:r>
            </a:p>
          </p:txBody>
        </p:sp>
        <p:sp>
          <p:nvSpPr>
            <p:cNvPr id="128" name="用户-m3-2"/>
            <p:cNvSpPr txBox="1"/>
            <p:nvPr/>
          </p:nvSpPr>
          <p:spPr>
            <a:xfrm>
              <a:off x="4287621" y="4370831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扣款失败</a:t>
              </a:r>
              <a:r>
                <a:rPr sz="800" b="1">
                  <a:solidFill>
                    <a:srgbClr val="D6A000"/>
                  </a:solidFill>
                </a:rPr>
                <a:t>1 次</a:t>
              </a:r>
            </a:p>
          </p:txBody>
        </p:sp>
        <p:sp>
          <p:nvSpPr>
            <p:cNvPr id="129" name="用户-m3-3"/>
            <p:cNvSpPr txBox="1"/>
            <p:nvPr/>
          </p:nvSpPr>
          <p:spPr>
            <a:xfrm>
              <a:off x="4287621" y="4608575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000" b="1">
                  <a:solidFill>
                    <a:srgbClr val="0A0A0A"/>
                  </a:solidFill>
                </a:rPr>
                <a:t>90 天借款</a:t>
              </a:r>
              <a:r>
                <a:rPr sz="800" b="0">
                  <a:solidFill>
                    <a:srgbClr val="606060"/>
                  </a:solidFill>
                </a:rPr>
                <a:t>A$2,300</a:t>
              </a:r>
            </a:p>
          </p:txBody>
        </p:sp>
      </p:grpSp>
      <p:sp>
        <p:nvSpPr>
          <p:cNvPr id="25" name="Fa-bar"/>
          <p:cNvSpPr/>
          <p:nvPr/>
        </p:nvSpPr>
        <p:spPr>
          <a:xfrm>
            <a:off x="620963" y="317914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803843" y="327972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805301" y="428820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0" dirty="0" err="1">
                <a:solidFill>
                  <a:srgbClr val="606060"/>
                </a:solidFill>
              </a:rPr>
              <a:t>借款金额</a:t>
            </a:r>
            <a:endParaRPr sz="900" b="0" dirty="0">
              <a:solidFill>
                <a:srgbClr val="606060"/>
              </a:solidFill>
            </a:endParaRPr>
          </a:p>
        </p:txBody>
      </p:sp>
      <p:sp>
        <p:nvSpPr>
          <p:cNvPr id="83" name="Fa-life1"/>
          <p:cNvSpPr txBox="1"/>
          <p:nvPr/>
        </p:nvSpPr>
        <p:spPr>
          <a:xfrm>
            <a:off x="805301" y="3940734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2478653" y="428820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0" dirty="0" err="1">
                <a:solidFill>
                  <a:srgbClr val="606060"/>
                </a:solidFill>
              </a:rPr>
              <a:t>已还本金</a:t>
            </a:r>
            <a:endParaRPr sz="900" b="0" dirty="0">
              <a:solidFill>
                <a:srgbClr val="606060"/>
              </a:solidFill>
            </a:endParaRPr>
          </a:p>
        </p:txBody>
      </p:sp>
      <p:sp>
        <p:nvSpPr>
          <p:cNvPr id="85" name="Fa-life2"/>
          <p:cNvSpPr txBox="1"/>
          <p:nvPr/>
        </p:nvSpPr>
        <p:spPr>
          <a:xfrm>
            <a:off x="2478653" y="3940734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4152005" y="428820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0">
                <a:solidFill>
                  <a:srgbClr val="606060"/>
                </a:solidFill>
              </a:rPr>
              <a:t>剩余本金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4152005" y="3940734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>
                <a:solidFill>
                  <a:srgbClr val="1F4E79"/>
                </a:solidFill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2268341" y="4032174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 dirty="0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3941693" y="4032174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30" name="Fa-sub"/>
          <p:cNvSpPr txBox="1"/>
          <p:nvPr/>
        </p:nvSpPr>
        <p:spPr>
          <a:xfrm>
            <a:off x="805214" y="3565830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4E79"/>
                </a:solidFill>
              </a:rPr>
              <a:t>SACC</a:t>
            </a:r>
            <a:r>
              <a:rPr sz="1100" b="0">
                <a:solidFill>
                  <a:srgbClr val="606060"/>
                </a:solidFill>
              </a:rPr>
              <a:t>   ｜  在贷</a:t>
            </a:r>
          </a:p>
        </p:txBody>
      </p:sp>
      <p:sp>
        <p:nvSpPr>
          <p:cNvPr id="131" name="Fa-c-还款计划-t"/>
          <p:cNvSpPr txBox="1"/>
          <p:nvPr/>
        </p:nvSpPr>
        <p:spPr>
          <a:xfrm>
            <a:off x="805214" y="4617390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还款计划</a:t>
            </a:r>
          </a:p>
        </p:txBody>
      </p:sp>
      <p:sp>
        <p:nvSpPr>
          <p:cNvPr id="132" name="Fa-c-还款计划-1"/>
          <p:cNvSpPr txBox="1"/>
          <p:nvPr/>
        </p:nvSpPr>
        <p:spPr>
          <a:xfrm>
            <a:off x="805214" y="481855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月还款</a:t>
            </a:r>
            <a:r>
              <a:rPr sz="800" b="0">
                <a:solidFill>
                  <a:srgbClr val="606060"/>
                </a:solidFill>
              </a:rPr>
              <a:t>约 A$338</a:t>
            </a:r>
          </a:p>
        </p:txBody>
      </p:sp>
      <p:sp>
        <p:nvSpPr>
          <p:cNvPr id="133" name="Fa-c-还款计划-2"/>
          <p:cNvSpPr txBox="1"/>
          <p:nvPr/>
        </p:nvSpPr>
        <p:spPr>
          <a:xfrm>
            <a:off x="805214" y="503801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每两周</a:t>
            </a:r>
            <a:r>
              <a:rPr sz="800" b="0">
                <a:solidFill>
                  <a:srgbClr val="606060"/>
                </a:solidFill>
              </a:rPr>
              <a:t>A$156</a:t>
            </a:r>
          </a:p>
        </p:txBody>
      </p:sp>
      <p:sp>
        <p:nvSpPr>
          <p:cNvPr id="134" name="Fa-c-还款计划-3"/>
          <p:cNvSpPr txBox="1"/>
          <p:nvPr/>
        </p:nvSpPr>
        <p:spPr>
          <a:xfrm>
            <a:off x="805214" y="525747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6 次</a:t>
            </a:r>
          </a:p>
        </p:txBody>
      </p:sp>
      <p:sp>
        <p:nvSpPr>
          <p:cNvPr id="135" name="Fa-c-还款计划-4"/>
          <p:cNvSpPr txBox="1"/>
          <p:nvPr/>
        </p:nvSpPr>
        <p:spPr>
          <a:xfrm>
            <a:off x="805214" y="547692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预计剩余</a:t>
            </a:r>
            <a:r>
              <a:rPr sz="800" b="0">
                <a:solidFill>
                  <a:srgbClr val="606060"/>
                </a:solidFill>
              </a:rPr>
              <a:t>4 期</a:t>
            </a:r>
          </a:p>
        </p:txBody>
      </p:sp>
      <p:sp>
        <p:nvSpPr>
          <p:cNvPr id="136" name="Fa-c-履约表现-t"/>
          <p:cNvSpPr txBox="1"/>
          <p:nvPr/>
        </p:nvSpPr>
        <p:spPr>
          <a:xfrm>
            <a:off x="2524286" y="4617390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37" name="Fa-c-履约表现-1"/>
          <p:cNvSpPr txBox="1"/>
          <p:nvPr/>
        </p:nvSpPr>
        <p:spPr>
          <a:xfrm>
            <a:off x="2524286" y="481855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8" name="Fa-c-履约表现-2"/>
          <p:cNvSpPr txBox="1"/>
          <p:nvPr/>
        </p:nvSpPr>
        <p:spPr>
          <a:xfrm>
            <a:off x="2524286" y="503801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扣款失败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9" name="Fa-c-履约表现-3"/>
          <p:cNvSpPr txBox="1"/>
          <p:nvPr/>
        </p:nvSpPr>
        <p:spPr>
          <a:xfrm>
            <a:off x="2524286" y="525747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最长逾期</a:t>
            </a:r>
            <a:r>
              <a:rPr sz="800" b="1">
                <a:solidFill>
                  <a:srgbClr val="D6A000"/>
                </a:solidFill>
              </a:rPr>
              <a:t>3 天</a:t>
            </a:r>
          </a:p>
        </p:txBody>
      </p:sp>
      <p:sp>
        <p:nvSpPr>
          <p:cNvPr id="140" name="Fa-c-履约表现-4"/>
          <p:cNvSpPr txBox="1"/>
          <p:nvPr/>
        </p:nvSpPr>
        <p:spPr>
          <a:xfrm>
            <a:off x="2524286" y="547692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41" name="Fa-c-产品成本-t"/>
          <p:cNvSpPr txBox="1"/>
          <p:nvPr/>
        </p:nvSpPr>
        <p:spPr>
          <a:xfrm>
            <a:off x="4243358" y="4617390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产品成本</a:t>
            </a:r>
          </a:p>
        </p:txBody>
      </p:sp>
      <p:sp>
        <p:nvSpPr>
          <p:cNvPr id="142" name="Fa-c-产品成本-1"/>
          <p:cNvSpPr txBox="1"/>
          <p:nvPr/>
        </p:nvSpPr>
        <p:spPr>
          <a:xfrm>
            <a:off x="4243358" y="481855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APR</a:t>
            </a:r>
            <a:r>
              <a:rPr sz="800" b="1">
                <a:solidFill>
                  <a:srgbClr val="D6A000"/>
                </a:solidFill>
              </a:rPr>
              <a:t>42%</a:t>
            </a:r>
          </a:p>
        </p:txBody>
      </p:sp>
      <p:sp>
        <p:nvSpPr>
          <p:cNvPr id="143" name="Fa-c-产品成本-2"/>
          <p:cNvSpPr txBox="1"/>
          <p:nvPr/>
        </p:nvSpPr>
        <p:spPr>
          <a:xfrm>
            <a:off x="4243358" y="503801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预计总还款</a:t>
            </a:r>
            <a:r>
              <a:rPr sz="800" b="0">
                <a:solidFill>
                  <a:srgbClr val="606060"/>
                </a:solidFill>
              </a:rPr>
              <a:t>A$1,872</a:t>
            </a:r>
          </a:p>
        </p:txBody>
      </p:sp>
      <p:sp>
        <p:nvSpPr>
          <p:cNvPr id="144" name="Fa-c-产品成本-3"/>
          <p:cNvSpPr txBox="1"/>
          <p:nvPr/>
        </p:nvSpPr>
        <p:spPr>
          <a:xfrm>
            <a:off x="4243358" y="525747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融资成本</a:t>
            </a:r>
            <a:r>
              <a:rPr sz="800" b="0">
                <a:solidFill>
                  <a:srgbClr val="606060"/>
                </a:solidFill>
              </a:rPr>
              <a:t>A$372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405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256046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1588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1588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25246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7040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559</TotalTime>
  <Words>1261</Words>
  <Application>Microsoft Office PowerPoint</Application>
  <PresentationFormat>宽屏</PresentationFormat>
  <Paragraphs>325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125</cp:revision>
  <dcterms:modified xsi:type="dcterms:W3CDTF">2026-08-11T02:51:09Z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