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0" r:id="rId1"/>
  </p:sldMasterIdLst>
  <p:sldIdLst>
    <p:sldId id="260" r:id="rId2"/>
    <p:sldId id="269" r:id="rId3"/>
    <p:sldId id="280" r:id="rId4"/>
    <p:sldId id="279" r:id="rId5"/>
  </p:sldIdLst>
  <p:sldSz cx="12192000" cy="6858000"/>
  <p:notesSz cx="12192000" cy="6858000"/>
  <p:embeddedFontLst>
    <p:embeddedFont>
      <p:font typeface="微软雅黑" panose="020B0503020204020204" pitchFamily="34" charset="-122"/>
      <p:regular r:id="rId6"/>
      <p:bold r:id="rId7"/>
    </p:embeddedFont>
    <p:embeddedFont>
      <p:font typeface="微软雅黑 Light" panose="020B0502040204020203" pitchFamily="34" charset="-122"/>
      <p:regular r:id="rId8"/>
    </p:embeddedFont>
    <p:embeddedFont>
      <p:font typeface="等线" panose="02010600030101010101" pitchFamily="2" charset="-122"/>
      <p:regular r:id="rId9"/>
      <p:bold r:id="rId10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list" id="{B3605CEF-5BC4-40B4-8F96-9FBCAEE09C7D}">
          <p14:sldIdLst/>
        </p14:section>
        <p14:section name="sms" id="{BFC3A2BC-87CF-4514-9F88-2C86509F7121}">
          <p14:sldIdLst/>
        </p14:section>
        <p14:section name="银行流水" id="{C38B6FF6-1B3C-4CE4-AEDB-5CB84D573A5E}">
          <p14:sldIdLst>
            <p14:sldId id="260"/>
            <p14:sldId id="269"/>
            <p14:sldId id="280"/>
            <p14:sldId id="279"/>
          </p14:sldIdLst>
        </p14:section>
        <p14:section name="draft2" id="{2D9F7100-66E6-477C-9DC3-FDDECD214F6C}">
          <p14:sldIdLst/>
        </p14:section>
        <p14:section name="draft" id="{A40B931D-2D60-49C2-9CF0-5684BA0EC20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A000"/>
    <a:srgbClr val="C93B4A"/>
    <a:srgbClr val="5764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1731" autoAdjust="0"/>
    <p:restoredTop sz="94610"/>
  </p:normalViewPr>
  <p:slideViewPr>
    <p:cSldViewPr snapToGrid="0" snapToObjects="1">
      <p:cViewPr>
        <p:scale>
          <a:sx n="100" d="100"/>
          <a:sy n="100" d="100"/>
        </p:scale>
        <p:origin x="60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4" d="100"/>
        <a:sy n="104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font" Target="fonts/font2.fntdata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font" Target="fonts/font4.fntdata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sz="quarter" idx="13" hasCustomPrompt="1"/>
          </p:nvPr>
        </p:nvSpPr>
        <p:spPr>
          <a:xfrm>
            <a:off x="281657" y="4103406"/>
            <a:ext cx="11008067" cy="644301"/>
          </a:xfrm>
        </p:spPr>
        <p:txBody>
          <a:bodyPr/>
          <a:lstStyle>
            <a:lvl1pPr marL="0" indent="0">
              <a:buFontTx/>
              <a:buNone/>
              <a:defRPr kumimoji="1" lang="zh-CN" altLang="en-US" sz="44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kumimoji="1" lang="zh-CN" altLang="en-US" dirty="0"/>
              <a:t>课件标题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06895" y="4877649"/>
            <a:ext cx="9144000" cy="425221"/>
          </a:xfrm>
        </p:spPr>
        <p:txBody>
          <a:bodyPr/>
          <a:lstStyle>
            <a:lvl1pPr marL="0" indent="0" algn="l">
              <a:buFontTx/>
              <a:buNone/>
              <a:defRPr lang="zh-CN" altLang="en-US" sz="2800" kern="12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>
              <a:buFontTx/>
              <a:buNone/>
            </a:pPr>
            <a:r>
              <a:rPr lang="zh-CN" altLang="en-US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Arial" panose="020B0604020202020204" pitchFamily="34" charset="0"/>
              </a:rPr>
              <a:t>副标题：副标题副标题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sz="quarter" idx="14" hasCustomPrompt="1"/>
          </p:nvPr>
        </p:nvSpPr>
        <p:spPr>
          <a:xfrm>
            <a:off x="334327" y="6162648"/>
            <a:ext cx="7553198" cy="324196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kumimoji="1" lang="zh-CN" altLang="en-US" sz="18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来自部门：</a:t>
            </a:r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XXXXX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    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分享人：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endParaRPr kumimoji="1"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</p:txBody>
      </p:sp>
      <p:cxnSp>
        <p:nvCxnSpPr>
          <p:cNvPr id="13" name="直接连接符 23"/>
          <p:cNvCxnSpPr/>
          <p:nvPr userDrawn="1"/>
        </p:nvCxnSpPr>
        <p:spPr>
          <a:xfrm flipH="1">
            <a:off x="338667" y="5912442"/>
            <a:ext cx="11514666" cy="0"/>
          </a:xfrm>
          <a:prstGeom prst="line">
            <a:avLst/>
          </a:prstGeom>
          <a:ln w="9525">
            <a:solidFill>
              <a:schemeClr val="bg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图片占位符 33"/>
          <p:cNvSpPr>
            <a:spLocks noGrp="1"/>
          </p:cNvSpPr>
          <p:nvPr>
            <p:ph type="pic" sz="quarter" idx="14"/>
          </p:nvPr>
        </p:nvSpPr>
        <p:spPr>
          <a:xfrm>
            <a:off x="0" y="-1588"/>
            <a:ext cx="12192000" cy="4113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kumimoji="1"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20" name="Прямоугольник 20"/>
          <p:cNvSpPr/>
          <p:nvPr userDrawn="1"/>
        </p:nvSpPr>
        <p:spPr>
          <a:xfrm>
            <a:off x="-369" y="-1756"/>
            <a:ext cx="12191382" cy="4112997"/>
          </a:xfrm>
          <a:prstGeom prst="rect">
            <a:avLst/>
          </a:prstGeom>
          <a:solidFill>
            <a:srgbClr val="555E6B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900" dirty="0">
              <a:latin typeface="微软雅黑" panose="020B0503020204020204" pitchFamily="34" charset="-122"/>
            </a:endParaRPr>
          </a:p>
        </p:txBody>
      </p:sp>
      <p:cxnSp>
        <p:nvCxnSpPr>
          <p:cNvPr id="24" name="直接连接符 23"/>
          <p:cNvCxnSpPr/>
          <p:nvPr userDrawn="1"/>
        </p:nvCxnSpPr>
        <p:spPr>
          <a:xfrm flipH="1">
            <a:off x="338667" y="6374454"/>
            <a:ext cx="1151466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78841" y="1762188"/>
            <a:ext cx="10515600" cy="1325563"/>
          </a:xfrm>
        </p:spPr>
        <p:txBody>
          <a:bodyPr>
            <a:normAutofit/>
          </a:bodyPr>
          <a:lstStyle>
            <a:lvl1pPr>
              <a:defRPr sz="33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2" name="内容占位符 31"/>
          <p:cNvSpPr>
            <a:spLocks noGrp="1"/>
          </p:cNvSpPr>
          <p:nvPr>
            <p:ph sz="quarter" idx="13" hasCustomPrompt="1"/>
          </p:nvPr>
        </p:nvSpPr>
        <p:spPr>
          <a:xfrm>
            <a:off x="1078841" y="1456274"/>
            <a:ext cx="9317228" cy="59372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38" name="文本占位符 35"/>
          <p:cNvSpPr>
            <a:spLocks noGrp="1"/>
          </p:cNvSpPr>
          <p:nvPr>
            <p:ph type="body" sz="quarter" idx="16" hasCustomPrompt="1"/>
          </p:nvPr>
        </p:nvSpPr>
        <p:spPr>
          <a:xfrm>
            <a:off x="7062258" y="6437312"/>
            <a:ext cx="4791075" cy="420688"/>
          </a:xfrm>
        </p:spPr>
        <p:txBody>
          <a:bodyPr/>
          <a:lstStyle>
            <a:lvl1pPr marL="0" indent="0" algn="r">
              <a:buNone/>
              <a:defRPr kumimoji="1" lang="zh-CN" altLang="en-US" sz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indent="0">
              <a:buNone/>
            </a:pPr>
            <a:r>
              <a:rPr kumimoji="1"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01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  <a:sym typeface="Arial" panose="020B0604020202020204" pitchFamily="34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96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28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5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41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2026/8/11</a:t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1804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B628A69-E5D3-471C-9634-C9CEEE71D7D5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银行流水识别，不只是交易分类，更是信审的底层决策能力</a:t>
            </a:r>
            <a:endParaRPr lang="en-US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27900C-2E0B-4FBB-B7B0-DBD3BB995BF6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从收入、必要支出到存量负债，直接决定 Serviceability 与客户新增授信空间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s1-bar">
            <a:extLst>
              <a:ext uri="{FF2B5EF4-FFF2-40B4-BE49-F238E27FC236}">
                <a16:creationId xmlns:a16="http://schemas.microsoft.com/office/drawing/2014/main" id="{88A98C43-172E-445E-BAF1-258FD9FC097E}"/>
              </a:ext>
            </a:extLst>
          </p:cNvPr>
          <p:cNvSpPr/>
          <p:nvPr/>
        </p:nvSpPr>
        <p:spPr>
          <a:xfrm>
            <a:off x="539630" y="1238321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8" name="s1-title">
            <a:extLst>
              <a:ext uri="{FF2B5EF4-FFF2-40B4-BE49-F238E27FC236}">
                <a16:creationId xmlns:a16="http://schemas.microsoft.com/office/drawing/2014/main" id="{17E4A091-56F2-4D55-A5FF-E1FA3A10A492}"/>
              </a:ext>
            </a:extLst>
          </p:cNvPr>
          <p:cNvSpPr txBox="1"/>
          <p:nvPr/>
        </p:nvSpPr>
        <p:spPr>
          <a:xfrm>
            <a:off x="717430" y="1212921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1.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银行流水在信贷决策中的位置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FCBB4B-1910-4A8F-A184-2DB248819995}"/>
              </a:ext>
            </a:extLst>
          </p:cNvPr>
          <p:cNvGrpSpPr/>
          <p:nvPr/>
        </p:nvGrpSpPr>
        <p:grpSpPr>
          <a:xfrm>
            <a:off x="511115" y="2361688"/>
            <a:ext cx="11173968" cy="635000"/>
            <a:chOff x="489948" y="2635555"/>
            <a:chExt cx="5588000" cy="635000"/>
          </a:xfrm>
        </p:grpSpPr>
        <p:sp>
          <p:nvSpPr>
            <p:cNvPr id="10" name="s1-formula-bg">
              <a:extLst>
                <a:ext uri="{FF2B5EF4-FFF2-40B4-BE49-F238E27FC236}">
                  <a16:creationId xmlns:a16="http://schemas.microsoft.com/office/drawing/2014/main" id="{588EFC8B-6D9B-4BC6-A58A-94C590D91AE6}"/>
                </a:ext>
              </a:extLst>
            </p:cNvPr>
            <p:cNvSpPr/>
            <p:nvPr/>
          </p:nvSpPr>
          <p:spPr>
            <a:xfrm>
              <a:off x="489948" y="2635555"/>
              <a:ext cx="5588000" cy="635000"/>
            </a:xfrm>
            <a:prstGeom prst="rect">
              <a:avLst/>
            </a:prstGeom>
            <a:solidFill>
              <a:srgbClr val="F0F0F0"/>
            </a:solidFill>
            <a:ln>
              <a:noFill/>
            </a:ln>
          </p:spPr>
        </p:sp>
        <p:sp>
          <p:nvSpPr>
            <p:cNvPr id="11" name="s1-formula-bar">
              <a:extLst>
                <a:ext uri="{FF2B5EF4-FFF2-40B4-BE49-F238E27FC236}">
                  <a16:creationId xmlns:a16="http://schemas.microsoft.com/office/drawing/2014/main" id="{54C6A925-1E42-4045-8D2E-2CC8F4C7EE07}"/>
                </a:ext>
              </a:extLst>
            </p:cNvPr>
            <p:cNvSpPr/>
            <p:nvPr/>
          </p:nvSpPr>
          <p:spPr>
            <a:xfrm>
              <a:off x="489948" y="2635555"/>
              <a:ext cx="50800" cy="635000"/>
            </a:xfrm>
            <a:prstGeom prst="rect">
              <a:avLst/>
            </a:prstGeom>
            <a:solidFill>
              <a:srgbClr val="0A0A0A"/>
            </a:solidFill>
            <a:ln>
              <a:noFill/>
            </a:ln>
          </p:spPr>
        </p:sp>
        <p:sp>
          <p:nvSpPr>
            <p:cNvPr id="12" name="s1-formula">
              <a:extLst>
                <a:ext uri="{FF2B5EF4-FFF2-40B4-BE49-F238E27FC236}">
                  <a16:creationId xmlns:a16="http://schemas.microsoft.com/office/drawing/2014/main" id="{A03A2A13-DC76-4440-BC65-6AA049FAFCE2}"/>
                </a:ext>
              </a:extLst>
            </p:cNvPr>
            <p:cNvSpPr txBox="1"/>
            <p:nvPr/>
          </p:nvSpPr>
          <p:spPr>
            <a:xfrm>
              <a:off x="667748" y="2635555"/>
              <a:ext cx="203402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just">
                <a:lnSpc>
                  <a:spcPct val="150000"/>
                </a:lnSpc>
              </a:pPr>
              <a:r>
                <a:rPr lang="en-US" sz="1400" b="1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核心计算逻辑（Serviceability）</a:t>
              </a:r>
              <a:endParaRPr lang="en-US" sz="140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4" name="s2-title">
            <a:extLst>
              <a:ext uri="{FF2B5EF4-FFF2-40B4-BE49-F238E27FC236}">
                <a16:creationId xmlns:a16="http://schemas.microsoft.com/office/drawing/2014/main" id="{E321B73C-994B-4905-99F9-38D3C5B8ACA1}"/>
              </a:ext>
            </a:extLst>
          </p:cNvPr>
          <p:cNvSpPr txBox="1"/>
          <p:nvPr/>
        </p:nvSpPr>
        <p:spPr>
          <a:xfrm>
            <a:off x="717430" y="3243783"/>
            <a:ext cx="39582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</a:t>
            </a:r>
            <a:r>
              <a:rPr lang="zh-CN" altLang="en-US" sz="1400" b="1" dirty="0">
                <a:solidFill>
                  <a:srgbClr val="0A0A0A"/>
                </a:solidFill>
                <a:latin typeface="微软雅黑"/>
                <a:ea typeface="微软雅黑"/>
              </a:rPr>
              <a:t>合规背景：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Responsible Lending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的四项要求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col-divider">
            <a:extLst>
              <a:ext uri="{FF2B5EF4-FFF2-40B4-BE49-F238E27FC236}">
                <a16:creationId xmlns:a16="http://schemas.microsoft.com/office/drawing/2014/main" id="{7976569D-3495-4B8E-88A6-7289825D95F9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eyJ2aWV3Qm94IjpbMSwzNDBdLCJwb2ludHMiOiIwLDAgMCwzNDAifQ</pptd:line>
              </p:ext>
            </p:extLst>
          </p:nvPr>
        </p:nvSpPr>
        <p:spPr>
          <a:xfrm>
            <a:off x="5129594" y="3292912"/>
            <a:ext cx="14116" cy="3212231"/>
          </a:xfrm>
          <a:custGeom>
            <a:avLst/>
            <a:gdLst/>
            <a:ahLst/>
            <a:cxnLst/>
            <a:rect l="l" t="t" r="r" b="b"/>
            <a:pathLst>
              <a:path w="1" h="340">
                <a:moveTo>
                  <a:pt x="0" y="0"/>
                </a:moveTo>
                <a:lnTo>
                  <a:pt x="0" y="34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18" name="s3-title">
            <a:extLst>
              <a:ext uri="{FF2B5EF4-FFF2-40B4-BE49-F238E27FC236}">
                <a16:creationId xmlns:a16="http://schemas.microsoft.com/office/drawing/2014/main" id="{1FFE6DD4-7A46-4B3E-BC75-CF290B1DDE30}"/>
              </a:ext>
            </a:extLst>
          </p:cNvPr>
          <p:cNvSpPr txBox="1"/>
          <p:nvPr/>
        </p:nvSpPr>
        <p:spPr>
          <a:xfrm>
            <a:off x="5762312" y="3265172"/>
            <a:ext cx="5138312" cy="1700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/>
                <a:ea typeface="微软雅黑"/>
              </a:rPr>
              <a:t>三、传统第三方分类服务的主要局限（当前高度依赖 illion）</a:t>
            </a:r>
          </a:p>
        </p:txBody>
      </p:sp>
      <p:sp>
        <p:nvSpPr>
          <p:cNvPr id="19" name="lim1">
            <a:extLst>
              <a:ext uri="{FF2B5EF4-FFF2-40B4-BE49-F238E27FC236}">
                <a16:creationId xmlns:a16="http://schemas.microsoft.com/office/drawing/2014/main" id="{29CFB0D9-DDBE-46F7-A89B-345F1DB3EE89}"/>
              </a:ext>
            </a:extLst>
          </p:cNvPr>
          <p:cNvSpPr txBox="1"/>
          <p:nvPr/>
        </p:nvSpPr>
        <p:spPr>
          <a:xfrm>
            <a:off x="5746239" y="3581143"/>
            <a:ext cx="5307707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1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分类逻辑不透明，问题难以定位</a:t>
            </a:r>
            <a:endParaRPr lang="en-US" sz="11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黑盒模型：出现漏识别或误分类时，无法判断是交易描述、商户映射、分类规则还是计算逻辑的问题。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lim1-line">
            <a:extLst>
              <a:ext uri="{FF2B5EF4-FFF2-40B4-BE49-F238E27FC236}">
                <a16:creationId xmlns:a16="http://schemas.microsoft.com/office/drawing/2014/main" id="{C26D36D6-CB8D-47F6-A278-A0A3C1177384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416034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1" name="lim2">
            <a:extLst>
              <a:ext uri="{FF2B5EF4-FFF2-40B4-BE49-F238E27FC236}">
                <a16:creationId xmlns:a16="http://schemas.microsoft.com/office/drawing/2014/main" id="{3DD835B9-3D5D-4CF4-8B3A-387F16BA1963}"/>
              </a:ext>
            </a:extLst>
          </p:cNvPr>
          <p:cNvSpPr txBox="1"/>
          <p:nvPr/>
        </p:nvSpPr>
        <p:spPr>
          <a:xfrm>
            <a:off x="5746239" y="4321693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1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分类粒度与覆盖不足，难以满足下游需求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无法拆分 SACC、Non-SACC、BNPL、Line of Credit、Wage Advance 等贷款类型；小型商户、新兴平台、交易别名易被归入 Other 或错误分类，影响贷款归属、还款匹配及收入、支出、负债计算。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lim2-line">
            <a:extLst>
              <a:ext uri="{FF2B5EF4-FFF2-40B4-BE49-F238E27FC236}">
                <a16:creationId xmlns:a16="http://schemas.microsoft.com/office/drawing/2014/main" id="{69CFA63F-F5C1-43D0-A14B-E681108AAB2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109939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3" name="lim3">
            <a:extLst>
              <a:ext uri="{FF2B5EF4-FFF2-40B4-BE49-F238E27FC236}">
                <a16:creationId xmlns:a16="http://schemas.microsoft.com/office/drawing/2014/main" id="{DF394D01-5901-4F99-B01E-ADB1FCD8BFCC}"/>
              </a:ext>
            </a:extLst>
          </p:cNvPr>
          <p:cNvSpPr txBox="1"/>
          <p:nvPr/>
        </p:nvSpPr>
        <p:spPr>
          <a:xfrm>
            <a:off x="5746239" y="5175199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1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输出字段与计算口径缺乏控制权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下游 IDP 所需字段可能缺失，公式、数据窗口、异常处理无法按内部标准配置；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 Banking 等新数据源无分类字段，多供应商需维护多套适配逻辑，增加系统复杂度。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lim3-line">
            <a:extLst>
              <a:ext uri="{FF2B5EF4-FFF2-40B4-BE49-F238E27FC236}">
                <a16:creationId xmlns:a16="http://schemas.microsoft.com/office/drawing/2014/main" id="{336ACEC6-E59C-48C3-943D-F0CA55FF227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91010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5" name="lim4">
            <a:extLst>
              <a:ext uri="{FF2B5EF4-FFF2-40B4-BE49-F238E27FC236}">
                <a16:creationId xmlns:a16="http://schemas.microsoft.com/office/drawing/2014/main" id="{8C3E2394-8FDD-4456-9360-CEBCC189CB32}"/>
              </a:ext>
            </a:extLst>
          </p:cNvPr>
          <p:cNvSpPr txBox="1"/>
          <p:nvPr/>
        </p:nvSpPr>
        <p:spPr>
          <a:xfrm>
            <a:off x="5746239" y="6030781"/>
            <a:ext cx="6235773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1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4. </a:t>
            </a:r>
            <a:r>
              <a:rPr lang="zh-CN" altLang="en-US" sz="11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合规应对</a:t>
            </a:r>
            <a:r>
              <a:rPr lang="en-US" sz="11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能力受制于外部供应商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调整依赖供应商排期、响应周期长；交易分类作为基础能力，长期依赖会限制模型优化、策略调整与产品创新的自主性。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28677383-B1C4-48C4-91A6-25AC7845E58D}"/>
              </a:ext>
            </a:extLst>
          </p:cNvPr>
          <p:cNvGrpSpPr/>
          <p:nvPr/>
        </p:nvGrpSpPr>
        <p:grpSpPr>
          <a:xfrm>
            <a:off x="511115" y="1595715"/>
            <a:ext cx="11174917" cy="566928"/>
            <a:chOff x="452053" y="1496128"/>
            <a:chExt cx="11174917" cy="566928"/>
          </a:xfrm>
        </p:grpSpPr>
        <p:sp>
          <p:nvSpPr>
            <p:cNvPr id="27" name="divider">
              <a:extLst>
                <a:ext uri="{FF2B5EF4-FFF2-40B4-BE49-F238E27FC236}">
                  <a16:creationId xmlns:a16="http://schemas.microsoft.com/office/drawing/2014/main" id="{BEE32B51-BB5D-4E33-B31F-EC2D7C3D3A69}"/>
                </a:ext>
              </a:extLst>
            </p:cNvPr>
            <p:cNvSpPr/>
            <p:nvPr>
              <p:extLst>
                <p:ext uri="{F5677B7D-0D2A-4D9B-9A5C-6D8D7D0E5A5D}">
  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eyJ2aWV3Qm94IjpbODU2LDFdLCJwb2ludHMiOiIwLDAgODU2LDAifQ</pptd:line>
                </p:ext>
              </p:extLst>
            </p:nvPr>
          </p:nvSpPr>
          <p:spPr>
            <a:xfrm>
              <a:off x="452053" y="1608779"/>
              <a:ext cx="10871200" cy="12700"/>
            </a:xfrm>
            <a:custGeom>
              <a:avLst/>
              <a:gdLst/>
              <a:ahLst/>
              <a:cxnLst/>
              <a:rect l="l" t="t" r="r" b="b"/>
              <a:pathLst>
                <a:path w="856" h="1">
                  <a:moveTo>
                    <a:pt x="0" y="0"/>
                  </a:moveTo>
                  <a:lnTo>
                    <a:pt x="85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</p:sp>
        <p:sp>
          <p:nvSpPr>
            <p:cNvPr id="28" name="Rectangle 6">
              <a:extLst>
                <a:ext uri="{FF2B5EF4-FFF2-40B4-BE49-F238E27FC236}">
                  <a16:creationId xmlns:a16="http://schemas.microsoft.com/office/drawing/2014/main" id="{EAB4CD9B-EDE7-41BB-A1AF-99FE71C9208A}"/>
                </a:ext>
              </a:extLst>
            </p:cNvPr>
            <p:cNvSpPr/>
            <p:nvPr/>
          </p:nvSpPr>
          <p:spPr>
            <a:xfrm>
              <a:off x="453002" y="1496128"/>
              <a:ext cx="11173968" cy="566928"/>
            </a:xfrm>
            <a:prstGeom prst="rect">
              <a:avLst/>
            </a:prstGeom>
            <a:solidFill>
              <a:srgbClr val="EFF3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29" name="Rectangle 7">
              <a:extLst>
                <a:ext uri="{FF2B5EF4-FFF2-40B4-BE49-F238E27FC236}">
                  <a16:creationId xmlns:a16="http://schemas.microsoft.com/office/drawing/2014/main" id="{538BC8E8-0C5A-459D-9D36-4DF7BBE37EEB}"/>
                </a:ext>
              </a:extLst>
            </p:cNvPr>
            <p:cNvSpPr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0" name="TextBox 8">
              <a:extLst>
                <a:ext uri="{FF2B5EF4-FFF2-40B4-BE49-F238E27FC236}">
                  <a16:creationId xmlns:a16="http://schemas.microsoft.com/office/drawing/2014/main" id="{D77EA475-068C-4CAF-8013-0567E6F71289}"/>
                </a:ext>
              </a:extLst>
            </p:cNvPr>
            <p:cNvSpPr txBox="1"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用户申请</a:t>
              </a:r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4B04AD0F-D11B-477C-A748-4CDF5F1767B1}"/>
                </a:ext>
              </a:extLst>
            </p:cNvPr>
            <p:cNvSpPr txBox="1"/>
            <p:nvPr/>
          </p:nvSpPr>
          <p:spPr>
            <a:xfrm>
              <a:off x="2048630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2" name="Rectangle 10">
              <a:extLst>
                <a:ext uri="{FF2B5EF4-FFF2-40B4-BE49-F238E27FC236}">
                  <a16:creationId xmlns:a16="http://schemas.microsoft.com/office/drawing/2014/main" id="{C02AA16F-41EE-482C-AE2A-D1543CA101C1}"/>
                </a:ext>
              </a:extLst>
            </p:cNvPr>
            <p:cNvSpPr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3" name="TextBox 11">
              <a:extLst>
                <a:ext uri="{FF2B5EF4-FFF2-40B4-BE49-F238E27FC236}">
                  <a16:creationId xmlns:a16="http://schemas.microsoft.com/office/drawing/2014/main" id="{930C9C75-9CB4-4BD5-B884-62518D3CCE17}"/>
                </a:ext>
              </a:extLst>
            </p:cNvPr>
            <p:cNvSpPr txBox="1"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银行卡绑定</a:t>
              </a:r>
            </a:p>
          </p:txBody>
        </p:sp>
        <p:sp>
          <p:nvSpPr>
            <p:cNvPr id="34" name="TextBox 12">
              <a:extLst>
                <a:ext uri="{FF2B5EF4-FFF2-40B4-BE49-F238E27FC236}">
                  <a16:creationId xmlns:a16="http://schemas.microsoft.com/office/drawing/2014/main" id="{91BC7BE8-D199-4CBB-BA6C-7109D747F49C}"/>
                </a:ext>
              </a:extLst>
            </p:cNvPr>
            <p:cNvSpPr txBox="1"/>
            <p:nvPr/>
          </p:nvSpPr>
          <p:spPr>
            <a:xfrm>
              <a:off x="3964298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5" name="Rectangle 13">
              <a:extLst>
                <a:ext uri="{FF2B5EF4-FFF2-40B4-BE49-F238E27FC236}">
                  <a16:creationId xmlns:a16="http://schemas.microsoft.com/office/drawing/2014/main" id="{5E7A4B48-7F1A-4666-9E21-5E8C8EC7B2CC}"/>
                </a:ext>
              </a:extLst>
            </p:cNvPr>
            <p:cNvSpPr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6" name="TextBox 14">
              <a:extLst>
                <a:ext uri="{FF2B5EF4-FFF2-40B4-BE49-F238E27FC236}">
                  <a16:creationId xmlns:a16="http://schemas.microsoft.com/office/drawing/2014/main" id="{7F1330EF-EB40-488C-823E-B52850D6ADD7}"/>
                </a:ext>
              </a:extLst>
            </p:cNvPr>
            <p:cNvSpPr txBox="1"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数据解析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37" name="TextBox 15">
              <a:extLst>
                <a:ext uri="{FF2B5EF4-FFF2-40B4-BE49-F238E27FC236}">
                  <a16:creationId xmlns:a16="http://schemas.microsoft.com/office/drawing/2014/main" id="{E7EB72EF-5357-4C89-9D96-05AB1E10C47F}"/>
                </a:ext>
              </a:extLst>
            </p:cNvPr>
            <p:cNvSpPr txBox="1"/>
            <p:nvPr/>
          </p:nvSpPr>
          <p:spPr>
            <a:xfrm>
              <a:off x="5879966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8" name="Rectangle 16">
              <a:extLst>
                <a:ext uri="{FF2B5EF4-FFF2-40B4-BE49-F238E27FC236}">
                  <a16:creationId xmlns:a16="http://schemas.microsoft.com/office/drawing/2014/main" id="{A0AB3994-E868-4E38-B322-7F0D5E75B741}"/>
                </a:ext>
              </a:extLst>
            </p:cNvPr>
            <p:cNvSpPr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9" name="TextBox 17">
              <a:extLst>
                <a:ext uri="{FF2B5EF4-FFF2-40B4-BE49-F238E27FC236}">
                  <a16:creationId xmlns:a16="http://schemas.microsoft.com/office/drawing/2014/main" id="{9C14CCCE-6E5D-49B5-AECF-609ED1D2F343}"/>
                </a:ext>
              </a:extLst>
            </p:cNvPr>
            <p:cNvSpPr txBox="1"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银行流水识别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40" name="TextBox 18">
              <a:extLst>
                <a:ext uri="{FF2B5EF4-FFF2-40B4-BE49-F238E27FC236}">
                  <a16:creationId xmlns:a16="http://schemas.microsoft.com/office/drawing/2014/main" id="{2A545774-8F38-4F54-BBF9-86E026FD8886}"/>
                </a:ext>
              </a:extLst>
            </p:cNvPr>
            <p:cNvSpPr txBox="1"/>
            <p:nvPr/>
          </p:nvSpPr>
          <p:spPr>
            <a:xfrm>
              <a:off x="7795634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1" name="Rectangle 19">
              <a:extLst>
                <a:ext uri="{FF2B5EF4-FFF2-40B4-BE49-F238E27FC236}">
                  <a16:creationId xmlns:a16="http://schemas.microsoft.com/office/drawing/2014/main" id="{9BC878EF-C63E-449E-8D1E-F4F80FF61DA8}"/>
                </a:ext>
              </a:extLst>
            </p:cNvPr>
            <p:cNvSpPr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2" name="TextBox 20">
              <a:extLst>
                <a:ext uri="{FF2B5EF4-FFF2-40B4-BE49-F238E27FC236}">
                  <a16:creationId xmlns:a16="http://schemas.microsoft.com/office/drawing/2014/main" id="{C7C5C193-A007-4D1A-AC47-110AE06D49DA}"/>
                </a:ext>
              </a:extLst>
            </p:cNvPr>
            <p:cNvSpPr txBox="1"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Serviceability</a:t>
              </a:r>
            </a:p>
          </p:txBody>
        </p:sp>
        <p:sp>
          <p:nvSpPr>
            <p:cNvPr id="43" name="TextBox 21">
              <a:extLst>
                <a:ext uri="{FF2B5EF4-FFF2-40B4-BE49-F238E27FC236}">
                  <a16:creationId xmlns:a16="http://schemas.microsoft.com/office/drawing/2014/main" id="{210F5A51-87C0-42C1-BB96-6E16A0206047}"/>
                </a:ext>
              </a:extLst>
            </p:cNvPr>
            <p:cNvSpPr txBox="1"/>
            <p:nvPr/>
          </p:nvSpPr>
          <p:spPr>
            <a:xfrm>
              <a:off x="9711302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4" name="Rectangle 22">
              <a:extLst>
                <a:ext uri="{FF2B5EF4-FFF2-40B4-BE49-F238E27FC236}">
                  <a16:creationId xmlns:a16="http://schemas.microsoft.com/office/drawing/2014/main" id="{9B4A2284-CDE0-47A0-9DB3-1E359B1CD771}"/>
                </a:ext>
              </a:extLst>
            </p:cNvPr>
            <p:cNvSpPr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5" name="TextBox 23">
              <a:extLst>
                <a:ext uri="{FF2B5EF4-FFF2-40B4-BE49-F238E27FC236}">
                  <a16:creationId xmlns:a16="http://schemas.microsoft.com/office/drawing/2014/main" id="{558A63B5-5727-4E26-85E9-6D5769D74E7E}"/>
                </a:ext>
              </a:extLst>
            </p:cNvPr>
            <p:cNvSpPr txBox="1"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信审决策</a:t>
              </a:r>
            </a:p>
          </p:txBody>
        </p:sp>
      </p:grpSp>
      <p:sp>
        <p:nvSpPr>
          <p:cNvPr id="48" name="TextBox 30">
            <a:extLst>
              <a:ext uri="{FF2B5EF4-FFF2-40B4-BE49-F238E27FC236}">
                <a16:creationId xmlns:a16="http://schemas.microsoft.com/office/drawing/2014/main" id="{A74F03BE-04AA-4633-B517-2C54F22254B0}"/>
              </a:ext>
            </a:extLst>
          </p:cNvPr>
          <p:cNvSpPr txBox="1"/>
          <p:nvPr/>
        </p:nvSpPr>
        <p:spPr>
          <a:xfrm>
            <a:off x="665747" y="3571159"/>
            <a:ext cx="48371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依据《National</a:t>
            </a:r>
            <a:r>
              <a:rPr kumimoji="0" sz="85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Consumer Credit Protection Act 2009》及 ASIC </a:t>
            </a: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监管要求</a:t>
            </a:r>
            <a:endParaRPr kumimoji="0" sz="85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  <p:sp>
        <p:nvSpPr>
          <p:cNvPr id="49" name="Rectangle 31">
            <a:extLst>
              <a:ext uri="{FF2B5EF4-FFF2-40B4-BE49-F238E27FC236}">
                <a16:creationId xmlns:a16="http://schemas.microsoft.com/office/drawing/2014/main" id="{A2FA0AE9-4D92-4732-A5A0-A296D8BA97E1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0" name="Oval 32">
            <a:extLst>
              <a:ext uri="{FF2B5EF4-FFF2-40B4-BE49-F238E27FC236}">
                <a16:creationId xmlns:a16="http://schemas.microsoft.com/office/drawing/2014/main" id="{A5579E95-F88C-4AF8-8750-9BC4E7E9D8F0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33">
            <a:extLst>
              <a:ext uri="{FF2B5EF4-FFF2-40B4-BE49-F238E27FC236}">
                <a16:creationId xmlns:a16="http://schemas.microsoft.com/office/drawing/2014/main" id="{32F5559E-8B73-4A7F-A408-D7C4BDC80C90}"/>
              </a:ext>
            </a:extLst>
          </p:cNvPr>
          <p:cNvSpPr txBox="1"/>
          <p:nvPr/>
        </p:nvSpPr>
        <p:spPr>
          <a:xfrm>
            <a:off x="717430" y="403231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</a:t>
            </a:r>
          </a:p>
        </p:txBody>
      </p:sp>
      <p:sp>
        <p:nvSpPr>
          <p:cNvPr id="52" name="TextBox 34">
            <a:extLst>
              <a:ext uri="{FF2B5EF4-FFF2-40B4-BE49-F238E27FC236}">
                <a16:creationId xmlns:a16="http://schemas.microsoft.com/office/drawing/2014/main" id="{57ADD348-D0FF-4D39-A8DC-D0C347575C7F}"/>
              </a:ext>
            </a:extLst>
          </p:cNvPr>
          <p:cNvSpPr txBox="1"/>
          <p:nvPr/>
        </p:nvSpPr>
        <p:spPr>
          <a:xfrm>
            <a:off x="1138054" y="3972545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合理了解客户</a:t>
            </a:r>
          </a:p>
        </p:txBody>
      </p:sp>
      <p:sp>
        <p:nvSpPr>
          <p:cNvPr id="53" name="TextBox 35">
            <a:extLst>
              <a:ext uri="{FF2B5EF4-FFF2-40B4-BE49-F238E27FC236}">
                <a16:creationId xmlns:a16="http://schemas.microsoft.com/office/drawing/2014/main" id="{EC0038C9-BCC9-4430-A791-E141B6A1B314}"/>
              </a:ext>
            </a:extLst>
          </p:cNvPr>
          <p:cNvSpPr txBox="1"/>
          <p:nvPr/>
        </p:nvSpPr>
        <p:spPr>
          <a:xfrm>
            <a:off x="1138054" y="423772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财务状况及借款目的</a:t>
            </a:r>
          </a:p>
        </p:txBody>
      </p:sp>
      <p:sp>
        <p:nvSpPr>
          <p:cNvPr id="54" name="Rectangle 36">
            <a:extLst>
              <a:ext uri="{FF2B5EF4-FFF2-40B4-BE49-F238E27FC236}">
                <a16:creationId xmlns:a16="http://schemas.microsoft.com/office/drawing/2014/main" id="{8A0D6B43-3C67-4A4F-9E6D-B70A87154077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Oval 37">
            <a:extLst>
              <a:ext uri="{FF2B5EF4-FFF2-40B4-BE49-F238E27FC236}">
                <a16:creationId xmlns:a16="http://schemas.microsoft.com/office/drawing/2014/main" id="{B7242A86-D3D5-4C58-931C-765CBAD54C35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38">
            <a:extLst>
              <a:ext uri="{FF2B5EF4-FFF2-40B4-BE49-F238E27FC236}">
                <a16:creationId xmlns:a16="http://schemas.microsoft.com/office/drawing/2014/main" id="{E5F2741E-0434-4E48-882C-10356025D796}"/>
              </a:ext>
            </a:extLst>
          </p:cNvPr>
          <p:cNvSpPr txBox="1"/>
          <p:nvPr/>
        </p:nvSpPr>
        <p:spPr>
          <a:xfrm>
            <a:off x="717430" y="4672394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</a:t>
            </a:r>
          </a:p>
        </p:txBody>
      </p:sp>
      <p:sp>
        <p:nvSpPr>
          <p:cNvPr id="57" name="TextBox 39">
            <a:extLst>
              <a:ext uri="{FF2B5EF4-FFF2-40B4-BE49-F238E27FC236}">
                <a16:creationId xmlns:a16="http://schemas.microsoft.com/office/drawing/2014/main" id="{A1481323-2DF4-4D58-9C75-F6B0C709734B}"/>
              </a:ext>
            </a:extLst>
          </p:cNvPr>
          <p:cNvSpPr txBox="1"/>
          <p:nvPr/>
        </p:nvSpPr>
        <p:spPr>
          <a:xfrm>
            <a:off x="1138054" y="461262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核实收入与支出</a:t>
            </a:r>
          </a:p>
        </p:txBody>
      </p:sp>
      <p:sp>
        <p:nvSpPr>
          <p:cNvPr id="58" name="TextBox 40">
            <a:extLst>
              <a:ext uri="{FF2B5EF4-FFF2-40B4-BE49-F238E27FC236}">
                <a16:creationId xmlns:a16="http://schemas.microsoft.com/office/drawing/2014/main" id="{BE9E9A98-8D50-48BD-94A1-E982F0172F9C}"/>
              </a:ext>
            </a:extLst>
          </p:cNvPr>
          <p:cNvSpPr txBox="1"/>
          <p:nvPr/>
        </p:nvSpPr>
        <p:spPr>
          <a:xfrm>
            <a:off x="1138054" y="488749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必要支出、现有负债及可预见变化</a:t>
            </a:r>
          </a:p>
        </p:txBody>
      </p:sp>
      <p:sp>
        <p:nvSpPr>
          <p:cNvPr id="59" name="Rectangle 41">
            <a:extLst>
              <a:ext uri="{FF2B5EF4-FFF2-40B4-BE49-F238E27FC236}">
                <a16:creationId xmlns:a16="http://schemas.microsoft.com/office/drawing/2014/main" id="{E20FFFFF-8306-4D81-9797-B6875D55FBCF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0" name="Oval 42">
            <a:extLst>
              <a:ext uri="{FF2B5EF4-FFF2-40B4-BE49-F238E27FC236}">
                <a16:creationId xmlns:a16="http://schemas.microsoft.com/office/drawing/2014/main" id="{6C67CC53-D2BE-4820-9D43-0D1AE75F9247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1" name="TextBox 43">
            <a:extLst>
              <a:ext uri="{FF2B5EF4-FFF2-40B4-BE49-F238E27FC236}">
                <a16:creationId xmlns:a16="http://schemas.microsoft.com/office/drawing/2014/main" id="{961ABED2-5B10-452C-9231-FA993119AA81}"/>
              </a:ext>
            </a:extLst>
          </p:cNvPr>
          <p:cNvSpPr txBox="1"/>
          <p:nvPr/>
        </p:nvSpPr>
        <p:spPr>
          <a:xfrm>
            <a:off x="717430" y="531247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</a:t>
            </a:r>
          </a:p>
        </p:txBody>
      </p:sp>
      <p:sp>
        <p:nvSpPr>
          <p:cNvPr id="62" name="TextBox 44">
            <a:extLst>
              <a:ext uri="{FF2B5EF4-FFF2-40B4-BE49-F238E27FC236}">
                <a16:creationId xmlns:a16="http://schemas.microsoft.com/office/drawing/2014/main" id="{F6B71D29-3684-4835-BD9B-1B8B542261F0}"/>
              </a:ext>
            </a:extLst>
          </p:cNvPr>
          <p:cNvSpPr txBox="1"/>
          <p:nvPr/>
        </p:nvSpPr>
        <p:spPr>
          <a:xfrm>
            <a:off x="1138054" y="525270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评估还款能力</a:t>
            </a:r>
          </a:p>
        </p:txBody>
      </p:sp>
      <p:sp>
        <p:nvSpPr>
          <p:cNvPr id="63" name="TextBox 45">
            <a:extLst>
              <a:ext uri="{FF2B5EF4-FFF2-40B4-BE49-F238E27FC236}">
                <a16:creationId xmlns:a16="http://schemas.microsoft.com/office/drawing/2014/main" id="{C1DECE94-B828-49A6-B8C6-DECC0F60783F}"/>
              </a:ext>
            </a:extLst>
          </p:cNvPr>
          <p:cNvSpPr txBox="1"/>
          <p:nvPr/>
        </p:nvSpPr>
        <p:spPr>
          <a:xfrm>
            <a:off x="1138054" y="551788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能否在不造成重大经济困难的情况下履行还款</a:t>
            </a:r>
          </a:p>
        </p:txBody>
      </p:sp>
      <p:sp>
        <p:nvSpPr>
          <p:cNvPr id="64" name="Rectangle 46">
            <a:extLst>
              <a:ext uri="{FF2B5EF4-FFF2-40B4-BE49-F238E27FC236}">
                <a16:creationId xmlns:a16="http://schemas.microsoft.com/office/drawing/2014/main" id="{00AB5131-4387-462A-924F-86E4F8D7A710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47">
            <a:extLst>
              <a:ext uri="{FF2B5EF4-FFF2-40B4-BE49-F238E27FC236}">
                <a16:creationId xmlns:a16="http://schemas.microsoft.com/office/drawing/2014/main" id="{8B351B70-6E28-4451-921A-23C9AAE60D19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48">
            <a:extLst>
              <a:ext uri="{FF2B5EF4-FFF2-40B4-BE49-F238E27FC236}">
                <a16:creationId xmlns:a16="http://schemas.microsoft.com/office/drawing/2014/main" id="{129AAB2F-B8BE-4A65-B2F8-858AA4712095}"/>
              </a:ext>
            </a:extLst>
          </p:cNvPr>
          <p:cNvSpPr txBox="1"/>
          <p:nvPr/>
        </p:nvSpPr>
        <p:spPr>
          <a:xfrm>
            <a:off x="717430" y="595255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4</a:t>
            </a:r>
          </a:p>
        </p:txBody>
      </p:sp>
      <p:sp>
        <p:nvSpPr>
          <p:cNvPr id="67" name="TextBox 49">
            <a:extLst>
              <a:ext uri="{FF2B5EF4-FFF2-40B4-BE49-F238E27FC236}">
                <a16:creationId xmlns:a16="http://schemas.microsoft.com/office/drawing/2014/main" id="{D7B37FCA-B11E-4709-A69A-DE5AD64C07A4}"/>
              </a:ext>
            </a:extLst>
          </p:cNvPr>
          <p:cNvSpPr txBox="1"/>
          <p:nvPr/>
        </p:nvSpPr>
        <p:spPr>
          <a:xfrm>
            <a:off x="1138054" y="589278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提供合适产品</a:t>
            </a:r>
          </a:p>
        </p:txBody>
      </p:sp>
      <p:sp>
        <p:nvSpPr>
          <p:cNvPr id="68" name="TextBox 50">
            <a:extLst>
              <a:ext uri="{FF2B5EF4-FFF2-40B4-BE49-F238E27FC236}">
                <a16:creationId xmlns:a16="http://schemas.microsoft.com/office/drawing/2014/main" id="{33E3165C-2497-4F10-9F7A-D5F082C30F6F}"/>
              </a:ext>
            </a:extLst>
          </p:cNvPr>
          <p:cNvSpPr txBox="1"/>
          <p:nvPr/>
        </p:nvSpPr>
        <p:spPr>
          <a:xfrm>
            <a:off x="1138054" y="615796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不得提供“不适合”的信贷产品</a:t>
            </a:r>
          </a:p>
        </p:txBody>
      </p:sp>
      <p:sp>
        <p:nvSpPr>
          <p:cNvPr id="69" name="s1-bar">
            <a:extLst>
              <a:ext uri="{FF2B5EF4-FFF2-40B4-BE49-F238E27FC236}">
                <a16:creationId xmlns:a16="http://schemas.microsoft.com/office/drawing/2014/main" id="{3917B42F-FA74-4554-8F0C-544990D93B30}"/>
              </a:ext>
            </a:extLst>
          </p:cNvPr>
          <p:cNvSpPr/>
          <p:nvPr/>
        </p:nvSpPr>
        <p:spPr>
          <a:xfrm>
            <a:off x="536497" y="3250133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0" name="s1-bar">
            <a:extLst>
              <a:ext uri="{FF2B5EF4-FFF2-40B4-BE49-F238E27FC236}">
                <a16:creationId xmlns:a16="http://schemas.microsoft.com/office/drawing/2014/main" id="{487BA4DB-34AC-4C3D-8298-2747717BF951}"/>
              </a:ext>
            </a:extLst>
          </p:cNvPr>
          <p:cNvSpPr/>
          <p:nvPr/>
        </p:nvSpPr>
        <p:spPr>
          <a:xfrm>
            <a:off x="5561124" y="325434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1" name="TextBox 27">
            <a:extLst>
              <a:ext uri="{FF2B5EF4-FFF2-40B4-BE49-F238E27FC236}">
                <a16:creationId xmlns:a16="http://schemas.microsoft.com/office/drawing/2014/main" id="{96C622F6-B610-4482-8FA4-F6373D622738}"/>
              </a:ext>
            </a:extLst>
          </p:cNvPr>
          <p:cNvSpPr txBox="1"/>
          <p:nvPr/>
        </p:nvSpPr>
        <p:spPr>
          <a:xfrm>
            <a:off x="3807968" y="2528026"/>
            <a:ext cx="490220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收入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负债还款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＝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客户可支配盈余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988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从一笔交易出发，直接还原客户真实偿债能力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1800" b="0" dirty="0">
                <a:solidFill>
                  <a:srgbClr val="606060"/>
                </a:solidFill>
                <a:latin typeface="微软雅黑"/>
                <a:ea typeface="微软雅黑"/>
              </a:rPr>
              <a:t>原始流水 → 单笔交易识别 → 用户/贷款汇总，将分散交易转化为可直接用于信审的财务画像</a:t>
            </a:r>
            <a:endParaRPr kumimoji="0" lang="en-US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619506" y="1122401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交易明细维度：理解每一笔交易（输出示例）</a:t>
            </a:r>
            <a:endParaRPr kumimoji="0" lang="en-US" sz="14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619505" y="2970098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2. </a:t>
            </a: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用户汇总维度：形成完整负债画像（输出示例）</a:t>
            </a:r>
            <a:endParaRPr kumimoji="0" lang="en-US" sz="14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6" name="init-table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7832492"/>
              </p:ext>
            </p:extLst>
          </p:nvPr>
        </p:nvGraphicFramePr>
        <p:xfrm>
          <a:off x="617523" y="1439101"/>
          <a:ext cx="10883342" cy="1405443"/>
        </p:xfrm>
        <a:graphic>
          <a:graphicData uri="http://schemas.openxmlformats.org/drawingml/2006/table">
            <a:tbl>
              <a:tblPr/>
              <a:tblGrid>
                <a:gridCol w="7955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167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836">
                  <a:extLst>
                    <a:ext uri="{9D8B030D-6E8A-4147-A177-3AD203B41FA5}">
                      <a16:colId xmlns:a16="http://schemas.microsoft.com/office/drawing/2014/main" val="2631831465"/>
                    </a:ext>
                  </a:extLst>
                </a:gridCol>
                <a:gridCol w="15429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5200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75618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2346362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222567">
                <a:tc>
                  <a:txBody>
                    <a:bodyPr/>
                    <a:lstStyle/>
                    <a:p>
                      <a:pPr algn="ctr"/>
                      <a:r>
                        <a:rPr sz="9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  <a:endParaRPr sz="9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9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9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9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9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</a:t>
                      </a:r>
                    </a:p>
                  </a:txBody>
                  <a:tcPr marL="27432" marR="27432" marT="9144" marB="9144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  <a:endParaRPr sz="900" b="1" dirty="0">
                        <a:solidFill>
                          <a:srgbClr val="D6A000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567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9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9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BPAY FAIR GO FINANCE BILLER 354127 REF 5837201937</a:t>
                      </a:r>
                    </a:p>
                  </a:txBody>
                  <a:tcPr marL="27432" marR="27432" marT="9144" marB="9144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9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9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9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9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9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  <a:endParaRPr sz="9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9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  <a:endParaRPr sz="9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2567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9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9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 QLD STORE 006123</a:t>
                      </a:r>
                    </a:p>
                  </a:txBody>
                  <a:tcPr marL="27432" marR="27432" marT="9144" marB="914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9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9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9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9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9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  <a:endParaRPr sz="9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9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  <a:endParaRPr sz="9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2567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9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9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BRISBANE STORE 123</a:t>
                      </a:r>
                    </a:p>
                  </a:txBody>
                  <a:tcPr marL="27432" marR="27432" marT="9144" marB="914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9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9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9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9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9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  <a:endParaRPr sz="9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9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  <a:endParaRPr sz="9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567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9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9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AMZNPRIMEA*4V3KQ AMAZON.COM.AU</a:t>
                      </a:r>
                    </a:p>
                  </a:txBody>
                  <a:tcPr marL="27432" marR="27432" marT="9144" marB="914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9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9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9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9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9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  <a:endParaRPr sz="9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9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  <a:endParaRPr sz="9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2567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9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9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WAGES ACME PTY LTD FORTNIGHTLY PAY</a:t>
                      </a:r>
                    </a:p>
                  </a:txBody>
                  <a:tcPr marL="27432" marR="27432" marT="9144" marB="914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9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9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9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</a:t>
                      </a:r>
                      <a:r>
                        <a:rPr sz="9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/ </a:t>
                      </a:r>
                      <a:r>
                        <a:rPr sz="9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收入付款方</a:t>
                      </a:r>
                      <a:endParaRPr sz="9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9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9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9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9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9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9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9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4" name="组合 3">
            <a:extLst>
              <a:ext uri="{FF2B5EF4-FFF2-40B4-BE49-F238E27FC236}">
                <a16:creationId xmlns:a16="http://schemas.microsoft.com/office/drawing/2014/main" id="{0714094E-D0AD-45FC-B1D7-9DC3D6BC3914}"/>
              </a:ext>
            </a:extLst>
          </p:cNvPr>
          <p:cNvGrpSpPr/>
          <p:nvPr/>
        </p:nvGrpSpPr>
        <p:grpSpPr>
          <a:xfrm>
            <a:off x="609092" y="6117909"/>
            <a:ext cx="11045952" cy="402336"/>
            <a:chOff x="685800" y="6096875"/>
            <a:chExt cx="11045952" cy="402336"/>
          </a:xfrm>
        </p:grpSpPr>
        <p:sp>
          <p:nvSpPr>
            <p:cNvPr id="31" name="concl-bar"/>
            <p:cNvSpPr/>
            <p:nvPr/>
          </p:nvSpPr>
          <p:spPr>
            <a:xfrm>
              <a:off x="685800" y="6096875"/>
              <a:ext cx="11045952" cy="402336"/>
            </a:xfrm>
            <a:prstGeom prst="rect">
              <a:avLst/>
            </a:prstGeom>
            <a:solidFill>
              <a:srgbClr val="FAF3E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2" name="concl-bar-line"/>
            <p:cNvSpPr/>
            <p:nvPr/>
          </p:nvSpPr>
          <p:spPr>
            <a:xfrm>
              <a:off x="685800" y="6096875"/>
              <a:ext cx="64008" cy="402336"/>
            </a:xfrm>
            <a:prstGeom prst="rect">
              <a:avLst/>
            </a:prstGeom>
            <a:solidFill>
              <a:srgbClr val="D6A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concl-text"/>
            <p:cNvSpPr txBox="1"/>
            <p:nvPr/>
          </p:nvSpPr>
          <p:spPr>
            <a:xfrm>
              <a:off x="868680" y="6208889"/>
              <a:ext cx="10698480" cy="169277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zh-CN" sz="1100" b="1" dirty="0">
                  <a:solidFill>
                    <a:srgbClr val="0A0A0A"/>
                  </a:solidFill>
                  <a:latin typeface="微软雅黑"/>
                  <a:ea typeface="微软雅黑"/>
                </a:rPr>
                <a:t>负债金额 + 借贷行为 + 还款表现 + 产品定价，共同还原客户真实偿债压力与信用行为。</a:t>
              </a:r>
            </a:p>
          </p:txBody>
        </p:sp>
      </p:grpSp>
      <p:sp>
        <p:nvSpPr>
          <p:cNvPr id="49" name="s2-bar"/>
          <p:cNvSpPr/>
          <p:nvPr/>
        </p:nvSpPr>
        <p:spPr>
          <a:xfrm>
            <a:off x="444312" y="112288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s2-bar"/>
          <p:cNvSpPr/>
          <p:nvPr/>
        </p:nvSpPr>
        <p:spPr>
          <a:xfrm>
            <a:off x="444312" y="2967558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用户-bar"/>
          <p:cNvSpPr/>
          <p:nvPr/>
        </p:nvSpPr>
        <p:spPr>
          <a:xfrm>
            <a:off x="6132068" y="3374136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用户-title"/>
          <p:cNvSpPr txBox="1"/>
          <p:nvPr/>
        </p:nvSpPr>
        <p:spPr>
          <a:xfrm>
            <a:off x="6314948" y="3474720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用户整体负债画像</a:t>
            </a:r>
          </a:p>
        </p:txBody>
      </p:sp>
      <p:sp>
        <p:nvSpPr>
          <p:cNvPr id="25" name="Fa-bar"/>
          <p:cNvSpPr/>
          <p:nvPr/>
        </p:nvSpPr>
        <p:spPr>
          <a:xfrm>
            <a:off x="619505" y="3374136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Fa-title"/>
          <p:cNvSpPr txBox="1"/>
          <p:nvPr/>
        </p:nvSpPr>
        <p:spPr>
          <a:xfrm>
            <a:off x="802385" y="3474720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 dirty="0">
                <a:solidFill>
                  <a:srgbClr val="0A0A0A"/>
                </a:solidFill>
                <a:latin typeface="微软雅黑"/>
                <a:ea typeface="微软雅黑"/>
              </a:rPr>
              <a:t>Fair Go Finance 单笔贷款画像</a:t>
            </a:r>
          </a:p>
        </p:txBody>
      </p:sp>
      <p:sp>
        <p:nvSpPr>
          <p:cNvPr id="68" name="Text 76">
            <a:extLst>
              <a:ext uri="{FF2B5EF4-FFF2-40B4-BE49-F238E27FC236}">
                <a16:creationId xmlns:a16="http://schemas.microsoft.com/office/drawing/2014/main" id="{DA569152-5E9B-44F7-BABB-9AFFF7FA5036}"/>
              </a:ext>
            </a:extLst>
          </p:cNvPr>
          <p:cNvSpPr/>
          <p:nvPr/>
        </p:nvSpPr>
        <p:spPr>
          <a:xfrm>
            <a:off x="747655" y="413889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月还款约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9" name="Text 77">
            <a:extLst>
              <a:ext uri="{FF2B5EF4-FFF2-40B4-BE49-F238E27FC236}">
                <a16:creationId xmlns:a16="http://schemas.microsoft.com/office/drawing/2014/main" id="{A4B96D27-D2A9-44BA-A99D-7A4FC76243C2}"/>
              </a:ext>
            </a:extLst>
          </p:cNvPr>
          <p:cNvSpPr/>
          <p:nvPr/>
        </p:nvSpPr>
        <p:spPr>
          <a:xfrm>
            <a:off x="1542675" y="413889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A$338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0" name="Text 78">
            <a:extLst>
              <a:ext uri="{FF2B5EF4-FFF2-40B4-BE49-F238E27FC236}">
                <a16:creationId xmlns:a16="http://schemas.microsoft.com/office/drawing/2014/main" id="{B4D33D6B-B6CF-4AD2-AB88-A108080FF915}"/>
              </a:ext>
            </a:extLst>
          </p:cNvPr>
          <p:cNvSpPr/>
          <p:nvPr/>
        </p:nvSpPr>
        <p:spPr>
          <a:xfrm>
            <a:off x="747655" y="442693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每周约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1" name="Text 79">
            <a:extLst>
              <a:ext uri="{FF2B5EF4-FFF2-40B4-BE49-F238E27FC236}">
                <a16:creationId xmlns:a16="http://schemas.microsoft.com/office/drawing/2014/main" id="{97D3AF39-5694-4A88-96E2-327F8425281E}"/>
              </a:ext>
            </a:extLst>
          </p:cNvPr>
          <p:cNvSpPr/>
          <p:nvPr/>
        </p:nvSpPr>
        <p:spPr>
          <a:xfrm>
            <a:off x="1542675" y="442693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A$156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2" name="Text 80">
            <a:extLst>
              <a:ext uri="{FF2B5EF4-FFF2-40B4-BE49-F238E27FC236}">
                <a16:creationId xmlns:a16="http://schemas.microsoft.com/office/drawing/2014/main" id="{70392FEF-76B3-41BF-9358-1C7821FDBC57}"/>
              </a:ext>
            </a:extLst>
          </p:cNvPr>
          <p:cNvSpPr/>
          <p:nvPr/>
        </p:nvSpPr>
        <p:spPr>
          <a:xfrm>
            <a:off x="747655" y="471496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预计剩余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3" name="Text 81">
            <a:extLst>
              <a:ext uri="{FF2B5EF4-FFF2-40B4-BE49-F238E27FC236}">
                <a16:creationId xmlns:a16="http://schemas.microsoft.com/office/drawing/2014/main" id="{DFBE31E1-EFFA-4D32-A763-F8B7835CC9E4}"/>
              </a:ext>
            </a:extLst>
          </p:cNvPr>
          <p:cNvSpPr/>
          <p:nvPr/>
        </p:nvSpPr>
        <p:spPr>
          <a:xfrm>
            <a:off x="1542675" y="471496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4期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4" name="Text 82">
            <a:extLst>
              <a:ext uri="{FF2B5EF4-FFF2-40B4-BE49-F238E27FC236}">
                <a16:creationId xmlns:a16="http://schemas.microsoft.com/office/drawing/2014/main" id="{F9A2CD80-57AF-4411-922B-F2D71830E178}"/>
              </a:ext>
            </a:extLst>
          </p:cNvPr>
          <p:cNvSpPr/>
          <p:nvPr/>
        </p:nvSpPr>
        <p:spPr>
          <a:xfrm>
            <a:off x="747655" y="500300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下一还款日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5" name="Text 83">
            <a:extLst>
              <a:ext uri="{FF2B5EF4-FFF2-40B4-BE49-F238E27FC236}">
                <a16:creationId xmlns:a16="http://schemas.microsoft.com/office/drawing/2014/main" id="{8237D60B-1771-43DE-917B-635809C0AE25}"/>
              </a:ext>
            </a:extLst>
          </p:cNvPr>
          <p:cNvSpPr/>
          <p:nvPr/>
        </p:nvSpPr>
        <p:spPr>
          <a:xfrm>
            <a:off x="1542675" y="500300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2026/05/02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6" name="Text 84">
            <a:extLst>
              <a:ext uri="{FF2B5EF4-FFF2-40B4-BE49-F238E27FC236}">
                <a16:creationId xmlns:a16="http://schemas.microsoft.com/office/drawing/2014/main" id="{5004B1DF-DB97-446E-BEC7-15F37E5EDDCD}"/>
              </a:ext>
            </a:extLst>
          </p:cNvPr>
          <p:cNvSpPr/>
          <p:nvPr/>
        </p:nvSpPr>
        <p:spPr>
          <a:xfrm>
            <a:off x="747655" y="529103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90天本笔还款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7" name="Text 85">
            <a:extLst>
              <a:ext uri="{FF2B5EF4-FFF2-40B4-BE49-F238E27FC236}">
                <a16:creationId xmlns:a16="http://schemas.microsoft.com/office/drawing/2014/main" id="{E91ECB8B-DDA8-4CC3-97F9-CA3D61C7F13D}"/>
              </a:ext>
            </a:extLst>
          </p:cNvPr>
          <p:cNvSpPr/>
          <p:nvPr/>
        </p:nvSpPr>
        <p:spPr>
          <a:xfrm>
            <a:off x="1542675" y="529103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5次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Text 88">
            <a:extLst>
              <a:ext uri="{FF2B5EF4-FFF2-40B4-BE49-F238E27FC236}">
                <a16:creationId xmlns:a16="http://schemas.microsoft.com/office/drawing/2014/main" id="{F0F241B4-917B-4918-8B44-BFF56B8A190B}"/>
              </a:ext>
            </a:extLst>
          </p:cNvPr>
          <p:cNvSpPr/>
          <p:nvPr/>
        </p:nvSpPr>
        <p:spPr>
          <a:xfrm>
            <a:off x="2503303" y="413889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借款金额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1" name="Text 89">
            <a:extLst>
              <a:ext uri="{FF2B5EF4-FFF2-40B4-BE49-F238E27FC236}">
                <a16:creationId xmlns:a16="http://schemas.microsoft.com/office/drawing/2014/main" id="{E0E25EC8-54AB-4725-913A-5C4F1E976D3E}"/>
              </a:ext>
            </a:extLst>
          </p:cNvPr>
          <p:cNvSpPr/>
          <p:nvPr/>
        </p:nvSpPr>
        <p:spPr>
          <a:xfrm>
            <a:off x="3234823" y="413889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A$1,500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8" name="Text 90">
            <a:extLst>
              <a:ext uri="{FF2B5EF4-FFF2-40B4-BE49-F238E27FC236}">
                <a16:creationId xmlns:a16="http://schemas.microsoft.com/office/drawing/2014/main" id="{A5FBEE99-2852-44E1-A651-C54E5CDC7B8F}"/>
              </a:ext>
            </a:extLst>
          </p:cNvPr>
          <p:cNvSpPr/>
          <p:nvPr/>
        </p:nvSpPr>
        <p:spPr>
          <a:xfrm>
            <a:off x="2503303" y="442693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已还本金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Text 91">
            <a:extLst>
              <a:ext uri="{FF2B5EF4-FFF2-40B4-BE49-F238E27FC236}">
                <a16:creationId xmlns:a16="http://schemas.microsoft.com/office/drawing/2014/main" id="{2CDD1955-2737-4CEF-AAE1-265613D9F196}"/>
              </a:ext>
            </a:extLst>
          </p:cNvPr>
          <p:cNvSpPr/>
          <p:nvPr/>
        </p:nvSpPr>
        <p:spPr>
          <a:xfrm>
            <a:off x="3234823" y="442693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A$936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0" name="Text 92">
            <a:extLst>
              <a:ext uri="{FF2B5EF4-FFF2-40B4-BE49-F238E27FC236}">
                <a16:creationId xmlns:a16="http://schemas.microsoft.com/office/drawing/2014/main" id="{7F8D2BA9-4E8F-4DAB-AEB2-AC3205256A30}"/>
              </a:ext>
            </a:extLst>
          </p:cNvPr>
          <p:cNvSpPr/>
          <p:nvPr/>
        </p:nvSpPr>
        <p:spPr>
          <a:xfrm>
            <a:off x="2503303" y="471496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剩余本金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" name="Text 93">
            <a:extLst>
              <a:ext uri="{FF2B5EF4-FFF2-40B4-BE49-F238E27FC236}">
                <a16:creationId xmlns:a16="http://schemas.microsoft.com/office/drawing/2014/main" id="{7CEB65BC-87D9-442B-BFE7-3C434F15DEC9}"/>
              </a:ext>
            </a:extLst>
          </p:cNvPr>
          <p:cNvSpPr/>
          <p:nvPr/>
        </p:nvSpPr>
        <p:spPr>
          <a:xfrm>
            <a:off x="3234823" y="471496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A$564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" name="Text 94">
            <a:extLst>
              <a:ext uri="{FF2B5EF4-FFF2-40B4-BE49-F238E27FC236}">
                <a16:creationId xmlns:a16="http://schemas.microsoft.com/office/drawing/2014/main" id="{B9FD79F0-C115-4AB9-B8ED-131C45252F34}"/>
              </a:ext>
            </a:extLst>
          </p:cNvPr>
          <p:cNvSpPr/>
          <p:nvPr/>
        </p:nvSpPr>
        <p:spPr>
          <a:xfrm>
            <a:off x="2503303" y="500300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偿还进度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3" name="Text 95">
            <a:extLst>
              <a:ext uri="{FF2B5EF4-FFF2-40B4-BE49-F238E27FC236}">
                <a16:creationId xmlns:a16="http://schemas.microsoft.com/office/drawing/2014/main" id="{6C02DC21-E1C2-4A1A-B31D-18F24FBE5E61}"/>
              </a:ext>
            </a:extLst>
          </p:cNvPr>
          <p:cNvSpPr/>
          <p:nvPr/>
        </p:nvSpPr>
        <p:spPr>
          <a:xfrm>
            <a:off x="3234823" y="500300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62%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4" name="Text 96">
            <a:extLst>
              <a:ext uri="{FF2B5EF4-FFF2-40B4-BE49-F238E27FC236}">
                <a16:creationId xmlns:a16="http://schemas.microsoft.com/office/drawing/2014/main" id="{6281DCF0-BD4F-49FB-A5CE-0EB40910F3AE}"/>
              </a:ext>
            </a:extLst>
          </p:cNvPr>
          <p:cNvSpPr/>
          <p:nvPr/>
        </p:nvSpPr>
        <p:spPr>
          <a:xfrm>
            <a:off x="2503303" y="529103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APR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5" name="Text 97">
            <a:extLst>
              <a:ext uri="{FF2B5EF4-FFF2-40B4-BE49-F238E27FC236}">
                <a16:creationId xmlns:a16="http://schemas.microsoft.com/office/drawing/2014/main" id="{03E0FCBE-AF3A-4BB1-889A-C8E3AEAD4782}"/>
              </a:ext>
            </a:extLst>
          </p:cNvPr>
          <p:cNvSpPr/>
          <p:nvPr/>
        </p:nvSpPr>
        <p:spPr>
          <a:xfrm>
            <a:off x="3234823" y="529103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42%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6" name="Text 98">
            <a:extLst>
              <a:ext uri="{FF2B5EF4-FFF2-40B4-BE49-F238E27FC236}">
                <a16:creationId xmlns:a16="http://schemas.microsoft.com/office/drawing/2014/main" id="{05926D2D-AFF2-4F95-A8D7-64F4C8818F1F}"/>
              </a:ext>
            </a:extLst>
          </p:cNvPr>
          <p:cNvSpPr/>
          <p:nvPr/>
        </p:nvSpPr>
        <p:spPr>
          <a:xfrm>
            <a:off x="2503303" y="557907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预计总还款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7" name="Text 99">
            <a:extLst>
              <a:ext uri="{FF2B5EF4-FFF2-40B4-BE49-F238E27FC236}">
                <a16:creationId xmlns:a16="http://schemas.microsoft.com/office/drawing/2014/main" id="{299E606E-37A1-49BB-BEA7-984421190C4E}"/>
              </a:ext>
            </a:extLst>
          </p:cNvPr>
          <p:cNvSpPr/>
          <p:nvPr/>
        </p:nvSpPr>
        <p:spPr>
          <a:xfrm>
            <a:off x="3234823" y="557907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A$1,872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8" name="Text 100">
            <a:extLst>
              <a:ext uri="{FF2B5EF4-FFF2-40B4-BE49-F238E27FC236}">
                <a16:creationId xmlns:a16="http://schemas.microsoft.com/office/drawing/2014/main" id="{B400773D-92C3-401C-812A-1073FF7B9F12}"/>
              </a:ext>
            </a:extLst>
          </p:cNvPr>
          <p:cNvSpPr/>
          <p:nvPr/>
        </p:nvSpPr>
        <p:spPr>
          <a:xfrm>
            <a:off x="2503303" y="586711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利息成本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9" name="Text 101">
            <a:extLst>
              <a:ext uri="{FF2B5EF4-FFF2-40B4-BE49-F238E27FC236}">
                <a16:creationId xmlns:a16="http://schemas.microsoft.com/office/drawing/2014/main" id="{CA294CE9-8E97-4AE1-93CA-358A3DBE4F5D}"/>
              </a:ext>
            </a:extLst>
          </p:cNvPr>
          <p:cNvSpPr/>
          <p:nvPr/>
        </p:nvSpPr>
        <p:spPr>
          <a:xfrm>
            <a:off x="3234823" y="586711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A$372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FF09D450-8F80-484F-BAFB-2EE32790E985}"/>
              </a:ext>
            </a:extLst>
          </p:cNvPr>
          <p:cNvGrpSpPr/>
          <p:nvPr/>
        </p:nvGrpSpPr>
        <p:grpSpPr>
          <a:xfrm>
            <a:off x="683512" y="3743557"/>
            <a:ext cx="5138928" cy="256032"/>
            <a:chOff x="751264" y="3861602"/>
            <a:chExt cx="5138928" cy="256032"/>
          </a:xfrm>
        </p:grpSpPr>
        <p:sp>
          <p:nvSpPr>
            <p:cNvPr id="66" name="Shape 74">
              <a:extLst>
                <a:ext uri="{FF2B5EF4-FFF2-40B4-BE49-F238E27FC236}">
                  <a16:creationId xmlns:a16="http://schemas.microsoft.com/office/drawing/2014/main" id="{B05981E9-E178-4CBD-B13E-D58E9E385B87}"/>
                </a:ext>
              </a:extLst>
            </p:cNvPr>
            <p:cNvSpPr/>
            <p:nvPr/>
          </p:nvSpPr>
          <p:spPr>
            <a:xfrm>
              <a:off x="751264" y="3889034"/>
              <a:ext cx="0" cy="228600"/>
            </a:xfrm>
            <a:prstGeom prst="line">
              <a:avLst/>
            </a:prstGeom>
            <a:noFill/>
            <a:ln w="25400">
              <a:solidFill>
                <a:srgbClr val="D99A00"/>
              </a:solidFill>
              <a:prstDash val="solid"/>
            </a:ln>
          </p:spPr>
        </p:sp>
        <p:sp>
          <p:nvSpPr>
            <p:cNvPr id="67" name="Text 75">
              <a:extLst>
                <a:ext uri="{FF2B5EF4-FFF2-40B4-BE49-F238E27FC236}">
                  <a16:creationId xmlns:a16="http://schemas.microsoft.com/office/drawing/2014/main" id="{6E969A5F-FBDC-425D-BC2F-BD774DC9B480}"/>
                </a:ext>
              </a:extLst>
            </p:cNvPr>
            <p:cNvSpPr/>
            <p:nvPr/>
          </p:nvSpPr>
          <p:spPr>
            <a:xfrm>
              <a:off x="824416" y="3861602"/>
              <a:ext cx="155448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183F7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Noto Sans CJK SC" pitchFamily="34" charset="-120"/>
                </a:rPr>
                <a:t>还款计划</a:t>
              </a:r>
              <a:endParaRPr lang="en-US" sz="11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8" name="Shape 86">
              <a:extLst>
                <a:ext uri="{FF2B5EF4-FFF2-40B4-BE49-F238E27FC236}">
                  <a16:creationId xmlns:a16="http://schemas.microsoft.com/office/drawing/2014/main" id="{C2D6AF55-6B82-4A16-B7A9-2CB30B178247}"/>
                </a:ext>
              </a:extLst>
            </p:cNvPr>
            <p:cNvSpPr/>
            <p:nvPr/>
          </p:nvSpPr>
          <p:spPr>
            <a:xfrm>
              <a:off x="2506912" y="3889034"/>
              <a:ext cx="0" cy="228600"/>
            </a:xfrm>
            <a:prstGeom prst="line">
              <a:avLst/>
            </a:prstGeom>
            <a:noFill/>
            <a:ln w="25400">
              <a:solidFill>
                <a:srgbClr val="D99A00"/>
              </a:solidFill>
              <a:prstDash val="solid"/>
            </a:ln>
          </p:spPr>
        </p:sp>
        <p:sp>
          <p:nvSpPr>
            <p:cNvPr id="79" name="Text 87">
              <a:extLst>
                <a:ext uri="{FF2B5EF4-FFF2-40B4-BE49-F238E27FC236}">
                  <a16:creationId xmlns:a16="http://schemas.microsoft.com/office/drawing/2014/main" id="{27249E61-3286-48E4-A2A5-068CC3B6A741}"/>
                </a:ext>
              </a:extLst>
            </p:cNvPr>
            <p:cNvSpPr/>
            <p:nvPr/>
          </p:nvSpPr>
          <p:spPr>
            <a:xfrm>
              <a:off x="2580064" y="3861602"/>
              <a:ext cx="155448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183F7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Noto Sans CJK SC" pitchFamily="34" charset="-120"/>
                </a:rPr>
                <a:t>本金与定价</a:t>
              </a:r>
              <a:endParaRPr lang="en-US" sz="11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0" name="Shape 102">
              <a:extLst>
                <a:ext uri="{FF2B5EF4-FFF2-40B4-BE49-F238E27FC236}">
                  <a16:creationId xmlns:a16="http://schemas.microsoft.com/office/drawing/2014/main" id="{A42D819D-75FD-42BC-A54C-26D8C8285554}"/>
                </a:ext>
              </a:extLst>
            </p:cNvPr>
            <p:cNvSpPr/>
            <p:nvPr/>
          </p:nvSpPr>
          <p:spPr>
            <a:xfrm>
              <a:off x="4262560" y="3889034"/>
              <a:ext cx="0" cy="228600"/>
            </a:xfrm>
            <a:prstGeom prst="line">
              <a:avLst/>
            </a:prstGeom>
            <a:noFill/>
            <a:ln w="25400">
              <a:solidFill>
                <a:srgbClr val="D99A00"/>
              </a:solidFill>
              <a:prstDash val="solid"/>
            </a:ln>
          </p:spPr>
        </p:sp>
        <p:sp>
          <p:nvSpPr>
            <p:cNvPr id="101" name="Text 103">
              <a:extLst>
                <a:ext uri="{FF2B5EF4-FFF2-40B4-BE49-F238E27FC236}">
                  <a16:creationId xmlns:a16="http://schemas.microsoft.com/office/drawing/2014/main" id="{8AE3586E-29B5-4903-AFC6-2B95A8D6005A}"/>
                </a:ext>
              </a:extLst>
            </p:cNvPr>
            <p:cNvSpPr/>
            <p:nvPr/>
          </p:nvSpPr>
          <p:spPr>
            <a:xfrm>
              <a:off x="4335712" y="3861602"/>
              <a:ext cx="155448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183F7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Noto Sans CJK SC" pitchFamily="34" charset="-120"/>
                </a:rPr>
                <a:t>本笔履约</a:t>
              </a:r>
              <a:endParaRPr lang="en-US" sz="11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02" name="Text 104">
            <a:extLst>
              <a:ext uri="{FF2B5EF4-FFF2-40B4-BE49-F238E27FC236}">
                <a16:creationId xmlns:a16="http://schemas.microsoft.com/office/drawing/2014/main" id="{33BFD9A6-3172-4F25-B3AB-10799F39FCF6}"/>
              </a:ext>
            </a:extLst>
          </p:cNvPr>
          <p:cNvSpPr/>
          <p:nvPr/>
        </p:nvSpPr>
        <p:spPr>
          <a:xfrm>
            <a:off x="4258951" y="413889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产品类型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3" name="Text 105">
            <a:extLst>
              <a:ext uri="{FF2B5EF4-FFF2-40B4-BE49-F238E27FC236}">
                <a16:creationId xmlns:a16="http://schemas.microsoft.com/office/drawing/2014/main" id="{230CA9E7-6CEC-47CD-9BD6-B193F9E6083C}"/>
              </a:ext>
            </a:extLst>
          </p:cNvPr>
          <p:cNvSpPr/>
          <p:nvPr/>
        </p:nvSpPr>
        <p:spPr>
          <a:xfrm>
            <a:off x="5034921" y="413889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SACC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4" name="Text 106">
            <a:extLst>
              <a:ext uri="{FF2B5EF4-FFF2-40B4-BE49-F238E27FC236}">
                <a16:creationId xmlns:a16="http://schemas.microsoft.com/office/drawing/2014/main" id="{A7E9D5DA-432F-48AC-9BC5-E521D78D6DF2}"/>
              </a:ext>
            </a:extLst>
          </p:cNvPr>
          <p:cNvSpPr/>
          <p:nvPr/>
        </p:nvSpPr>
        <p:spPr>
          <a:xfrm>
            <a:off x="4258951" y="442693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贷款状态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Text 107">
            <a:extLst>
              <a:ext uri="{FF2B5EF4-FFF2-40B4-BE49-F238E27FC236}">
                <a16:creationId xmlns:a16="http://schemas.microsoft.com/office/drawing/2014/main" id="{1E5C877F-E502-4487-9B47-337F0199DC48}"/>
              </a:ext>
            </a:extLst>
          </p:cNvPr>
          <p:cNvSpPr/>
          <p:nvPr/>
        </p:nvSpPr>
        <p:spPr>
          <a:xfrm>
            <a:off x="5034921" y="442693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在贷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6" name="Text 108">
            <a:extLst>
              <a:ext uri="{FF2B5EF4-FFF2-40B4-BE49-F238E27FC236}">
                <a16:creationId xmlns:a16="http://schemas.microsoft.com/office/drawing/2014/main" id="{18223707-1726-4DEB-9859-40908F2E7A05}"/>
              </a:ext>
            </a:extLst>
          </p:cNvPr>
          <p:cNvSpPr/>
          <p:nvPr/>
        </p:nvSpPr>
        <p:spPr>
          <a:xfrm>
            <a:off x="4258951" y="471496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扣款失败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7" name="Text 109">
            <a:extLst>
              <a:ext uri="{FF2B5EF4-FFF2-40B4-BE49-F238E27FC236}">
                <a16:creationId xmlns:a16="http://schemas.microsoft.com/office/drawing/2014/main" id="{FEFD746B-B0F7-452B-A203-41854F75FD2B}"/>
              </a:ext>
            </a:extLst>
          </p:cNvPr>
          <p:cNvSpPr/>
          <p:nvPr/>
        </p:nvSpPr>
        <p:spPr>
          <a:xfrm>
            <a:off x="5034921" y="471496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1次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8" name="Text 110">
            <a:extLst>
              <a:ext uri="{FF2B5EF4-FFF2-40B4-BE49-F238E27FC236}">
                <a16:creationId xmlns:a16="http://schemas.microsoft.com/office/drawing/2014/main" id="{EE952F57-3791-4D8A-B61A-A42DB918843D}"/>
              </a:ext>
            </a:extLst>
          </p:cNvPr>
          <p:cNvSpPr/>
          <p:nvPr/>
        </p:nvSpPr>
        <p:spPr>
          <a:xfrm>
            <a:off x="4258951" y="500300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累计逾期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9" name="Text 111">
            <a:extLst>
              <a:ext uri="{FF2B5EF4-FFF2-40B4-BE49-F238E27FC236}">
                <a16:creationId xmlns:a16="http://schemas.microsoft.com/office/drawing/2014/main" id="{075C5894-394A-491D-AC9C-F7F15DE42C3D}"/>
              </a:ext>
            </a:extLst>
          </p:cNvPr>
          <p:cNvSpPr/>
          <p:nvPr/>
        </p:nvSpPr>
        <p:spPr>
          <a:xfrm>
            <a:off x="5034921" y="500300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1次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0" name="Text 112">
            <a:extLst>
              <a:ext uri="{FF2B5EF4-FFF2-40B4-BE49-F238E27FC236}">
                <a16:creationId xmlns:a16="http://schemas.microsoft.com/office/drawing/2014/main" id="{D071FDBE-7A25-49E4-97AA-5595430CC2C4}"/>
              </a:ext>
            </a:extLst>
          </p:cNvPr>
          <p:cNvSpPr/>
          <p:nvPr/>
        </p:nvSpPr>
        <p:spPr>
          <a:xfrm>
            <a:off x="4258951" y="529103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最长逾期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1" name="Text 113">
            <a:extLst>
              <a:ext uri="{FF2B5EF4-FFF2-40B4-BE49-F238E27FC236}">
                <a16:creationId xmlns:a16="http://schemas.microsoft.com/office/drawing/2014/main" id="{ABBC5529-722A-4FFC-99F2-AB3ECE21C3DF}"/>
              </a:ext>
            </a:extLst>
          </p:cNvPr>
          <p:cNvSpPr/>
          <p:nvPr/>
        </p:nvSpPr>
        <p:spPr>
          <a:xfrm>
            <a:off x="5034921" y="529103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5天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2" name="Text 114">
            <a:extLst>
              <a:ext uri="{FF2B5EF4-FFF2-40B4-BE49-F238E27FC236}">
                <a16:creationId xmlns:a16="http://schemas.microsoft.com/office/drawing/2014/main" id="{9256A285-677F-4934-9013-48556219BECB}"/>
              </a:ext>
            </a:extLst>
          </p:cNvPr>
          <p:cNvSpPr/>
          <p:nvPr/>
        </p:nvSpPr>
        <p:spPr>
          <a:xfrm>
            <a:off x="4258951" y="557907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当前逾期金额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3" name="Text 115">
            <a:extLst>
              <a:ext uri="{FF2B5EF4-FFF2-40B4-BE49-F238E27FC236}">
                <a16:creationId xmlns:a16="http://schemas.microsoft.com/office/drawing/2014/main" id="{F0147BC1-EEE0-4AEB-9A99-51E75BAD06BA}"/>
              </a:ext>
            </a:extLst>
          </p:cNvPr>
          <p:cNvSpPr/>
          <p:nvPr/>
        </p:nvSpPr>
        <p:spPr>
          <a:xfrm>
            <a:off x="5034921" y="557907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A$0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0" name="Text 118">
            <a:extLst>
              <a:ext uri="{FF2B5EF4-FFF2-40B4-BE49-F238E27FC236}">
                <a16:creationId xmlns:a16="http://schemas.microsoft.com/office/drawing/2014/main" id="{4000C133-829E-4A58-A3E8-6EEC6586B850}"/>
              </a:ext>
            </a:extLst>
          </p:cNvPr>
          <p:cNvSpPr/>
          <p:nvPr/>
        </p:nvSpPr>
        <p:spPr>
          <a:xfrm>
            <a:off x="6424253" y="411777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预计待还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5" name="Text 119">
            <a:extLst>
              <a:ext uri="{FF2B5EF4-FFF2-40B4-BE49-F238E27FC236}">
                <a16:creationId xmlns:a16="http://schemas.microsoft.com/office/drawing/2014/main" id="{5ED42BA1-5051-46FE-A7D0-F88D01BCED2E}"/>
              </a:ext>
            </a:extLst>
          </p:cNvPr>
          <p:cNvSpPr/>
          <p:nvPr/>
        </p:nvSpPr>
        <p:spPr>
          <a:xfrm>
            <a:off x="7155773" y="4117772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A$1,016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7" name="Text 120">
            <a:extLst>
              <a:ext uri="{FF2B5EF4-FFF2-40B4-BE49-F238E27FC236}">
                <a16:creationId xmlns:a16="http://schemas.microsoft.com/office/drawing/2014/main" id="{3D776087-B0A1-458A-82D5-02768C9C3EA5}"/>
              </a:ext>
            </a:extLst>
          </p:cNvPr>
          <p:cNvSpPr/>
          <p:nvPr/>
        </p:nvSpPr>
        <p:spPr>
          <a:xfrm>
            <a:off x="6424253" y="440580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平均月还款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2" name="Text 121">
            <a:extLst>
              <a:ext uri="{FF2B5EF4-FFF2-40B4-BE49-F238E27FC236}">
                <a16:creationId xmlns:a16="http://schemas.microsoft.com/office/drawing/2014/main" id="{CC34E4D6-9948-4A85-AF19-EB4859269835}"/>
              </a:ext>
            </a:extLst>
          </p:cNvPr>
          <p:cNvSpPr/>
          <p:nvPr/>
        </p:nvSpPr>
        <p:spPr>
          <a:xfrm>
            <a:off x="7155773" y="440580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A$428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3" name="Text 122">
            <a:extLst>
              <a:ext uri="{FF2B5EF4-FFF2-40B4-BE49-F238E27FC236}">
                <a16:creationId xmlns:a16="http://schemas.microsoft.com/office/drawing/2014/main" id="{9F71F927-F6FB-44A4-B5BD-FAE70AD9E5B1}"/>
              </a:ext>
            </a:extLst>
          </p:cNvPr>
          <p:cNvSpPr/>
          <p:nvPr/>
        </p:nvSpPr>
        <p:spPr>
          <a:xfrm>
            <a:off x="6424253" y="469384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负债机构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4" name="Text 123">
            <a:extLst>
              <a:ext uri="{FF2B5EF4-FFF2-40B4-BE49-F238E27FC236}">
                <a16:creationId xmlns:a16="http://schemas.microsoft.com/office/drawing/2014/main" id="{6FD7F718-8A52-46A1-8418-5783CE8F2CD2}"/>
              </a:ext>
            </a:extLst>
          </p:cNvPr>
          <p:cNvSpPr/>
          <p:nvPr/>
        </p:nvSpPr>
        <p:spPr>
          <a:xfrm>
            <a:off x="7155773" y="4693844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2家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5" name="Text 124">
            <a:extLst>
              <a:ext uri="{FF2B5EF4-FFF2-40B4-BE49-F238E27FC236}">
                <a16:creationId xmlns:a16="http://schemas.microsoft.com/office/drawing/2014/main" id="{A6D8E11C-FAAB-46F8-9A61-A1D29098DD41}"/>
              </a:ext>
            </a:extLst>
          </p:cNvPr>
          <p:cNvSpPr/>
          <p:nvPr/>
        </p:nvSpPr>
        <p:spPr>
          <a:xfrm>
            <a:off x="6424253" y="498188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在贷笔数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6" name="Text 125">
            <a:extLst>
              <a:ext uri="{FF2B5EF4-FFF2-40B4-BE49-F238E27FC236}">
                <a16:creationId xmlns:a16="http://schemas.microsoft.com/office/drawing/2014/main" id="{2DC3D885-265B-41FB-9BAC-19F69855571B}"/>
              </a:ext>
            </a:extLst>
          </p:cNvPr>
          <p:cNvSpPr/>
          <p:nvPr/>
        </p:nvSpPr>
        <p:spPr>
          <a:xfrm>
            <a:off x="7155773" y="4981880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3笔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7" name="Text 126">
            <a:extLst>
              <a:ext uri="{FF2B5EF4-FFF2-40B4-BE49-F238E27FC236}">
                <a16:creationId xmlns:a16="http://schemas.microsoft.com/office/drawing/2014/main" id="{0C0EDCD6-5589-4CFF-9C00-934CB5FBA5D4}"/>
              </a:ext>
            </a:extLst>
          </p:cNvPr>
          <p:cNvSpPr/>
          <p:nvPr/>
        </p:nvSpPr>
        <p:spPr>
          <a:xfrm>
            <a:off x="6424253" y="52699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负债结构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8" name="Text 127">
            <a:extLst>
              <a:ext uri="{FF2B5EF4-FFF2-40B4-BE49-F238E27FC236}">
                <a16:creationId xmlns:a16="http://schemas.microsoft.com/office/drawing/2014/main" id="{06CF59B5-F0FC-47A7-B5DB-50FD84BF7683}"/>
              </a:ext>
            </a:extLst>
          </p:cNvPr>
          <p:cNvSpPr/>
          <p:nvPr/>
        </p:nvSpPr>
        <p:spPr>
          <a:xfrm>
            <a:off x="7146765" y="5468707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SACC 65% / Non-SACC 15% / BNPL 20%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1" name="Text 130">
            <a:extLst>
              <a:ext uri="{FF2B5EF4-FFF2-40B4-BE49-F238E27FC236}">
                <a16:creationId xmlns:a16="http://schemas.microsoft.com/office/drawing/2014/main" id="{F3A813AD-97F8-42F1-B282-F64A1C054131}"/>
              </a:ext>
            </a:extLst>
          </p:cNvPr>
          <p:cNvSpPr/>
          <p:nvPr/>
        </p:nvSpPr>
        <p:spPr>
          <a:xfrm>
            <a:off x="8234765" y="4117772"/>
            <a:ext cx="8905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近90天新增借款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2" name="Text 131">
            <a:extLst>
              <a:ext uri="{FF2B5EF4-FFF2-40B4-BE49-F238E27FC236}">
                <a16:creationId xmlns:a16="http://schemas.microsoft.com/office/drawing/2014/main" id="{6347F81E-CE45-4051-8BC3-7B7135580484}"/>
              </a:ext>
            </a:extLst>
          </p:cNvPr>
          <p:cNvSpPr/>
          <p:nvPr/>
        </p:nvSpPr>
        <p:spPr>
          <a:xfrm>
            <a:off x="9201235" y="4117772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1笔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3" name="Text 132">
            <a:extLst>
              <a:ext uri="{FF2B5EF4-FFF2-40B4-BE49-F238E27FC236}">
                <a16:creationId xmlns:a16="http://schemas.microsoft.com/office/drawing/2014/main" id="{15E6243C-4958-482A-B54B-7DCA8632358F}"/>
              </a:ext>
            </a:extLst>
          </p:cNvPr>
          <p:cNvSpPr/>
          <p:nvPr/>
        </p:nvSpPr>
        <p:spPr>
          <a:xfrm>
            <a:off x="8234765" y="440580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90天借款金额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4" name="Text 133">
            <a:extLst>
              <a:ext uri="{FF2B5EF4-FFF2-40B4-BE49-F238E27FC236}">
                <a16:creationId xmlns:a16="http://schemas.microsoft.com/office/drawing/2014/main" id="{0A5CC1E4-A9EF-4173-81EF-06564456DD66}"/>
              </a:ext>
            </a:extLst>
          </p:cNvPr>
          <p:cNvSpPr/>
          <p:nvPr/>
        </p:nvSpPr>
        <p:spPr>
          <a:xfrm>
            <a:off x="9201235" y="440580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A$2,300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5" name="Text 134">
            <a:extLst>
              <a:ext uri="{FF2B5EF4-FFF2-40B4-BE49-F238E27FC236}">
                <a16:creationId xmlns:a16="http://schemas.microsoft.com/office/drawing/2014/main" id="{6D94C9CD-69E3-4AC3-BF41-D36352AA2496}"/>
              </a:ext>
            </a:extLst>
          </p:cNvPr>
          <p:cNvSpPr/>
          <p:nvPr/>
        </p:nvSpPr>
        <p:spPr>
          <a:xfrm>
            <a:off x="8234765" y="469384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历史贷款笔数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6" name="Text 135">
            <a:extLst>
              <a:ext uri="{FF2B5EF4-FFF2-40B4-BE49-F238E27FC236}">
                <a16:creationId xmlns:a16="http://schemas.microsoft.com/office/drawing/2014/main" id="{AA56E2B0-19E1-49F5-BE4C-541B13BCCA7D}"/>
              </a:ext>
            </a:extLst>
          </p:cNvPr>
          <p:cNvSpPr/>
          <p:nvPr/>
        </p:nvSpPr>
        <p:spPr>
          <a:xfrm>
            <a:off x="9201235" y="4693844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5笔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7" name="Text 136">
            <a:extLst>
              <a:ext uri="{FF2B5EF4-FFF2-40B4-BE49-F238E27FC236}">
                <a16:creationId xmlns:a16="http://schemas.microsoft.com/office/drawing/2014/main" id="{19A2F019-FCA1-44C6-9C3A-8E51F7EECF69}"/>
              </a:ext>
            </a:extLst>
          </p:cNvPr>
          <p:cNvSpPr/>
          <p:nvPr/>
        </p:nvSpPr>
        <p:spPr>
          <a:xfrm>
            <a:off x="8234765" y="498188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最早借款距今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8" name="Text 137">
            <a:extLst>
              <a:ext uri="{FF2B5EF4-FFF2-40B4-BE49-F238E27FC236}">
                <a16:creationId xmlns:a16="http://schemas.microsoft.com/office/drawing/2014/main" id="{94B44A55-44E0-4383-A746-77D5D6613E04}"/>
              </a:ext>
            </a:extLst>
          </p:cNvPr>
          <p:cNvSpPr/>
          <p:nvPr/>
        </p:nvSpPr>
        <p:spPr>
          <a:xfrm>
            <a:off x="9201235" y="4981880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45天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9" name="Text 138">
            <a:extLst>
              <a:ext uri="{FF2B5EF4-FFF2-40B4-BE49-F238E27FC236}">
                <a16:creationId xmlns:a16="http://schemas.microsoft.com/office/drawing/2014/main" id="{2C6767C0-B0FF-426A-B659-4E3627B66697}"/>
              </a:ext>
            </a:extLst>
          </p:cNvPr>
          <p:cNvSpPr/>
          <p:nvPr/>
        </p:nvSpPr>
        <p:spPr>
          <a:xfrm>
            <a:off x="8234765" y="52699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还款中断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0" name="Text 139">
            <a:extLst>
              <a:ext uri="{FF2B5EF4-FFF2-40B4-BE49-F238E27FC236}">
                <a16:creationId xmlns:a16="http://schemas.microsoft.com/office/drawing/2014/main" id="{FB090E7D-AB3F-4FF1-B888-E3EBF2E3AB82}"/>
              </a:ext>
            </a:extLst>
          </p:cNvPr>
          <p:cNvSpPr/>
          <p:nvPr/>
        </p:nvSpPr>
        <p:spPr>
          <a:xfrm>
            <a:off x="9201235" y="5269916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0次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853B6FF1-E1E7-4D5A-884F-7D554F438873}"/>
              </a:ext>
            </a:extLst>
          </p:cNvPr>
          <p:cNvGrpSpPr/>
          <p:nvPr/>
        </p:nvGrpSpPr>
        <p:grpSpPr>
          <a:xfrm>
            <a:off x="6351101" y="3744138"/>
            <a:ext cx="5605272" cy="256032"/>
            <a:chOff x="6283385" y="3874883"/>
            <a:chExt cx="5605272" cy="256032"/>
          </a:xfrm>
        </p:grpSpPr>
        <p:sp>
          <p:nvSpPr>
            <p:cNvPr id="114" name="Shape 116">
              <a:extLst>
                <a:ext uri="{FF2B5EF4-FFF2-40B4-BE49-F238E27FC236}">
                  <a16:creationId xmlns:a16="http://schemas.microsoft.com/office/drawing/2014/main" id="{79360BE7-9EB9-4203-850E-DA0FDA5684AF}"/>
                </a:ext>
              </a:extLst>
            </p:cNvPr>
            <p:cNvSpPr/>
            <p:nvPr/>
          </p:nvSpPr>
          <p:spPr>
            <a:xfrm>
              <a:off x="6283385" y="3902315"/>
              <a:ext cx="0" cy="228600"/>
            </a:xfrm>
            <a:prstGeom prst="line">
              <a:avLst/>
            </a:prstGeom>
            <a:noFill/>
            <a:ln w="25400">
              <a:solidFill>
                <a:srgbClr val="D99A00"/>
              </a:solidFill>
              <a:prstDash val="solid"/>
            </a:ln>
          </p:spPr>
        </p:sp>
        <p:sp>
          <p:nvSpPr>
            <p:cNvPr id="115" name="Text 117">
              <a:extLst>
                <a:ext uri="{FF2B5EF4-FFF2-40B4-BE49-F238E27FC236}">
                  <a16:creationId xmlns:a16="http://schemas.microsoft.com/office/drawing/2014/main" id="{3D3CA811-5D4D-4D41-8CA7-0E6F296925D9}"/>
                </a:ext>
              </a:extLst>
            </p:cNvPr>
            <p:cNvSpPr/>
            <p:nvPr/>
          </p:nvSpPr>
          <p:spPr>
            <a:xfrm>
              <a:off x="6356537" y="3874883"/>
              <a:ext cx="1591056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183F7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Noto Sans CJK SC" pitchFamily="34" charset="-120"/>
                </a:rPr>
                <a:t>负债敞口与结构</a:t>
              </a:r>
              <a:endParaRPr lang="en-US" sz="11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9" name="Shape 128">
              <a:extLst>
                <a:ext uri="{FF2B5EF4-FFF2-40B4-BE49-F238E27FC236}">
                  <a16:creationId xmlns:a16="http://schemas.microsoft.com/office/drawing/2014/main" id="{3EC7F01A-1C91-4E34-8CEA-FC75587A9796}"/>
                </a:ext>
              </a:extLst>
            </p:cNvPr>
            <p:cNvSpPr/>
            <p:nvPr/>
          </p:nvSpPr>
          <p:spPr>
            <a:xfrm>
              <a:off x="8093897" y="3902315"/>
              <a:ext cx="0" cy="228600"/>
            </a:xfrm>
            <a:prstGeom prst="line">
              <a:avLst/>
            </a:prstGeom>
            <a:noFill/>
            <a:ln w="25400">
              <a:solidFill>
                <a:srgbClr val="D99A00"/>
              </a:solidFill>
              <a:prstDash val="solid"/>
            </a:ln>
          </p:spPr>
        </p:sp>
        <p:sp>
          <p:nvSpPr>
            <p:cNvPr id="170" name="Text 129">
              <a:extLst>
                <a:ext uri="{FF2B5EF4-FFF2-40B4-BE49-F238E27FC236}">
                  <a16:creationId xmlns:a16="http://schemas.microsoft.com/office/drawing/2014/main" id="{FDA29145-8898-4C7B-B2B0-58AFEE0E1891}"/>
                </a:ext>
              </a:extLst>
            </p:cNvPr>
            <p:cNvSpPr/>
            <p:nvPr/>
          </p:nvSpPr>
          <p:spPr>
            <a:xfrm>
              <a:off x="8167049" y="3874883"/>
              <a:ext cx="1591056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183F7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Noto Sans CJK SC" pitchFamily="34" charset="-120"/>
                </a:rPr>
                <a:t>近期借贷活跃度</a:t>
              </a:r>
              <a:endParaRPr lang="en-US" sz="11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1" name="Shape 140">
              <a:extLst>
                <a:ext uri="{FF2B5EF4-FFF2-40B4-BE49-F238E27FC236}">
                  <a16:creationId xmlns:a16="http://schemas.microsoft.com/office/drawing/2014/main" id="{E2D92EF8-60C2-4714-B29D-7DCED630816F}"/>
                </a:ext>
              </a:extLst>
            </p:cNvPr>
            <p:cNvSpPr/>
            <p:nvPr/>
          </p:nvSpPr>
          <p:spPr>
            <a:xfrm>
              <a:off x="9904409" y="3902315"/>
              <a:ext cx="0" cy="228600"/>
            </a:xfrm>
            <a:prstGeom prst="line">
              <a:avLst/>
            </a:prstGeom>
            <a:noFill/>
            <a:ln w="25400">
              <a:solidFill>
                <a:srgbClr val="D99A00"/>
              </a:solidFill>
              <a:prstDash val="solid"/>
            </a:ln>
          </p:spPr>
        </p:sp>
        <p:sp>
          <p:nvSpPr>
            <p:cNvPr id="182" name="Text 141">
              <a:extLst>
                <a:ext uri="{FF2B5EF4-FFF2-40B4-BE49-F238E27FC236}">
                  <a16:creationId xmlns:a16="http://schemas.microsoft.com/office/drawing/2014/main" id="{5A2A16E4-BE93-4D09-9836-2BF25434F603}"/>
                </a:ext>
              </a:extLst>
            </p:cNvPr>
            <p:cNvSpPr/>
            <p:nvPr/>
          </p:nvSpPr>
          <p:spPr>
            <a:xfrm>
              <a:off x="9977561" y="3874883"/>
              <a:ext cx="1911096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183F7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Noto Sans CJK SC" pitchFamily="34" charset="-120"/>
                </a:rPr>
                <a:t>整体偿债稳定性</a:t>
              </a:r>
              <a:endParaRPr lang="en-US" sz="11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83" name="Text 142">
            <a:extLst>
              <a:ext uri="{FF2B5EF4-FFF2-40B4-BE49-F238E27FC236}">
                <a16:creationId xmlns:a16="http://schemas.microsoft.com/office/drawing/2014/main" id="{3D8F4A83-F07F-4D69-85E4-17E365BD06D7}"/>
              </a:ext>
            </a:extLst>
          </p:cNvPr>
          <p:cNvSpPr/>
          <p:nvPr/>
        </p:nvSpPr>
        <p:spPr>
          <a:xfrm>
            <a:off x="10045277" y="411777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正常还款率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4" name="Text 143">
            <a:extLst>
              <a:ext uri="{FF2B5EF4-FFF2-40B4-BE49-F238E27FC236}">
                <a16:creationId xmlns:a16="http://schemas.microsoft.com/office/drawing/2014/main" id="{620E1B21-2345-4863-9ED2-E4F92B7D9031}"/>
              </a:ext>
            </a:extLst>
          </p:cNvPr>
          <p:cNvSpPr/>
          <p:nvPr/>
        </p:nvSpPr>
        <p:spPr>
          <a:xfrm>
            <a:off x="11136649" y="4082147"/>
            <a:ext cx="10881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89%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5" name="Text 144">
            <a:extLst>
              <a:ext uri="{FF2B5EF4-FFF2-40B4-BE49-F238E27FC236}">
                <a16:creationId xmlns:a16="http://schemas.microsoft.com/office/drawing/2014/main" id="{51351C0A-4054-4C51-BABD-BDC7EEC0F161}"/>
              </a:ext>
            </a:extLst>
          </p:cNvPr>
          <p:cNvSpPr/>
          <p:nvPr/>
        </p:nvSpPr>
        <p:spPr>
          <a:xfrm>
            <a:off x="10045277" y="440580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扣款失败率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6" name="Text 145">
            <a:extLst>
              <a:ext uri="{FF2B5EF4-FFF2-40B4-BE49-F238E27FC236}">
                <a16:creationId xmlns:a16="http://schemas.microsoft.com/office/drawing/2014/main" id="{2E2E1EDC-DD66-4D1D-97C2-0216FEB58692}"/>
              </a:ext>
            </a:extLst>
          </p:cNvPr>
          <p:cNvSpPr/>
          <p:nvPr/>
        </p:nvSpPr>
        <p:spPr>
          <a:xfrm>
            <a:off x="11136649" y="4370183"/>
            <a:ext cx="10881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11%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7" name="Text 146">
            <a:extLst>
              <a:ext uri="{FF2B5EF4-FFF2-40B4-BE49-F238E27FC236}">
                <a16:creationId xmlns:a16="http://schemas.microsoft.com/office/drawing/2014/main" id="{03968AED-8E96-4495-B88B-162DC782CC91}"/>
              </a:ext>
            </a:extLst>
          </p:cNvPr>
          <p:cNvSpPr/>
          <p:nvPr/>
        </p:nvSpPr>
        <p:spPr>
          <a:xfrm>
            <a:off x="10045277" y="469384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轻微逾期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8" name="Text 147">
            <a:extLst>
              <a:ext uri="{FF2B5EF4-FFF2-40B4-BE49-F238E27FC236}">
                <a16:creationId xmlns:a16="http://schemas.microsoft.com/office/drawing/2014/main" id="{B7B4330C-7C6D-4954-A857-C2E291CDEACF}"/>
              </a:ext>
            </a:extLst>
          </p:cNvPr>
          <p:cNvSpPr/>
          <p:nvPr/>
        </p:nvSpPr>
        <p:spPr>
          <a:xfrm>
            <a:off x="11136649" y="4658219"/>
            <a:ext cx="10881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1次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9" name="Text 148">
            <a:extLst>
              <a:ext uri="{FF2B5EF4-FFF2-40B4-BE49-F238E27FC236}">
                <a16:creationId xmlns:a16="http://schemas.microsoft.com/office/drawing/2014/main" id="{CA0EFD53-E609-4E6A-BF6A-7415D4909593}"/>
              </a:ext>
            </a:extLst>
          </p:cNvPr>
          <p:cNvSpPr/>
          <p:nvPr/>
        </p:nvSpPr>
        <p:spPr>
          <a:xfrm>
            <a:off x="10045277" y="498188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历史违约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0" name="Text 149">
            <a:extLst>
              <a:ext uri="{FF2B5EF4-FFF2-40B4-BE49-F238E27FC236}">
                <a16:creationId xmlns:a16="http://schemas.microsoft.com/office/drawing/2014/main" id="{D9B532A6-4EA4-4E7E-B908-CFAD99478830}"/>
              </a:ext>
            </a:extLst>
          </p:cNvPr>
          <p:cNvSpPr/>
          <p:nvPr/>
        </p:nvSpPr>
        <p:spPr>
          <a:xfrm>
            <a:off x="11136649" y="4946255"/>
            <a:ext cx="10881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0次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1" name="Text 150">
            <a:extLst>
              <a:ext uri="{FF2B5EF4-FFF2-40B4-BE49-F238E27FC236}">
                <a16:creationId xmlns:a16="http://schemas.microsoft.com/office/drawing/2014/main" id="{A1E5C750-FA9B-4C7A-A6B0-5D84C21B81B3}"/>
              </a:ext>
            </a:extLst>
          </p:cNvPr>
          <p:cNvSpPr/>
          <p:nvPr/>
        </p:nvSpPr>
        <p:spPr>
          <a:xfrm>
            <a:off x="10045277" y="52699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月还款/月收入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2" name="Text 151">
            <a:extLst>
              <a:ext uri="{FF2B5EF4-FFF2-40B4-BE49-F238E27FC236}">
                <a16:creationId xmlns:a16="http://schemas.microsoft.com/office/drawing/2014/main" id="{C1430E7F-5E66-4EBB-95AD-7FCEABACE9D0}"/>
              </a:ext>
            </a:extLst>
          </p:cNvPr>
          <p:cNvSpPr/>
          <p:nvPr/>
        </p:nvSpPr>
        <p:spPr>
          <a:xfrm>
            <a:off x="11136649" y="5234291"/>
            <a:ext cx="10881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5.8%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3" name="Text 152">
            <a:extLst>
              <a:ext uri="{FF2B5EF4-FFF2-40B4-BE49-F238E27FC236}">
                <a16:creationId xmlns:a16="http://schemas.microsoft.com/office/drawing/2014/main" id="{BB9B2F4A-8E92-495D-B7EC-4125153C208B}"/>
              </a:ext>
            </a:extLst>
          </p:cNvPr>
          <p:cNvSpPr/>
          <p:nvPr/>
        </p:nvSpPr>
        <p:spPr>
          <a:xfrm>
            <a:off x="10045277" y="555795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负债/月收入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4" name="Text 153">
            <a:extLst>
              <a:ext uri="{FF2B5EF4-FFF2-40B4-BE49-F238E27FC236}">
                <a16:creationId xmlns:a16="http://schemas.microsoft.com/office/drawing/2014/main" id="{38BF1123-C538-4D2F-A4BA-F004B349C630}"/>
              </a:ext>
            </a:extLst>
          </p:cNvPr>
          <p:cNvSpPr/>
          <p:nvPr/>
        </p:nvSpPr>
        <p:spPr>
          <a:xfrm>
            <a:off x="11136649" y="5522327"/>
            <a:ext cx="10881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13.7%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5" name="Text 154">
            <a:extLst>
              <a:ext uri="{FF2B5EF4-FFF2-40B4-BE49-F238E27FC236}">
                <a16:creationId xmlns:a16="http://schemas.microsoft.com/office/drawing/2014/main" id="{5B8F36C9-3AC2-4D85-8180-D8BD708B877E}"/>
              </a:ext>
            </a:extLst>
          </p:cNvPr>
          <p:cNvSpPr/>
          <p:nvPr/>
        </p:nvSpPr>
        <p:spPr>
          <a:xfrm>
            <a:off x="10045276" y="5845988"/>
            <a:ext cx="96348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近90天负债变化率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6" name="Text 155">
            <a:extLst>
              <a:ext uri="{FF2B5EF4-FFF2-40B4-BE49-F238E27FC236}">
                <a16:creationId xmlns:a16="http://schemas.microsoft.com/office/drawing/2014/main" id="{AADB3053-748C-479C-BE0E-0A54B187CB96}"/>
              </a:ext>
            </a:extLst>
          </p:cNvPr>
          <p:cNvSpPr/>
          <p:nvPr/>
        </p:nvSpPr>
        <p:spPr>
          <a:xfrm>
            <a:off x="11136649" y="5810363"/>
            <a:ext cx="10881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+12%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46ED0182-D914-49D7-9F9F-B3F7EA2828D2}"/>
              </a:ext>
            </a:extLst>
          </p:cNvPr>
          <p:cNvCxnSpPr>
            <a:cxnSpLocks/>
          </p:cNvCxnSpPr>
          <p:nvPr/>
        </p:nvCxnSpPr>
        <p:spPr>
          <a:xfrm>
            <a:off x="6062132" y="3535680"/>
            <a:ext cx="0" cy="249602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Fa-title">
            <a:extLst>
              <a:ext uri="{FF2B5EF4-FFF2-40B4-BE49-F238E27FC236}">
                <a16:creationId xmlns:a16="http://schemas.microsoft.com/office/drawing/2014/main" id="{EAF61F9D-CE56-48FE-ADEC-1CA35490E994}"/>
              </a:ext>
            </a:extLst>
          </p:cNvPr>
          <p:cNvSpPr txBox="1"/>
          <p:nvPr/>
        </p:nvSpPr>
        <p:spPr>
          <a:xfrm>
            <a:off x="8239041" y="1209268"/>
            <a:ext cx="697738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altLang="en-US" sz="1050" b="1" dirty="0">
                <a:solidFill>
                  <a:srgbClr val="D6A000"/>
                </a:solidFill>
                <a:latin typeface="微软雅黑"/>
                <a:ea typeface="微软雅黑"/>
              </a:rPr>
              <a:t>加工字段</a:t>
            </a:r>
            <a:endParaRPr lang="zh-CN" sz="1050" b="1" dirty="0">
              <a:solidFill>
                <a:srgbClr val="D6A000"/>
              </a:solidFill>
              <a:latin typeface="微软雅黑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nd-bg">
            <a:extLst>
              <a:ext uri="{FF2B5EF4-FFF2-40B4-BE49-F238E27FC236}">
                <a16:creationId xmlns:a16="http://schemas.microsoft.com/office/drawing/2014/main" id="{D6429189-C8AA-4544-BEC8-9DF6FD837EF5}"/>
              </a:ext>
            </a:extLst>
          </p:cNvPr>
          <p:cNvSpPr/>
          <p:nvPr/>
        </p:nvSpPr>
        <p:spPr>
          <a:xfrm>
            <a:off x="584453" y="1105291"/>
            <a:ext cx="10871200" cy="50512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D6C6528-4DFB-4D29-B578-BC3E760E6C21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真正的壁垒，不只是模型，而是一套持续进化的分类体系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D96AA42-FD16-4226-8E79-584F342FB5EE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多引擎分工 + AI 知识库 + 质量 Agent，持续发现问题、修正分类并沉淀能力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91A77EEA-A124-4DAB-9FE8-7A3DD468C350}"/>
              </a:ext>
            </a:extLst>
          </p:cNvPr>
          <p:cNvSpPr/>
          <p:nvPr/>
        </p:nvSpPr>
        <p:spPr>
          <a:xfrm>
            <a:off x="568717" y="1707580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2E0EF8C0-7EE5-4A89-9BFB-5F574061D5AA}"/>
              </a:ext>
            </a:extLst>
          </p:cNvPr>
          <p:cNvSpPr txBox="1"/>
          <p:nvPr/>
        </p:nvSpPr>
        <p:spPr>
          <a:xfrm>
            <a:off x="721117" y="169488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1. AI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知识库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Agent：建设与维护</a:t>
            </a:r>
            <a:endParaRPr sz="14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7" name="init-table">
            <a:extLst>
              <a:ext uri="{FF2B5EF4-FFF2-40B4-BE49-F238E27FC236}">
                <a16:creationId xmlns:a16="http://schemas.microsoft.com/office/drawing/2014/main" id="{296C6557-7410-4A1E-A4E0-C1913FA1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821530"/>
              </p:ext>
            </p:extLst>
          </p:nvPr>
        </p:nvGraphicFramePr>
        <p:xfrm>
          <a:off x="568716" y="2274555"/>
          <a:ext cx="5222483" cy="1280160"/>
        </p:xfrm>
        <a:graphic>
          <a:graphicData uri="http://schemas.openxmlformats.org/drawingml/2006/table">
            <a:tbl>
              <a:tblPr/>
              <a:tblGrid>
                <a:gridCol w="1314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1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6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标准商户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关键词／别名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TEMU.COM、TEMU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Online Shopping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Dining 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NETFLIX.COM、NETFLIX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Subscription TV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Entertainment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 *CHATGPT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come-capsule">
            <a:extLst>
              <a:ext uri="{FF2B5EF4-FFF2-40B4-BE49-F238E27FC236}">
                <a16:creationId xmlns:a16="http://schemas.microsoft.com/office/drawing/2014/main" id="{B4CB0565-A9AE-4A45-8F6A-44E49726E461}"/>
              </a:ext>
            </a:extLst>
          </p:cNvPr>
          <p:cNvSpPr/>
          <p:nvPr/>
        </p:nvSpPr>
        <p:spPr>
          <a:xfrm>
            <a:off x="557541" y="3610392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income-capsule-text">
            <a:extLst>
              <a:ext uri="{FF2B5EF4-FFF2-40B4-BE49-F238E27FC236}">
                <a16:creationId xmlns:a16="http://schemas.microsoft.com/office/drawing/2014/main" id="{3B41C0CB-B265-49B8-8346-7A67CD243C57}"/>
              </a:ext>
            </a:extLst>
          </p:cNvPr>
          <p:cNvSpPr txBox="1"/>
          <p:nvPr/>
        </p:nvSpPr>
        <p:spPr>
          <a:xfrm>
            <a:off x="557541" y="3610392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收入识别库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income-table">
            <a:extLst>
              <a:ext uri="{FF2B5EF4-FFF2-40B4-BE49-F238E27FC236}">
                <a16:creationId xmlns:a16="http://schemas.microsoft.com/office/drawing/2014/main" id="{437DE33D-539A-4A03-AC67-AB16184E7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780107"/>
              </p:ext>
            </p:extLst>
          </p:nvPr>
        </p:nvGraphicFramePr>
        <p:xfrm>
          <a:off x="541547" y="3918704"/>
          <a:ext cx="5222483" cy="1066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交易描述与线索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ACME 双周入账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模式＋周期＋稳定阈值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SALARY PACKAGING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薪酬包装模式优先于普通工资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政府补助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专项模式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零工收入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入账，无退款信号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零工模式＋入账方向＋排除规则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liab-capsule">
            <a:extLst>
              <a:ext uri="{FF2B5EF4-FFF2-40B4-BE49-F238E27FC236}">
                <a16:creationId xmlns:a16="http://schemas.microsoft.com/office/drawing/2014/main" id="{A571CED0-8DA4-453B-8B62-551D2F39A966}"/>
              </a:ext>
            </a:extLst>
          </p:cNvPr>
          <p:cNvSpPr/>
          <p:nvPr/>
        </p:nvSpPr>
        <p:spPr>
          <a:xfrm>
            <a:off x="511115" y="5015663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liab-capsule-text">
            <a:extLst>
              <a:ext uri="{FF2B5EF4-FFF2-40B4-BE49-F238E27FC236}">
                <a16:creationId xmlns:a16="http://schemas.microsoft.com/office/drawing/2014/main" id="{671DCB91-F81B-448D-8287-02975156DBAA}"/>
              </a:ext>
            </a:extLst>
          </p:cNvPr>
          <p:cNvSpPr txBox="1"/>
          <p:nvPr/>
        </p:nvSpPr>
        <p:spPr>
          <a:xfrm>
            <a:off x="511115" y="5015663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liab-table">
            <a:extLst>
              <a:ext uri="{FF2B5EF4-FFF2-40B4-BE49-F238E27FC236}">
                <a16:creationId xmlns:a16="http://schemas.microsoft.com/office/drawing/2014/main" id="{D9D16F0A-2CA9-444A-9C30-0D63C131C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406915"/>
              </p:ext>
            </p:extLst>
          </p:nvPr>
        </p:nvGraphicFramePr>
        <p:xfrm>
          <a:off x="511115" y="5244263"/>
          <a:ext cx="5540237" cy="1426464"/>
        </p:xfrm>
        <a:graphic>
          <a:graphicData uri="http://schemas.openxmlformats.org/drawingml/2006/table">
            <a:tbl>
              <a:tblPr/>
              <a:tblGrid>
                <a:gridCol w="1627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知识库／场景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交易描述示例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对手库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DIRECT DEBIT AFTERPAY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交易对手关键词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信用卡规则库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BPAY ... ANZ CARDS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银行、账户类型、方向与文本共同匹配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房贷规则库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 REPAYMENT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Mortgage、Home Loan 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车贷机构或专用描述扣款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车贷标记＋交易对手规则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催收／债务整合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已知催收机构或整合描述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催收、整合关键词与专项标记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income-capsule">
            <a:extLst>
              <a:ext uri="{FF2B5EF4-FFF2-40B4-BE49-F238E27FC236}">
                <a16:creationId xmlns:a16="http://schemas.microsoft.com/office/drawing/2014/main" id="{CFEC0F35-840B-44A5-BDAF-0D56EDB6D11F}"/>
              </a:ext>
            </a:extLst>
          </p:cNvPr>
          <p:cNvSpPr/>
          <p:nvPr/>
        </p:nvSpPr>
        <p:spPr>
          <a:xfrm>
            <a:off x="541547" y="2003724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income-capsule-text">
            <a:extLst>
              <a:ext uri="{FF2B5EF4-FFF2-40B4-BE49-F238E27FC236}">
                <a16:creationId xmlns:a16="http://schemas.microsoft.com/office/drawing/2014/main" id="{455365E2-0360-47A7-B894-12DC05DCC697}"/>
              </a:ext>
            </a:extLst>
          </p:cNvPr>
          <p:cNvSpPr txBox="1"/>
          <p:nvPr/>
        </p:nvSpPr>
        <p:spPr>
          <a:xfrm>
            <a:off x="541547" y="2003724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澳洲企业库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BAB8C997-F392-44D6-BD9C-9CC639AE4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541" y="1241953"/>
            <a:ext cx="1089811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引擎流程：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→ Income → Liability → Other Engines (</a:t>
            </a:r>
            <a:r>
              <a:rPr lang="en-US" altLang="zh-CN" sz="12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Transfers,Gambling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and Rent) → Quality Review &amp; Optimization</a:t>
            </a: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 质量评估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与优化闭环</a:t>
            </a:r>
          </a:p>
        </p:txBody>
      </p:sp>
      <p:sp>
        <p:nvSpPr>
          <p:cNvPr id="25" name="s1-bar">
            <a:extLst>
              <a:ext uri="{FF2B5EF4-FFF2-40B4-BE49-F238E27FC236}">
                <a16:creationId xmlns:a16="http://schemas.microsoft.com/office/drawing/2014/main" id="{A8EBEEE2-E859-4ED2-B0ED-270FD3E8E714}"/>
              </a:ext>
            </a:extLst>
          </p:cNvPr>
          <p:cNvSpPr/>
          <p:nvPr/>
        </p:nvSpPr>
        <p:spPr>
          <a:xfrm>
            <a:off x="6285857" y="1737516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s1-title">
            <a:extLst>
              <a:ext uri="{FF2B5EF4-FFF2-40B4-BE49-F238E27FC236}">
                <a16:creationId xmlns:a16="http://schemas.microsoft.com/office/drawing/2014/main" id="{04C828B8-086B-404C-8643-9D85D8368225}"/>
              </a:ext>
            </a:extLst>
          </p:cNvPr>
          <p:cNvSpPr txBox="1"/>
          <p:nvPr/>
        </p:nvSpPr>
        <p:spPr>
          <a:xfrm>
            <a:off x="6438257" y="1699416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AI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质检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Agent：监控分类波动并输出诊断报告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959786"/>
              </p:ext>
            </p:extLst>
          </p:nvPr>
        </p:nvGraphicFramePr>
        <p:xfrm>
          <a:off x="6453510" y="3538727"/>
          <a:ext cx="5222483" cy="1156775"/>
        </p:xfrm>
        <a:graphic>
          <a:graphicData uri="http://schemas.openxmlformats.org/drawingml/2006/table">
            <a:tbl>
              <a:tblPr/>
              <a:tblGrid>
                <a:gridCol w="8704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520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1355">
                <a:tc>
                  <a:txBody>
                    <a:bodyPr/>
                    <a:lstStyle/>
                    <a:p>
                      <a:pPr algn="ctr"/>
                      <a:r>
                        <a:rPr sz="9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  <a:endParaRPr sz="9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示例场景</a:t>
                      </a:r>
                      <a:endParaRPr sz="9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1355">
                <a:tc>
                  <a:txBody>
                    <a:bodyPr/>
                    <a:lstStyle/>
                    <a:p>
                      <a:pPr algn="ctr"/>
                      <a:r>
                        <a:rPr sz="900" b="1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  <a:endParaRPr sz="900" b="1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房租、保险等被内部转账规则误排</a:t>
                      </a:r>
                      <a:endParaRPr sz="9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1355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 BNPL 平台缺少商户及关键词</a:t>
                      </a:r>
                      <a:endParaRPr sz="9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1355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数据本身异常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交易描述截断、方向矛盾</a:t>
                      </a:r>
                      <a:endParaRPr sz="9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1355">
                <a:tc>
                  <a:txBody>
                    <a:bodyPr/>
                    <a:lstStyle/>
                    <a:p>
                      <a:pPr algn="ctr"/>
                      <a:r>
                        <a:rPr sz="900" b="1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多引擎冲突</a:t>
                      </a:r>
                      <a:endParaRPr sz="900" b="1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Transfer 与 Liability 同时命中</a:t>
                      </a:r>
                      <a:endParaRPr sz="9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309360" y="4782312"/>
            <a:ext cx="5029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 err="1">
                <a:solidFill>
                  <a:srgbClr val="0A0A0A"/>
                </a:solidFill>
                <a:latin typeface="微软雅黑"/>
                <a:ea typeface="微软雅黑"/>
              </a:rPr>
              <a:t>诊断报告输出示例</a:t>
            </a:r>
            <a:endParaRPr sz="11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8166925"/>
              </p:ext>
            </p:extLst>
          </p:nvPr>
        </p:nvGraphicFramePr>
        <p:xfrm>
          <a:off x="6453510" y="5060925"/>
          <a:ext cx="5222484" cy="1002784"/>
        </p:xfrm>
        <a:graphic>
          <a:graphicData uri="http://schemas.openxmlformats.org/drawingml/2006/table">
            <a:tbl>
              <a:tblPr/>
              <a:tblGrid>
                <a:gridCol w="5222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08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04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89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0696">
                <a:tc>
                  <a:txBody>
                    <a:bodyPr/>
                    <a:lstStyle/>
                    <a:p>
                      <a:pPr algn="ctr"/>
                      <a:r>
                        <a:rPr sz="9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  <a:endParaRPr sz="9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问题</a:t>
                      </a:r>
                      <a:endParaRPr sz="9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建议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069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房租批量误判</a:t>
                      </a:r>
                      <a:endParaRPr sz="9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优化 Transfer 排除规则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069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 BNPL </a:t>
                      </a:r>
                      <a:r>
                        <a:rPr sz="9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未识别</a:t>
                      </a:r>
                      <a:endParaRPr sz="9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  <a:endParaRPr sz="9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补充平台及关键词</a:t>
                      </a:r>
                      <a:endParaRPr sz="9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069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某商户占比上升</a:t>
                      </a:r>
                      <a:endParaRPr sz="9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持续观察</a:t>
                      </a:r>
                      <a:endParaRPr sz="9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Box 29">
            <a:extLst>
              <a:ext uri="{FF2B5EF4-FFF2-40B4-BE49-F238E27FC236}">
                <a16:creationId xmlns:a16="http://schemas.microsoft.com/office/drawing/2014/main" id="{59843E63-6597-4DF7-94AC-310E51A426D8}"/>
              </a:ext>
            </a:extLst>
          </p:cNvPr>
          <p:cNvSpPr txBox="1"/>
          <p:nvPr/>
        </p:nvSpPr>
        <p:spPr>
          <a:xfrm>
            <a:off x="6281928" y="3291840"/>
            <a:ext cx="5029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lang="zh-CN" altLang="en-US" sz="1100" b="1" dirty="0">
                <a:solidFill>
                  <a:srgbClr val="0A0A0A"/>
                </a:solidFill>
                <a:latin typeface="微软雅黑"/>
                <a:ea typeface="微软雅黑"/>
              </a:rPr>
              <a:t>四类定位原因示例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291840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45352" y="4799246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309360" y="6272784"/>
            <a:ext cx="5541264" cy="36576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45352" y="6272784"/>
            <a:ext cx="54864" cy="36576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00800" y="6272784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形成「监控 → 定位 → 修复 → 再分类」持续优化闭环，推动规则与知识库自动迭代。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94120" y="2063159"/>
            <a:ext cx="5541264" cy="292608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000" b="1" dirty="0">
                <a:solidFill>
                  <a:srgbClr val="1F4E79"/>
                </a:solidFill>
                <a:latin typeface="微软雅黑"/>
                <a:ea typeface="微软雅黑"/>
              </a:rPr>
              <a:t>① 监控</a:t>
            </a:r>
            <a:r>
              <a:rPr lang="zh-CN" altLang="en-US" sz="1000" b="1" dirty="0">
                <a:solidFill>
                  <a:srgbClr val="1F4E79"/>
                </a:solidFill>
                <a:latin typeface="微软雅黑"/>
                <a:ea typeface="微软雅黑"/>
              </a:rPr>
              <a:t>：</a:t>
            </a:r>
            <a:r>
              <a:rPr lang="zh-CN" sz="1000" b="1" dirty="0">
                <a:solidFill>
                  <a:srgbClr val="3D3C3A"/>
                </a:solidFill>
                <a:latin typeface="微软雅黑"/>
                <a:ea typeface="微软雅黑"/>
              </a:rPr>
              <a:t>识别分类漂移、命中下降、对手方异常等信号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09360" y="2474639"/>
            <a:ext cx="5541264" cy="292608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000" b="1" dirty="0">
                <a:solidFill>
                  <a:srgbClr val="1F4E79"/>
                </a:solidFill>
                <a:latin typeface="微软雅黑"/>
                <a:ea typeface="微软雅黑"/>
              </a:rPr>
              <a:t>② 定位</a:t>
            </a:r>
            <a:r>
              <a:rPr lang="zh-CN" altLang="en-US" sz="1000" b="1" dirty="0">
                <a:solidFill>
                  <a:srgbClr val="1F4E79"/>
                </a:solidFill>
                <a:latin typeface="微软雅黑"/>
                <a:ea typeface="微软雅黑"/>
              </a:rPr>
              <a:t>：</a:t>
            </a:r>
            <a:r>
              <a:rPr lang="zh-CN" sz="1000" b="1" dirty="0">
                <a:solidFill>
                  <a:srgbClr val="3D3C3A"/>
                </a:solidFill>
                <a:latin typeface="微软雅黑"/>
                <a:ea typeface="微软雅黑"/>
              </a:rPr>
              <a:t>逐笔分析交易描述、金额、方向、对手方及分类依据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9360" y="2886119"/>
            <a:ext cx="5541264" cy="292608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000" b="1" dirty="0">
                <a:solidFill>
                  <a:srgbClr val="1F4E79"/>
                </a:solidFill>
                <a:latin typeface="微软雅黑"/>
                <a:ea typeface="微软雅黑"/>
              </a:rPr>
              <a:t>③ 输出</a:t>
            </a:r>
            <a:r>
              <a:rPr lang="zh-CN" altLang="en-US" sz="1000" b="1" dirty="0">
                <a:solidFill>
                  <a:srgbClr val="1F4E79"/>
                </a:solidFill>
                <a:latin typeface="微软雅黑"/>
                <a:ea typeface="微软雅黑"/>
              </a:rPr>
              <a:t>：</a:t>
            </a:r>
            <a:r>
              <a:rPr lang="zh-CN" sz="1000" b="1" dirty="0">
                <a:solidFill>
                  <a:srgbClr val="3D3C3A"/>
                </a:solidFill>
                <a:latin typeface="微软雅黑"/>
                <a:ea typeface="微软雅黑"/>
              </a:rPr>
              <a:t>生成问题清单、原因诊断及规则/知识库优化建议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0EE25B-7E76-419D-9567-BF44A7BCAF27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OOT实测：自主 Liability 能力已具备替代 illion 的基础</a:t>
            </a:r>
            <a:endParaRPr kumimoji="0" lang="en-US" altLang="zh-CN" sz="20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9" name="Table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7240092"/>
              </p:ext>
            </p:extLst>
          </p:nvPr>
        </p:nvGraphicFramePr>
        <p:xfrm>
          <a:off x="4681727" y="1591056"/>
          <a:ext cx="7004304" cy="499872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CN" sz="800" b="1" dirty="0" err="1">
                          <a:latin typeface="微软雅黑"/>
                          <a:ea typeface="微软雅黑"/>
                        </a:rPr>
                        <a:t>Finv</a:t>
                      </a:r>
                      <a:r>
                        <a:rPr sz="800" b="1" dirty="0" err="1">
                          <a:latin typeface="微软雅黑"/>
                          <a:ea typeface="微软雅黑"/>
                        </a:rPr>
                        <a:t>分类</a:t>
                      </a:r>
                      <a:endParaRPr sz="800" b="1" dirty="0">
                        <a:latin typeface="微软雅黑"/>
                        <a:ea typeface="微软雅黑"/>
                      </a:endParaRP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2026/07/05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A$1,248.00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BPAY HOME LOAN A/C 4312-8901 REF 884231907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Internal Transfer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 </a:t>
                      </a:r>
                      <a:r>
                        <a:rPr sz="800" b="0" dirty="0" err="1">
                          <a:latin typeface="微软雅黑"/>
                          <a:ea typeface="微软雅黑"/>
                        </a:rPr>
                        <a:t>Loans（Home</a:t>
                      </a:r>
                      <a:r>
                        <a:rPr sz="800" b="0" dirty="0">
                          <a:latin typeface="微软雅黑"/>
                          <a:ea typeface="微软雅黑"/>
                        </a:rPr>
                        <a:t> Loan</a:t>
                      </a:r>
                      <a:r>
                        <a:rPr lang="zh-CN" altLang="en-US" sz="800" b="0" dirty="0">
                          <a:latin typeface="微软雅黑"/>
                          <a:ea typeface="微软雅黑"/>
                        </a:rPr>
                        <a:t>）</a:t>
                      </a:r>
                      <a:endParaRPr sz="800" b="0" dirty="0">
                        <a:latin typeface="微软雅黑"/>
                        <a:ea typeface="微软雅黑"/>
                      </a:endParaRP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210359"/>
              </p:ext>
            </p:extLst>
          </p:nvPr>
        </p:nvGraphicFramePr>
        <p:xfrm>
          <a:off x="4681727" y="3108960"/>
          <a:ext cx="7004304" cy="822960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CN" sz="800" b="1" dirty="0" err="1">
                          <a:latin typeface="微软雅黑"/>
                          <a:ea typeface="微软雅黑"/>
                        </a:rPr>
                        <a:t>Finv</a:t>
                      </a:r>
                      <a:r>
                        <a:rPr sz="800" b="1" dirty="0" err="1">
                          <a:latin typeface="微软雅黑"/>
                          <a:ea typeface="微软雅黑"/>
                        </a:rPr>
                        <a:t>分类</a:t>
                      </a:r>
                      <a:endParaRPr sz="800" b="1" dirty="0">
                        <a:latin typeface="微软雅黑"/>
                        <a:ea typeface="微软雅黑"/>
                      </a:endParaRP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2026/03/02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A$750.00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LOAN DISB REF 1002345678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2026/03/16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2009456712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2026/07/20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5009876543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8164297"/>
              </p:ext>
            </p:extLst>
          </p:nvPr>
        </p:nvGraphicFramePr>
        <p:xfrm>
          <a:off x="4681727" y="5010910"/>
          <a:ext cx="7004304" cy="1207008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208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CN" sz="800" b="1" dirty="0" err="1">
                          <a:latin typeface="+mn-lt"/>
                          <a:ea typeface="微软雅黑"/>
                        </a:rPr>
                        <a:t>Finv</a:t>
                      </a:r>
                      <a:r>
                        <a:rPr sz="800" b="1" dirty="0" err="1">
                          <a:latin typeface="微软雅黑"/>
                          <a:ea typeface="微软雅黑"/>
                        </a:rPr>
                        <a:t>分类</a:t>
                      </a:r>
                      <a:endParaRPr sz="800" b="1" dirty="0">
                        <a:latin typeface="微软雅黑"/>
                        <a:ea typeface="微软雅黑"/>
                      </a:endParaRP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2026/02/10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A$300.00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ADVANCE REF 6001122334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 dirty="0">
                          <a:latin typeface="微软雅黑"/>
                          <a:ea typeface="微软雅黑"/>
                        </a:rPr>
                        <a:t>2026/03/18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A$260.00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ADVANCE REF 9004455667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2026/04/14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7009988776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6405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8005566778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9102233445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Non-SACC（LOC </a:t>
                      </a:r>
                      <a:r>
                        <a:rPr sz="800" b="0" dirty="0" err="1">
                          <a:latin typeface="微软雅黑"/>
                          <a:ea typeface="微软雅黑"/>
                        </a:rPr>
                        <a:t>循环授信</a:t>
                      </a:r>
                      <a:r>
                        <a:rPr sz="800" b="0" dirty="0">
                          <a:latin typeface="微软雅黑"/>
                          <a:ea typeface="微软雅黑"/>
                        </a:rPr>
                        <a:t>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74256046"/>
                  </a:ext>
                </a:extLst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337649" y="1237831"/>
            <a:ext cx="4023359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贷款识别覆盖交集：我方漏识别更少</a:t>
            </a:r>
            <a:endParaRPr kumimoji="0" sz="1400" b="1" i="0" u="none" strike="noStrike" kern="1200" cap="none" spc="0" normalizeH="0" baseline="0" noProof="0" dirty="0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03520" y="1060704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覆盖提升：Home</a:t>
            </a:r>
            <a:r>
              <a:rPr kumimoji="0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Loan 被 </a:t>
            </a:r>
            <a:r>
              <a:rPr kumimoji="0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illion</a:t>
            </a:r>
            <a:r>
              <a:rPr kumimoji="0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</a:t>
            </a:r>
            <a:r>
              <a:rPr kumimoji="0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漏识别</a:t>
            </a:r>
            <a:endParaRPr kumimoji="0" sz="1200" b="1" i="0" u="none" strike="noStrike" kern="1200" cap="none" spc="0" normalizeH="0" baseline="0" noProof="0" dirty="0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4681727" y="1353312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同一笔 Home Loan 还款，illion 归为 Internal Transfer，住房贷款完全遗漏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81727" y="2142745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681727" y="2142745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809743" y="2179321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通过产品词库识别 Home Loan，扩大贷款识别覆盖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0" y="2578608"/>
            <a:ext cx="6318504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>
                <a:latin typeface="微软雅黑"/>
                <a:ea typeface="微软雅黑"/>
              </a:defRPr>
            </a:pPr>
            <a:r>
              <a:rPr lang="zh-CN" altLang="en-US" sz="1200" b="1" dirty="0">
                <a:solidFill>
                  <a:srgbClr val="0A0A0A"/>
                </a:solidFill>
                <a:latin typeface="微软雅黑"/>
                <a:ea typeface="微软雅黑"/>
              </a:rPr>
              <a:t>准确</a:t>
            </a:r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性：同一贷款流内</a:t>
            </a:r>
            <a:r>
              <a:rPr sz="1200" b="1" dirty="0">
                <a:solidFill>
                  <a:srgbClr val="0A0A0A"/>
                </a:solidFill>
                <a:latin typeface="微软雅黑"/>
                <a:ea typeface="微软雅黑"/>
              </a:rPr>
              <a:t> </a:t>
            </a:r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illion</a:t>
            </a:r>
            <a:r>
              <a:rPr sz="1200" b="1" dirty="0">
                <a:solidFill>
                  <a:srgbClr val="0A0A0A"/>
                </a:solidFill>
                <a:latin typeface="微软雅黑"/>
                <a:ea typeface="微软雅黑"/>
              </a:rPr>
              <a:t> </a:t>
            </a:r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标签自相矛盾（MoneySpot</a:t>
            </a:r>
            <a:r>
              <a:rPr sz="1200" b="1" dirty="0">
                <a:solidFill>
                  <a:srgbClr val="0A0A0A"/>
                </a:solidFill>
                <a:latin typeface="微软雅黑"/>
                <a:ea typeface="微软雅黑"/>
              </a:rPr>
              <a:t>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81727" y="2871216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同一贷款流共 11 笔：放款 1 笔（A$750）+ 等额还款 10 笔（A$49.09/期），illion 前 6 笔标 SACC、后 5 笔标 Non-SACC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81727" y="4004818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4681727" y="4004818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09743" y="4041394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基于完整贷款流统一判断，避免交易级标签前后冲突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63440" y="4498847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663440" y="4498847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0" y="4480559"/>
            <a:ext cx="6318504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>
                <a:latin typeface="微软雅黑"/>
                <a:ea typeface="微软雅黑"/>
              </a:defRPr>
            </a:pPr>
            <a:r>
              <a:rPr sz="1200" b="1" dirty="0">
                <a:solidFill>
                  <a:srgbClr val="0A0A0A"/>
                </a:solidFill>
                <a:latin typeface="微软雅黑"/>
                <a:ea typeface="微软雅黑"/>
              </a:rPr>
              <a:t>分类精度：Credit24 被 </a:t>
            </a:r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illion</a:t>
            </a:r>
            <a:r>
              <a:rPr sz="1200" b="1" dirty="0">
                <a:solidFill>
                  <a:srgbClr val="0A0A0A"/>
                </a:solidFill>
                <a:latin typeface="微软雅黑"/>
                <a:ea typeface="微软雅黑"/>
              </a:rPr>
              <a:t> </a:t>
            </a:r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泛化为</a:t>
            </a:r>
            <a:r>
              <a:rPr sz="1200" b="1" dirty="0">
                <a:solidFill>
                  <a:srgbClr val="0A0A0A"/>
                </a:solidFill>
                <a:latin typeface="微软雅黑"/>
                <a:ea typeface="微软雅黑"/>
              </a:rPr>
              <a:t> SACC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81727" y="4773167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同一用户共 19 笔 Credit24 交易全部被标为 SACC Loans，忽略产品类型差异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718304" y="6273038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4718304" y="6273038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846320" y="6309614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结合交易模式与机构产品知识识别 LOC，提升贷款类型精度</a:t>
            </a:r>
          </a:p>
        </p:txBody>
      </p:sp>
      <p:sp>
        <p:nvSpPr>
          <p:cNvPr id="64" name="venn-blue"/>
          <p:cNvSpPr/>
          <p:nvPr/>
        </p:nvSpPr>
        <p:spPr>
          <a:xfrm>
            <a:off x="498349" y="2470405"/>
            <a:ext cx="2578608" cy="2578608"/>
          </a:xfrm>
          <a:prstGeom prst="ellipse">
            <a:avLst/>
          </a:prstGeom>
          <a:solidFill>
            <a:srgbClr val="1F4E79">
              <a:alpha val="28000"/>
            </a:srgbClr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venn-gold"/>
          <p:cNvSpPr/>
          <p:nvPr/>
        </p:nvSpPr>
        <p:spPr>
          <a:xfrm>
            <a:off x="1604772" y="2447545"/>
            <a:ext cx="2487168" cy="2487168"/>
          </a:xfrm>
          <a:prstGeom prst="ellipse">
            <a:avLst/>
          </a:prstGeom>
          <a:solidFill>
            <a:srgbClr val="D6A000">
              <a:alpha val="28000"/>
            </a:srgbClr>
          </a:solidFill>
          <a:ln w="1524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venn-label-blue"/>
          <p:cNvSpPr txBox="1"/>
          <p:nvPr/>
        </p:nvSpPr>
        <p:spPr>
          <a:xfrm>
            <a:off x="460247" y="1890269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lang="zh-CN" sz="1400" b="1" dirty="0">
                <a:solidFill>
                  <a:srgbClr val="1F4E79"/>
                </a:solidFill>
                <a:latin typeface="微软雅黑"/>
                <a:ea typeface="微软雅黑"/>
              </a:rPr>
              <a:t>Finv 识别 5,680</a:t>
            </a:r>
          </a:p>
          <a:p>
            <a:pPr algn="l"/>
            <a:r>
              <a:rPr lang="zh-CN" sz="1200" b="0" dirty="0">
                <a:solidFill>
                  <a:srgbClr val="606060"/>
                </a:solidFill>
                <a:latin typeface="微软雅黑"/>
                <a:ea typeface="微软雅黑"/>
              </a:rPr>
              <a:t>覆盖率 12.8%</a:t>
            </a:r>
          </a:p>
        </p:txBody>
      </p:sp>
      <p:sp>
        <p:nvSpPr>
          <p:cNvPr id="67" name="venn-label-gold"/>
          <p:cNvSpPr txBox="1"/>
          <p:nvPr/>
        </p:nvSpPr>
        <p:spPr>
          <a:xfrm>
            <a:off x="2744215" y="1853185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zh-CN" sz="1400" b="1" dirty="0">
                <a:solidFill>
                  <a:srgbClr val="D6A000"/>
                </a:solidFill>
                <a:latin typeface="微软雅黑"/>
                <a:ea typeface="微软雅黑"/>
              </a:rPr>
              <a:t>illion 识别 5,363</a:t>
            </a:r>
            <a:endParaRPr lang="en-US" altLang="zh-CN" sz="1400" b="1" dirty="0">
              <a:solidFill>
                <a:srgbClr val="D6A000"/>
              </a:solidFill>
              <a:latin typeface="微软雅黑"/>
              <a:ea typeface="微软雅黑"/>
            </a:endParaRPr>
          </a:p>
          <a:p>
            <a:r>
              <a:rPr lang="zh-CN" sz="1200" b="0" dirty="0">
                <a:solidFill>
                  <a:srgbClr val="606060"/>
                </a:solidFill>
                <a:latin typeface="微软雅黑"/>
                <a:ea typeface="微软雅黑"/>
              </a:rPr>
              <a:t>覆盖率 12.1%</a:t>
            </a:r>
          </a:p>
        </p:txBody>
      </p:sp>
      <p:sp>
        <p:nvSpPr>
          <p:cNvPr id="68" name="venn-blue-only"/>
          <p:cNvSpPr txBox="1"/>
          <p:nvPr/>
        </p:nvSpPr>
        <p:spPr>
          <a:xfrm>
            <a:off x="586452" y="3604261"/>
            <a:ext cx="939361" cy="2154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sz="1400" b="1" dirty="0">
                <a:solidFill>
                  <a:srgbClr val="1F4E79"/>
                </a:solidFill>
                <a:latin typeface="微软雅黑"/>
                <a:ea typeface="微软雅黑"/>
              </a:rPr>
              <a:t>6.9%</a:t>
            </a:r>
            <a:r>
              <a:rPr lang="zh-CN" sz="1400" b="0" dirty="0">
                <a:solidFill>
                  <a:srgbClr val="606060"/>
                </a:solidFill>
                <a:latin typeface="微软雅黑"/>
                <a:ea typeface="微软雅黑"/>
              </a:rPr>
              <a:t> / 396</a:t>
            </a:r>
          </a:p>
        </p:txBody>
      </p:sp>
      <p:sp>
        <p:nvSpPr>
          <p:cNvPr id="69" name="venn-gold-only"/>
          <p:cNvSpPr txBox="1"/>
          <p:nvPr/>
        </p:nvSpPr>
        <p:spPr>
          <a:xfrm>
            <a:off x="3172240" y="3604261"/>
            <a:ext cx="833563" cy="2154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sz="1400" b="1" dirty="0">
                <a:solidFill>
                  <a:srgbClr val="D6A000"/>
                </a:solidFill>
                <a:latin typeface="微软雅黑"/>
                <a:ea typeface="微软雅黑"/>
              </a:rPr>
              <a:t>1.4%</a:t>
            </a:r>
            <a:r>
              <a:rPr lang="zh-CN" sz="1400" b="0" dirty="0">
                <a:solidFill>
                  <a:srgbClr val="606060"/>
                </a:solidFill>
                <a:latin typeface="微软雅黑"/>
                <a:ea typeface="微软雅黑"/>
              </a:rPr>
              <a:t> / 79</a:t>
            </a:r>
          </a:p>
        </p:txBody>
      </p:sp>
      <p:sp>
        <p:nvSpPr>
          <p:cNvPr id="70" name="venn-intersect"/>
          <p:cNvSpPr txBox="1"/>
          <p:nvPr/>
        </p:nvSpPr>
        <p:spPr>
          <a:xfrm>
            <a:off x="1745914" y="3531109"/>
            <a:ext cx="1199047" cy="2154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sz="1400" b="1" dirty="0">
                <a:solidFill>
                  <a:srgbClr val="1F4E79"/>
                </a:solidFill>
                <a:latin typeface="微软雅黑"/>
                <a:ea typeface="微软雅黑"/>
              </a:rPr>
              <a:t>91.8%</a:t>
            </a:r>
            <a:r>
              <a:rPr lang="zh-CN" sz="1400" b="0" dirty="0">
                <a:solidFill>
                  <a:srgbClr val="606060"/>
                </a:solidFill>
                <a:latin typeface="微软雅黑"/>
                <a:ea typeface="微软雅黑"/>
              </a:rPr>
              <a:t> / 5,284</a:t>
            </a:r>
          </a:p>
        </p:txBody>
      </p:sp>
      <p:sp>
        <p:nvSpPr>
          <p:cNvPr id="72" name="subtitle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lnSpc>
                <a:spcPct val="140000"/>
              </a:lnSpc>
            </a:pPr>
            <a:r>
              <a:rPr lang="zh-CN" sz="1800" b="0" dirty="0">
                <a:solidFill>
                  <a:srgbClr val="606060"/>
                </a:solidFill>
                <a:latin typeface="微软雅黑"/>
                <a:ea typeface="微软雅黑"/>
              </a:rPr>
              <a:t>让客户负债画像更接近真实状态，核心负债识别能力自主可控，为后续规则与模型优化保留更大空间</a:t>
            </a:r>
          </a:p>
        </p:txBody>
      </p:sp>
      <p:sp>
        <p:nvSpPr>
          <p:cNvPr id="73" name="m1"/>
          <p:cNvSpPr txBox="1"/>
          <p:nvPr/>
        </p:nvSpPr>
        <p:spPr>
          <a:xfrm>
            <a:off x="460247" y="5186428"/>
            <a:ext cx="2177628" cy="6055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600" b="1" dirty="0">
                <a:solidFill>
                  <a:srgbClr val="1F4E79"/>
                </a:solidFill>
                <a:latin typeface="微软雅黑"/>
                <a:ea typeface="微软雅黑"/>
              </a:rPr>
              <a:t>98.5%</a:t>
            </a:r>
          </a:p>
          <a:p>
            <a:pPr>
              <a:lnSpc>
                <a:spcPct val="100000"/>
              </a:lnSpc>
            </a:pPr>
            <a:r>
              <a:rPr lang="en-US" altLang="zh-CN" sz="1200" dirty="0">
                <a:solidFill>
                  <a:srgbClr val="606060"/>
                </a:solidFill>
                <a:latin typeface="微软雅黑"/>
                <a:ea typeface="微软雅黑"/>
              </a:rPr>
              <a:t>Finv </a:t>
            </a:r>
            <a:r>
              <a:rPr lang="zh-CN" altLang="en-US" sz="1200" dirty="0">
                <a:solidFill>
                  <a:srgbClr val="606060"/>
                </a:solidFill>
                <a:latin typeface="微软雅黑"/>
                <a:ea typeface="微软雅黑"/>
              </a:rPr>
              <a:t>对 </a:t>
            </a:r>
            <a:r>
              <a:rPr lang="en-US" altLang="zh-CN" sz="1200" dirty="0">
                <a:solidFill>
                  <a:srgbClr val="606060"/>
                </a:solidFill>
                <a:latin typeface="微软雅黑"/>
                <a:ea typeface="微软雅黑"/>
              </a:rPr>
              <a:t>illion </a:t>
            </a:r>
            <a:r>
              <a:rPr lang="zh-CN" altLang="en-US" sz="1200" dirty="0">
                <a:solidFill>
                  <a:srgbClr val="606060"/>
                </a:solidFill>
                <a:latin typeface="微软雅黑"/>
                <a:ea typeface="微软雅黑"/>
              </a:rPr>
              <a:t>已识别结果覆盖</a:t>
            </a:r>
          </a:p>
          <a:p>
            <a:pPr>
              <a:lnSpc>
                <a:spcPct val="100000"/>
              </a:lnSpc>
            </a:pPr>
            <a:r>
              <a:rPr lang="en-US" altLang="zh-CN" sz="1200" dirty="0">
                <a:solidFill>
                  <a:srgbClr val="606060"/>
                </a:solidFill>
                <a:latin typeface="微软雅黑"/>
                <a:ea typeface="微软雅黑"/>
              </a:rPr>
              <a:t>5,284 / 5,363</a:t>
            </a:r>
          </a:p>
        </p:txBody>
      </p:sp>
      <p:sp>
        <p:nvSpPr>
          <p:cNvPr id="74" name="m2"/>
          <p:cNvSpPr txBox="1"/>
          <p:nvPr/>
        </p:nvSpPr>
        <p:spPr>
          <a:xfrm>
            <a:off x="3264408" y="5152645"/>
            <a:ext cx="196596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600" b="1" dirty="0">
                <a:solidFill>
                  <a:srgbClr val="1F4E79"/>
                </a:solidFill>
                <a:latin typeface="微软雅黑"/>
                <a:ea typeface="微软雅黑"/>
              </a:rPr>
              <a:t>+317</a:t>
            </a:r>
          </a:p>
          <a:p>
            <a:pPr>
              <a:lnSpc>
                <a:spcPct val="100000"/>
              </a:lnSpc>
            </a:pPr>
            <a:r>
              <a:rPr lang="en-US" altLang="zh-CN" sz="1200" dirty="0">
                <a:solidFill>
                  <a:srgbClr val="606060"/>
                </a:solidFill>
                <a:latin typeface="微软雅黑"/>
                <a:ea typeface="微软雅黑"/>
              </a:rPr>
              <a:t>Finv </a:t>
            </a:r>
            <a:r>
              <a:rPr lang="zh-CN" altLang="en-US" sz="1200" dirty="0">
                <a:solidFill>
                  <a:srgbClr val="606060"/>
                </a:solidFill>
                <a:latin typeface="微软雅黑"/>
                <a:ea typeface="微软雅黑"/>
              </a:rPr>
              <a:t>净增识别</a:t>
            </a:r>
          </a:p>
          <a:p>
            <a:pPr>
              <a:lnSpc>
                <a:spcPct val="100000"/>
              </a:lnSpc>
            </a:pPr>
            <a:r>
              <a:rPr lang="en-US" altLang="zh-CN" sz="1200" dirty="0">
                <a:solidFill>
                  <a:srgbClr val="606060"/>
                </a:solidFill>
                <a:latin typeface="微软雅黑"/>
                <a:ea typeface="微软雅黑"/>
              </a:rPr>
              <a:t>396 − 79</a:t>
            </a:r>
          </a:p>
        </p:txBody>
      </p:sp>
      <p:sp>
        <p:nvSpPr>
          <p:cNvPr id="39" name="s1-bar">
            <a:extLst>
              <a:ext uri="{FF2B5EF4-FFF2-40B4-BE49-F238E27FC236}">
                <a16:creationId xmlns:a16="http://schemas.microsoft.com/office/drawing/2014/main" id="{A6BDCBD6-ED66-4163-AFBF-F835CEB75D53}"/>
              </a:ext>
            </a:extLst>
          </p:cNvPr>
          <p:cNvSpPr/>
          <p:nvPr/>
        </p:nvSpPr>
        <p:spPr>
          <a:xfrm>
            <a:off x="306253" y="1275786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75240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微软雅黑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675</TotalTime>
  <Words>1202</Words>
  <Application>Microsoft Office PowerPoint</Application>
  <PresentationFormat>宽屏</PresentationFormat>
  <Paragraphs>357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Arial</vt:lpstr>
      <vt:lpstr>微软雅黑 Light</vt:lpstr>
      <vt:lpstr>微软雅黑</vt:lpstr>
      <vt:lpstr>等线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银行流水识别与信审决策</dc:title>
  <dc:subject>银行流水识别与信审决策</dc:subject>
  <dc:creator>Kimi</dc:creator>
  <cp:lastModifiedBy>张昱良-Eliam</cp:lastModifiedBy>
  <cp:revision>159</cp:revision>
  <dcterms:modified xsi:type="dcterms:W3CDTF">2026-08-11T05:54:18Z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银行流水识别与信审决策","ContentProducer":"001191110108MACG2KBH8F10000","ProduceID":"19fd57ab-32b2-8dc3-8000-000021f6677f","ReservedCode1":"","ContentPropagator":"001191110108MACG2KBH8F20000","PropagateID":"19fd5750-12b2-8d03-8000-09de61760ce3","ReservedCode2":""}</vt:lpwstr>
  </property>
</Properties>
</file>