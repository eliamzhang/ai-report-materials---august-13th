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 dirty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4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19505" y="297009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4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19333"/>
              </p:ext>
            </p:extLst>
          </p:nvPr>
        </p:nvGraphicFramePr>
        <p:xfrm>
          <a:off x="617523" y="1439101"/>
          <a:ext cx="10883342" cy="1335402"/>
        </p:xfrm>
        <a:graphic>
          <a:graphicData uri="http://schemas.openxmlformats.org/drawingml/2006/table">
            <a:tbl>
              <a:tblPr/>
              <a:tblGrid>
                <a:gridCol w="795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67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36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5429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52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56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46362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222567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4" name="组合 3">
            <a:extLst>
              <a:ext uri="{FF2B5EF4-FFF2-40B4-BE49-F238E27FC236}">
                <a16:creationId xmlns:a16="http://schemas.microsoft.com/office/drawing/2014/main" id="{0714094E-D0AD-45FC-B1D7-9DC3D6BC3914}"/>
              </a:ext>
            </a:extLst>
          </p:cNvPr>
          <p:cNvGrpSpPr/>
          <p:nvPr/>
        </p:nvGrpSpPr>
        <p:grpSpPr>
          <a:xfrm>
            <a:off x="609092" y="6117909"/>
            <a:ext cx="11045952" cy="402336"/>
            <a:chOff x="685800" y="6096875"/>
            <a:chExt cx="11045952" cy="402336"/>
          </a:xfrm>
        </p:grpSpPr>
        <p:sp>
          <p:nvSpPr>
            <p:cNvPr id="31" name="concl-bar"/>
            <p:cNvSpPr/>
            <p:nvPr/>
          </p:nvSpPr>
          <p:spPr>
            <a:xfrm>
              <a:off x="685800" y="6096875"/>
              <a:ext cx="11045952" cy="402336"/>
            </a:xfrm>
            <a:prstGeom prst="rect">
              <a:avLst/>
            </a:prstGeom>
            <a:solidFill>
              <a:srgbClr val="FAF3E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concl-bar-line"/>
            <p:cNvSpPr/>
            <p:nvPr/>
          </p:nvSpPr>
          <p:spPr>
            <a:xfrm>
              <a:off x="685800" y="6096875"/>
              <a:ext cx="64008" cy="402336"/>
            </a:xfrm>
            <a:prstGeom prst="rect">
              <a:avLst/>
            </a:prstGeom>
            <a:solidFill>
              <a:srgbClr val="D6A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concl-text"/>
            <p:cNvSpPr txBox="1"/>
            <p:nvPr/>
          </p:nvSpPr>
          <p:spPr>
            <a:xfrm>
              <a:off x="868680" y="6208889"/>
              <a:ext cx="1069848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CN" sz="1100" b="1" dirty="0">
                  <a:solidFill>
                    <a:srgbClr val="0A0A0A"/>
                  </a:solidFill>
                  <a:latin typeface="微软雅黑"/>
                  <a:ea typeface="微软雅黑"/>
                </a:rPr>
                <a:t>负债金额 + 借贷行为 + 还款表现 + 产品定价，共同还原客户真实偿债压力与信用行为。</a:t>
              </a:r>
            </a:p>
          </p:txBody>
        </p:sp>
      </p:grp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4312" y="296755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32068" y="3374136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6314948" y="3474720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5" name="Fa-bar"/>
          <p:cNvSpPr/>
          <p:nvPr/>
        </p:nvSpPr>
        <p:spPr>
          <a:xfrm>
            <a:off x="619505" y="3374136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802385" y="3474720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68" name="Text 76">
            <a:extLst>
              <a:ext uri="{FF2B5EF4-FFF2-40B4-BE49-F238E27FC236}">
                <a16:creationId xmlns:a16="http://schemas.microsoft.com/office/drawing/2014/main" id="{DA569152-5E9B-44F7-BABB-9AFFF7FA5036}"/>
              </a:ext>
            </a:extLst>
          </p:cNvPr>
          <p:cNvSpPr/>
          <p:nvPr/>
        </p:nvSpPr>
        <p:spPr>
          <a:xfrm>
            <a:off x="747655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月还款约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Text 77">
            <a:extLst>
              <a:ext uri="{FF2B5EF4-FFF2-40B4-BE49-F238E27FC236}">
                <a16:creationId xmlns:a16="http://schemas.microsoft.com/office/drawing/2014/main" id="{A4B96D27-D2A9-44BA-A99D-7A4FC76243C2}"/>
              </a:ext>
            </a:extLst>
          </p:cNvPr>
          <p:cNvSpPr/>
          <p:nvPr/>
        </p:nvSpPr>
        <p:spPr>
          <a:xfrm>
            <a:off x="1542675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A$338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Text 78">
            <a:extLst>
              <a:ext uri="{FF2B5EF4-FFF2-40B4-BE49-F238E27FC236}">
                <a16:creationId xmlns:a16="http://schemas.microsoft.com/office/drawing/2014/main" id="{B4D33D6B-B6CF-4AD2-AB88-A108080FF915}"/>
              </a:ext>
            </a:extLst>
          </p:cNvPr>
          <p:cNvSpPr/>
          <p:nvPr/>
        </p:nvSpPr>
        <p:spPr>
          <a:xfrm>
            <a:off x="747655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每周约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Text 79">
            <a:extLst>
              <a:ext uri="{FF2B5EF4-FFF2-40B4-BE49-F238E27FC236}">
                <a16:creationId xmlns:a16="http://schemas.microsoft.com/office/drawing/2014/main" id="{97D3AF39-5694-4A88-96E2-327F8425281E}"/>
              </a:ext>
            </a:extLst>
          </p:cNvPr>
          <p:cNvSpPr/>
          <p:nvPr/>
        </p:nvSpPr>
        <p:spPr>
          <a:xfrm>
            <a:off x="1542675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A$156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Text 80">
            <a:extLst>
              <a:ext uri="{FF2B5EF4-FFF2-40B4-BE49-F238E27FC236}">
                <a16:creationId xmlns:a16="http://schemas.microsoft.com/office/drawing/2014/main" id="{70392FEF-76B3-41BF-9358-1C7821FDBC57}"/>
              </a:ext>
            </a:extLst>
          </p:cNvPr>
          <p:cNvSpPr/>
          <p:nvPr/>
        </p:nvSpPr>
        <p:spPr>
          <a:xfrm>
            <a:off x="747655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预计剩余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Text 81">
            <a:extLst>
              <a:ext uri="{FF2B5EF4-FFF2-40B4-BE49-F238E27FC236}">
                <a16:creationId xmlns:a16="http://schemas.microsoft.com/office/drawing/2014/main" id="{DFBE31E1-EFFA-4D32-A763-F8B7835CC9E4}"/>
              </a:ext>
            </a:extLst>
          </p:cNvPr>
          <p:cNvSpPr/>
          <p:nvPr/>
        </p:nvSpPr>
        <p:spPr>
          <a:xfrm>
            <a:off x="1542675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4期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Text 82">
            <a:extLst>
              <a:ext uri="{FF2B5EF4-FFF2-40B4-BE49-F238E27FC236}">
                <a16:creationId xmlns:a16="http://schemas.microsoft.com/office/drawing/2014/main" id="{F9A2CD80-57AF-4411-922B-F2D71830E178}"/>
              </a:ext>
            </a:extLst>
          </p:cNvPr>
          <p:cNvSpPr/>
          <p:nvPr/>
        </p:nvSpPr>
        <p:spPr>
          <a:xfrm>
            <a:off x="747655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下一还款日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 83">
            <a:extLst>
              <a:ext uri="{FF2B5EF4-FFF2-40B4-BE49-F238E27FC236}">
                <a16:creationId xmlns:a16="http://schemas.microsoft.com/office/drawing/2014/main" id="{8237D60B-1771-43DE-917B-635809C0AE25}"/>
              </a:ext>
            </a:extLst>
          </p:cNvPr>
          <p:cNvSpPr/>
          <p:nvPr/>
        </p:nvSpPr>
        <p:spPr>
          <a:xfrm>
            <a:off x="1542675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2026/05/02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Text 84">
            <a:extLst>
              <a:ext uri="{FF2B5EF4-FFF2-40B4-BE49-F238E27FC236}">
                <a16:creationId xmlns:a16="http://schemas.microsoft.com/office/drawing/2014/main" id="{5004B1DF-DB97-446E-BEC7-15F37E5EDDCD}"/>
              </a:ext>
            </a:extLst>
          </p:cNvPr>
          <p:cNvSpPr/>
          <p:nvPr/>
        </p:nvSpPr>
        <p:spPr>
          <a:xfrm>
            <a:off x="747655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90天本笔还款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Text 85">
            <a:extLst>
              <a:ext uri="{FF2B5EF4-FFF2-40B4-BE49-F238E27FC236}">
                <a16:creationId xmlns:a16="http://schemas.microsoft.com/office/drawing/2014/main" id="{E91ECB8B-DDA8-4CC3-97F9-CA3D61C7F13D}"/>
              </a:ext>
            </a:extLst>
          </p:cNvPr>
          <p:cNvSpPr/>
          <p:nvPr/>
        </p:nvSpPr>
        <p:spPr>
          <a:xfrm>
            <a:off x="1542675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Text 88">
            <a:extLst>
              <a:ext uri="{FF2B5EF4-FFF2-40B4-BE49-F238E27FC236}">
                <a16:creationId xmlns:a16="http://schemas.microsoft.com/office/drawing/2014/main" id="{F0F241B4-917B-4918-8B44-BFF56B8A190B}"/>
              </a:ext>
            </a:extLst>
          </p:cNvPr>
          <p:cNvSpPr/>
          <p:nvPr/>
        </p:nvSpPr>
        <p:spPr>
          <a:xfrm>
            <a:off x="2503303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借款金额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Text 89">
            <a:extLst>
              <a:ext uri="{FF2B5EF4-FFF2-40B4-BE49-F238E27FC236}">
                <a16:creationId xmlns:a16="http://schemas.microsoft.com/office/drawing/2014/main" id="{E0E25EC8-54AB-4725-913A-5C4F1E976D3E}"/>
              </a:ext>
            </a:extLst>
          </p:cNvPr>
          <p:cNvSpPr/>
          <p:nvPr/>
        </p:nvSpPr>
        <p:spPr>
          <a:xfrm>
            <a:off x="3234823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A$1,500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Text 90">
            <a:extLst>
              <a:ext uri="{FF2B5EF4-FFF2-40B4-BE49-F238E27FC236}">
                <a16:creationId xmlns:a16="http://schemas.microsoft.com/office/drawing/2014/main" id="{A5FBEE99-2852-44E1-A651-C54E5CDC7B8F}"/>
              </a:ext>
            </a:extLst>
          </p:cNvPr>
          <p:cNvSpPr/>
          <p:nvPr/>
        </p:nvSpPr>
        <p:spPr>
          <a:xfrm>
            <a:off x="2503303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已还本金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Text 91">
            <a:extLst>
              <a:ext uri="{FF2B5EF4-FFF2-40B4-BE49-F238E27FC236}">
                <a16:creationId xmlns:a16="http://schemas.microsoft.com/office/drawing/2014/main" id="{2CDD1955-2737-4CEF-AAE1-265613D9F196}"/>
              </a:ext>
            </a:extLst>
          </p:cNvPr>
          <p:cNvSpPr/>
          <p:nvPr/>
        </p:nvSpPr>
        <p:spPr>
          <a:xfrm>
            <a:off x="3234823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A$936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Text 92">
            <a:extLst>
              <a:ext uri="{FF2B5EF4-FFF2-40B4-BE49-F238E27FC236}">
                <a16:creationId xmlns:a16="http://schemas.microsoft.com/office/drawing/2014/main" id="{7F8D2BA9-4E8F-4DAB-AEB2-AC3205256A30}"/>
              </a:ext>
            </a:extLst>
          </p:cNvPr>
          <p:cNvSpPr/>
          <p:nvPr/>
        </p:nvSpPr>
        <p:spPr>
          <a:xfrm>
            <a:off x="2503303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剩余本金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 93">
            <a:extLst>
              <a:ext uri="{FF2B5EF4-FFF2-40B4-BE49-F238E27FC236}">
                <a16:creationId xmlns:a16="http://schemas.microsoft.com/office/drawing/2014/main" id="{7CEB65BC-87D9-442B-BFE7-3C434F15DEC9}"/>
              </a:ext>
            </a:extLst>
          </p:cNvPr>
          <p:cNvSpPr/>
          <p:nvPr/>
        </p:nvSpPr>
        <p:spPr>
          <a:xfrm>
            <a:off x="3234823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A$564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Text 94">
            <a:extLst>
              <a:ext uri="{FF2B5EF4-FFF2-40B4-BE49-F238E27FC236}">
                <a16:creationId xmlns:a16="http://schemas.microsoft.com/office/drawing/2014/main" id="{B9FD79F0-C115-4AB9-B8ED-131C45252F34}"/>
              </a:ext>
            </a:extLst>
          </p:cNvPr>
          <p:cNvSpPr/>
          <p:nvPr/>
        </p:nvSpPr>
        <p:spPr>
          <a:xfrm>
            <a:off x="2503303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偿还进度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Text 95">
            <a:extLst>
              <a:ext uri="{FF2B5EF4-FFF2-40B4-BE49-F238E27FC236}">
                <a16:creationId xmlns:a16="http://schemas.microsoft.com/office/drawing/2014/main" id="{6C02DC21-E1C2-4A1A-B31D-18F24FBE5E61}"/>
              </a:ext>
            </a:extLst>
          </p:cNvPr>
          <p:cNvSpPr/>
          <p:nvPr/>
        </p:nvSpPr>
        <p:spPr>
          <a:xfrm>
            <a:off x="3234823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62%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Text 96">
            <a:extLst>
              <a:ext uri="{FF2B5EF4-FFF2-40B4-BE49-F238E27FC236}">
                <a16:creationId xmlns:a16="http://schemas.microsoft.com/office/drawing/2014/main" id="{6281DCF0-BD4F-49FB-A5CE-0EB40910F3AE}"/>
              </a:ext>
            </a:extLst>
          </p:cNvPr>
          <p:cNvSpPr/>
          <p:nvPr/>
        </p:nvSpPr>
        <p:spPr>
          <a:xfrm>
            <a:off x="2503303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APR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Text 97">
            <a:extLst>
              <a:ext uri="{FF2B5EF4-FFF2-40B4-BE49-F238E27FC236}">
                <a16:creationId xmlns:a16="http://schemas.microsoft.com/office/drawing/2014/main" id="{03E0FCBE-AF3A-4BB1-889A-C8E3AEAD4782}"/>
              </a:ext>
            </a:extLst>
          </p:cNvPr>
          <p:cNvSpPr/>
          <p:nvPr/>
        </p:nvSpPr>
        <p:spPr>
          <a:xfrm>
            <a:off x="3234823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42%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Text 98">
            <a:extLst>
              <a:ext uri="{FF2B5EF4-FFF2-40B4-BE49-F238E27FC236}">
                <a16:creationId xmlns:a16="http://schemas.microsoft.com/office/drawing/2014/main" id="{05926D2D-AFF2-4F95-A8D7-64F4C8818F1F}"/>
              </a:ext>
            </a:extLst>
          </p:cNvPr>
          <p:cNvSpPr/>
          <p:nvPr/>
        </p:nvSpPr>
        <p:spPr>
          <a:xfrm>
            <a:off x="2503303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预计总还款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Text 99">
            <a:extLst>
              <a:ext uri="{FF2B5EF4-FFF2-40B4-BE49-F238E27FC236}">
                <a16:creationId xmlns:a16="http://schemas.microsoft.com/office/drawing/2014/main" id="{299E606E-37A1-49BB-BEA7-984421190C4E}"/>
              </a:ext>
            </a:extLst>
          </p:cNvPr>
          <p:cNvSpPr/>
          <p:nvPr/>
        </p:nvSpPr>
        <p:spPr>
          <a:xfrm>
            <a:off x="3234823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A$1,872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8" name="Text 100">
            <a:extLst>
              <a:ext uri="{FF2B5EF4-FFF2-40B4-BE49-F238E27FC236}">
                <a16:creationId xmlns:a16="http://schemas.microsoft.com/office/drawing/2014/main" id="{B400773D-92C3-401C-812A-1073FF7B9F12}"/>
              </a:ext>
            </a:extLst>
          </p:cNvPr>
          <p:cNvSpPr/>
          <p:nvPr/>
        </p:nvSpPr>
        <p:spPr>
          <a:xfrm>
            <a:off x="2503303" y="586711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利息成本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Text 101">
            <a:extLst>
              <a:ext uri="{FF2B5EF4-FFF2-40B4-BE49-F238E27FC236}">
                <a16:creationId xmlns:a16="http://schemas.microsoft.com/office/drawing/2014/main" id="{CA294CE9-8E97-4AE1-93CA-358A3DBE4F5D}"/>
              </a:ext>
            </a:extLst>
          </p:cNvPr>
          <p:cNvSpPr/>
          <p:nvPr/>
        </p:nvSpPr>
        <p:spPr>
          <a:xfrm>
            <a:off x="3234823" y="586711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A$372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F09D450-8F80-484F-BAFB-2EE32790E985}"/>
              </a:ext>
            </a:extLst>
          </p:cNvPr>
          <p:cNvGrpSpPr/>
          <p:nvPr/>
        </p:nvGrpSpPr>
        <p:grpSpPr>
          <a:xfrm>
            <a:off x="683512" y="3743557"/>
            <a:ext cx="5138928" cy="256032"/>
            <a:chOff x="751264" y="3861602"/>
            <a:chExt cx="5138928" cy="256032"/>
          </a:xfrm>
        </p:grpSpPr>
        <p:sp>
          <p:nvSpPr>
            <p:cNvPr id="66" name="Shape 74">
              <a:extLst>
                <a:ext uri="{FF2B5EF4-FFF2-40B4-BE49-F238E27FC236}">
                  <a16:creationId xmlns:a16="http://schemas.microsoft.com/office/drawing/2014/main" id="{B05981E9-E178-4CBD-B13E-D58E9E385B87}"/>
                </a:ext>
              </a:extLst>
            </p:cNvPr>
            <p:cNvSpPr/>
            <p:nvPr/>
          </p:nvSpPr>
          <p:spPr>
            <a:xfrm>
              <a:off x="751264" y="3889034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67" name="Text 75">
              <a:extLst>
                <a:ext uri="{FF2B5EF4-FFF2-40B4-BE49-F238E27FC236}">
                  <a16:creationId xmlns:a16="http://schemas.microsoft.com/office/drawing/2014/main" id="{6E969A5F-FBDC-425D-BC2F-BD774DC9B480}"/>
                </a:ext>
              </a:extLst>
            </p:cNvPr>
            <p:cNvSpPr/>
            <p:nvPr/>
          </p:nvSpPr>
          <p:spPr>
            <a:xfrm>
              <a:off x="824416" y="3861602"/>
              <a:ext cx="15544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还款计划</a:t>
              </a:r>
              <a:endParaRPr lang="en-US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Shape 86">
              <a:extLst>
                <a:ext uri="{FF2B5EF4-FFF2-40B4-BE49-F238E27FC236}">
                  <a16:creationId xmlns:a16="http://schemas.microsoft.com/office/drawing/2014/main" id="{C2D6AF55-6B82-4A16-B7A9-2CB30B178247}"/>
                </a:ext>
              </a:extLst>
            </p:cNvPr>
            <p:cNvSpPr/>
            <p:nvPr/>
          </p:nvSpPr>
          <p:spPr>
            <a:xfrm>
              <a:off x="2506912" y="3889034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79" name="Text 87">
              <a:extLst>
                <a:ext uri="{FF2B5EF4-FFF2-40B4-BE49-F238E27FC236}">
                  <a16:creationId xmlns:a16="http://schemas.microsoft.com/office/drawing/2014/main" id="{27249E61-3286-48E4-A2A5-068CC3B6A741}"/>
                </a:ext>
              </a:extLst>
            </p:cNvPr>
            <p:cNvSpPr/>
            <p:nvPr/>
          </p:nvSpPr>
          <p:spPr>
            <a:xfrm>
              <a:off x="2580064" y="3861602"/>
              <a:ext cx="15544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本金与定价</a:t>
              </a:r>
              <a:endParaRPr lang="en-US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Shape 102">
              <a:extLst>
                <a:ext uri="{FF2B5EF4-FFF2-40B4-BE49-F238E27FC236}">
                  <a16:creationId xmlns:a16="http://schemas.microsoft.com/office/drawing/2014/main" id="{A42D819D-75FD-42BC-A54C-26D8C8285554}"/>
                </a:ext>
              </a:extLst>
            </p:cNvPr>
            <p:cNvSpPr/>
            <p:nvPr/>
          </p:nvSpPr>
          <p:spPr>
            <a:xfrm>
              <a:off x="4262560" y="3889034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01" name="Text 103">
              <a:extLst>
                <a:ext uri="{FF2B5EF4-FFF2-40B4-BE49-F238E27FC236}">
                  <a16:creationId xmlns:a16="http://schemas.microsoft.com/office/drawing/2014/main" id="{8AE3586E-29B5-4903-AFC6-2B95A8D6005A}"/>
                </a:ext>
              </a:extLst>
            </p:cNvPr>
            <p:cNvSpPr/>
            <p:nvPr/>
          </p:nvSpPr>
          <p:spPr>
            <a:xfrm>
              <a:off x="4335712" y="3861602"/>
              <a:ext cx="15544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本笔履约</a:t>
              </a:r>
              <a:endParaRPr lang="en-US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2" name="Text 104">
            <a:extLst>
              <a:ext uri="{FF2B5EF4-FFF2-40B4-BE49-F238E27FC236}">
                <a16:creationId xmlns:a16="http://schemas.microsoft.com/office/drawing/2014/main" id="{33BFD9A6-3172-4F25-B3AB-10799F39FCF6}"/>
              </a:ext>
            </a:extLst>
          </p:cNvPr>
          <p:cNvSpPr/>
          <p:nvPr/>
        </p:nvSpPr>
        <p:spPr>
          <a:xfrm>
            <a:off x="4258951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产品类型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Text 105">
            <a:extLst>
              <a:ext uri="{FF2B5EF4-FFF2-40B4-BE49-F238E27FC236}">
                <a16:creationId xmlns:a16="http://schemas.microsoft.com/office/drawing/2014/main" id="{230CA9E7-6CEC-47CD-9BD6-B193F9E6083C}"/>
              </a:ext>
            </a:extLst>
          </p:cNvPr>
          <p:cNvSpPr/>
          <p:nvPr/>
        </p:nvSpPr>
        <p:spPr>
          <a:xfrm>
            <a:off x="5034921" y="413889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SACC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Text 106">
            <a:extLst>
              <a:ext uri="{FF2B5EF4-FFF2-40B4-BE49-F238E27FC236}">
                <a16:creationId xmlns:a16="http://schemas.microsoft.com/office/drawing/2014/main" id="{A7E9D5DA-432F-48AC-9BC5-E521D78D6DF2}"/>
              </a:ext>
            </a:extLst>
          </p:cNvPr>
          <p:cNvSpPr/>
          <p:nvPr/>
        </p:nvSpPr>
        <p:spPr>
          <a:xfrm>
            <a:off x="4258951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贷款状态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Text 107">
            <a:extLst>
              <a:ext uri="{FF2B5EF4-FFF2-40B4-BE49-F238E27FC236}">
                <a16:creationId xmlns:a16="http://schemas.microsoft.com/office/drawing/2014/main" id="{1E5C877F-E502-4487-9B47-337F0199DC48}"/>
              </a:ext>
            </a:extLst>
          </p:cNvPr>
          <p:cNvSpPr/>
          <p:nvPr/>
        </p:nvSpPr>
        <p:spPr>
          <a:xfrm>
            <a:off x="5034921" y="442693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在贷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Text 108">
            <a:extLst>
              <a:ext uri="{FF2B5EF4-FFF2-40B4-BE49-F238E27FC236}">
                <a16:creationId xmlns:a16="http://schemas.microsoft.com/office/drawing/2014/main" id="{18223707-1726-4DEB-9859-40908F2E7A05}"/>
              </a:ext>
            </a:extLst>
          </p:cNvPr>
          <p:cNvSpPr/>
          <p:nvPr/>
        </p:nvSpPr>
        <p:spPr>
          <a:xfrm>
            <a:off x="4258951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扣款失败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Text 109">
            <a:extLst>
              <a:ext uri="{FF2B5EF4-FFF2-40B4-BE49-F238E27FC236}">
                <a16:creationId xmlns:a16="http://schemas.microsoft.com/office/drawing/2014/main" id="{FEFD746B-B0F7-452B-A203-41854F75FD2B}"/>
              </a:ext>
            </a:extLst>
          </p:cNvPr>
          <p:cNvSpPr/>
          <p:nvPr/>
        </p:nvSpPr>
        <p:spPr>
          <a:xfrm>
            <a:off x="5034921" y="471496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Text 110">
            <a:extLst>
              <a:ext uri="{FF2B5EF4-FFF2-40B4-BE49-F238E27FC236}">
                <a16:creationId xmlns:a16="http://schemas.microsoft.com/office/drawing/2014/main" id="{EE952F57-3791-4D8A-B61A-A42DB918843D}"/>
              </a:ext>
            </a:extLst>
          </p:cNvPr>
          <p:cNvSpPr/>
          <p:nvPr/>
        </p:nvSpPr>
        <p:spPr>
          <a:xfrm>
            <a:off x="4258951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累计逾期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Text 111">
            <a:extLst>
              <a:ext uri="{FF2B5EF4-FFF2-40B4-BE49-F238E27FC236}">
                <a16:creationId xmlns:a16="http://schemas.microsoft.com/office/drawing/2014/main" id="{075C5894-394A-491D-AC9C-F7F15DE42C3D}"/>
              </a:ext>
            </a:extLst>
          </p:cNvPr>
          <p:cNvSpPr/>
          <p:nvPr/>
        </p:nvSpPr>
        <p:spPr>
          <a:xfrm>
            <a:off x="5034921" y="500300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Text 112">
            <a:extLst>
              <a:ext uri="{FF2B5EF4-FFF2-40B4-BE49-F238E27FC236}">
                <a16:creationId xmlns:a16="http://schemas.microsoft.com/office/drawing/2014/main" id="{D071FDBE-7A25-49E4-97AA-5595430CC2C4}"/>
              </a:ext>
            </a:extLst>
          </p:cNvPr>
          <p:cNvSpPr/>
          <p:nvPr/>
        </p:nvSpPr>
        <p:spPr>
          <a:xfrm>
            <a:off x="4258951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最长逾期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Text 113">
            <a:extLst>
              <a:ext uri="{FF2B5EF4-FFF2-40B4-BE49-F238E27FC236}">
                <a16:creationId xmlns:a16="http://schemas.microsoft.com/office/drawing/2014/main" id="{ABBC5529-722A-4FFC-99F2-AB3ECE21C3DF}"/>
              </a:ext>
            </a:extLst>
          </p:cNvPr>
          <p:cNvSpPr/>
          <p:nvPr/>
        </p:nvSpPr>
        <p:spPr>
          <a:xfrm>
            <a:off x="5034921" y="529103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5天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Text 114">
            <a:extLst>
              <a:ext uri="{FF2B5EF4-FFF2-40B4-BE49-F238E27FC236}">
                <a16:creationId xmlns:a16="http://schemas.microsoft.com/office/drawing/2014/main" id="{9256A285-677F-4934-9013-48556219BECB}"/>
              </a:ext>
            </a:extLst>
          </p:cNvPr>
          <p:cNvSpPr/>
          <p:nvPr/>
        </p:nvSpPr>
        <p:spPr>
          <a:xfrm>
            <a:off x="4258951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当前逾期金额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Text 115">
            <a:extLst>
              <a:ext uri="{FF2B5EF4-FFF2-40B4-BE49-F238E27FC236}">
                <a16:creationId xmlns:a16="http://schemas.microsoft.com/office/drawing/2014/main" id="{F0147BC1-EEE0-4AEB-9A99-51E75BAD06BA}"/>
              </a:ext>
            </a:extLst>
          </p:cNvPr>
          <p:cNvSpPr/>
          <p:nvPr/>
        </p:nvSpPr>
        <p:spPr>
          <a:xfrm>
            <a:off x="5034921" y="557907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A$0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Text 118">
            <a:extLst>
              <a:ext uri="{FF2B5EF4-FFF2-40B4-BE49-F238E27FC236}">
                <a16:creationId xmlns:a16="http://schemas.microsoft.com/office/drawing/2014/main" id="{4000C133-829E-4A58-A3E8-6EEC6586B850}"/>
              </a:ext>
            </a:extLst>
          </p:cNvPr>
          <p:cNvSpPr/>
          <p:nvPr/>
        </p:nvSpPr>
        <p:spPr>
          <a:xfrm>
            <a:off x="6364985" y="41177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预计待还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Text 119">
            <a:extLst>
              <a:ext uri="{FF2B5EF4-FFF2-40B4-BE49-F238E27FC236}">
                <a16:creationId xmlns:a16="http://schemas.microsoft.com/office/drawing/2014/main" id="{5ED42BA1-5051-46FE-A7D0-F88D01BCED2E}"/>
              </a:ext>
            </a:extLst>
          </p:cNvPr>
          <p:cNvSpPr/>
          <p:nvPr/>
        </p:nvSpPr>
        <p:spPr>
          <a:xfrm>
            <a:off x="7096505" y="411777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A$1,016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Text 120">
            <a:extLst>
              <a:ext uri="{FF2B5EF4-FFF2-40B4-BE49-F238E27FC236}">
                <a16:creationId xmlns:a16="http://schemas.microsoft.com/office/drawing/2014/main" id="{3D776087-B0A1-458A-82D5-02768C9C3EA5}"/>
              </a:ext>
            </a:extLst>
          </p:cNvPr>
          <p:cNvSpPr/>
          <p:nvPr/>
        </p:nvSpPr>
        <p:spPr>
          <a:xfrm>
            <a:off x="6364985" y="44058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平均月还款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2" name="Text 121">
            <a:extLst>
              <a:ext uri="{FF2B5EF4-FFF2-40B4-BE49-F238E27FC236}">
                <a16:creationId xmlns:a16="http://schemas.microsoft.com/office/drawing/2014/main" id="{CC34E4D6-9948-4A85-AF19-EB4859269835}"/>
              </a:ext>
            </a:extLst>
          </p:cNvPr>
          <p:cNvSpPr/>
          <p:nvPr/>
        </p:nvSpPr>
        <p:spPr>
          <a:xfrm>
            <a:off x="7096505" y="44058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A$428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3" name="Text 122">
            <a:extLst>
              <a:ext uri="{FF2B5EF4-FFF2-40B4-BE49-F238E27FC236}">
                <a16:creationId xmlns:a16="http://schemas.microsoft.com/office/drawing/2014/main" id="{9F71F927-F6FB-44A4-B5BD-FAE70AD9E5B1}"/>
              </a:ext>
            </a:extLst>
          </p:cNvPr>
          <p:cNvSpPr/>
          <p:nvPr/>
        </p:nvSpPr>
        <p:spPr>
          <a:xfrm>
            <a:off x="6364985" y="46938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负债机构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4" name="Text 123">
            <a:extLst>
              <a:ext uri="{FF2B5EF4-FFF2-40B4-BE49-F238E27FC236}">
                <a16:creationId xmlns:a16="http://schemas.microsoft.com/office/drawing/2014/main" id="{6FD7F718-8A52-46A1-8418-5783CE8F2CD2}"/>
              </a:ext>
            </a:extLst>
          </p:cNvPr>
          <p:cNvSpPr/>
          <p:nvPr/>
        </p:nvSpPr>
        <p:spPr>
          <a:xfrm>
            <a:off x="7096505" y="4693844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2家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5" name="Text 124">
            <a:extLst>
              <a:ext uri="{FF2B5EF4-FFF2-40B4-BE49-F238E27FC236}">
                <a16:creationId xmlns:a16="http://schemas.microsoft.com/office/drawing/2014/main" id="{A6D8E11C-FAAB-46F8-9A61-A1D29098DD41}"/>
              </a:ext>
            </a:extLst>
          </p:cNvPr>
          <p:cNvSpPr/>
          <p:nvPr/>
        </p:nvSpPr>
        <p:spPr>
          <a:xfrm>
            <a:off x="6364985" y="4981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在贷笔数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6" name="Text 125">
            <a:extLst>
              <a:ext uri="{FF2B5EF4-FFF2-40B4-BE49-F238E27FC236}">
                <a16:creationId xmlns:a16="http://schemas.microsoft.com/office/drawing/2014/main" id="{2DC3D885-265B-41FB-9BAC-19F69855571B}"/>
              </a:ext>
            </a:extLst>
          </p:cNvPr>
          <p:cNvSpPr/>
          <p:nvPr/>
        </p:nvSpPr>
        <p:spPr>
          <a:xfrm>
            <a:off x="7096505" y="498188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3笔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7" name="Text 126">
            <a:extLst>
              <a:ext uri="{FF2B5EF4-FFF2-40B4-BE49-F238E27FC236}">
                <a16:creationId xmlns:a16="http://schemas.microsoft.com/office/drawing/2014/main" id="{0C0EDCD6-5589-4CFF-9C00-934CB5FBA5D4}"/>
              </a:ext>
            </a:extLst>
          </p:cNvPr>
          <p:cNvSpPr/>
          <p:nvPr/>
        </p:nvSpPr>
        <p:spPr>
          <a:xfrm>
            <a:off x="6364985" y="5269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负债结构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8" name="Text 127">
            <a:extLst>
              <a:ext uri="{FF2B5EF4-FFF2-40B4-BE49-F238E27FC236}">
                <a16:creationId xmlns:a16="http://schemas.microsoft.com/office/drawing/2014/main" id="{06CF59B5-F0FC-47A7-B5DB-50FD84BF7683}"/>
              </a:ext>
            </a:extLst>
          </p:cNvPr>
          <p:cNvSpPr/>
          <p:nvPr/>
        </p:nvSpPr>
        <p:spPr>
          <a:xfrm>
            <a:off x="7087497" y="5468707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SACC 65% / Non-SACC 15% / BNPL 20%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Text 130">
            <a:extLst>
              <a:ext uri="{FF2B5EF4-FFF2-40B4-BE49-F238E27FC236}">
                <a16:creationId xmlns:a16="http://schemas.microsoft.com/office/drawing/2014/main" id="{F3A813AD-97F8-42F1-B282-F64A1C054131}"/>
              </a:ext>
            </a:extLst>
          </p:cNvPr>
          <p:cNvSpPr/>
          <p:nvPr/>
        </p:nvSpPr>
        <p:spPr>
          <a:xfrm>
            <a:off x="8175497" y="4117772"/>
            <a:ext cx="8905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近90天新增借款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Text 131">
            <a:extLst>
              <a:ext uri="{FF2B5EF4-FFF2-40B4-BE49-F238E27FC236}">
                <a16:creationId xmlns:a16="http://schemas.microsoft.com/office/drawing/2014/main" id="{6347F81E-CE45-4051-8BC3-7B7135580484}"/>
              </a:ext>
            </a:extLst>
          </p:cNvPr>
          <p:cNvSpPr/>
          <p:nvPr/>
        </p:nvSpPr>
        <p:spPr>
          <a:xfrm>
            <a:off x="9141967" y="4117772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1笔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3" name="Text 132">
            <a:extLst>
              <a:ext uri="{FF2B5EF4-FFF2-40B4-BE49-F238E27FC236}">
                <a16:creationId xmlns:a16="http://schemas.microsoft.com/office/drawing/2014/main" id="{15E6243C-4958-482A-B54B-7DCA8632358F}"/>
              </a:ext>
            </a:extLst>
          </p:cNvPr>
          <p:cNvSpPr/>
          <p:nvPr/>
        </p:nvSpPr>
        <p:spPr>
          <a:xfrm>
            <a:off x="8175497" y="44058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90天借款金额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4" name="Text 133">
            <a:extLst>
              <a:ext uri="{FF2B5EF4-FFF2-40B4-BE49-F238E27FC236}">
                <a16:creationId xmlns:a16="http://schemas.microsoft.com/office/drawing/2014/main" id="{0A5CC1E4-A9EF-4173-81EF-06564456DD66}"/>
              </a:ext>
            </a:extLst>
          </p:cNvPr>
          <p:cNvSpPr/>
          <p:nvPr/>
        </p:nvSpPr>
        <p:spPr>
          <a:xfrm>
            <a:off x="9141967" y="440580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A$2,300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5" name="Text 134">
            <a:extLst>
              <a:ext uri="{FF2B5EF4-FFF2-40B4-BE49-F238E27FC236}">
                <a16:creationId xmlns:a16="http://schemas.microsoft.com/office/drawing/2014/main" id="{6D94C9CD-69E3-4AC3-BF41-D36352AA2496}"/>
              </a:ext>
            </a:extLst>
          </p:cNvPr>
          <p:cNvSpPr/>
          <p:nvPr/>
        </p:nvSpPr>
        <p:spPr>
          <a:xfrm>
            <a:off x="8175497" y="46938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历史贷款笔数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6" name="Text 135">
            <a:extLst>
              <a:ext uri="{FF2B5EF4-FFF2-40B4-BE49-F238E27FC236}">
                <a16:creationId xmlns:a16="http://schemas.microsoft.com/office/drawing/2014/main" id="{AA56E2B0-19E1-49F5-BE4C-541B13BCCA7D}"/>
              </a:ext>
            </a:extLst>
          </p:cNvPr>
          <p:cNvSpPr/>
          <p:nvPr/>
        </p:nvSpPr>
        <p:spPr>
          <a:xfrm>
            <a:off x="9141967" y="4693844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5笔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7" name="Text 136">
            <a:extLst>
              <a:ext uri="{FF2B5EF4-FFF2-40B4-BE49-F238E27FC236}">
                <a16:creationId xmlns:a16="http://schemas.microsoft.com/office/drawing/2014/main" id="{19A2F019-FCA1-44C6-9C3A-8E51F7EECF69}"/>
              </a:ext>
            </a:extLst>
          </p:cNvPr>
          <p:cNvSpPr/>
          <p:nvPr/>
        </p:nvSpPr>
        <p:spPr>
          <a:xfrm>
            <a:off x="8175497" y="4981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最早借款距今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8" name="Text 137">
            <a:extLst>
              <a:ext uri="{FF2B5EF4-FFF2-40B4-BE49-F238E27FC236}">
                <a16:creationId xmlns:a16="http://schemas.microsoft.com/office/drawing/2014/main" id="{94B44A55-44E0-4383-A746-77D5D6613E04}"/>
              </a:ext>
            </a:extLst>
          </p:cNvPr>
          <p:cNvSpPr/>
          <p:nvPr/>
        </p:nvSpPr>
        <p:spPr>
          <a:xfrm>
            <a:off x="9141967" y="4981880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45天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Text 138">
            <a:extLst>
              <a:ext uri="{FF2B5EF4-FFF2-40B4-BE49-F238E27FC236}">
                <a16:creationId xmlns:a16="http://schemas.microsoft.com/office/drawing/2014/main" id="{2C6767C0-B0FF-426A-B659-4E3627B66697}"/>
              </a:ext>
            </a:extLst>
          </p:cNvPr>
          <p:cNvSpPr/>
          <p:nvPr/>
        </p:nvSpPr>
        <p:spPr>
          <a:xfrm>
            <a:off x="8175497" y="5269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还款中断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0" name="Text 139">
            <a:extLst>
              <a:ext uri="{FF2B5EF4-FFF2-40B4-BE49-F238E27FC236}">
                <a16:creationId xmlns:a16="http://schemas.microsoft.com/office/drawing/2014/main" id="{FB090E7D-AB3F-4FF1-B888-E3EBF2E3AB82}"/>
              </a:ext>
            </a:extLst>
          </p:cNvPr>
          <p:cNvSpPr/>
          <p:nvPr/>
        </p:nvSpPr>
        <p:spPr>
          <a:xfrm>
            <a:off x="9141967" y="5269916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0次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853B6FF1-E1E7-4D5A-884F-7D554F438873}"/>
              </a:ext>
            </a:extLst>
          </p:cNvPr>
          <p:cNvGrpSpPr/>
          <p:nvPr/>
        </p:nvGrpSpPr>
        <p:grpSpPr>
          <a:xfrm>
            <a:off x="6291833" y="3744138"/>
            <a:ext cx="5605272" cy="256032"/>
            <a:chOff x="6283385" y="3874883"/>
            <a:chExt cx="5605272" cy="256032"/>
          </a:xfrm>
        </p:grpSpPr>
        <p:sp>
          <p:nvSpPr>
            <p:cNvPr id="114" name="Shape 116">
              <a:extLst>
                <a:ext uri="{FF2B5EF4-FFF2-40B4-BE49-F238E27FC236}">
                  <a16:creationId xmlns:a16="http://schemas.microsoft.com/office/drawing/2014/main" id="{79360BE7-9EB9-4203-850E-DA0FDA5684AF}"/>
                </a:ext>
              </a:extLst>
            </p:cNvPr>
            <p:cNvSpPr/>
            <p:nvPr/>
          </p:nvSpPr>
          <p:spPr>
            <a:xfrm>
              <a:off x="6283385" y="3902315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15" name="Text 117">
              <a:extLst>
                <a:ext uri="{FF2B5EF4-FFF2-40B4-BE49-F238E27FC236}">
                  <a16:creationId xmlns:a16="http://schemas.microsoft.com/office/drawing/2014/main" id="{3D3CA811-5D4D-4D41-8CA7-0E6F296925D9}"/>
                </a:ext>
              </a:extLst>
            </p:cNvPr>
            <p:cNvSpPr/>
            <p:nvPr/>
          </p:nvSpPr>
          <p:spPr>
            <a:xfrm>
              <a:off x="6356537" y="3874883"/>
              <a:ext cx="159105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负债敞口与结构</a:t>
              </a:r>
              <a:endParaRPr lang="en-US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Shape 128">
              <a:extLst>
                <a:ext uri="{FF2B5EF4-FFF2-40B4-BE49-F238E27FC236}">
                  <a16:creationId xmlns:a16="http://schemas.microsoft.com/office/drawing/2014/main" id="{3EC7F01A-1C91-4E34-8CEA-FC75587A9796}"/>
                </a:ext>
              </a:extLst>
            </p:cNvPr>
            <p:cNvSpPr/>
            <p:nvPr/>
          </p:nvSpPr>
          <p:spPr>
            <a:xfrm>
              <a:off x="8093897" y="3902315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70" name="Text 129">
              <a:extLst>
                <a:ext uri="{FF2B5EF4-FFF2-40B4-BE49-F238E27FC236}">
                  <a16:creationId xmlns:a16="http://schemas.microsoft.com/office/drawing/2014/main" id="{FDA29145-8898-4C7B-B2B0-58AFEE0E1891}"/>
                </a:ext>
              </a:extLst>
            </p:cNvPr>
            <p:cNvSpPr/>
            <p:nvPr/>
          </p:nvSpPr>
          <p:spPr>
            <a:xfrm>
              <a:off x="8167049" y="3874883"/>
              <a:ext cx="159105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近期借贷活跃度</a:t>
              </a:r>
              <a:endParaRPr lang="en-US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Shape 140">
              <a:extLst>
                <a:ext uri="{FF2B5EF4-FFF2-40B4-BE49-F238E27FC236}">
                  <a16:creationId xmlns:a16="http://schemas.microsoft.com/office/drawing/2014/main" id="{E2D92EF8-60C2-4714-B29D-7DCED630816F}"/>
                </a:ext>
              </a:extLst>
            </p:cNvPr>
            <p:cNvSpPr/>
            <p:nvPr/>
          </p:nvSpPr>
          <p:spPr>
            <a:xfrm>
              <a:off x="9904409" y="3902315"/>
              <a:ext cx="0" cy="228600"/>
            </a:xfrm>
            <a:prstGeom prst="line">
              <a:avLst/>
            </a:prstGeom>
            <a:noFill/>
            <a:ln w="25400">
              <a:solidFill>
                <a:srgbClr val="D99A00"/>
              </a:solidFill>
              <a:prstDash val="solid"/>
            </a:ln>
          </p:spPr>
        </p:sp>
        <p:sp>
          <p:nvSpPr>
            <p:cNvPr id="182" name="Text 141">
              <a:extLst>
                <a:ext uri="{FF2B5EF4-FFF2-40B4-BE49-F238E27FC236}">
                  <a16:creationId xmlns:a16="http://schemas.microsoft.com/office/drawing/2014/main" id="{5A2A16E4-BE93-4D09-9836-2BF25434F603}"/>
                </a:ext>
              </a:extLst>
            </p:cNvPr>
            <p:cNvSpPr/>
            <p:nvPr/>
          </p:nvSpPr>
          <p:spPr>
            <a:xfrm>
              <a:off x="9977561" y="3874883"/>
              <a:ext cx="191109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83F73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CJK SC" pitchFamily="34" charset="-120"/>
                </a:rPr>
                <a:t>整体偿债稳定性</a:t>
              </a:r>
              <a:endParaRPr lang="en-US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83" name="Text 142">
            <a:extLst>
              <a:ext uri="{FF2B5EF4-FFF2-40B4-BE49-F238E27FC236}">
                <a16:creationId xmlns:a16="http://schemas.microsoft.com/office/drawing/2014/main" id="{3D8F4A83-F07F-4D69-85E4-17E365BD06D7}"/>
              </a:ext>
            </a:extLst>
          </p:cNvPr>
          <p:cNvSpPr/>
          <p:nvPr/>
        </p:nvSpPr>
        <p:spPr>
          <a:xfrm>
            <a:off x="9986009" y="41177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正常还款率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4" name="Text 143">
            <a:extLst>
              <a:ext uri="{FF2B5EF4-FFF2-40B4-BE49-F238E27FC236}">
                <a16:creationId xmlns:a16="http://schemas.microsoft.com/office/drawing/2014/main" id="{620E1B21-2345-4863-9ED2-E4F92B7D9031}"/>
              </a:ext>
            </a:extLst>
          </p:cNvPr>
          <p:cNvSpPr/>
          <p:nvPr/>
        </p:nvSpPr>
        <p:spPr>
          <a:xfrm>
            <a:off x="11077381" y="4082147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89%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5" name="Text 144">
            <a:extLst>
              <a:ext uri="{FF2B5EF4-FFF2-40B4-BE49-F238E27FC236}">
                <a16:creationId xmlns:a16="http://schemas.microsoft.com/office/drawing/2014/main" id="{51351C0A-4054-4C51-BABD-BDC7EEC0F161}"/>
              </a:ext>
            </a:extLst>
          </p:cNvPr>
          <p:cNvSpPr/>
          <p:nvPr/>
        </p:nvSpPr>
        <p:spPr>
          <a:xfrm>
            <a:off x="9986009" y="44058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扣款失败率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Text 145">
            <a:extLst>
              <a:ext uri="{FF2B5EF4-FFF2-40B4-BE49-F238E27FC236}">
                <a16:creationId xmlns:a16="http://schemas.microsoft.com/office/drawing/2014/main" id="{2E2E1EDC-DD66-4D1D-97C2-0216FEB58692}"/>
              </a:ext>
            </a:extLst>
          </p:cNvPr>
          <p:cNvSpPr/>
          <p:nvPr/>
        </p:nvSpPr>
        <p:spPr>
          <a:xfrm>
            <a:off x="11077381" y="4370183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11%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7" name="Text 146">
            <a:extLst>
              <a:ext uri="{FF2B5EF4-FFF2-40B4-BE49-F238E27FC236}">
                <a16:creationId xmlns:a16="http://schemas.microsoft.com/office/drawing/2014/main" id="{03968AED-8E96-4495-B88B-162DC782CC91}"/>
              </a:ext>
            </a:extLst>
          </p:cNvPr>
          <p:cNvSpPr/>
          <p:nvPr/>
        </p:nvSpPr>
        <p:spPr>
          <a:xfrm>
            <a:off x="9986009" y="46938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轻微逾期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8" name="Text 147">
            <a:extLst>
              <a:ext uri="{FF2B5EF4-FFF2-40B4-BE49-F238E27FC236}">
                <a16:creationId xmlns:a16="http://schemas.microsoft.com/office/drawing/2014/main" id="{B7B4330C-7C6D-4954-A857-C2E291CDEACF}"/>
              </a:ext>
            </a:extLst>
          </p:cNvPr>
          <p:cNvSpPr/>
          <p:nvPr/>
        </p:nvSpPr>
        <p:spPr>
          <a:xfrm>
            <a:off x="11077381" y="4658219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9" name="Text 148">
            <a:extLst>
              <a:ext uri="{FF2B5EF4-FFF2-40B4-BE49-F238E27FC236}">
                <a16:creationId xmlns:a16="http://schemas.microsoft.com/office/drawing/2014/main" id="{CA0EFD53-E609-4E6A-BF6A-7415D4909593}"/>
              </a:ext>
            </a:extLst>
          </p:cNvPr>
          <p:cNvSpPr/>
          <p:nvPr/>
        </p:nvSpPr>
        <p:spPr>
          <a:xfrm>
            <a:off x="9986009" y="49818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历史违约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0" name="Text 149">
            <a:extLst>
              <a:ext uri="{FF2B5EF4-FFF2-40B4-BE49-F238E27FC236}">
                <a16:creationId xmlns:a16="http://schemas.microsoft.com/office/drawing/2014/main" id="{D9B532A6-4EA4-4E7E-B908-CFAD99478830}"/>
              </a:ext>
            </a:extLst>
          </p:cNvPr>
          <p:cNvSpPr/>
          <p:nvPr/>
        </p:nvSpPr>
        <p:spPr>
          <a:xfrm>
            <a:off x="11077381" y="4946255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0次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1" name="Text 150">
            <a:extLst>
              <a:ext uri="{FF2B5EF4-FFF2-40B4-BE49-F238E27FC236}">
                <a16:creationId xmlns:a16="http://schemas.microsoft.com/office/drawing/2014/main" id="{A1E5C750-FA9B-4C7A-A6B0-5D84C21B81B3}"/>
              </a:ext>
            </a:extLst>
          </p:cNvPr>
          <p:cNvSpPr/>
          <p:nvPr/>
        </p:nvSpPr>
        <p:spPr>
          <a:xfrm>
            <a:off x="9986009" y="52699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月还款/月收入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2" name="Text 151">
            <a:extLst>
              <a:ext uri="{FF2B5EF4-FFF2-40B4-BE49-F238E27FC236}">
                <a16:creationId xmlns:a16="http://schemas.microsoft.com/office/drawing/2014/main" id="{C1430E7F-5E66-4EBB-95AD-7FCEABACE9D0}"/>
              </a:ext>
            </a:extLst>
          </p:cNvPr>
          <p:cNvSpPr/>
          <p:nvPr/>
        </p:nvSpPr>
        <p:spPr>
          <a:xfrm>
            <a:off x="11077381" y="5234291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5.8%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3" name="Text 152">
            <a:extLst>
              <a:ext uri="{FF2B5EF4-FFF2-40B4-BE49-F238E27FC236}">
                <a16:creationId xmlns:a16="http://schemas.microsoft.com/office/drawing/2014/main" id="{BB9B2F4A-8E92-495D-B7EC-4125153C208B}"/>
              </a:ext>
            </a:extLst>
          </p:cNvPr>
          <p:cNvSpPr/>
          <p:nvPr/>
        </p:nvSpPr>
        <p:spPr>
          <a:xfrm>
            <a:off x="9986009" y="555795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负债/月收入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4" name="Text 153">
            <a:extLst>
              <a:ext uri="{FF2B5EF4-FFF2-40B4-BE49-F238E27FC236}">
                <a16:creationId xmlns:a16="http://schemas.microsoft.com/office/drawing/2014/main" id="{38BF1123-C538-4D2F-A4BA-F004B349C630}"/>
              </a:ext>
            </a:extLst>
          </p:cNvPr>
          <p:cNvSpPr/>
          <p:nvPr/>
        </p:nvSpPr>
        <p:spPr>
          <a:xfrm>
            <a:off x="11077381" y="5522327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13.7%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5" name="Text 154">
            <a:extLst>
              <a:ext uri="{FF2B5EF4-FFF2-40B4-BE49-F238E27FC236}">
                <a16:creationId xmlns:a16="http://schemas.microsoft.com/office/drawing/2014/main" id="{5B8F36C9-3AC2-4D85-8180-D8BD708B877E}"/>
              </a:ext>
            </a:extLst>
          </p:cNvPr>
          <p:cNvSpPr/>
          <p:nvPr/>
        </p:nvSpPr>
        <p:spPr>
          <a:xfrm>
            <a:off x="9986008" y="5845988"/>
            <a:ext cx="963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近90天负债变化率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6" name="Text 155">
            <a:extLst>
              <a:ext uri="{FF2B5EF4-FFF2-40B4-BE49-F238E27FC236}">
                <a16:creationId xmlns:a16="http://schemas.microsoft.com/office/drawing/2014/main" id="{AADB3053-748C-479C-BE0E-0A54B187CB96}"/>
              </a:ext>
            </a:extLst>
          </p:cNvPr>
          <p:cNvSpPr/>
          <p:nvPr/>
        </p:nvSpPr>
        <p:spPr>
          <a:xfrm>
            <a:off x="11077381" y="5810363"/>
            <a:ext cx="1088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83F7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CJK SC" pitchFamily="34" charset="-120"/>
              </a:rPr>
              <a:t>+12%</a:t>
            </a:r>
            <a:endParaRPr 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6ED0182-D914-49D7-9F9F-B3F7EA2828D2}"/>
              </a:ext>
            </a:extLst>
          </p:cNvPr>
          <p:cNvCxnSpPr>
            <a:cxnSpLocks/>
          </p:cNvCxnSpPr>
          <p:nvPr/>
        </p:nvCxnSpPr>
        <p:spPr>
          <a:xfrm>
            <a:off x="6096000" y="3535680"/>
            <a:ext cx="0" cy="24960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3538728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房租、保险等被内部转账规则误排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平台缺少商户及关键词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交易描述截断、方向矛盾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Transfer 与 Liability 同时命中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4572000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4818888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房租批量误判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未识别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补充平台及关键词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某商户占比上升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291840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四类定位原因示例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2918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457200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5715000"/>
            <a:ext cx="5541264" cy="36576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5715000"/>
            <a:ext cx="54864" cy="36576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571500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形成「监控 → 定位 → 修复 → 再分类」持续优化闭环，推动规则与知识库自动迭代。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4120" y="2020824"/>
            <a:ext cx="5541264" cy="2926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0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0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1000" b="0" dirty="0">
                <a:solidFill>
                  <a:srgbClr val="3D3C3A"/>
                </a:solidFill>
                <a:latin typeface="微软雅黑"/>
                <a:ea typeface="微软雅黑"/>
              </a:rPr>
              <a:t>识别分类漂移、命中下降、对手方异常等信号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432304"/>
            <a:ext cx="5541264" cy="2926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0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0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1000" b="0" dirty="0">
                <a:solidFill>
                  <a:srgbClr val="3D3C3A"/>
                </a:solidFill>
                <a:latin typeface="微软雅黑"/>
                <a:ea typeface="微软雅黑"/>
              </a:rPr>
              <a:t>逐笔分析交易描述、金额、方向、对手方及分类依据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38658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2843784"/>
            <a:ext cx="5541264" cy="2926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0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0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1000" b="0" dirty="0">
                <a:solidFill>
                  <a:srgbClr val="3D3C3A"/>
                </a:solidFill>
                <a:latin typeface="微软雅黑"/>
                <a:ea typeface="微软雅黑"/>
              </a:rPr>
              <a:t>生成问题清单、原因诊断及规则/知识库优化建议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79806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Loans（Home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 Loan）&lt;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br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&gt;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按产品关键词判定为贷款</a:t>
                      </a:r>
                      <a:endParaRPr sz="800" b="0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dirty="0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循环授信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1050" b="1" dirty="0">
                <a:solidFill>
                  <a:srgbClr val="0A0A0A"/>
                </a:solidFill>
                <a:latin typeface="微软雅黑"/>
                <a:ea typeface="微软雅黑"/>
              </a:rPr>
              <a:t>准确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性：同一贷款流内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标签自相矛盾（MoneySpot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4754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 dirty="0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 dirty="0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 dirty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 dirty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655</TotalTime>
  <Words>1210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微软雅黑</vt:lpstr>
      <vt:lpstr>微软雅黑 Light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146</cp:revision>
  <dcterms:modified xsi:type="dcterms:W3CDTF">2026-08-11T05:32:28Z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