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 dirty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87257" y="3124973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45460"/>
              </p:ext>
            </p:extLst>
          </p:nvPr>
        </p:nvGraphicFramePr>
        <p:xfrm>
          <a:off x="617523" y="1630400"/>
          <a:ext cx="10883342" cy="1335402"/>
        </p:xfrm>
        <a:graphic>
          <a:graphicData uri="http://schemas.openxmlformats.org/drawingml/2006/table">
            <a:tbl>
              <a:tblPr/>
              <a:tblGrid>
                <a:gridCol w="795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67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36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5429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52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56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46362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222567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685800" y="6096875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85800" y="6096875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68680" y="6208889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512064" y="31224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9820" y="3460431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6382700" y="3561015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116" name="用户-m1-t"/>
          <p:cNvSpPr txBox="1"/>
          <p:nvPr/>
        </p:nvSpPr>
        <p:spPr>
          <a:xfrm>
            <a:off x="6400989" y="3949836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负债情况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17" name="用户-m1-1"/>
          <p:cNvSpPr txBox="1"/>
          <p:nvPr/>
        </p:nvSpPr>
        <p:spPr>
          <a:xfrm>
            <a:off x="6400989" y="4151003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预计待还</a:t>
            </a:r>
            <a:r>
              <a:rPr sz="800" b="0">
                <a:solidFill>
                  <a:srgbClr val="606060"/>
                </a:solidFill>
              </a:rPr>
              <a:t>A$1,016</a:t>
            </a:r>
          </a:p>
        </p:txBody>
      </p:sp>
      <p:sp>
        <p:nvSpPr>
          <p:cNvPr id="118" name="用户-m1-2"/>
          <p:cNvSpPr txBox="1"/>
          <p:nvPr/>
        </p:nvSpPr>
        <p:spPr>
          <a:xfrm>
            <a:off x="6400989" y="438874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平均月还款</a:t>
            </a:r>
            <a:r>
              <a:rPr sz="800" b="0">
                <a:solidFill>
                  <a:srgbClr val="606060"/>
                </a:solidFill>
              </a:rPr>
              <a:t>A$428</a:t>
            </a:r>
          </a:p>
        </p:txBody>
      </p:sp>
      <p:sp>
        <p:nvSpPr>
          <p:cNvPr id="119" name="用户-m1-3"/>
          <p:cNvSpPr txBox="1"/>
          <p:nvPr/>
        </p:nvSpPr>
        <p:spPr>
          <a:xfrm>
            <a:off x="6400989" y="462649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贷款机构</a:t>
            </a:r>
            <a:r>
              <a:rPr sz="800" b="0">
                <a:solidFill>
                  <a:srgbClr val="606060"/>
                </a:solidFill>
              </a:rPr>
              <a:t>2 家</a:t>
            </a:r>
          </a:p>
        </p:txBody>
      </p:sp>
      <p:sp>
        <p:nvSpPr>
          <p:cNvPr id="121" name="用户-m2-t"/>
          <p:cNvSpPr txBox="1"/>
          <p:nvPr/>
        </p:nvSpPr>
        <p:spPr>
          <a:xfrm>
            <a:off x="8165780" y="3949836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22" name="用户-m2-1"/>
          <p:cNvSpPr txBox="1"/>
          <p:nvPr/>
        </p:nvSpPr>
        <p:spPr>
          <a:xfrm>
            <a:off x="8165780" y="4151003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90 天还款</a:t>
            </a:r>
            <a:r>
              <a:rPr sz="800" b="0" dirty="0">
                <a:solidFill>
                  <a:srgbClr val="606060"/>
                </a:solidFill>
              </a:rPr>
              <a:t>9 次</a:t>
            </a:r>
          </a:p>
        </p:txBody>
      </p:sp>
      <p:sp>
        <p:nvSpPr>
          <p:cNvPr id="123" name="用户-m2-2"/>
          <p:cNvSpPr txBox="1"/>
          <p:nvPr/>
        </p:nvSpPr>
        <p:spPr>
          <a:xfrm>
            <a:off x="8165780" y="438874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24" name="用户-m2-3"/>
          <p:cNvSpPr txBox="1"/>
          <p:nvPr/>
        </p:nvSpPr>
        <p:spPr>
          <a:xfrm>
            <a:off x="8165780" y="462649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近 90 天新增借款</a:t>
            </a:r>
            <a:r>
              <a:rPr sz="800" b="0" dirty="0">
                <a:solidFill>
                  <a:srgbClr val="606060"/>
                </a:solidFill>
              </a:rPr>
              <a:t>1 笔</a:t>
            </a:r>
          </a:p>
        </p:txBody>
      </p:sp>
      <p:sp>
        <p:nvSpPr>
          <p:cNvPr id="126" name="用户-m3-t"/>
          <p:cNvSpPr txBox="1"/>
          <p:nvPr/>
        </p:nvSpPr>
        <p:spPr>
          <a:xfrm>
            <a:off x="9994392" y="3941978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风险信号</a:t>
            </a:r>
          </a:p>
        </p:txBody>
      </p:sp>
      <p:sp>
        <p:nvSpPr>
          <p:cNvPr id="127" name="用户-m3-1"/>
          <p:cNvSpPr txBox="1"/>
          <p:nvPr/>
        </p:nvSpPr>
        <p:spPr>
          <a:xfrm>
            <a:off x="9994392" y="414314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28" name="用户-m3-2"/>
          <p:cNvSpPr txBox="1"/>
          <p:nvPr/>
        </p:nvSpPr>
        <p:spPr>
          <a:xfrm>
            <a:off x="9994392" y="4380889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扣款失败率</a:t>
            </a:r>
            <a:r>
              <a:rPr sz="800" b="1">
                <a:solidFill>
                  <a:srgbClr val="D6A000"/>
                </a:solidFill>
              </a:rPr>
              <a:t>11%</a:t>
            </a:r>
          </a:p>
        </p:txBody>
      </p:sp>
      <p:sp>
        <p:nvSpPr>
          <p:cNvPr id="129" name="用户-m3-3"/>
          <p:cNvSpPr txBox="1"/>
          <p:nvPr/>
        </p:nvSpPr>
        <p:spPr>
          <a:xfrm>
            <a:off x="9994392" y="4618633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90 天借款</a:t>
            </a:r>
            <a:r>
              <a:rPr sz="800" b="0" dirty="0">
                <a:solidFill>
                  <a:srgbClr val="606060"/>
                </a:solidFill>
              </a:rPr>
              <a:t>A$2,300</a:t>
            </a:r>
          </a:p>
        </p:txBody>
      </p:sp>
      <p:sp>
        <p:nvSpPr>
          <p:cNvPr id="25" name="Fa-bar"/>
          <p:cNvSpPr/>
          <p:nvPr/>
        </p:nvSpPr>
        <p:spPr>
          <a:xfrm>
            <a:off x="687257" y="3460431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870137" y="3561015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825242" y="49661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 dirty="0" err="1"/>
              <a:t>借款金额</a:t>
            </a:r>
            <a:endParaRPr sz="900" b="1" dirty="0"/>
          </a:p>
        </p:txBody>
      </p:sp>
      <p:sp>
        <p:nvSpPr>
          <p:cNvPr id="83" name="Fa-life1"/>
          <p:cNvSpPr txBox="1"/>
          <p:nvPr/>
        </p:nvSpPr>
        <p:spPr>
          <a:xfrm>
            <a:off x="1375291" y="4943038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83885" y="516631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 dirty="0" err="1"/>
              <a:t>已还本金</a:t>
            </a:r>
            <a:endParaRPr sz="900" b="1" dirty="0"/>
          </a:p>
        </p:txBody>
      </p:sp>
      <p:sp>
        <p:nvSpPr>
          <p:cNvPr id="85" name="Fa-life2"/>
          <p:cNvSpPr txBox="1"/>
          <p:nvPr/>
        </p:nvSpPr>
        <p:spPr>
          <a:xfrm>
            <a:off x="1421322" y="5159023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871273" y="539450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/>
              <a:t>剩余本金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1421322" y="5390007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A$564</a:t>
            </a:r>
          </a:p>
        </p:txBody>
      </p:sp>
      <p:sp>
        <p:nvSpPr>
          <p:cNvPr id="130" name="Fa-sub"/>
          <p:cNvSpPr txBox="1"/>
          <p:nvPr/>
        </p:nvSpPr>
        <p:spPr>
          <a:xfrm>
            <a:off x="4528566" y="3170795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>
                <a:solidFill>
                  <a:srgbClr val="1F4E79"/>
                </a:solidFill>
              </a:rPr>
              <a:t>SACC</a:t>
            </a:r>
            <a:r>
              <a:rPr sz="1100" b="0" dirty="0">
                <a:solidFill>
                  <a:srgbClr val="606060"/>
                </a:solidFill>
              </a:rPr>
              <a:t>   ｜  </a:t>
            </a:r>
            <a:r>
              <a:rPr sz="1100" b="0" dirty="0" err="1">
                <a:solidFill>
                  <a:srgbClr val="606060"/>
                </a:solidFill>
              </a:rPr>
              <a:t>在贷</a:t>
            </a:r>
            <a:endParaRPr sz="1100" b="0" dirty="0">
              <a:solidFill>
                <a:srgbClr val="606060"/>
              </a:solidFill>
            </a:endParaRPr>
          </a:p>
        </p:txBody>
      </p:sp>
      <p:sp>
        <p:nvSpPr>
          <p:cNvPr id="131" name="Fa-c-还款计划-t"/>
          <p:cNvSpPr txBox="1"/>
          <p:nvPr/>
        </p:nvSpPr>
        <p:spPr>
          <a:xfrm>
            <a:off x="810733" y="3914252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还款计划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32" name="Fa-c-还款计划-1"/>
          <p:cNvSpPr txBox="1"/>
          <p:nvPr/>
        </p:nvSpPr>
        <p:spPr>
          <a:xfrm>
            <a:off x="810733" y="411542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0A0A0A"/>
                </a:solidFill>
              </a:rPr>
              <a:t>月还款</a:t>
            </a:r>
            <a:r>
              <a:rPr sz="800" b="0" dirty="0" err="1">
                <a:solidFill>
                  <a:srgbClr val="606060"/>
                </a:solidFill>
              </a:rPr>
              <a:t>约</a:t>
            </a:r>
            <a:r>
              <a:rPr sz="800" b="0" dirty="0">
                <a:solidFill>
                  <a:srgbClr val="606060"/>
                </a:solidFill>
              </a:rPr>
              <a:t> A$338</a:t>
            </a:r>
          </a:p>
        </p:txBody>
      </p:sp>
      <p:sp>
        <p:nvSpPr>
          <p:cNvPr id="133" name="Fa-c-还款计划-2"/>
          <p:cNvSpPr txBox="1"/>
          <p:nvPr/>
        </p:nvSpPr>
        <p:spPr>
          <a:xfrm>
            <a:off x="810733" y="433487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134" name="Fa-c-还款计划-3"/>
          <p:cNvSpPr txBox="1"/>
          <p:nvPr/>
        </p:nvSpPr>
        <p:spPr>
          <a:xfrm>
            <a:off x="810733" y="455433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135" name="Fa-c-还款计划-4"/>
          <p:cNvSpPr txBox="1"/>
          <p:nvPr/>
        </p:nvSpPr>
        <p:spPr>
          <a:xfrm>
            <a:off x="810733" y="477378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预计剩余</a:t>
            </a:r>
            <a:r>
              <a:rPr sz="800" b="0" dirty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36" name="Fa-c-履约表现-t"/>
          <p:cNvSpPr txBox="1"/>
          <p:nvPr/>
        </p:nvSpPr>
        <p:spPr>
          <a:xfrm>
            <a:off x="2383501" y="3993338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38" name="Fa-c-履约表现-2"/>
          <p:cNvSpPr txBox="1"/>
          <p:nvPr/>
        </p:nvSpPr>
        <p:spPr>
          <a:xfrm>
            <a:off x="2383501" y="4233961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扣款失败</a:t>
            </a:r>
            <a:r>
              <a:rPr sz="800" b="1" dirty="0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9" name="Fa-c-履约表现-3"/>
          <p:cNvSpPr txBox="1"/>
          <p:nvPr/>
        </p:nvSpPr>
        <p:spPr>
          <a:xfrm>
            <a:off x="2383501" y="4453417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1">
                <a:solidFill>
                  <a:srgbClr val="D6A000"/>
                </a:solidFill>
              </a:rPr>
              <a:t>3 天</a:t>
            </a:r>
          </a:p>
        </p:txBody>
      </p:sp>
      <p:sp>
        <p:nvSpPr>
          <p:cNvPr id="140" name="Fa-c-履约表现-4"/>
          <p:cNvSpPr txBox="1"/>
          <p:nvPr/>
        </p:nvSpPr>
        <p:spPr>
          <a:xfrm>
            <a:off x="2383501" y="4672873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41" name="Fa-c-产品成本-t"/>
          <p:cNvSpPr txBox="1"/>
          <p:nvPr/>
        </p:nvSpPr>
        <p:spPr>
          <a:xfrm>
            <a:off x="4102517" y="3936772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产品</a:t>
            </a:r>
            <a:r>
              <a:rPr lang="zh-CN" altLang="en-US" sz="1000" b="1" dirty="0">
                <a:solidFill>
                  <a:srgbClr val="1F4E79"/>
                </a:solidFill>
              </a:rPr>
              <a:t>要素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42" name="Fa-c-产品成本-1"/>
          <p:cNvSpPr txBox="1"/>
          <p:nvPr/>
        </p:nvSpPr>
        <p:spPr>
          <a:xfrm>
            <a:off x="4102517" y="413794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APR</a:t>
            </a:r>
            <a:r>
              <a:rPr sz="800" b="1">
                <a:solidFill>
                  <a:srgbClr val="D6A000"/>
                </a:solidFill>
              </a:rPr>
              <a:t>42%</a:t>
            </a:r>
          </a:p>
        </p:txBody>
      </p:sp>
      <p:sp>
        <p:nvSpPr>
          <p:cNvPr id="143" name="Fa-c-产品成本-2"/>
          <p:cNvSpPr txBox="1"/>
          <p:nvPr/>
        </p:nvSpPr>
        <p:spPr>
          <a:xfrm>
            <a:off x="4102517" y="435739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预计总还款</a:t>
            </a:r>
            <a:r>
              <a:rPr sz="800" b="0" dirty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44" name="Fa-c-产品成本-3"/>
          <p:cNvSpPr txBox="1"/>
          <p:nvPr/>
        </p:nvSpPr>
        <p:spPr>
          <a:xfrm>
            <a:off x="4102517" y="4576852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000" b="1" dirty="0">
                <a:solidFill>
                  <a:srgbClr val="0A0A0A"/>
                </a:solidFill>
              </a:rPr>
              <a:t>利息</a:t>
            </a:r>
            <a:r>
              <a:rPr sz="1000" b="1" dirty="0">
                <a:solidFill>
                  <a:srgbClr val="0A0A0A"/>
                </a:solidFill>
              </a:rPr>
              <a:t>成本</a:t>
            </a:r>
            <a:r>
              <a:rPr sz="800" b="0" dirty="0">
                <a:solidFill>
                  <a:srgbClr val="606060"/>
                </a:solidFill>
              </a:rPr>
              <a:t>A$372</a:t>
            </a:r>
          </a:p>
        </p:txBody>
      </p:sp>
      <p:sp>
        <p:nvSpPr>
          <p:cNvPr id="64" name="Fa-c-产品成本-3">
            <a:extLst>
              <a:ext uri="{FF2B5EF4-FFF2-40B4-BE49-F238E27FC236}">
                <a16:creationId xmlns:a16="http://schemas.microsoft.com/office/drawing/2014/main" id="{E1EE7A53-B95F-4A01-A89A-78606CEC2339}"/>
              </a:ext>
            </a:extLst>
          </p:cNvPr>
          <p:cNvSpPr txBox="1"/>
          <p:nvPr/>
        </p:nvSpPr>
        <p:spPr>
          <a:xfrm>
            <a:off x="4102517" y="4814151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000" b="1" dirty="0">
                <a:solidFill>
                  <a:srgbClr val="0A0A0A"/>
                </a:solidFill>
              </a:rPr>
              <a:t>产品类型 </a:t>
            </a:r>
            <a:r>
              <a:rPr sz="800" b="0" dirty="0">
                <a:solidFill>
                  <a:srgbClr val="606060"/>
                </a:solidFill>
              </a:rPr>
              <a:t>SACC</a:t>
            </a:r>
          </a:p>
        </p:txBody>
      </p:sp>
      <p:sp>
        <p:nvSpPr>
          <p:cNvPr id="145" name="用户-m1-4"/>
          <p:cNvSpPr txBox="1"/>
          <p:nvPr/>
        </p:nvSpPr>
        <p:spPr>
          <a:xfrm>
            <a:off x="6400989" y="485637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在贷笔数</a:t>
            </a:r>
            <a:r>
              <a:rPr sz="800" b="0">
                <a:solidFill>
                  <a:srgbClr val="606060"/>
                </a:solidFill>
              </a:rPr>
              <a:t>3 笔</a:t>
            </a:r>
          </a:p>
        </p:txBody>
      </p:sp>
      <p:sp>
        <p:nvSpPr>
          <p:cNvPr id="146" name="用户-m2-4"/>
          <p:cNvSpPr txBox="1"/>
          <p:nvPr/>
        </p:nvSpPr>
        <p:spPr>
          <a:xfrm>
            <a:off x="8165780" y="485637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最近借款</a:t>
            </a:r>
            <a:r>
              <a:rPr sz="800" b="0">
                <a:solidFill>
                  <a:srgbClr val="606060"/>
                </a:solidFill>
              </a:rPr>
              <a:t>45 天前</a:t>
            </a:r>
          </a:p>
        </p:txBody>
      </p:sp>
      <p:sp>
        <p:nvSpPr>
          <p:cNvPr id="147" name="用户-m3-4"/>
          <p:cNvSpPr txBox="1"/>
          <p:nvPr/>
        </p:nvSpPr>
        <p:spPr>
          <a:xfrm>
            <a:off x="9994392" y="485637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历史违约</a:t>
            </a:r>
            <a:r>
              <a:rPr sz="800" b="0">
                <a:solidFill>
                  <a:srgbClr val="606060"/>
                </a:solidFill>
              </a:rPr>
              <a:t>0 次</a:t>
            </a:r>
          </a:p>
        </p:txBody>
      </p:sp>
      <p:sp>
        <p:nvSpPr>
          <p:cNvPr id="148" name="用户-b-t"/>
          <p:cNvSpPr txBox="1"/>
          <p:nvPr/>
        </p:nvSpPr>
        <p:spPr>
          <a:xfrm>
            <a:off x="6400989" y="5148985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偿债能力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49" name="用户-b1-1"/>
          <p:cNvSpPr txBox="1"/>
          <p:nvPr/>
        </p:nvSpPr>
        <p:spPr>
          <a:xfrm>
            <a:off x="6400989" y="5342294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月还款/月收入</a:t>
            </a:r>
            <a:r>
              <a:rPr sz="800" b="1">
                <a:solidFill>
                  <a:srgbClr val="D6A000"/>
                </a:solidFill>
              </a:rPr>
              <a:t>5.8%</a:t>
            </a:r>
          </a:p>
        </p:txBody>
      </p:sp>
      <p:sp>
        <p:nvSpPr>
          <p:cNvPr id="150" name="用户-b1-2"/>
          <p:cNvSpPr txBox="1"/>
          <p:nvPr/>
        </p:nvSpPr>
        <p:spPr>
          <a:xfrm>
            <a:off x="8165780" y="5342294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总负债/月收入</a:t>
            </a:r>
            <a:r>
              <a:rPr sz="800" b="1">
                <a:solidFill>
                  <a:srgbClr val="D6A000"/>
                </a:solidFill>
              </a:rPr>
              <a:t>13.7%</a:t>
            </a:r>
          </a:p>
        </p:txBody>
      </p:sp>
      <p:sp>
        <p:nvSpPr>
          <p:cNvPr id="151" name="用户-b1-3"/>
          <p:cNvSpPr txBox="1"/>
          <p:nvPr/>
        </p:nvSpPr>
        <p:spPr>
          <a:xfrm>
            <a:off x="9994392" y="5342294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近 90 天负债变化率</a:t>
            </a:r>
            <a:r>
              <a:rPr sz="800" b="1">
                <a:solidFill>
                  <a:srgbClr val="D6A000"/>
                </a:solidFill>
              </a:rPr>
              <a:t>+12%</a:t>
            </a:r>
          </a:p>
        </p:txBody>
      </p:sp>
      <p:sp>
        <p:nvSpPr>
          <p:cNvPr id="152" name="用户-b2-1"/>
          <p:cNvSpPr txBox="1"/>
          <p:nvPr/>
        </p:nvSpPr>
        <p:spPr>
          <a:xfrm>
            <a:off x="6400989" y="558003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正常还款率</a:t>
            </a:r>
            <a:r>
              <a:rPr sz="800" b="0">
                <a:solidFill>
                  <a:srgbClr val="606060"/>
                </a:solidFill>
              </a:rPr>
              <a:t>89%</a:t>
            </a:r>
          </a:p>
        </p:txBody>
      </p:sp>
      <p:sp>
        <p:nvSpPr>
          <p:cNvPr id="153" name="用户-b2-2"/>
          <p:cNvSpPr txBox="1"/>
          <p:nvPr/>
        </p:nvSpPr>
        <p:spPr>
          <a:xfrm>
            <a:off x="8165780" y="558003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历史贷款笔数</a:t>
            </a:r>
            <a:r>
              <a:rPr sz="800" b="0">
                <a:solidFill>
                  <a:srgbClr val="606060"/>
                </a:solidFill>
              </a:rPr>
              <a:t>5 笔</a:t>
            </a:r>
          </a:p>
        </p:txBody>
      </p:sp>
      <p:sp>
        <p:nvSpPr>
          <p:cNvPr id="154" name="用户-b2-3"/>
          <p:cNvSpPr txBox="1"/>
          <p:nvPr/>
        </p:nvSpPr>
        <p:spPr>
          <a:xfrm>
            <a:off x="9994392" y="558003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0A0A0A"/>
                </a:solidFill>
              </a:rPr>
              <a:t>负债结构</a:t>
            </a:r>
            <a:r>
              <a:rPr sz="800" b="0" dirty="0" err="1">
                <a:solidFill>
                  <a:srgbClr val="606060"/>
                </a:solidFill>
              </a:rPr>
              <a:t>SACC</a:t>
            </a:r>
            <a:r>
              <a:rPr sz="800" b="0" dirty="0">
                <a:solidFill>
                  <a:srgbClr val="606060"/>
                </a:solidFill>
              </a:rPr>
              <a:t> 65% / Non-SACC 15%</a:t>
            </a:r>
            <a:br>
              <a:rPr sz="800" b="0" dirty="0">
                <a:solidFill>
                  <a:srgbClr val="606060"/>
                </a:solidFill>
              </a:rPr>
            </a:br>
            <a:r>
              <a:rPr sz="800" b="0" dirty="0">
                <a:solidFill>
                  <a:srgbClr val="606060"/>
                </a:solidFill>
              </a:rPr>
              <a:t>BNPL 20%</a:t>
            </a:r>
          </a:p>
        </p:txBody>
      </p:sp>
      <p:sp>
        <p:nvSpPr>
          <p:cNvPr id="155" name="Fa-c-履约表现-5"/>
          <p:cNvSpPr txBox="1"/>
          <p:nvPr/>
        </p:nvSpPr>
        <p:spPr>
          <a:xfrm>
            <a:off x="2383501" y="4892329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累计逾期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56" name="Fa-life-进度"/>
          <p:cNvSpPr txBox="1"/>
          <p:nvPr/>
        </p:nvSpPr>
        <p:spPr>
          <a:xfrm>
            <a:off x="810733" y="5595747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本金偿还进度</a:t>
            </a:r>
            <a:r>
              <a:rPr sz="800" b="0">
                <a:solidFill>
                  <a:srgbClr val="606060"/>
                </a:solidFill>
              </a:rPr>
              <a:t>62%</a:t>
            </a:r>
          </a:p>
        </p:txBody>
      </p:sp>
      <p:sp>
        <p:nvSpPr>
          <p:cNvPr id="157" name="Fa-life-期数"/>
          <p:cNvSpPr txBox="1"/>
          <p:nvPr/>
        </p:nvSpPr>
        <p:spPr>
          <a:xfrm>
            <a:off x="2383501" y="5595747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总期数</a:t>
            </a:r>
            <a:r>
              <a:rPr sz="800" b="0">
                <a:solidFill>
                  <a:srgbClr val="606060"/>
                </a:solidFill>
              </a:rPr>
              <a:t>12 · 已还 8</a:t>
            </a:r>
          </a:p>
        </p:txBody>
      </p:sp>
      <p:sp>
        <p:nvSpPr>
          <p:cNvPr id="158" name="Fa-life-按时率"/>
          <p:cNvSpPr txBox="1"/>
          <p:nvPr/>
        </p:nvSpPr>
        <p:spPr>
          <a:xfrm>
            <a:off x="4102517" y="5595747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按时还款率</a:t>
            </a:r>
            <a:r>
              <a:rPr sz="800" b="1">
                <a:solidFill>
                  <a:srgbClr val="D6A000"/>
                </a:solidFill>
              </a:rPr>
              <a:t>83%</a:t>
            </a:r>
          </a:p>
        </p:txBody>
      </p:sp>
      <p:sp>
        <p:nvSpPr>
          <p:cNvPr id="159" name="Fa-life-还款日"/>
          <p:cNvSpPr txBox="1"/>
          <p:nvPr/>
        </p:nvSpPr>
        <p:spPr>
          <a:xfrm>
            <a:off x="810733" y="5815203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下一还款日</a:t>
            </a:r>
            <a:r>
              <a:rPr sz="800" b="0">
                <a:solidFill>
                  <a:srgbClr val="606060"/>
                </a:solidFill>
              </a:rPr>
              <a:t>2026/05/02</a:t>
            </a:r>
          </a:p>
        </p:txBody>
      </p:sp>
      <p:sp>
        <p:nvSpPr>
          <p:cNvPr id="160" name="Fa-life-逾期额"/>
          <p:cNvSpPr txBox="1"/>
          <p:nvPr/>
        </p:nvSpPr>
        <p:spPr>
          <a:xfrm>
            <a:off x="2383501" y="5815203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当前逾期金额</a:t>
            </a:r>
            <a:r>
              <a:rPr sz="800" b="0">
                <a:solidFill>
                  <a:srgbClr val="606060"/>
                </a:solidFill>
              </a:rPr>
              <a:t>A$0</a:t>
            </a:r>
          </a:p>
        </p:txBody>
      </p:sp>
      <p:sp>
        <p:nvSpPr>
          <p:cNvPr id="161" name="Fa-life-状态"/>
          <p:cNvSpPr txBox="1"/>
          <p:nvPr/>
        </p:nvSpPr>
        <p:spPr>
          <a:xfrm>
            <a:off x="4102517" y="5815203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贷款状态</a:t>
            </a:r>
            <a:r>
              <a:rPr sz="800" b="0">
                <a:solidFill>
                  <a:srgbClr val="606060"/>
                </a:solidFill>
              </a:rPr>
              <a:t>在贷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四类定位原因示例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4120" y="202446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Loans（Home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 Loan）&lt;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br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&gt;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按产品关键词判定为贷款</a:t>
                      </a:r>
                      <a:endParaRPr sz="800" b="0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dirty="0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循环授信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1050" b="1" dirty="0">
                <a:solidFill>
                  <a:srgbClr val="0A0A0A"/>
                </a:solidFill>
                <a:latin typeface="微软雅黑"/>
                <a:ea typeface="微软雅黑"/>
              </a:rPr>
              <a:t>准确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性：同一贷款流内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标签自相矛盾（MoneySpot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4754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 dirty="0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 dirty="0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 dirty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 dirty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646</TotalTime>
  <Words>1295</Words>
  <Application>Microsoft Office PowerPoint</Application>
  <PresentationFormat>宽屏</PresentationFormat>
  <Paragraphs>323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微软雅黑</vt:lpstr>
      <vt:lpstr>等线</vt:lpstr>
      <vt:lpstr>微软雅黑 Light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139</cp:revision>
  <dcterms:modified xsi:type="dcterms:W3CDTF">2026-08-11T04:42:29Z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