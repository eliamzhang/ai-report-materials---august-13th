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2026/8/11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20963" y="284368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743732"/>
              </p:ext>
            </p:extLst>
          </p:nvPr>
        </p:nvGraphicFramePr>
        <p:xfrm>
          <a:off x="617523" y="1533881"/>
          <a:ext cx="10901631" cy="1113993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7416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619506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9506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802386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270498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70498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53378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619506" y="5815584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19506" y="5815584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02386" y="5927598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5770" y="284114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803844" y="3593592"/>
            <a:ext cx="1197864" cy="182880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用户-tag1-t"/>
          <p:cNvSpPr txBox="1"/>
          <p:nvPr/>
        </p:nvSpPr>
        <p:spPr>
          <a:xfrm>
            <a:off x="803844" y="3611880"/>
            <a:ext cx="119786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1">
                <a:solidFill>
                  <a:srgbClr val="1F4E79"/>
                </a:solidFill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2074860" y="3593592"/>
            <a:ext cx="1197864" cy="182880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用户-tag2-t"/>
          <p:cNvSpPr txBox="1"/>
          <p:nvPr/>
        </p:nvSpPr>
        <p:spPr>
          <a:xfrm>
            <a:off x="2074860" y="3611880"/>
            <a:ext cx="119786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1">
                <a:solidFill>
                  <a:srgbClr val="1F4E79"/>
                </a:solidFill>
              </a:rPr>
              <a:t>近期新增贷款</a:t>
            </a:r>
          </a:p>
        </p:txBody>
      </p:sp>
      <p:sp>
        <p:nvSpPr>
          <p:cNvPr id="55" name="用户-tag3"/>
          <p:cNvSpPr/>
          <p:nvPr/>
        </p:nvSpPr>
        <p:spPr>
          <a:xfrm>
            <a:off x="3345876" y="3593592"/>
            <a:ext cx="1197864" cy="182880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用户-tag3-t"/>
          <p:cNvSpPr txBox="1"/>
          <p:nvPr/>
        </p:nvSpPr>
        <p:spPr>
          <a:xfrm>
            <a:off x="3345876" y="3611880"/>
            <a:ext cx="119786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1">
                <a:solidFill>
                  <a:srgbClr val="1F4E79"/>
                </a:solidFill>
              </a:rPr>
              <a:t>高成本借贷</a:t>
            </a:r>
          </a:p>
        </p:txBody>
      </p:sp>
      <p:sp>
        <p:nvSpPr>
          <p:cNvPr id="57" name="用户-tag4"/>
          <p:cNvSpPr/>
          <p:nvPr/>
        </p:nvSpPr>
        <p:spPr>
          <a:xfrm>
            <a:off x="4616892" y="3593592"/>
            <a:ext cx="1197864" cy="182880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用户-tag4-t"/>
          <p:cNvSpPr txBox="1"/>
          <p:nvPr/>
        </p:nvSpPr>
        <p:spPr>
          <a:xfrm>
            <a:off x="4616892" y="3611880"/>
            <a:ext cx="119786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1">
                <a:solidFill>
                  <a:srgbClr val="1F4E79"/>
                </a:solidFill>
              </a:rPr>
              <a:t>存在轻微逾期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454836" y="42611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606060"/>
                </a:solidFill>
              </a:rPr>
              <a:t>借款金额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454836" y="3913632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800" b="1">
                <a:solidFill>
                  <a:srgbClr val="1F4E79"/>
                </a:solidFill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128188" y="42611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606060"/>
                </a:solidFill>
              </a:rPr>
              <a:t>已还本金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128188" y="3913632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800" b="1">
                <a:solidFill>
                  <a:srgbClr val="1F4E79"/>
                </a:solidFill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801540" y="42611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606060"/>
                </a:solidFill>
              </a:rPr>
              <a:t>剩余本金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801540" y="3913632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800" b="1">
                <a:solidFill>
                  <a:srgbClr val="1F4E79"/>
                </a:solidFill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917876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91228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16" name="用户-m1-t"/>
          <p:cNvSpPr txBox="1"/>
          <p:nvPr/>
        </p:nvSpPr>
        <p:spPr>
          <a:xfrm>
            <a:off x="739749" y="393192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负债情况</a:t>
            </a:r>
          </a:p>
        </p:txBody>
      </p:sp>
      <p:sp>
        <p:nvSpPr>
          <p:cNvPr id="117" name="用户-m1-1"/>
          <p:cNvSpPr txBox="1"/>
          <p:nvPr/>
        </p:nvSpPr>
        <p:spPr>
          <a:xfrm>
            <a:off x="739749" y="413308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预计待还</a:t>
            </a:r>
            <a:r>
              <a:rPr sz="1500" b="1">
                <a:solidFill>
                  <a:srgbClr val="1F4E79"/>
                </a:solidFill>
              </a:rPr>
              <a:t>A$1,016</a:t>
            </a:r>
          </a:p>
        </p:txBody>
      </p:sp>
      <p:sp>
        <p:nvSpPr>
          <p:cNvPr id="118" name="用户-m1-2"/>
          <p:cNvSpPr txBox="1"/>
          <p:nvPr/>
        </p:nvSpPr>
        <p:spPr>
          <a:xfrm>
            <a:off x="739749" y="437083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平均月还款</a:t>
            </a:r>
            <a:r>
              <a:rPr sz="1500" b="1">
                <a:solidFill>
                  <a:srgbClr val="1F4E79"/>
                </a:solidFill>
              </a:rPr>
              <a:t>A$428</a:t>
            </a:r>
          </a:p>
        </p:txBody>
      </p:sp>
      <p:sp>
        <p:nvSpPr>
          <p:cNvPr id="119" name="用户-m1-3"/>
          <p:cNvSpPr txBox="1"/>
          <p:nvPr/>
        </p:nvSpPr>
        <p:spPr>
          <a:xfrm>
            <a:off x="739749" y="4608575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贷款机构2 家</a:t>
            </a:r>
          </a:p>
        </p:txBody>
      </p:sp>
      <p:cxnSp>
        <p:nvCxnSpPr>
          <p:cNvPr id="120" name="用户-sep1"/>
          <p:cNvCxnSpPr/>
          <p:nvPr/>
        </p:nvCxnSpPr>
        <p:spPr>
          <a:xfrm>
            <a:off x="2422245" y="4023360"/>
            <a:ext cx="0" cy="1051560"/>
          </a:xfrm>
          <a:prstGeom prst="line">
            <a:avLst/>
          </a:prstGeom>
          <a:ln w="12700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用户-m2-t"/>
          <p:cNvSpPr txBox="1"/>
          <p:nvPr/>
        </p:nvSpPr>
        <p:spPr>
          <a:xfrm>
            <a:off x="2513685" y="393192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22" name="用户-m2-1"/>
          <p:cNvSpPr txBox="1"/>
          <p:nvPr/>
        </p:nvSpPr>
        <p:spPr>
          <a:xfrm>
            <a:off x="2513685" y="413308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90 天还款</a:t>
            </a:r>
            <a:r>
              <a:rPr sz="1500" b="1">
                <a:solidFill>
                  <a:srgbClr val="1F4E79"/>
                </a:solidFill>
              </a:rPr>
              <a:t>9 次</a:t>
            </a:r>
          </a:p>
        </p:txBody>
      </p:sp>
      <p:sp>
        <p:nvSpPr>
          <p:cNvPr id="123" name="用户-m2-2"/>
          <p:cNvSpPr txBox="1"/>
          <p:nvPr/>
        </p:nvSpPr>
        <p:spPr>
          <a:xfrm>
            <a:off x="2513685" y="437083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还款中断无</a:t>
            </a:r>
          </a:p>
        </p:txBody>
      </p:sp>
      <p:sp>
        <p:nvSpPr>
          <p:cNvPr id="124" name="用户-m2-3"/>
          <p:cNvSpPr txBox="1"/>
          <p:nvPr/>
        </p:nvSpPr>
        <p:spPr>
          <a:xfrm>
            <a:off x="2513685" y="4608575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近 90 天新增借款1 笔</a:t>
            </a:r>
          </a:p>
        </p:txBody>
      </p:sp>
      <p:cxnSp>
        <p:nvCxnSpPr>
          <p:cNvPr id="125" name="用户-sep2"/>
          <p:cNvCxnSpPr/>
          <p:nvPr/>
        </p:nvCxnSpPr>
        <p:spPr>
          <a:xfrm>
            <a:off x="4196181" y="4023360"/>
            <a:ext cx="0" cy="1051560"/>
          </a:xfrm>
          <a:prstGeom prst="line">
            <a:avLst/>
          </a:prstGeom>
          <a:ln w="12700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用户-m3-t"/>
          <p:cNvSpPr txBox="1"/>
          <p:nvPr/>
        </p:nvSpPr>
        <p:spPr>
          <a:xfrm>
            <a:off x="4287621" y="393192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风险信号</a:t>
            </a:r>
          </a:p>
        </p:txBody>
      </p:sp>
      <p:sp>
        <p:nvSpPr>
          <p:cNvPr id="127" name="用户-m3-1"/>
          <p:cNvSpPr txBox="1"/>
          <p:nvPr/>
        </p:nvSpPr>
        <p:spPr>
          <a:xfrm>
            <a:off x="4287621" y="413308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轻微逾期</a:t>
            </a:r>
            <a:r>
              <a:rPr sz="15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28" name="用户-m3-2"/>
          <p:cNvSpPr txBox="1"/>
          <p:nvPr/>
        </p:nvSpPr>
        <p:spPr>
          <a:xfrm>
            <a:off x="4287621" y="437083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扣款失败</a:t>
            </a:r>
            <a:r>
              <a:rPr sz="15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29" name="用户-m3-3"/>
          <p:cNvSpPr txBox="1"/>
          <p:nvPr/>
        </p:nvSpPr>
        <p:spPr>
          <a:xfrm>
            <a:off x="4287621" y="4608575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90 天借款A$2,300</a:t>
            </a:r>
          </a:p>
        </p:txBody>
      </p:sp>
      <p:sp>
        <p:nvSpPr>
          <p:cNvPr id="130" name="Fa-sub"/>
          <p:cNvSpPr txBox="1"/>
          <p:nvPr/>
        </p:nvSpPr>
        <p:spPr>
          <a:xfrm>
            <a:off x="6454749" y="353872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4E79"/>
                </a:solidFill>
              </a:rPr>
              <a:t>SACC</a:t>
            </a:r>
            <a:r>
              <a:rPr sz="1100" b="0">
                <a:solidFill>
                  <a:srgbClr val="606060"/>
                </a:solidFill>
              </a:rPr>
              <a:t>   ｜  在贷</a:t>
            </a:r>
          </a:p>
        </p:txBody>
      </p:sp>
      <p:sp>
        <p:nvSpPr>
          <p:cNvPr id="131" name="Fa-c-还款计划-t"/>
          <p:cNvSpPr txBox="1"/>
          <p:nvPr/>
        </p:nvSpPr>
        <p:spPr>
          <a:xfrm>
            <a:off x="6454749" y="4590288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还款计划</a:t>
            </a:r>
          </a:p>
        </p:txBody>
      </p:sp>
      <p:sp>
        <p:nvSpPr>
          <p:cNvPr id="132" name="Fa-c-还款计划-1"/>
          <p:cNvSpPr txBox="1"/>
          <p:nvPr/>
        </p:nvSpPr>
        <p:spPr>
          <a:xfrm>
            <a:off x="6454749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月还款</a:t>
            </a:r>
            <a:r>
              <a:rPr sz="900" b="1">
                <a:solidFill>
                  <a:srgbClr val="3D3C3A"/>
                </a:solidFill>
              </a:rPr>
              <a:t>约 A$338</a:t>
            </a:r>
          </a:p>
        </p:txBody>
      </p:sp>
      <p:sp>
        <p:nvSpPr>
          <p:cNvPr id="133" name="Fa-c-还款计划-2"/>
          <p:cNvSpPr txBox="1"/>
          <p:nvPr/>
        </p:nvSpPr>
        <p:spPr>
          <a:xfrm>
            <a:off x="6454749" y="501091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每两周</a:t>
            </a:r>
            <a:r>
              <a:rPr sz="900" b="1">
                <a:solidFill>
                  <a:srgbClr val="3D3C3A"/>
                </a:solidFill>
              </a:rPr>
              <a:t>A$156</a:t>
            </a:r>
          </a:p>
        </p:txBody>
      </p:sp>
      <p:sp>
        <p:nvSpPr>
          <p:cNvPr id="134" name="Fa-c-还款计划-3"/>
          <p:cNvSpPr txBox="1"/>
          <p:nvPr/>
        </p:nvSpPr>
        <p:spPr>
          <a:xfrm>
            <a:off x="6454749" y="523036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90 天还款</a:t>
            </a:r>
            <a:r>
              <a:rPr sz="900" b="1">
                <a:solidFill>
                  <a:srgbClr val="3D3C3A"/>
                </a:solidFill>
              </a:rPr>
              <a:t>6 次</a:t>
            </a:r>
          </a:p>
        </p:txBody>
      </p:sp>
      <p:sp>
        <p:nvSpPr>
          <p:cNvPr id="135" name="Fa-c-还款计划-4"/>
          <p:cNvSpPr txBox="1"/>
          <p:nvPr/>
        </p:nvSpPr>
        <p:spPr>
          <a:xfrm>
            <a:off x="6454749" y="544982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预计剩余</a:t>
            </a:r>
            <a:r>
              <a:rPr sz="900" b="1">
                <a:solidFill>
                  <a:srgbClr val="3D3C3A"/>
                </a:solidFill>
              </a:rPr>
              <a:t>4 期</a:t>
            </a:r>
          </a:p>
        </p:txBody>
      </p:sp>
      <p:sp>
        <p:nvSpPr>
          <p:cNvPr id="136" name="Fa-c-履约表现-t"/>
          <p:cNvSpPr txBox="1"/>
          <p:nvPr/>
        </p:nvSpPr>
        <p:spPr>
          <a:xfrm>
            <a:off x="8173821" y="4590288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37" name="Fa-c-履约表现-1"/>
          <p:cNvSpPr txBox="1"/>
          <p:nvPr/>
        </p:nvSpPr>
        <p:spPr>
          <a:xfrm>
            <a:off x="8173821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轻微逾期</a:t>
            </a:r>
            <a:r>
              <a:rPr sz="10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8" name="Fa-c-履约表现-2"/>
          <p:cNvSpPr txBox="1"/>
          <p:nvPr/>
        </p:nvSpPr>
        <p:spPr>
          <a:xfrm>
            <a:off x="8173821" y="501091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扣款失败</a:t>
            </a:r>
            <a:r>
              <a:rPr sz="10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9" name="Fa-c-履约表现-3"/>
          <p:cNvSpPr txBox="1"/>
          <p:nvPr/>
        </p:nvSpPr>
        <p:spPr>
          <a:xfrm>
            <a:off x="8173821" y="523036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最长逾期</a:t>
            </a:r>
            <a:r>
              <a:rPr sz="1000" b="1">
                <a:solidFill>
                  <a:srgbClr val="D6A000"/>
                </a:solidFill>
              </a:rPr>
              <a:t>3 天</a:t>
            </a:r>
          </a:p>
        </p:txBody>
      </p:sp>
      <p:sp>
        <p:nvSpPr>
          <p:cNvPr id="140" name="Fa-c-履约表现-4"/>
          <p:cNvSpPr txBox="1"/>
          <p:nvPr/>
        </p:nvSpPr>
        <p:spPr>
          <a:xfrm>
            <a:off x="8173821" y="544982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还款中断</a:t>
            </a:r>
            <a:r>
              <a:rPr sz="900" b="1">
                <a:solidFill>
                  <a:srgbClr val="3D3C3A"/>
                </a:solidFill>
              </a:rPr>
              <a:t>无</a:t>
            </a:r>
          </a:p>
        </p:txBody>
      </p:sp>
      <p:sp>
        <p:nvSpPr>
          <p:cNvPr id="141" name="Fa-c-产品成本-t"/>
          <p:cNvSpPr txBox="1"/>
          <p:nvPr/>
        </p:nvSpPr>
        <p:spPr>
          <a:xfrm>
            <a:off x="9892893" y="4590288"/>
            <a:ext cx="16093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产品成本</a:t>
            </a:r>
          </a:p>
        </p:txBody>
      </p:sp>
      <p:sp>
        <p:nvSpPr>
          <p:cNvPr id="142" name="Fa-c-产品成本-1"/>
          <p:cNvSpPr txBox="1"/>
          <p:nvPr/>
        </p:nvSpPr>
        <p:spPr>
          <a:xfrm>
            <a:off x="9892893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APR</a:t>
            </a:r>
            <a:r>
              <a:rPr sz="1000" b="1">
                <a:solidFill>
                  <a:srgbClr val="D6A000"/>
                </a:solidFill>
              </a:rPr>
              <a:t>42%</a:t>
            </a:r>
          </a:p>
        </p:txBody>
      </p:sp>
      <p:sp>
        <p:nvSpPr>
          <p:cNvPr id="143" name="Fa-c-产品成本-2"/>
          <p:cNvSpPr txBox="1"/>
          <p:nvPr/>
        </p:nvSpPr>
        <p:spPr>
          <a:xfrm>
            <a:off x="9892893" y="501091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预计总还款</a:t>
            </a:r>
            <a:r>
              <a:rPr sz="900" b="1">
                <a:solidFill>
                  <a:srgbClr val="3D3C3A"/>
                </a:solidFill>
              </a:rPr>
              <a:t>A$1,872</a:t>
            </a:r>
          </a:p>
        </p:txBody>
      </p:sp>
      <p:sp>
        <p:nvSpPr>
          <p:cNvPr id="144" name="Fa-c-产品成本-3"/>
          <p:cNvSpPr txBox="1"/>
          <p:nvPr/>
        </p:nvSpPr>
        <p:spPr>
          <a:xfrm>
            <a:off x="9892893" y="523036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06060"/>
                </a:solidFill>
              </a:rPr>
              <a:t>融资成本</a:t>
            </a:r>
            <a:r>
              <a:rPr sz="900" b="1">
                <a:solidFill>
                  <a:srgbClr val="3D3C3A"/>
                </a:solidFill>
              </a:rPr>
              <a:t>A$372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405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256046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1588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1588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25246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7040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541</TotalTime>
  <Words>1261</Words>
  <Application>Microsoft Office PowerPoint</Application>
  <PresentationFormat>宽屏</PresentationFormat>
  <Paragraphs>325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微软雅黑 Light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122</cp:revision>
  <dcterms:modified xsi:type="dcterms:W3CDTF">2026-08-11T02:20:42Z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