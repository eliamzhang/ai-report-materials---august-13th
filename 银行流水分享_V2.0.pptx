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619506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506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802386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270498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70498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53378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803844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803844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2074860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2074860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345876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345876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616892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616892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648396" y="389077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用户-g1-t"/>
          <p:cNvSpPr txBox="1"/>
          <p:nvPr/>
        </p:nvSpPr>
        <p:spPr>
          <a:xfrm>
            <a:off x="739836" y="387705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803844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平均月还款金额</a:t>
            </a:r>
            <a:r>
              <a:rPr sz="800" b="0">
                <a:solidFill>
                  <a:srgbClr val="606060"/>
                </a:solidFill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2074860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预计待还金额</a:t>
            </a:r>
            <a:r>
              <a:rPr sz="800" b="0">
                <a:solidFill>
                  <a:srgbClr val="606060"/>
                </a:solidFill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345876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贷款机构数量</a:t>
            </a:r>
            <a:r>
              <a:rPr sz="800" b="0">
                <a:solidFill>
                  <a:srgbClr val="606060"/>
                </a:solidFill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616892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天借款金额</a:t>
            </a:r>
            <a:r>
              <a:rPr sz="800" b="0">
                <a:solidFill>
                  <a:srgbClr val="606060"/>
                </a:solidFill>
              </a:rPr>
              <a:t>A$2,300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648396" y="45445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用户-g3-t"/>
          <p:cNvSpPr txBox="1"/>
          <p:nvPr/>
        </p:nvSpPr>
        <p:spPr>
          <a:xfrm>
            <a:off x="739836" y="453542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还款与风险表现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454836" y="3529584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a-h1"/>
          <p:cNvSpPr txBox="1"/>
          <p:nvPr/>
        </p:nvSpPr>
        <p:spPr>
          <a:xfrm>
            <a:off x="6546275" y="3557016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8055035" y="35753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832276" y="3575304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700956" y="3557016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100" b="1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454836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454836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128188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128188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801540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801540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917876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91228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4" name="Fa-g1-t"/>
          <p:cNvSpPr txBox="1"/>
          <p:nvPr/>
        </p:nvSpPr>
        <p:spPr>
          <a:xfrm>
            <a:off x="6454836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454836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月还款</a:t>
            </a:r>
            <a:r>
              <a:rPr sz="800" b="0">
                <a:solidFill>
                  <a:srgbClr val="606060"/>
                </a:solidFill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454836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454836" y="493776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173908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173908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173908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173908" y="508406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173908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连续正常还款</a:t>
            </a:r>
            <a:r>
              <a:rPr sz="800" b="0">
                <a:solidFill>
                  <a:srgbClr val="606060"/>
                </a:solidFill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92980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产品与成本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803844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天还款金额</a:t>
            </a:r>
            <a:r>
              <a:rPr sz="800" b="0">
                <a:solidFill>
                  <a:srgbClr val="606060"/>
                </a:solidFill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2074860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3345876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803844" y="5303520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2074860" y="5303520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近 90 天新增借款</a:t>
            </a:r>
            <a:r>
              <a:rPr sz="800" b="0">
                <a:solidFill>
                  <a:srgbClr val="606060"/>
                </a:solidFill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454836" y="508406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预计剩余</a:t>
            </a:r>
            <a:r>
              <a:rPr sz="800" b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173908" y="493776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0">
                <a:solidFill>
                  <a:srgbClr val="606060"/>
                </a:solidFill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92980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预计总还款</a:t>
            </a:r>
            <a:r>
              <a:rPr sz="800" b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92980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融资成本</a:t>
            </a:r>
            <a:r>
              <a:rPr sz="800" b="0">
                <a:solidFill>
                  <a:srgbClr val="606060"/>
                </a:solidFill>
              </a:rPr>
              <a:t>A$372</a:t>
            </a:r>
          </a:p>
        </p:txBody>
      </p:sp>
      <p:sp>
        <p:nvSpPr>
          <p:cNvPr id="116" name="用户-g3-6"/>
          <p:cNvSpPr txBox="1"/>
          <p:nvPr/>
        </p:nvSpPr>
        <p:spPr>
          <a:xfrm>
            <a:off x="3345876" y="5303520"/>
            <a:ext cx="1463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9 次</a:t>
            </a:r>
            <a:endParaRPr sz="800" dirty="0">
              <a:solidFill>
                <a:srgbClr val="1F4E7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1349</Words>
  <Application>Microsoft Office PowerPoint</Application>
  <PresentationFormat>宽屏</PresentationFormat>
  <Paragraphs>340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122</cp:revision>
  <dcterms:modified xsi:type="dcterms:W3CDTF">2026-08-10T12:51:32Z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