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20963" y="284368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743732"/>
              </p:ext>
            </p:extLst>
          </p:nvPr>
        </p:nvGraphicFramePr>
        <p:xfrm>
          <a:off x="617523" y="1533881"/>
          <a:ext cx="10901631" cy="1113993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0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869950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7416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619506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9506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802386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270498" y="3152038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270498" y="3152038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453378" y="3252622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619506" y="5815584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19506" y="5815584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02386" y="5927598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445770" y="284114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803844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用户-tag1-t"/>
          <p:cNvSpPr txBox="1"/>
          <p:nvPr/>
        </p:nvSpPr>
        <p:spPr>
          <a:xfrm>
            <a:off x="803844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2074860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用户-tag2-t"/>
          <p:cNvSpPr txBox="1"/>
          <p:nvPr/>
        </p:nvSpPr>
        <p:spPr>
          <a:xfrm>
            <a:off x="2074860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55" name="用户-tag3"/>
          <p:cNvSpPr/>
          <p:nvPr/>
        </p:nvSpPr>
        <p:spPr>
          <a:xfrm>
            <a:off x="3345876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用户-tag3-t"/>
          <p:cNvSpPr txBox="1"/>
          <p:nvPr/>
        </p:nvSpPr>
        <p:spPr>
          <a:xfrm>
            <a:off x="3345876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整体持续还款</a:t>
            </a:r>
          </a:p>
        </p:txBody>
      </p:sp>
      <p:sp>
        <p:nvSpPr>
          <p:cNvPr id="57" name="用户-tag4"/>
          <p:cNvSpPr/>
          <p:nvPr/>
        </p:nvSpPr>
        <p:spPr>
          <a:xfrm>
            <a:off x="4616892" y="3529584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用户-tag4-t"/>
          <p:cNvSpPr txBox="1"/>
          <p:nvPr/>
        </p:nvSpPr>
        <p:spPr>
          <a:xfrm>
            <a:off x="4616892" y="3584448"/>
            <a:ext cx="1197864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存在轻微还款波动</a:t>
            </a:r>
          </a:p>
        </p:txBody>
      </p:sp>
      <p:sp>
        <p:nvSpPr>
          <p:cNvPr id="59" name="用户-g1-bar"/>
          <p:cNvSpPr/>
          <p:nvPr/>
        </p:nvSpPr>
        <p:spPr>
          <a:xfrm>
            <a:off x="648396" y="3890772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用户-g1-t"/>
          <p:cNvSpPr txBox="1"/>
          <p:nvPr/>
        </p:nvSpPr>
        <p:spPr>
          <a:xfrm>
            <a:off x="739836" y="3877056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61" name="用户-g1-1"/>
          <p:cNvSpPr txBox="1"/>
          <p:nvPr/>
        </p:nvSpPr>
        <p:spPr>
          <a:xfrm>
            <a:off x="803844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平均月还款金额</a:t>
            </a:r>
            <a:r>
              <a:rPr sz="800" b="0">
                <a:solidFill>
                  <a:srgbClr val="606060"/>
                </a:solidFill>
              </a:rPr>
              <a:t>A$428</a:t>
            </a:r>
          </a:p>
        </p:txBody>
      </p:sp>
      <p:sp>
        <p:nvSpPr>
          <p:cNvPr id="62" name="用户-g1-2"/>
          <p:cNvSpPr txBox="1"/>
          <p:nvPr/>
        </p:nvSpPr>
        <p:spPr>
          <a:xfrm>
            <a:off x="2074860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预计待还金额</a:t>
            </a:r>
            <a:r>
              <a:rPr sz="800" b="0">
                <a:solidFill>
                  <a:srgbClr val="606060"/>
                </a:solidFill>
              </a:rPr>
              <a:t>A$1,016</a:t>
            </a:r>
          </a:p>
        </p:txBody>
      </p:sp>
      <p:sp>
        <p:nvSpPr>
          <p:cNvPr id="63" name="用户-g1-3"/>
          <p:cNvSpPr txBox="1"/>
          <p:nvPr/>
        </p:nvSpPr>
        <p:spPr>
          <a:xfrm>
            <a:off x="3345876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贷款机构数量</a:t>
            </a:r>
            <a:r>
              <a:rPr sz="800" b="0">
                <a:solidFill>
                  <a:srgbClr val="606060"/>
                </a:solidFill>
              </a:rPr>
              <a:t>2 家</a:t>
            </a:r>
          </a:p>
        </p:txBody>
      </p:sp>
      <p:sp>
        <p:nvSpPr>
          <p:cNvPr id="64" name="用户-g1-4"/>
          <p:cNvSpPr txBox="1"/>
          <p:nvPr/>
        </p:nvSpPr>
        <p:spPr>
          <a:xfrm>
            <a:off x="4616892" y="4059936"/>
            <a:ext cx="128016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90 天借款金额</a:t>
            </a:r>
            <a:r>
              <a:rPr sz="800" b="0">
                <a:solidFill>
                  <a:srgbClr val="606060"/>
                </a:solidFill>
              </a:rPr>
              <a:t>A$2,300</a:t>
            </a:r>
          </a:p>
        </p:txBody>
      </p:sp>
      <p:sp>
        <p:nvSpPr>
          <p:cNvPr id="71" name="用户-g3-bar"/>
          <p:cNvSpPr/>
          <p:nvPr/>
        </p:nvSpPr>
        <p:spPr>
          <a:xfrm>
            <a:off x="648396" y="45445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用户-g3-t"/>
          <p:cNvSpPr txBox="1"/>
          <p:nvPr/>
        </p:nvSpPr>
        <p:spPr>
          <a:xfrm>
            <a:off x="739836" y="4535424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还款与风险表现</a:t>
            </a:r>
          </a:p>
        </p:txBody>
      </p:sp>
      <p:sp>
        <p:nvSpPr>
          <p:cNvPr id="77" name="Fa-head"/>
          <p:cNvSpPr/>
          <p:nvPr/>
        </p:nvSpPr>
        <p:spPr>
          <a:xfrm>
            <a:off x="6454836" y="3529584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Fa-h1"/>
          <p:cNvSpPr txBox="1"/>
          <p:nvPr/>
        </p:nvSpPr>
        <p:spPr>
          <a:xfrm>
            <a:off x="6546275" y="3557016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79" name="Fa-h2"/>
          <p:cNvSpPr txBox="1"/>
          <p:nvPr/>
        </p:nvSpPr>
        <p:spPr>
          <a:xfrm>
            <a:off x="8055035" y="357530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80" name="Fa-h3"/>
          <p:cNvSpPr txBox="1"/>
          <p:nvPr/>
        </p:nvSpPr>
        <p:spPr>
          <a:xfrm>
            <a:off x="8832276" y="3575304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900" b="0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81" name="Fa-h4"/>
          <p:cNvSpPr txBox="1"/>
          <p:nvPr/>
        </p:nvSpPr>
        <p:spPr>
          <a:xfrm>
            <a:off x="9700956" y="3557016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zh-CN" sz="1100" b="1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454836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454836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128188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128188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801540" y="389534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801540" y="4041648"/>
            <a:ext cx="1463040" cy="2194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400" b="1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917876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91228" y="4005072"/>
            <a:ext cx="182880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94" name="Fa-g1-t"/>
          <p:cNvSpPr txBox="1"/>
          <p:nvPr/>
        </p:nvSpPr>
        <p:spPr>
          <a:xfrm>
            <a:off x="6454836" y="449884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95" name="Fa-g1-1"/>
          <p:cNvSpPr txBox="1"/>
          <p:nvPr/>
        </p:nvSpPr>
        <p:spPr>
          <a:xfrm>
            <a:off x="6454836" y="464515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月还款</a:t>
            </a:r>
            <a:r>
              <a:rPr sz="800" b="0">
                <a:solidFill>
                  <a:srgbClr val="606060"/>
                </a:solidFill>
              </a:rPr>
              <a:t>约 A$338</a:t>
            </a:r>
          </a:p>
        </p:txBody>
      </p:sp>
      <p:sp>
        <p:nvSpPr>
          <p:cNvPr id="96" name="Fa-g1-2"/>
          <p:cNvSpPr txBox="1"/>
          <p:nvPr/>
        </p:nvSpPr>
        <p:spPr>
          <a:xfrm>
            <a:off x="6454836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每两周</a:t>
            </a:r>
            <a:r>
              <a:rPr sz="800" b="0">
                <a:solidFill>
                  <a:srgbClr val="606060"/>
                </a:solidFill>
              </a:rPr>
              <a:t>A$156</a:t>
            </a:r>
          </a:p>
        </p:txBody>
      </p:sp>
      <p:sp>
        <p:nvSpPr>
          <p:cNvPr id="97" name="Fa-g1-3"/>
          <p:cNvSpPr txBox="1"/>
          <p:nvPr/>
        </p:nvSpPr>
        <p:spPr>
          <a:xfrm>
            <a:off x="6454836" y="493776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6 次</a:t>
            </a:r>
          </a:p>
        </p:txBody>
      </p:sp>
      <p:sp>
        <p:nvSpPr>
          <p:cNvPr id="98" name="Fa-g2-t"/>
          <p:cNvSpPr txBox="1"/>
          <p:nvPr/>
        </p:nvSpPr>
        <p:spPr>
          <a:xfrm>
            <a:off x="8173908" y="449884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99" name="Fa-g2-1"/>
          <p:cNvSpPr txBox="1"/>
          <p:nvPr/>
        </p:nvSpPr>
        <p:spPr>
          <a:xfrm>
            <a:off x="8173908" y="464515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00" name="Fa-g2-2"/>
          <p:cNvSpPr txBox="1"/>
          <p:nvPr/>
        </p:nvSpPr>
        <p:spPr>
          <a:xfrm>
            <a:off x="8173908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01" name="Fa-g2-3"/>
          <p:cNvSpPr txBox="1"/>
          <p:nvPr/>
        </p:nvSpPr>
        <p:spPr>
          <a:xfrm>
            <a:off x="8173908" y="508406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02" name="Fa-g2-4"/>
          <p:cNvSpPr txBox="1"/>
          <p:nvPr/>
        </p:nvSpPr>
        <p:spPr>
          <a:xfrm>
            <a:off x="8173908" y="523036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连续正常还款</a:t>
            </a:r>
            <a:r>
              <a:rPr sz="800" b="0">
                <a:solidFill>
                  <a:srgbClr val="606060"/>
                </a:solidFill>
              </a:rPr>
              <a:t>5 期</a:t>
            </a:r>
          </a:p>
        </p:txBody>
      </p:sp>
      <p:sp>
        <p:nvSpPr>
          <p:cNvPr id="103" name="Fa-g3-t"/>
          <p:cNvSpPr txBox="1"/>
          <p:nvPr/>
        </p:nvSpPr>
        <p:spPr>
          <a:xfrm>
            <a:off x="9892980" y="4498848"/>
            <a:ext cx="1609344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产品与成本</a:t>
            </a:r>
          </a:p>
        </p:txBody>
      </p:sp>
      <p:sp>
        <p:nvSpPr>
          <p:cNvPr id="107" name="用户-g3-1"/>
          <p:cNvSpPr txBox="1"/>
          <p:nvPr/>
        </p:nvSpPr>
        <p:spPr>
          <a:xfrm>
            <a:off x="803844" y="4901184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90 天还款金额</a:t>
            </a:r>
            <a:r>
              <a:rPr sz="800" b="0">
                <a:solidFill>
                  <a:srgbClr val="606060"/>
                </a:solidFill>
              </a:rPr>
              <a:t>A$1,284</a:t>
            </a:r>
          </a:p>
        </p:txBody>
      </p:sp>
      <p:sp>
        <p:nvSpPr>
          <p:cNvPr id="108" name="用户-g3-2"/>
          <p:cNvSpPr txBox="1"/>
          <p:nvPr/>
        </p:nvSpPr>
        <p:spPr>
          <a:xfrm>
            <a:off x="2074860" y="4901184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09" name="用户-g3-3"/>
          <p:cNvSpPr txBox="1"/>
          <p:nvPr/>
        </p:nvSpPr>
        <p:spPr>
          <a:xfrm>
            <a:off x="3345876" y="4901184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扣款失败</a:t>
            </a:r>
            <a:r>
              <a:rPr sz="800" b="0">
                <a:solidFill>
                  <a:srgbClr val="606060"/>
                </a:solidFill>
              </a:rPr>
              <a:t>1 次</a:t>
            </a:r>
          </a:p>
        </p:txBody>
      </p:sp>
      <p:sp>
        <p:nvSpPr>
          <p:cNvPr id="110" name="用户-g3-4"/>
          <p:cNvSpPr txBox="1"/>
          <p:nvPr/>
        </p:nvSpPr>
        <p:spPr>
          <a:xfrm>
            <a:off x="803844" y="5303520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11" name="用户-g3-5"/>
          <p:cNvSpPr txBox="1"/>
          <p:nvPr/>
        </p:nvSpPr>
        <p:spPr>
          <a:xfrm>
            <a:off x="2074860" y="5303520"/>
            <a:ext cx="1463040" cy="3474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近 90 天新增借款</a:t>
            </a:r>
            <a:r>
              <a:rPr sz="800" b="0">
                <a:solidFill>
                  <a:srgbClr val="606060"/>
                </a:solidFill>
              </a:rPr>
              <a:t>1 笔</a:t>
            </a:r>
          </a:p>
        </p:txBody>
      </p:sp>
      <p:sp>
        <p:nvSpPr>
          <p:cNvPr id="112" name="Fa-g1-4"/>
          <p:cNvSpPr txBox="1"/>
          <p:nvPr/>
        </p:nvSpPr>
        <p:spPr>
          <a:xfrm>
            <a:off x="6454836" y="5084064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预计剩余</a:t>
            </a:r>
            <a:r>
              <a:rPr sz="800" b="0">
                <a:solidFill>
                  <a:srgbClr val="606060"/>
                </a:solidFill>
              </a:rPr>
              <a:t>4 期</a:t>
            </a:r>
          </a:p>
        </p:txBody>
      </p:sp>
      <p:sp>
        <p:nvSpPr>
          <p:cNvPr id="113" name="Fa-g2-5"/>
          <p:cNvSpPr txBox="1"/>
          <p:nvPr/>
        </p:nvSpPr>
        <p:spPr>
          <a:xfrm>
            <a:off x="8173908" y="493776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最长逾期</a:t>
            </a:r>
            <a:r>
              <a:rPr sz="800" b="0">
                <a:solidFill>
                  <a:srgbClr val="606060"/>
                </a:solidFill>
              </a:rPr>
              <a:t>3 天</a:t>
            </a:r>
          </a:p>
        </p:txBody>
      </p:sp>
      <p:sp>
        <p:nvSpPr>
          <p:cNvPr id="114" name="Fa-g3-4"/>
          <p:cNvSpPr txBox="1"/>
          <p:nvPr/>
        </p:nvSpPr>
        <p:spPr>
          <a:xfrm>
            <a:off x="9892980" y="464515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预计总还款</a:t>
            </a:r>
            <a:r>
              <a:rPr sz="800" b="0">
                <a:solidFill>
                  <a:srgbClr val="606060"/>
                </a:solidFill>
              </a:rPr>
              <a:t>A$1,872</a:t>
            </a:r>
          </a:p>
        </p:txBody>
      </p:sp>
      <p:sp>
        <p:nvSpPr>
          <p:cNvPr id="115" name="Fa-g3-5"/>
          <p:cNvSpPr txBox="1"/>
          <p:nvPr/>
        </p:nvSpPr>
        <p:spPr>
          <a:xfrm>
            <a:off x="9892980" y="479145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>
                <a:solidFill>
                  <a:srgbClr val="0A0A0A"/>
                </a:solidFill>
              </a:rPr>
              <a:t>融资成本</a:t>
            </a:r>
            <a:r>
              <a:rPr sz="800" b="0">
                <a:solidFill>
                  <a:srgbClr val="606060"/>
                </a:solidFill>
              </a:rPr>
              <a:t>A$372</a:t>
            </a:r>
          </a:p>
        </p:txBody>
      </p:sp>
      <p:sp>
        <p:nvSpPr>
          <p:cNvPr id="116" name="用户-g3-6"/>
          <p:cNvSpPr txBox="1"/>
          <p:nvPr/>
        </p:nvSpPr>
        <p:spPr>
          <a:xfrm>
            <a:off x="3345876" y="5303520"/>
            <a:ext cx="1463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9 次</a:t>
            </a:r>
            <a:endParaRPr sz="800" dirty="0">
              <a:solidFill>
                <a:srgbClr val="1F4E7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07154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0715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43730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453632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4536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490208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7040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540</TotalTime>
  <Words>1349</Words>
  <Application>Microsoft Office PowerPoint</Application>
  <PresentationFormat>宽屏</PresentationFormat>
  <Paragraphs>340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122</cp:revision>
  <dcterms:modified xsi:type="dcterms:W3CDTF">2026-08-10T12:51:32Z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