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12064" y="121615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39495" y="315457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561995"/>
              </p:ext>
            </p:extLst>
          </p:nvPr>
        </p:nvGraphicFramePr>
        <p:xfrm>
          <a:off x="512064" y="1690949"/>
          <a:ext cx="10901631" cy="1205748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9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15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8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38038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38038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20918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189030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189030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371910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538038" y="6126480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38038" y="6126480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20918" y="6181344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336870" y="12166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364302" y="315203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722376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722376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1993392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1993392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264408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264408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535424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535424" y="3895344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566928" y="42016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用户-g1-t"/>
          <p:cNvSpPr txBox="1"/>
          <p:nvPr/>
        </p:nvSpPr>
        <p:spPr>
          <a:xfrm>
            <a:off x="658368" y="418795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722376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1993392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264408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535424" y="4370832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566928" y="4855464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用户-g3-t"/>
          <p:cNvSpPr txBox="1"/>
          <p:nvPr/>
        </p:nvSpPr>
        <p:spPr>
          <a:xfrm>
            <a:off x="658368" y="484632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还款与风险表现</a:t>
            </a:r>
          </a:p>
        </p:txBody>
      </p:sp>
      <p:sp>
        <p:nvSpPr>
          <p:cNvPr id="77" name="Fa-head"/>
          <p:cNvSpPr/>
          <p:nvPr/>
        </p:nvSpPr>
        <p:spPr>
          <a:xfrm>
            <a:off x="6373368" y="3840480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a-h1"/>
          <p:cNvSpPr txBox="1"/>
          <p:nvPr/>
        </p:nvSpPr>
        <p:spPr>
          <a:xfrm>
            <a:off x="6464807" y="3867912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7973567" y="38862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750808" y="388620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619488" y="3867912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100" b="1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373368" y="420624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373368" y="435254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046720" y="420624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046720" y="435254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720072" y="420624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720072" y="435254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836408" y="4315968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09760" y="4315968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0" name="Fa-prog-lab"/>
          <p:cNvSpPr txBox="1"/>
          <p:nvPr/>
        </p:nvSpPr>
        <p:spPr>
          <a:xfrm>
            <a:off x="6373368" y="4663440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还款进度</a:t>
            </a:r>
          </a:p>
        </p:txBody>
      </p:sp>
      <p:sp>
        <p:nvSpPr>
          <p:cNvPr id="91" name="Fa-prog-pct"/>
          <p:cNvSpPr txBox="1"/>
          <p:nvPr/>
        </p:nvSpPr>
        <p:spPr>
          <a:xfrm>
            <a:off x="10808208" y="4645152"/>
            <a:ext cx="576072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62%</a:t>
            </a:r>
          </a:p>
        </p:txBody>
      </p:sp>
      <p:sp>
        <p:nvSpPr>
          <p:cNvPr id="92" name="Fa-prog-bar"/>
          <p:cNvSpPr/>
          <p:nvPr/>
        </p:nvSpPr>
        <p:spPr>
          <a:xfrm>
            <a:off x="6373368" y="4846320"/>
            <a:ext cx="5010912" cy="128016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Fa-prog-fill"/>
          <p:cNvSpPr/>
          <p:nvPr/>
        </p:nvSpPr>
        <p:spPr>
          <a:xfrm>
            <a:off x="6373368" y="4846320"/>
            <a:ext cx="3126809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Fa-g1-t"/>
          <p:cNvSpPr txBox="1"/>
          <p:nvPr/>
        </p:nvSpPr>
        <p:spPr>
          <a:xfrm>
            <a:off x="6373368" y="508406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373368" y="5230368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月还款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373368" y="53766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每两周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373368" y="5522976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092440" y="508406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092440" y="5230368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轻微逾期 </a:t>
            </a: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092440" y="53766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扣款失败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092440" y="5669280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还款中断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092440" y="5815584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连续正常还款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5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11512" y="508406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产品与成本</a:t>
            </a:r>
          </a:p>
        </p:txBody>
      </p:sp>
      <p:sp>
        <p:nvSpPr>
          <p:cNvPr id="107" name="用户-g3-1"/>
          <p:cNvSpPr txBox="1"/>
          <p:nvPr/>
        </p:nvSpPr>
        <p:spPr>
          <a:xfrm>
            <a:off x="722376" y="521208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>
              <a:lnSpc>
                <a:spcPct val="100000"/>
              </a:lnSpc>
            </a:pPr>
            <a:r>
              <a:rPr lang="zh-CN" sz="1100" b="0">
                <a:solidFill>
                  <a:srgbClr val="3D3C3A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108" name="用户-g3-2"/>
          <p:cNvSpPr txBox="1"/>
          <p:nvPr/>
        </p:nvSpPr>
        <p:spPr>
          <a:xfrm>
            <a:off x="1993392" y="521208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</a:p>
          <a:p>
            <a:pPr>
              <a:lnSpc>
                <a:spcPct val="100000"/>
              </a:lnSpc>
            </a:pPr>
            <a:r>
              <a:rPr lang="zh-CN" sz="1100" b="1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9" name="用户-g3-3"/>
          <p:cNvSpPr txBox="1"/>
          <p:nvPr/>
        </p:nvSpPr>
        <p:spPr>
          <a:xfrm>
            <a:off x="3264408" y="521208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>
              <a:lnSpc>
                <a:spcPct val="100000"/>
              </a:lnSpc>
            </a:pPr>
            <a:r>
              <a:rPr lang="zh-CN" sz="1100" b="0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10" name="用户-g3-4"/>
          <p:cNvSpPr txBox="1"/>
          <p:nvPr/>
        </p:nvSpPr>
        <p:spPr>
          <a:xfrm>
            <a:off x="722376" y="5614416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>
              <a:lnSpc>
                <a:spcPct val="100000"/>
              </a:lnSpc>
            </a:pPr>
            <a:r>
              <a:rPr lang="zh-CN" sz="1100" b="0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11" name="用户-g3-5"/>
          <p:cNvSpPr txBox="1"/>
          <p:nvPr/>
        </p:nvSpPr>
        <p:spPr>
          <a:xfrm>
            <a:off x="1993392" y="5614416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近 90 天新增借款</a:t>
            </a:r>
          </a:p>
          <a:p>
            <a:pPr>
              <a:lnSpc>
                <a:spcPct val="100000"/>
              </a:lnSpc>
            </a:pPr>
            <a:r>
              <a:rPr lang="zh-CN" sz="1100" b="0">
                <a:solidFill>
                  <a:srgbClr val="3D3C3A"/>
                </a:solidFill>
                <a:latin typeface="微软雅黑"/>
                <a:ea typeface="微软雅黑"/>
              </a:rPr>
              <a:t>1 笔</a:t>
            </a:r>
          </a:p>
        </p:txBody>
      </p:sp>
      <p:sp>
        <p:nvSpPr>
          <p:cNvPr id="112" name="Fa-g1-4"/>
          <p:cNvSpPr txBox="1"/>
          <p:nvPr/>
        </p:nvSpPr>
        <p:spPr>
          <a:xfrm>
            <a:off x="6373368" y="5669280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预计剩余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4 期</a:t>
            </a:r>
          </a:p>
        </p:txBody>
      </p:sp>
      <p:sp>
        <p:nvSpPr>
          <p:cNvPr id="113" name="Fa-g2-5"/>
          <p:cNvSpPr txBox="1"/>
          <p:nvPr/>
        </p:nvSpPr>
        <p:spPr>
          <a:xfrm>
            <a:off x="8092440" y="5522976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最长逾期 </a:t>
            </a: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3 天</a:t>
            </a:r>
          </a:p>
        </p:txBody>
      </p:sp>
      <p:sp>
        <p:nvSpPr>
          <p:cNvPr id="114" name="Fa-g3-4"/>
          <p:cNvSpPr txBox="1"/>
          <p:nvPr/>
        </p:nvSpPr>
        <p:spPr>
          <a:xfrm>
            <a:off x="9811512" y="523036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预计总还款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A$1,872</a:t>
            </a:r>
          </a:p>
        </p:txBody>
      </p:sp>
      <p:sp>
        <p:nvSpPr>
          <p:cNvPr id="115" name="Fa-g3-5"/>
          <p:cNvSpPr txBox="1"/>
          <p:nvPr/>
        </p:nvSpPr>
        <p:spPr>
          <a:xfrm>
            <a:off x="9811512" y="5376672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融资成本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A$372</a:t>
            </a:r>
          </a:p>
        </p:txBody>
      </p:sp>
      <p:sp>
        <p:nvSpPr>
          <p:cNvPr id="116" name="用户-g3-6"/>
          <p:cNvSpPr txBox="1"/>
          <p:nvPr/>
        </p:nvSpPr>
        <p:spPr>
          <a:xfrm>
            <a:off x="3264408" y="5614416"/>
            <a:ext cx="1371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1F4E79"/>
                </a:solidFill>
              </a:rPr>
              <a:t>90 天还款</a:t>
            </a:r>
          </a:p>
          <a:p>
            <a:r>
              <a:rPr sz="1100">
                <a:solidFill>
                  <a:srgbClr val="3D3C3A"/>
                </a:solidFill>
              </a:rPr>
              <a:t>9 次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950" b="1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531</TotalTime>
  <Words>1402</Words>
  <Application>Microsoft Office PowerPoint</Application>
  <PresentationFormat>宽屏</PresentationFormat>
  <Paragraphs>352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113</cp:revision>
  <dcterms:modified xsi:type="dcterms:W3CDTF">2026-08-10T12:34:49Z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